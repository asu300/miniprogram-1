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97" r:id="rId3"/>
    <p:sldId id="257" r:id="rId4"/>
    <p:sldId id="260" r:id="rId5"/>
    <p:sldId id="298" r:id="rId6"/>
    <p:sldId id="302" r:id="rId7"/>
    <p:sldId id="303" r:id="rId8"/>
    <p:sldId id="262" r:id="rId9"/>
    <p:sldId id="263" r:id="rId10"/>
    <p:sldId id="307" r:id="rId11"/>
    <p:sldId id="308" r:id="rId12"/>
    <p:sldId id="309" r:id="rId13"/>
    <p:sldId id="304" r:id="rId14"/>
    <p:sldId id="310" r:id="rId15"/>
    <p:sldId id="311" r:id="rId16"/>
    <p:sldId id="312" r:id="rId17"/>
    <p:sldId id="313" r:id="rId18"/>
    <p:sldId id="315" r:id="rId19"/>
    <p:sldId id="300" r:id="rId20"/>
    <p:sldId id="316" r:id="rId21"/>
    <p:sldId id="317" r:id="rId22"/>
    <p:sldId id="318" r:id="rId23"/>
    <p:sldId id="319" r:id="rId24"/>
    <p:sldId id="321" r:id="rId25"/>
    <p:sldId id="322" r:id="rId26"/>
    <p:sldId id="323" r:id="rId27"/>
    <p:sldId id="324" r:id="rId28"/>
    <p:sldId id="325" r:id="rId29"/>
    <p:sldId id="326" r:id="rId30"/>
    <p:sldId id="269" r:id="rId31"/>
    <p:sldId id="328" r:id="rId32"/>
    <p:sldId id="329" r:id="rId33"/>
    <p:sldId id="330" r:id="rId34"/>
    <p:sldId id="331" r:id="rId35"/>
    <p:sldId id="332" r:id="rId36"/>
    <p:sldId id="333" r:id="rId37"/>
    <p:sldId id="334" r:id="rId38"/>
    <p:sldId id="335" r:id="rId39"/>
    <p:sldId id="336" r:id="rId40"/>
    <p:sldId id="273" r:id="rId41"/>
    <p:sldId id="337" r:id="rId42"/>
    <p:sldId id="274" r:id="rId43"/>
    <p:sldId id="338" r:id="rId44"/>
    <p:sldId id="339" r:id="rId45"/>
    <p:sldId id="275" r:id="rId46"/>
    <p:sldId id="276" r:id="rId47"/>
    <p:sldId id="340" r:id="rId48"/>
    <p:sldId id="277" r:id="rId49"/>
    <p:sldId id="341" r:id="rId50"/>
    <p:sldId id="278" r:id="rId51"/>
    <p:sldId id="279" r:id="rId52"/>
    <p:sldId id="342" r:id="rId53"/>
    <p:sldId id="280" r:id="rId54"/>
    <p:sldId id="281" r:id="rId55"/>
    <p:sldId id="282" r:id="rId56"/>
    <p:sldId id="343" r:id="rId57"/>
    <p:sldId id="283" r:id="rId58"/>
    <p:sldId id="284" r:id="rId59"/>
    <p:sldId id="258" r:id="rId60"/>
    <p:sldId id="344" r:id="rId61"/>
    <p:sldId id="285" r:id="rId62"/>
    <p:sldId id="286" r:id="rId63"/>
    <p:sldId id="289" r:id="rId64"/>
    <p:sldId id="290" r:id="rId65"/>
    <p:sldId id="291" r:id="rId66"/>
    <p:sldId id="345" r:id="rId67"/>
    <p:sldId id="346" r:id="rId68"/>
    <p:sldId id="355" r:id="rId69"/>
    <p:sldId id="294" r:id="rId70"/>
    <p:sldId id="295" r:id="rId71"/>
    <p:sldId id="347" r:id="rId72"/>
    <p:sldId id="348" r:id="rId73"/>
    <p:sldId id="349" r:id="rId74"/>
    <p:sldId id="350" r:id="rId75"/>
    <p:sldId id="299" r:id="rId76"/>
    <p:sldId id="351" r:id="rId77"/>
    <p:sldId id="356" r:id="rId78"/>
    <p:sldId id="357" r:id="rId79"/>
    <p:sldId id="358" r:id="rId80"/>
    <p:sldId id="301" r:id="rId81"/>
    <p:sldId id="352" r:id="rId82"/>
    <p:sldId id="353" r:id="rId83"/>
    <p:sldId id="354" r:id="rId84"/>
    <p:sldId id="359" r:id="rId85"/>
    <p:sldId id="360" r:id="rId86"/>
    <p:sldId id="361" r:id="rId87"/>
    <p:sldId id="362" r:id="rId88"/>
    <p:sldId id="363" r:id="rId89"/>
    <p:sldId id="364" r:id="rId90"/>
    <p:sldId id="365" r:id="rId91"/>
    <p:sldId id="366" r:id="rId92"/>
    <p:sldId id="367" r:id="rId93"/>
    <p:sldId id="368" r:id="rId94"/>
    <p:sldId id="369" r:id="rId95"/>
    <p:sldId id="370" r:id="rId96"/>
    <p:sldId id="371" r:id="rId97"/>
    <p:sldId id="296" r:id="rId9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27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7AD392-B815-45D2-8A3F-43D00874B99A}" type="doc">
      <dgm:prSet loTypeId="urn:microsoft.com/office/officeart/2005/8/layout/list1" loCatId="list" qsTypeId="urn:microsoft.com/office/officeart/2005/8/quickstyle/simple1" qsCatId="simple" csTypeId="urn:microsoft.com/office/officeart/2005/8/colors/colorful3" csCatId="colorful" phldr="1"/>
      <dgm:spPr/>
      <dgm:t>
        <a:bodyPr/>
        <a:lstStyle/>
        <a:p>
          <a:endParaRPr lang="zh-CN" altLang="en-US"/>
        </a:p>
      </dgm:t>
    </dgm:pt>
    <dgm:pt modelId="{A93EC07E-7FEE-4CA4-8F4A-A8865DA4B629}">
      <dgm:prSet phldrT="[文本]"/>
      <dgm:spPr/>
      <dgm:t>
        <a:bodyPr/>
        <a:lstStyle/>
        <a:p>
          <a:r>
            <a:rPr lang="zh-CN" altLang="en-US" dirty="0"/>
            <a:t>第一节 航空气象图表</a:t>
          </a:r>
        </a:p>
      </dgm:t>
    </dgm:pt>
    <dgm:pt modelId="{E222B434-4D3E-4572-815E-996D14E22456}" type="parTrans" cxnId="{E4281805-63B0-4D2E-876A-A7F456CFC537}">
      <dgm:prSet/>
      <dgm:spPr/>
      <dgm:t>
        <a:bodyPr/>
        <a:lstStyle/>
        <a:p>
          <a:endParaRPr lang="zh-CN" altLang="en-US"/>
        </a:p>
      </dgm:t>
    </dgm:pt>
    <dgm:pt modelId="{60E23AC1-D5AC-4E71-B673-AA299D488BA8}" type="sibTrans" cxnId="{E4281805-63B0-4D2E-876A-A7F456CFC537}">
      <dgm:prSet/>
      <dgm:spPr/>
      <dgm:t>
        <a:bodyPr/>
        <a:lstStyle/>
        <a:p>
          <a:endParaRPr lang="zh-CN" altLang="en-US"/>
        </a:p>
      </dgm:t>
    </dgm:pt>
    <dgm:pt modelId="{BA34A9EE-CF4B-463D-AEDB-96FA308E79D3}">
      <dgm:prSet phldrT="[文本]"/>
      <dgm:spPr/>
      <dgm:t>
        <a:bodyPr/>
        <a:lstStyle/>
        <a:p>
          <a:r>
            <a:rPr lang="zh-CN" altLang="en-US" dirty="0"/>
            <a:t>第二节 航空气象电报</a:t>
          </a:r>
        </a:p>
      </dgm:t>
    </dgm:pt>
    <dgm:pt modelId="{C3EE9A82-E32B-4F4C-9D9A-A023C185A1AD}" type="parTrans" cxnId="{840E064D-0CE6-49DD-9695-6267F2B3FBB5}">
      <dgm:prSet/>
      <dgm:spPr/>
      <dgm:t>
        <a:bodyPr/>
        <a:lstStyle/>
        <a:p>
          <a:endParaRPr lang="zh-CN" altLang="en-US"/>
        </a:p>
      </dgm:t>
    </dgm:pt>
    <dgm:pt modelId="{DE0B9D2C-C718-404E-901A-03FD93B1C485}" type="sibTrans" cxnId="{840E064D-0CE6-49DD-9695-6267F2B3FBB5}">
      <dgm:prSet/>
      <dgm:spPr/>
      <dgm:t>
        <a:bodyPr/>
        <a:lstStyle/>
        <a:p>
          <a:endParaRPr lang="zh-CN" altLang="en-US"/>
        </a:p>
      </dgm:t>
    </dgm:pt>
    <dgm:pt modelId="{A73075E8-2337-4534-A6C0-0225CA7B7CCA}" type="pres">
      <dgm:prSet presAssocID="{387AD392-B815-45D2-8A3F-43D00874B99A}" presName="linear" presStyleCnt="0">
        <dgm:presLayoutVars>
          <dgm:dir/>
          <dgm:animLvl val="lvl"/>
          <dgm:resizeHandles val="exact"/>
        </dgm:presLayoutVars>
      </dgm:prSet>
      <dgm:spPr/>
    </dgm:pt>
    <dgm:pt modelId="{490FC398-2AC1-4ABA-B6E0-C420F89C53EB}" type="pres">
      <dgm:prSet presAssocID="{A93EC07E-7FEE-4CA4-8F4A-A8865DA4B629}" presName="parentLin" presStyleCnt="0"/>
      <dgm:spPr/>
    </dgm:pt>
    <dgm:pt modelId="{2F1A1CBE-D069-423F-86DC-5372D937B3E5}" type="pres">
      <dgm:prSet presAssocID="{A93EC07E-7FEE-4CA4-8F4A-A8865DA4B629}" presName="parentLeftMargin" presStyleLbl="node1" presStyleIdx="0" presStyleCnt="2"/>
      <dgm:spPr/>
    </dgm:pt>
    <dgm:pt modelId="{EEC9CED0-61A2-4EB9-89B0-659BCA2A8682}" type="pres">
      <dgm:prSet presAssocID="{A93EC07E-7FEE-4CA4-8F4A-A8865DA4B629}" presName="parentText" presStyleLbl="node1" presStyleIdx="0" presStyleCnt="2">
        <dgm:presLayoutVars>
          <dgm:chMax val="0"/>
          <dgm:bulletEnabled val="1"/>
        </dgm:presLayoutVars>
      </dgm:prSet>
      <dgm:spPr/>
    </dgm:pt>
    <dgm:pt modelId="{FADAE308-0FB2-41CD-87D7-A59F6F1023B2}" type="pres">
      <dgm:prSet presAssocID="{A93EC07E-7FEE-4CA4-8F4A-A8865DA4B629}" presName="negativeSpace" presStyleCnt="0"/>
      <dgm:spPr/>
    </dgm:pt>
    <dgm:pt modelId="{62B73089-90D7-46B4-AB1E-6C56C938D2C0}" type="pres">
      <dgm:prSet presAssocID="{A93EC07E-7FEE-4CA4-8F4A-A8865DA4B629}" presName="childText" presStyleLbl="conFgAcc1" presStyleIdx="0" presStyleCnt="2">
        <dgm:presLayoutVars>
          <dgm:bulletEnabled val="1"/>
        </dgm:presLayoutVars>
      </dgm:prSet>
      <dgm:spPr/>
    </dgm:pt>
    <dgm:pt modelId="{C62E6A36-4FB5-463D-AD96-53D71560D080}" type="pres">
      <dgm:prSet presAssocID="{60E23AC1-D5AC-4E71-B673-AA299D488BA8}" presName="spaceBetweenRectangles" presStyleCnt="0"/>
      <dgm:spPr/>
    </dgm:pt>
    <dgm:pt modelId="{14591B6B-BE25-438E-B4F2-DCED8ADD1AE7}" type="pres">
      <dgm:prSet presAssocID="{BA34A9EE-CF4B-463D-AEDB-96FA308E79D3}" presName="parentLin" presStyleCnt="0"/>
      <dgm:spPr/>
    </dgm:pt>
    <dgm:pt modelId="{AADCCA6D-341F-4784-A4B1-4858955425E7}" type="pres">
      <dgm:prSet presAssocID="{BA34A9EE-CF4B-463D-AEDB-96FA308E79D3}" presName="parentLeftMargin" presStyleLbl="node1" presStyleIdx="0" presStyleCnt="2"/>
      <dgm:spPr/>
    </dgm:pt>
    <dgm:pt modelId="{4110E12D-6DE8-4CFA-868F-AA09B56D1B6C}" type="pres">
      <dgm:prSet presAssocID="{BA34A9EE-CF4B-463D-AEDB-96FA308E79D3}" presName="parentText" presStyleLbl="node1" presStyleIdx="1" presStyleCnt="2">
        <dgm:presLayoutVars>
          <dgm:chMax val="0"/>
          <dgm:bulletEnabled val="1"/>
        </dgm:presLayoutVars>
      </dgm:prSet>
      <dgm:spPr/>
    </dgm:pt>
    <dgm:pt modelId="{5631DBAB-E1D0-4D1F-95C7-D7132242F7FC}" type="pres">
      <dgm:prSet presAssocID="{BA34A9EE-CF4B-463D-AEDB-96FA308E79D3}" presName="negativeSpace" presStyleCnt="0"/>
      <dgm:spPr/>
    </dgm:pt>
    <dgm:pt modelId="{E30127FB-5AD7-450F-B651-78AB27107645}" type="pres">
      <dgm:prSet presAssocID="{BA34A9EE-CF4B-463D-AEDB-96FA308E79D3}" presName="childText" presStyleLbl="conFgAcc1" presStyleIdx="1" presStyleCnt="2">
        <dgm:presLayoutVars>
          <dgm:bulletEnabled val="1"/>
        </dgm:presLayoutVars>
      </dgm:prSet>
      <dgm:spPr/>
    </dgm:pt>
  </dgm:ptLst>
  <dgm:cxnLst>
    <dgm:cxn modelId="{789B3800-F3D6-4B59-90D1-876F38AE8F77}" type="presOf" srcId="{A93EC07E-7FEE-4CA4-8F4A-A8865DA4B629}" destId="{2F1A1CBE-D069-423F-86DC-5372D937B3E5}" srcOrd="0" destOrd="0" presId="urn:microsoft.com/office/officeart/2005/8/layout/list1"/>
    <dgm:cxn modelId="{E4281805-63B0-4D2E-876A-A7F456CFC537}" srcId="{387AD392-B815-45D2-8A3F-43D00874B99A}" destId="{A93EC07E-7FEE-4CA4-8F4A-A8865DA4B629}" srcOrd="0" destOrd="0" parTransId="{E222B434-4D3E-4572-815E-996D14E22456}" sibTransId="{60E23AC1-D5AC-4E71-B673-AA299D488BA8}"/>
    <dgm:cxn modelId="{840E064D-0CE6-49DD-9695-6267F2B3FBB5}" srcId="{387AD392-B815-45D2-8A3F-43D00874B99A}" destId="{BA34A9EE-CF4B-463D-AEDB-96FA308E79D3}" srcOrd="1" destOrd="0" parTransId="{C3EE9A82-E32B-4F4C-9D9A-A023C185A1AD}" sibTransId="{DE0B9D2C-C718-404E-901A-03FD93B1C485}"/>
    <dgm:cxn modelId="{92EF4F55-AE8B-49F6-905F-C5BACEB53A46}" type="presOf" srcId="{387AD392-B815-45D2-8A3F-43D00874B99A}" destId="{A73075E8-2337-4534-A6C0-0225CA7B7CCA}" srcOrd="0" destOrd="0" presId="urn:microsoft.com/office/officeart/2005/8/layout/list1"/>
    <dgm:cxn modelId="{09777F96-3E14-4D3E-8AB5-82D8B0B777F3}" type="presOf" srcId="{BA34A9EE-CF4B-463D-AEDB-96FA308E79D3}" destId="{AADCCA6D-341F-4784-A4B1-4858955425E7}" srcOrd="0" destOrd="0" presId="urn:microsoft.com/office/officeart/2005/8/layout/list1"/>
    <dgm:cxn modelId="{ED04D8BC-1B1C-468B-9A63-03273F013E13}" type="presOf" srcId="{A93EC07E-7FEE-4CA4-8F4A-A8865DA4B629}" destId="{EEC9CED0-61A2-4EB9-89B0-659BCA2A8682}" srcOrd="1" destOrd="0" presId="urn:microsoft.com/office/officeart/2005/8/layout/list1"/>
    <dgm:cxn modelId="{0B104DF7-06AA-4DD4-A0F8-9DEB7C4C1A2E}" type="presOf" srcId="{BA34A9EE-CF4B-463D-AEDB-96FA308E79D3}" destId="{4110E12D-6DE8-4CFA-868F-AA09B56D1B6C}" srcOrd="1" destOrd="0" presId="urn:microsoft.com/office/officeart/2005/8/layout/list1"/>
    <dgm:cxn modelId="{171F1ED4-C435-4A8D-8A39-910A8414F520}" type="presParOf" srcId="{A73075E8-2337-4534-A6C0-0225CA7B7CCA}" destId="{490FC398-2AC1-4ABA-B6E0-C420F89C53EB}" srcOrd="0" destOrd="0" presId="urn:microsoft.com/office/officeart/2005/8/layout/list1"/>
    <dgm:cxn modelId="{EF89F4B1-2BD0-489B-9C73-0B983C326845}" type="presParOf" srcId="{490FC398-2AC1-4ABA-B6E0-C420F89C53EB}" destId="{2F1A1CBE-D069-423F-86DC-5372D937B3E5}" srcOrd="0" destOrd="0" presId="urn:microsoft.com/office/officeart/2005/8/layout/list1"/>
    <dgm:cxn modelId="{B4785384-E273-4F62-9D7C-5AE94F0692C9}" type="presParOf" srcId="{490FC398-2AC1-4ABA-B6E0-C420F89C53EB}" destId="{EEC9CED0-61A2-4EB9-89B0-659BCA2A8682}" srcOrd="1" destOrd="0" presId="urn:microsoft.com/office/officeart/2005/8/layout/list1"/>
    <dgm:cxn modelId="{7111972C-6993-4109-941E-1CA9385D95FE}" type="presParOf" srcId="{A73075E8-2337-4534-A6C0-0225CA7B7CCA}" destId="{FADAE308-0FB2-41CD-87D7-A59F6F1023B2}" srcOrd="1" destOrd="0" presId="urn:microsoft.com/office/officeart/2005/8/layout/list1"/>
    <dgm:cxn modelId="{E46D00B0-71BB-4C92-B8C4-7D130752233D}" type="presParOf" srcId="{A73075E8-2337-4534-A6C0-0225CA7B7CCA}" destId="{62B73089-90D7-46B4-AB1E-6C56C938D2C0}" srcOrd="2" destOrd="0" presId="urn:microsoft.com/office/officeart/2005/8/layout/list1"/>
    <dgm:cxn modelId="{836A3375-2775-4058-85EC-E084F9F49C43}" type="presParOf" srcId="{A73075E8-2337-4534-A6C0-0225CA7B7CCA}" destId="{C62E6A36-4FB5-463D-AD96-53D71560D080}" srcOrd="3" destOrd="0" presId="urn:microsoft.com/office/officeart/2005/8/layout/list1"/>
    <dgm:cxn modelId="{4DACC6BA-150F-4E78-8E2B-7112DA044627}" type="presParOf" srcId="{A73075E8-2337-4534-A6C0-0225CA7B7CCA}" destId="{14591B6B-BE25-438E-B4F2-DCED8ADD1AE7}" srcOrd="4" destOrd="0" presId="urn:microsoft.com/office/officeart/2005/8/layout/list1"/>
    <dgm:cxn modelId="{B6374F7E-8538-45AF-9A78-E2B3D116BF64}" type="presParOf" srcId="{14591B6B-BE25-438E-B4F2-DCED8ADD1AE7}" destId="{AADCCA6D-341F-4784-A4B1-4858955425E7}" srcOrd="0" destOrd="0" presId="urn:microsoft.com/office/officeart/2005/8/layout/list1"/>
    <dgm:cxn modelId="{4BC87752-AB3F-4F64-B2FF-0C9F45A3648A}" type="presParOf" srcId="{14591B6B-BE25-438E-B4F2-DCED8ADD1AE7}" destId="{4110E12D-6DE8-4CFA-868F-AA09B56D1B6C}" srcOrd="1" destOrd="0" presId="urn:microsoft.com/office/officeart/2005/8/layout/list1"/>
    <dgm:cxn modelId="{5FCA711A-FB08-4A41-AC76-4CB9F789B0C4}" type="presParOf" srcId="{A73075E8-2337-4534-A6C0-0225CA7B7CCA}" destId="{5631DBAB-E1D0-4D1F-95C7-D7132242F7FC}" srcOrd="5" destOrd="0" presId="urn:microsoft.com/office/officeart/2005/8/layout/list1"/>
    <dgm:cxn modelId="{4189A7CD-0472-4E27-BE72-698535AD8315}" type="presParOf" srcId="{A73075E8-2337-4534-A6C0-0225CA7B7CCA}" destId="{E30127FB-5AD7-450F-B651-78AB2710764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73089-90D7-46B4-AB1E-6C56C938D2C0}">
      <dsp:nvSpPr>
        <dsp:cNvPr id="0" name=""/>
        <dsp:cNvSpPr/>
      </dsp:nvSpPr>
      <dsp:spPr>
        <a:xfrm>
          <a:off x="0" y="1509633"/>
          <a:ext cx="8128000" cy="1083600"/>
        </a:xfrm>
        <a:prstGeom prst="rect">
          <a:avLst/>
        </a:prstGeom>
        <a:solidFill>
          <a:schemeClr val="lt1">
            <a:alpha val="90000"/>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C9CED0-61A2-4EB9-89B0-659BCA2A8682}">
      <dsp:nvSpPr>
        <dsp:cNvPr id="0" name=""/>
        <dsp:cNvSpPr/>
      </dsp:nvSpPr>
      <dsp:spPr>
        <a:xfrm>
          <a:off x="406400" y="874953"/>
          <a:ext cx="5689600" cy="126936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911350">
            <a:lnSpc>
              <a:spcPct val="90000"/>
            </a:lnSpc>
            <a:spcBef>
              <a:spcPct val="0"/>
            </a:spcBef>
            <a:spcAft>
              <a:spcPct val="35000"/>
            </a:spcAft>
            <a:buNone/>
          </a:pPr>
          <a:r>
            <a:rPr lang="zh-CN" altLang="en-US" sz="4300" kern="1200" dirty="0"/>
            <a:t>第一节 航空气象图表</a:t>
          </a:r>
        </a:p>
      </dsp:txBody>
      <dsp:txXfrm>
        <a:off x="468365" y="936918"/>
        <a:ext cx="5565670" cy="1145430"/>
      </dsp:txXfrm>
    </dsp:sp>
    <dsp:sp modelId="{E30127FB-5AD7-450F-B651-78AB27107645}">
      <dsp:nvSpPr>
        <dsp:cNvPr id="0" name=""/>
        <dsp:cNvSpPr/>
      </dsp:nvSpPr>
      <dsp:spPr>
        <a:xfrm>
          <a:off x="0" y="3460113"/>
          <a:ext cx="8128000" cy="1083600"/>
        </a:xfrm>
        <a:prstGeom prst="rect">
          <a:avLst/>
        </a:prstGeom>
        <a:solidFill>
          <a:schemeClr val="lt1">
            <a:alpha val="90000"/>
            <a:hueOff val="0"/>
            <a:satOff val="0"/>
            <a:lumOff val="0"/>
            <a:alphaOff val="0"/>
          </a:schemeClr>
        </a:solidFill>
        <a:ln w="19050" cap="rnd" cmpd="sng" algn="ctr">
          <a:solidFill>
            <a:schemeClr val="accent3">
              <a:hueOff val="-1433403"/>
              <a:satOff val="1180"/>
              <a:lumOff val="-981"/>
              <a:alphaOff val="0"/>
            </a:schemeClr>
          </a:solidFill>
          <a:prstDash val="solid"/>
        </a:ln>
        <a:effectLst/>
      </dsp:spPr>
      <dsp:style>
        <a:lnRef idx="2">
          <a:scrgbClr r="0" g="0" b="0"/>
        </a:lnRef>
        <a:fillRef idx="1">
          <a:scrgbClr r="0" g="0" b="0"/>
        </a:fillRef>
        <a:effectRef idx="0">
          <a:scrgbClr r="0" g="0" b="0"/>
        </a:effectRef>
        <a:fontRef idx="minor"/>
      </dsp:style>
    </dsp:sp>
    <dsp:sp modelId="{4110E12D-6DE8-4CFA-868F-AA09B56D1B6C}">
      <dsp:nvSpPr>
        <dsp:cNvPr id="0" name=""/>
        <dsp:cNvSpPr/>
      </dsp:nvSpPr>
      <dsp:spPr>
        <a:xfrm>
          <a:off x="406400" y="2825433"/>
          <a:ext cx="5689600" cy="1269360"/>
        </a:xfrm>
        <a:prstGeom prst="roundRect">
          <a:avLst/>
        </a:prstGeom>
        <a:solidFill>
          <a:schemeClr val="accent3">
            <a:hueOff val="-1433403"/>
            <a:satOff val="1180"/>
            <a:lumOff val="-98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911350">
            <a:lnSpc>
              <a:spcPct val="90000"/>
            </a:lnSpc>
            <a:spcBef>
              <a:spcPct val="0"/>
            </a:spcBef>
            <a:spcAft>
              <a:spcPct val="35000"/>
            </a:spcAft>
            <a:buNone/>
          </a:pPr>
          <a:r>
            <a:rPr lang="zh-CN" altLang="en-US" sz="4300" kern="1200" dirty="0"/>
            <a:t>第二节 航空气象电报</a:t>
          </a:r>
        </a:p>
      </dsp:txBody>
      <dsp:txXfrm>
        <a:off x="468365" y="2887398"/>
        <a:ext cx="5565670" cy="11454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2320112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1258242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789137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2485633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3116682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321542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918699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2079219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1409888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1662202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67011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254242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70379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173366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543544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7234997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248400"/>
            <a:ext cx="2844800" cy="457200"/>
          </a:xfr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8737600" y="6248400"/>
            <a:ext cx="2844800" cy="457200"/>
          </a:xfrm>
        </p:spPr>
        <p:txBody>
          <a:bodyPr/>
          <a:lstStyle>
            <a:lvl1pPr>
              <a:defRPr/>
            </a:lvl1pPr>
          </a:lstStyle>
          <a:p>
            <a:pPr>
              <a:defRPr/>
            </a:pPr>
            <a:fld id="{7166D814-F8D6-4B28-8410-F2EF7F4CFF7D}" type="slidenum">
              <a:rPr lang="zh-CN" altLang="en-US"/>
              <a:pPr>
                <a:defRPr/>
              </a:pPr>
              <a:t>‹#›</a:t>
            </a:fld>
            <a:endParaRPr lang="en-US" altLang="zh-CN"/>
          </a:p>
        </p:txBody>
      </p:sp>
    </p:spTree>
    <p:extLst>
      <p:ext uri="{BB962C8B-B14F-4D97-AF65-F5344CB8AC3E}">
        <p14:creationId xmlns:p14="http://schemas.microsoft.com/office/powerpoint/2010/main" val="2851520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E2D137-F559-4F88-915F-A094F8C6524B}" type="datetimeFigureOut">
              <a:rPr lang="zh-CN" altLang="en-US" smtClean="0"/>
              <a:t>2019/3/5</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EBB6308-7555-4127-BAA4-0C87FDF57089}" type="slidenum">
              <a:rPr lang="zh-CN" altLang="en-US" smtClean="0"/>
              <a:t>‹#›</a:t>
            </a:fld>
            <a:endParaRPr lang="zh-CN" altLang="en-US"/>
          </a:p>
        </p:txBody>
      </p:sp>
    </p:spTree>
    <p:extLst>
      <p:ext uri="{BB962C8B-B14F-4D97-AF65-F5344CB8AC3E}">
        <p14:creationId xmlns:p14="http://schemas.microsoft.com/office/powerpoint/2010/main" val="22764391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1488AC2B-F477-4D85-88B4-A4C62C3BC1E0}"/>
              </a:ext>
            </a:extLst>
          </p:cNvPr>
          <p:cNvSpPr>
            <a:spLocks noGrp="1" noChangeArrowheads="1"/>
          </p:cNvSpPr>
          <p:nvPr>
            <p:ph type="title"/>
          </p:nvPr>
        </p:nvSpPr>
        <p:spPr>
          <a:xfrm>
            <a:off x="1046923" y="1841293"/>
            <a:ext cx="8627165" cy="1370012"/>
          </a:xfrm>
        </p:spPr>
        <p:txBody>
          <a:bodyPr/>
          <a:lstStyle/>
          <a:p>
            <a:pPr eaLnBrk="1" hangingPunct="1"/>
            <a:r>
              <a:rPr lang="zh-CN" altLang="en-US" b="1" dirty="0">
                <a:solidFill>
                  <a:schemeClr val="tx2"/>
                </a:solidFill>
                <a:latin typeface="微软雅黑" panose="020B0503020204020204" pitchFamily="34" charset="-122"/>
                <a:ea typeface="微软雅黑" panose="020B0503020204020204" pitchFamily="34" charset="-122"/>
              </a:rPr>
              <a:t>第十二章：常用航空气象资料</a:t>
            </a:r>
          </a:p>
        </p:txBody>
      </p:sp>
    </p:spTree>
    <p:extLst>
      <p:ext uri="{BB962C8B-B14F-4D97-AF65-F5344CB8AC3E}">
        <p14:creationId xmlns:p14="http://schemas.microsoft.com/office/powerpoint/2010/main" val="379119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a:extLst>
              <a:ext uri="{FF2B5EF4-FFF2-40B4-BE49-F238E27FC236}">
                <a16:creationId xmlns:a16="http://schemas.microsoft.com/office/drawing/2014/main" id="{9AB8F309-5788-4DA3-8591-25593A0F98E6}"/>
              </a:ext>
            </a:extLst>
          </p:cNvPr>
          <p:cNvGraphicFramePr/>
          <p:nvPr>
            <p:extLst>
              <p:ext uri="{D42A27DB-BD31-4B8C-83A1-F6EECF244321}">
                <p14:modId xmlns:p14="http://schemas.microsoft.com/office/powerpoint/2010/main" val="2200663238"/>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657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3"/>
          <p:cNvSpPr txBox="1">
            <a:spLocks noChangeArrowheads="1"/>
          </p:cNvSpPr>
          <p:nvPr/>
        </p:nvSpPr>
        <p:spPr bwMode="auto">
          <a:xfrm>
            <a:off x="153228" y="121548"/>
            <a:ext cx="8229600" cy="2533650"/>
          </a:xfrm>
          <a:prstGeom prst="rect">
            <a:avLst/>
          </a:prstGeom>
          <a:noFill/>
          <a:ln w="9525">
            <a:noFill/>
            <a:miter lim="800000"/>
            <a:headEnd/>
            <a:tailEnd/>
          </a:ln>
        </p:spPr>
        <p:txBody>
          <a:bodyPr/>
          <a:lstStyle/>
          <a:p>
            <a:pPr marL="365125" indent="-255588" eaLnBrk="0" hangingPunct="0">
              <a:lnSpc>
                <a:spcPts val="4000"/>
              </a:lnSpc>
              <a:spcBef>
                <a:spcPts val="400"/>
              </a:spcBef>
              <a:buClr>
                <a:schemeClr val="accent1"/>
              </a:buClr>
              <a:buSzPct val="68000"/>
            </a:pPr>
            <a:r>
              <a:rPr lang="zh-CN" altLang="en-US" sz="3200">
                <a:solidFill>
                  <a:srgbClr val="000000"/>
                </a:solidFill>
                <a:latin typeface="微软雅黑" pitchFamily="34" charset="-122"/>
                <a:ea typeface="微软雅黑" pitchFamily="34" charset="-122"/>
              </a:rPr>
              <a:t>知识回顾</a:t>
            </a:r>
            <a:endParaRPr lang="en-US" altLang="zh-CN" sz="3200">
              <a:solidFill>
                <a:srgbClr val="000000"/>
              </a:solidFill>
              <a:latin typeface="微软雅黑" pitchFamily="34" charset="-122"/>
              <a:ea typeface="微软雅黑" pitchFamily="34" charset="-122"/>
            </a:endParaRPr>
          </a:p>
          <a:p>
            <a:pPr marL="365125" indent="-255588" eaLnBrk="0" hangingPunct="0">
              <a:lnSpc>
                <a:spcPts val="4000"/>
              </a:lnSpc>
              <a:spcBef>
                <a:spcPts val="400"/>
              </a:spcBef>
              <a:buClr>
                <a:schemeClr val="accent1"/>
              </a:buClr>
              <a:buSzPct val="68000"/>
            </a:pPr>
            <a:r>
              <a:rPr lang="zh-CN" altLang="en-US" sz="2800">
                <a:solidFill>
                  <a:srgbClr val="000000"/>
                </a:solidFill>
                <a:latin typeface="微软雅黑" pitchFamily="34" charset="-122"/>
                <a:ea typeface="微软雅黑" pitchFamily="34" charset="-122"/>
              </a:rPr>
              <a:t>地面天气图：</a:t>
            </a:r>
            <a:br>
              <a:rPr lang="zh-CN" altLang="en-US" sz="2800">
                <a:solidFill>
                  <a:srgbClr val="000000"/>
                </a:solidFill>
                <a:latin typeface="微软雅黑" pitchFamily="34" charset="-122"/>
                <a:ea typeface="微软雅黑" pitchFamily="34" charset="-122"/>
              </a:rPr>
            </a:br>
            <a:endParaRPr lang="zh-CN" altLang="en-US" sz="2800">
              <a:solidFill>
                <a:srgbClr val="000000"/>
              </a:solidFill>
              <a:latin typeface="微软雅黑" pitchFamily="34" charset="-122"/>
              <a:ea typeface="微软雅黑" pitchFamily="34" charset="-122"/>
            </a:endParaRPr>
          </a:p>
          <a:p>
            <a:pPr marL="365125" indent="-255588" eaLnBrk="0" hangingPunct="0">
              <a:lnSpc>
                <a:spcPts val="4000"/>
              </a:lnSpc>
              <a:spcBef>
                <a:spcPts val="400"/>
              </a:spcBef>
              <a:buClr>
                <a:schemeClr val="accent1"/>
              </a:buClr>
              <a:buSzPct val="68000"/>
            </a:pPr>
            <a:endParaRPr lang="en-US" altLang="zh-CN" sz="2800">
              <a:solidFill>
                <a:srgbClr val="000000"/>
              </a:solidFill>
              <a:latin typeface="微软雅黑" pitchFamily="34" charset="-122"/>
              <a:ea typeface="微软雅黑" pitchFamily="34" charset="-122"/>
            </a:endParaRPr>
          </a:p>
        </p:txBody>
      </p:sp>
      <p:sp>
        <p:nvSpPr>
          <p:cNvPr id="18434" name="Rectangle 15"/>
          <p:cNvSpPr>
            <a:spLocks noChangeArrowheads="1"/>
          </p:cNvSpPr>
          <p:nvPr/>
        </p:nvSpPr>
        <p:spPr bwMode="auto">
          <a:xfrm>
            <a:off x="6953250" y="500064"/>
            <a:ext cx="2071688" cy="428625"/>
          </a:xfrm>
          <a:prstGeom prst="rect">
            <a:avLst/>
          </a:prstGeom>
          <a:blipFill dpi="0" rotWithShape="1">
            <a:blip r:embed="rId2"/>
            <a:srcRect/>
            <a:tile tx="0" ty="0" sx="100000" sy="100000" flip="none" algn="tl"/>
          </a:blipFill>
          <a:ln w="9525">
            <a:noFill/>
            <a:miter lim="800000"/>
            <a:headEnd/>
            <a:tailEnd/>
          </a:ln>
        </p:spPr>
        <p:txBody>
          <a:bodyPr/>
          <a:lstStyle/>
          <a:p>
            <a:pPr marL="342900" indent="-342900">
              <a:spcBef>
                <a:spcPct val="20000"/>
              </a:spcBef>
            </a:pPr>
            <a:r>
              <a:rPr lang="zh-CN" altLang="en-US" sz="2400" b="1">
                <a:solidFill>
                  <a:srgbClr val="FF0000"/>
                </a:solidFill>
                <a:latin typeface="微软雅黑" pitchFamily="34" charset="-122"/>
                <a:ea typeface="微软雅黑" pitchFamily="34" charset="-122"/>
              </a:rPr>
              <a:t>单站填图格式</a:t>
            </a:r>
            <a:endParaRPr lang="en-US" altLang="zh-CN" sz="2400" b="1">
              <a:solidFill>
                <a:srgbClr val="FF0000"/>
              </a:solidFill>
              <a:latin typeface="微软雅黑" pitchFamily="34" charset="-122"/>
              <a:ea typeface="微软雅黑" pitchFamily="34" charset="-122"/>
            </a:endParaRPr>
          </a:p>
        </p:txBody>
      </p:sp>
      <p:pic>
        <p:nvPicPr>
          <p:cNvPr id="268289" name="Picture 1" descr="C:\Documents and Settings\Administrator\Application Data\Tencent\Users\530582458\QQ\WinTemp\RichOle\[LU22]S6[ABF7A$BWO77%U1.jpg"/>
          <p:cNvPicPr>
            <a:picLocks noChangeAspect="1" noChangeArrowheads="1"/>
          </p:cNvPicPr>
          <p:nvPr/>
        </p:nvPicPr>
        <p:blipFill>
          <a:blip r:embed="rId3" cstate="print"/>
          <a:srcRect/>
          <a:stretch>
            <a:fillRect/>
          </a:stretch>
        </p:blipFill>
        <p:spPr bwMode="auto">
          <a:xfrm>
            <a:off x="5760312" y="1408029"/>
            <a:ext cx="5042940" cy="325136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8436" name="Picture 3"/>
          <p:cNvPicPr>
            <a:picLocks noChangeAspect="1" noChangeArrowheads="1"/>
          </p:cNvPicPr>
          <p:nvPr/>
        </p:nvPicPr>
        <p:blipFill>
          <a:blip r:embed="rId4"/>
          <a:srcRect l="6793" t="20518" r="13043"/>
          <a:stretch>
            <a:fillRect/>
          </a:stretch>
        </p:blipFill>
        <p:spPr bwMode="auto">
          <a:xfrm>
            <a:off x="523874" y="3046412"/>
            <a:ext cx="4214813" cy="3597275"/>
          </a:xfrm>
          <a:prstGeom prst="rect">
            <a:avLst/>
          </a:prstGeom>
          <a:noFill/>
          <a:ln w="9525">
            <a:noFill/>
            <a:miter lim="800000"/>
            <a:headEnd/>
            <a:tailEnd/>
          </a:ln>
        </p:spPr>
      </p:pic>
      <p:sp>
        <p:nvSpPr>
          <p:cNvPr id="14" name="矩形 13"/>
          <p:cNvSpPr/>
          <p:nvPr/>
        </p:nvSpPr>
        <p:spPr>
          <a:xfrm>
            <a:off x="981282" y="2247901"/>
            <a:ext cx="2928938" cy="500062"/>
          </a:xfrm>
          <a:prstGeom prst="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FF0000"/>
                </a:solidFill>
                <a:latin typeface="微软雅黑" pitchFamily="34" charset="-122"/>
                <a:ea typeface="微软雅黑" pitchFamily="34" charset="-122"/>
              </a:rPr>
              <a:t>等压面图填图格式</a:t>
            </a:r>
          </a:p>
        </p:txBody>
      </p:sp>
    </p:spTree>
    <p:extLst>
      <p:ext uri="{BB962C8B-B14F-4D97-AF65-F5344CB8AC3E}">
        <p14:creationId xmlns:p14="http://schemas.microsoft.com/office/powerpoint/2010/main" val="868574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095736" y="0"/>
            <a:ext cx="4929222" cy="785794"/>
          </a:xfrm>
        </p:spPr>
        <p:txBody>
          <a:bodyPr>
            <a:noAutofit/>
          </a:bodyPr>
          <a:lstStyle/>
          <a:p>
            <a:pPr>
              <a:defRPr/>
            </a:pPr>
            <a:r>
              <a:rPr lang="zh-CN" altLang="en-US" sz="2800" dirty="0">
                <a:solidFill>
                  <a:schemeClr val="tx1"/>
                </a:solidFill>
                <a:latin typeface="微软雅黑" pitchFamily="34" charset="-122"/>
                <a:ea typeface="微软雅黑" pitchFamily="34" charset="-122"/>
              </a:rPr>
              <a:t>第一节   飞行气象图表</a:t>
            </a:r>
          </a:p>
        </p:txBody>
      </p:sp>
      <p:sp>
        <p:nvSpPr>
          <p:cNvPr id="2" name="Rectangle 3"/>
          <p:cNvSpPr>
            <a:spLocks noGrp="1" noChangeArrowheads="1"/>
          </p:cNvSpPr>
          <p:nvPr>
            <p:ph type="body" idx="1"/>
          </p:nvPr>
        </p:nvSpPr>
        <p:spPr>
          <a:xfrm>
            <a:off x="609599" y="857250"/>
            <a:ext cx="9793357" cy="5786438"/>
          </a:xfrm>
        </p:spPr>
        <p:txBody>
          <a:bodyPr>
            <a:normAutofit/>
          </a:bodyPr>
          <a:lstStyle/>
          <a:p>
            <a:pPr marL="0" indent="0">
              <a:lnSpc>
                <a:spcPct val="150000"/>
              </a:lnSpc>
              <a:buNone/>
            </a:pPr>
            <a:r>
              <a:rPr lang="zh-CN" altLang="en-US" sz="2400" dirty="0">
                <a:solidFill>
                  <a:schemeClr val="tx1"/>
                </a:solidFill>
                <a:latin typeface="微软雅黑" pitchFamily="34" charset="-122"/>
                <a:ea typeface="微软雅黑" pitchFamily="34" charset="-122"/>
              </a:rPr>
              <a:t>一、日常航空天气报告</a:t>
            </a:r>
          </a:p>
          <a:p>
            <a:pPr marL="0" indent="0">
              <a:lnSpc>
                <a:spcPct val="150000"/>
              </a:lnSpc>
              <a:buNone/>
            </a:pPr>
            <a:r>
              <a:rPr lang="en-US" altLang="zh-CN" sz="2400" dirty="0">
                <a:solidFill>
                  <a:schemeClr val="tx1"/>
                </a:solidFill>
                <a:latin typeface="微软雅黑" pitchFamily="34" charset="-122"/>
                <a:ea typeface="微软雅黑" pitchFamily="34" charset="-122"/>
              </a:rPr>
              <a:t>——</a:t>
            </a:r>
            <a:r>
              <a:rPr lang="zh-CN" altLang="en-US" sz="2400" dirty="0">
                <a:solidFill>
                  <a:schemeClr val="tx1"/>
                </a:solidFill>
                <a:latin typeface="微软雅黑" pitchFamily="34" charset="-122"/>
                <a:ea typeface="微软雅黑" pitchFamily="34" charset="-122"/>
              </a:rPr>
              <a:t>机场气象台对地面天气的定时观测和报告</a:t>
            </a:r>
            <a:endParaRPr lang="en-US" altLang="zh-CN" sz="2400" dirty="0">
              <a:solidFill>
                <a:schemeClr val="tx1"/>
              </a:solidFill>
              <a:latin typeface="微软雅黑" pitchFamily="34" charset="-122"/>
              <a:ea typeface="微软雅黑" pitchFamily="34" charset="-122"/>
            </a:endParaRPr>
          </a:p>
          <a:p>
            <a:pPr marL="0" indent="0">
              <a:lnSpc>
                <a:spcPct val="150000"/>
              </a:lnSpc>
              <a:buNone/>
            </a:pPr>
            <a:r>
              <a:rPr lang="zh-CN" altLang="en-US" sz="2400" dirty="0">
                <a:solidFill>
                  <a:schemeClr val="tx1"/>
                </a:solidFill>
                <a:latin typeface="微软雅黑" pitchFamily="34" charset="-122"/>
                <a:ea typeface="微软雅黑" pitchFamily="34" charset="-122"/>
              </a:rPr>
              <a:t>频率：每小时，有特殊要求时半小时一次</a:t>
            </a:r>
            <a:endParaRPr lang="en-US" altLang="zh-CN" sz="2400" dirty="0">
              <a:solidFill>
                <a:schemeClr val="tx1"/>
              </a:solidFill>
              <a:latin typeface="微软雅黑" pitchFamily="34" charset="-122"/>
              <a:ea typeface="微软雅黑" pitchFamily="34" charset="-122"/>
            </a:endParaRPr>
          </a:p>
          <a:p>
            <a:pPr marL="0" indent="0">
              <a:lnSpc>
                <a:spcPct val="150000"/>
              </a:lnSpc>
              <a:buNone/>
            </a:pPr>
            <a:r>
              <a:rPr lang="zh-CN" altLang="en-US" sz="2400" dirty="0">
                <a:solidFill>
                  <a:schemeClr val="tx1"/>
                </a:solidFill>
                <a:latin typeface="微软雅黑" pitchFamily="34" charset="-122"/>
                <a:ea typeface="微软雅黑" pitchFamily="34" charset="-122"/>
              </a:rPr>
              <a:t>      日常航空天气报告和特殊报告提供了 指定航站的地面观测资料，是飞行人员了解有关航站飞行气象条件最重要的资料。日常航空天气报告又称为天气实况报。</a:t>
            </a:r>
          </a:p>
          <a:p>
            <a:pPr marL="0" indent="0">
              <a:lnSpc>
                <a:spcPct val="150000"/>
              </a:lnSpc>
              <a:buNone/>
            </a:pPr>
            <a:r>
              <a:rPr lang="zh-CN" altLang="en-US" sz="2400" dirty="0">
                <a:solidFill>
                  <a:schemeClr val="tx1"/>
                </a:solidFill>
                <a:latin typeface="微软雅黑" pitchFamily="34" charset="-122"/>
                <a:ea typeface="微软雅黑" pitchFamily="34" charset="-122"/>
              </a:rPr>
              <a:t>       日常航空天气报告包括以下内容：站名、时间（世界时）、风向、风速、能见度</a:t>
            </a:r>
            <a:r>
              <a:rPr lang="en-US" altLang="zh-CN" sz="2400" dirty="0">
                <a:solidFill>
                  <a:schemeClr val="tx1"/>
                </a:solidFill>
                <a:latin typeface="微软雅黑" pitchFamily="34" charset="-122"/>
                <a:ea typeface="微软雅黑" pitchFamily="34" charset="-122"/>
              </a:rPr>
              <a:t>/RVR</a:t>
            </a:r>
            <a:r>
              <a:rPr lang="zh-CN" altLang="en-US" sz="2400" dirty="0">
                <a:solidFill>
                  <a:schemeClr val="tx1"/>
                </a:solidFill>
                <a:latin typeface="微软雅黑" pitchFamily="34" charset="-122"/>
                <a:ea typeface="微软雅黑" pitchFamily="34" charset="-122"/>
              </a:rPr>
              <a:t>（跑道视程）、天气现象、云、温度</a:t>
            </a:r>
            <a:r>
              <a:rPr lang="en-US" altLang="zh-CN" sz="2400" dirty="0">
                <a:solidFill>
                  <a:schemeClr val="tx1"/>
                </a:solidFill>
                <a:latin typeface="微软雅黑" pitchFamily="34" charset="-122"/>
                <a:ea typeface="微软雅黑" pitchFamily="34" charset="-122"/>
              </a:rPr>
              <a:t>/</a:t>
            </a:r>
            <a:r>
              <a:rPr lang="zh-CN" altLang="en-US" sz="2400" dirty="0">
                <a:solidFill>
                  <a:schemeClr val="tx1"/>
                </a:solidFill>
                <a:latin typeface="微软雅黑" pitchFamily="34" charset="-122"/>
                <a:ea typeface="微软雅黑" pitchFamily="34" charset="-122"/>
              </a:rPr>
              <a:t>露点、气压值及补充说明等。</a:t>
            </a:r>
          </a:p>
        </p:txBody>
      </p:sp>
    </p:spTree>
    <p:extLst>
      <p:ext uri="{BB962C8B-B14F-4D97-AF65-F5344CB8AC3E}">
        <p14:creationId xmlns:p14="http://schemas.microsoft.com/office/powerpoint/2010/main" val="322922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80F4BC-B2DA-490A-A2B6-99D0AF4FDA18}"/>
              </a:ext>
            </a:extLst>
          </p:cNvPr>
          <p:cNvSpPr txBox="1"/>
          <p:nvPr/>
        </p:nvSpPr>
        <p:spPr>
          <a:xfrm>
            <a:off x="238540" y="0"/>
            <a:ext cx="11953460" cy="6674841"/>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1</a:t>
            </a:r>
            <a:r>
              <a:rPr lang="zh-CN" altLang="en-US" sz="2400" dirty="0">
                <a:latin typeface="Times New Roman" panose="02020603050405020304" pitchFamily="18" charset="0"/>
                <a:ea typeface="微软雅黑" panose="020B0503020204020204" pitchFamily="34" charset="-122"/>
              </a:rPr>
              <a:t>．填图格式</a:t>
            </a:r>
          </a:p>
          <a:p>
            <a:pPr>
              <a:lnSpc>
                <a:spcPct val="150000"/>
              </a:lnSpc>
            </a:pPr>
            <a:r>
              <a:rPr lang="zh-CN" altLang="en-US" sz="2400" dirty="0">
                <a:latin typeface="Times New Roman" panose="02020603050405020304" pitchFamily="18" charset="0"/>
                <a:ea typeface="微软雅黑" panose="020B0503020204020204" pitchFamily="34" charset="-122"/>
              </a:rPr>
              <a:t>左边四项与地面天气图完全相同，其余</a:t>
            </a:r>
          </a:p>
          <a:p>
            <a:pPr>
              <a:lnSpc>
                <a:spcPct val="150000"/>
              </a:lnSpc>
            </a:pPr>
            <a:r>
              <a:rPr lang="zh-CN" altLang="en-US" sz="2400" dirty="0">
                <a:latin typeface="Times New Roman" panose="02020603050405020304" pitchFamily="18" charset="0"/>
                <a:ea typeface="微软雅黑" panose="020B0503020204020204" pitchFamily="34" charset="-122"/>
              </a:rPr>
              <a:t>各项填写方法分别为</a:t>
            </a:r>
          </a:p>
          <a:p>
            <a:pPr>
              <a:lnSpc>
                <a:spcPct val="150000"/>
              </a:lnSpc>
            </a:pP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1</a:t>
            </a:r>
            <a:r>
              <a:rPr lang="zh-CN" altLang="en-US" sz="2400" dirty="0">
                <a:latin typeface="Times New Roman" panose="02020603050405020304" pitchFamily="18" charset="0"/>
                <a:ea typeface="微软雅黑" panose="020B0503020204020204" pitchFamily="34" charset="-122"/>
              </a:rPr>
              <a:t>）总云量</a:t>
            </a:r>
          </a:p>
          <a:p>
            <a:pPr>
              <a:lnSpc>
                <a:spcPct val="150000"/>
              </a:lnSpc>
            </a:pPr>
            <a:r>
              <a:rPr lang="zh-CN" altLang="en-US" sz="2400" dirty="0">
                <a:latin typeface="Times New Roman" panose="02020603050405020304" pitchFamily="18" charset="0"/>
                <a:ea typeface="微软雅黑" panose="020B0503020204020204" pitchFamily="34" charset="-122"/>
              </a:rPr>
              <a:t>按</a:t>
            </a:r>
            <a:r>
              <a:rPr lang="en-US" altLang="zh-CN" sz="2400" dirty="0">
                <a:latin typeface="Times New Roman" panose="02020603050405020304" pitchFamily="18" charset="0"/>
                <a:ea typeface="微软雅黑" panose="020B0503020204020204" pitchFamily="34" charset="-122"/>
              </a:rPr>
              <a:t>8</a:t>
            </a:r>
            <a:r>
              <a:rPr lang="zh-CN" altLang="en-US" sz="2400" dirty="0">
                <a:latin typeface="Times New Roman" panose="02020603050405020304" pitchFamily="18" charset="0"/>
                <a:ea typeface="微软雅黑" panose="020B0503020204020204" pitchFamily="34" charset="-122"/>
              </a:rPr>
              <a:t>分制云量填写，天空不明则填“</a:t>
            </a:r>
            <a:r>
              <a:rPr lang="en-US" altLang="zh-CN" sz="2400" dirty="0">
                <a:latin typeface="Times New Roman" panose="02020603050405020304" pitchFamily="18" charset="0"/>
                <a:ea typeface="微软雅黑" panose="020B0503020204020204" pitchFamily="34" charset="-122"/>
              </a:rPr>
              <a:t>×”</a:t>
            </a:r>
          </a:p>
          <a:p>
            <a:pPr>
              <a:lnSpc>
                <a:spcPct val="150000"/>
              </a:lnSpc>
            </a:pP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2</a:t>
            </a:r>
            <a:r>
              <a:rPr lang="zh-CN" altLang="en-US" sz="2400" dirty="0">
                <a:latin typeface="Times New Roman" panose="02020603050405020304" pitchFamily="18" charset="0"/>
                <a:ea typeface="微软雅黑" panose="020B0503020204020204" pitchFamily="34" charset="-122"/>
              </a:rPr>
              <a:t>）风向、风速 </a:t>
            </a:r>
          </a:p>
          <a:p>
            <a:pPr>
              <a:lnSpc>
                <a:spcPct val="150000"/>
              </a:lnSpc>
            </a:pPr>
            <a:r>
              <a:rPr lang="zh-CN" altLang="en-US" sz="2400" dirty="0">
                <a:latin typeface="Times New Roman" panose="02020603050405020304" pitchFamily="18" charset="0"/>
                <a:ea typeface="微软雅黑" panose="020B0503020204020204" pitchFamily="34" charset="-122"/>
              </a:rPr>
              <a:t>风向按</a:t>
            </a:r>
            <a:r>
              <a:rPr lang="en-US" altLang="zh-CN" sz="2400" dirty="0">
                <a:latin typeface="Times New Roman" panose="02020603050405020304" pitchFamily="18" charset="0"/>
                <a:ea typeface="微软雅黑" panose="020B0503020204020204" pitchFamily="34" charset="-122"/>
              </a:rPr>
              <a:t>360 °</a:t>
            </a:r>
            <a:r>
              <a:rPr lang="zh-CN" altLang="en-US" sz="2400" dirty="0">
                <a:latin typeface="Times New Roman" panose="02020603050405020304" pitchFamily="18" charset="0"/>
                <a:ea typeface="微软雅黑" panose="020B0503020204020204" pitchFamily="34" charset="-122"/>
              </a:rPr>
              <a:t>或十六个方位用矢杆表示 ，</a:t>
            </a:r>
          </a:p>
          <a:p>
            <a:pPr>
              <a:lnSpc>
                <a:spcPct val="150000"/>
              </a:lnSpc>
            </a:pPr>
            <a:r>
              <a:rPr lang="zh-CN" altLang="en-US" sz="2400" dirty="0">
                <a:latin typeface="Times New Roman" panose="02020603050405020304" pitchFamily="18" charset="0"/>
                <a:ea typeface="微软雅黑" panose="020B0503020204020204" pitchFamily="34" charset="-122"/>
              </a:rPr>
              <a:t>风速用数码标出，单位为</a:t>
            </a:r>
            <a:r>
              <a:rPr lang="en-US" altLang="zh-CN" sz="2400" dirty="0">
                <a:latin typeface="Times New Roman" panose="02020603050405020304" pitchFamily="18" charset="0"/>
                <a:ea typeface="微软雅黑" panose="020B0503020204020204" pitchFamily="34" charset="-122"/>
              </a:rPr>
              <a:t>m/s</a:t>
            </a:r>
          </a:p>
          <a:p>
            <a:pPr>
              <a:lnSpc>
                <a:spcPct val="150000"/>
              </a:lnSpc>
            </a:pP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3</a:t>
            </a:r>
            <a:r>
              <a:rPr lang="zh-CN" altLang="en-US" sz="2400" dirty="0">
                <a:latin typeface="Times New Roman" panose="02020603050405020304" pitchFamily="18" charset="0"/>
                <a:ea typeface="微软雅黑" panose="020B0503020204020204" pitchFamily="34" charset="-122"/>
              </a:rPr>
              <a:t>）气压</a:t>
            </a:r>
          </a:p>
          <a:p>
            <a:pPr>
              <a:lnSpc>
                <a:spcPct val="150000"/>
              </a:lnSpc>
            </a:pPr>
            <a:r>
              <a:rPr lang="zh-CN" altLang="en-US" sz="2400" dirty="0">
                <a:latin typeface="Times New Roman" panose="02020603050405020304" pitchFamily="18" charset="0"/>
                <a:ea typeface="微软雅黑" panose="020B0503020204020204" pitchFamily="34" charset="-122"/>
              </a:rPr>
              <a:t>可用场压或海压（根据需要选择）的百帕整数表示。</a:t>
            </a:r>
          </a:p>
          <a:p>
            <a:pPr>
              <a:lnSpc>
                <a:spcPct val="150000"/>
              </a:lnSpc>
            </a:pP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4</a:t>
            </a:r>
            <a:r>
              <a:rPr lang="zh-CN" altLang="en-US" sz="2400" dirty="0">
                <a:latin typeface="Times New Roman" panose="02020603050405020304" pitchFamily="18" charset="0"/>
                <a:ea typeface="微软雅黑" panose="020B0503020204020204" pitchFamily="34" charset="-122"/>
              </a:rPr>
              <a:t>）云量云状云高</a:t>
            </a:r>
          </a:p>
          <a:p>
            <a:pPr>
              <a:lnSpc>
                <a:spcPct val="150000"/>
              </a:lnSpc>
            </a:pPr>
            <a:r>
              <a:rPr lang="zh-CN" altLang="en-US" sz="2400" dirty="0">
                <a:latin typeface="Times New Roman" panose="02020603050405020304" pitchFamily="18" charset="0"/>
                <a:ea typeface="微软雅黑" panose="020B0503020204020204" pitchFamily="34" charset="-122"/>
              </a:rPr>
              <a:t>云量用</a:t>
            </a:r>
            <a:r>
              <a:rPr lang="en-US" altLang="zh-CN" sz="2400" dirty="0">
                <a:latin typeface="Times New Roman" panose="02020603050405020304" pitchFamily="18" charset="0"/>
                <a:ea typeface="微软雅黑" panose="020B0503020204020204" pitchFamily="34" charset="-122"/>
              </a:rPr>
              <a:t>8</a:t>
            </a:r>
            <a:r>
              <a:rPr lang="zh-CN" altLang="en-US" sz="2400" dirty="0">
                <a:latin typeface="Times New Roman" panose="02020603050405020304" pitchFamily="18" charset="0"/>
                <a:ea typeface="微软雅黑" panose="020B0503020204020204" pitchFamily="34" charset="-122"/>
              </a:rPr>
              <a:t>分制，一般填累积云量；云状用简写符号；云高用数码，单位</a:t>
            </a:r>
            <a:r>
              <a:rPr lang="en-US" altLang="zh-CN" sz="2400" dirty="0">
                <a:latin typeface="Times New Roman" panose="02020603050405020304" pitchFamily="18" charset="0"/>
                <a:ea typeface="微软雅黑" panose="020B0503020204020204" pitchFamily="34" charset="-122"/>
              </a:rPr>
              <a:t>m</a:t>
            </a:r>
            <a:r>
              <a:rPr lang="zh-CN" altLang="en-US" sz="2400" dirty="0">
                <a:latin typeface="Times New Roman" panose="02020603050405020304" pitchFamily="18" charset="0"/>
                <a:ea typeface="微软雅黑" panose="020B0503020204020204" pitchFamily="34" charset="-122"/>
              </a:rPr>
              <a:t>，有几层填几层。</a:t>
            </a:r>
          </a:p>
        </p:txBody>
      </p:sp>
      <p:pic>
        <p:nvPicPr>
          <p:cNvPr id="5" name="图片 4">
            <a:extLst>
              <a:ext uri="{FF2B5EF4-FFF2-40B4-BE49-F238E27FC236}">
                <a16:creationId xmlns:a16="http://schemas.microsoft.com/office/drawing/2014/main" id="{251DEACA-96F9-4655-A6EC-DA7EC67DDAD8}"/>
              </a:ext>
            </a:extLst>
          </p:cNvPr>
          <p:cNvPicPr>
            <a:picLocks noChangeAspect="1"/>
          </p:cNvPicPr>
          <p:nvPr/>
        </p:nvPicPr>
        <p:blipFill>
          <a:blip r:embed="rId2"/>
          <a:stretch>
            <a:fillRect/>
          </a:stretch>
        </p:blipFill>
        <p:spPr>
          <a:xfrm>
            <a:off x="6579688" y="487583"/>
            <a:ext cx="4459373" cy="3342296"/>
          </a:xfrm>
          <a:prstGeom prst="rect">
            <a:avLst/>
          </a:prstGeom>
        </p:spPr>
      </p:pic>
    </p:spTree>
    <p:extLst>
      <p:ext uri="{BB962C8B-B14F-4D97-AF65-F5344CB8AC3E}">
        <p14:creationId xmlns:p14="http://schemas.microsoft.com/office/powerpoint/2010/main" val="2568336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4" descr="图11-2"/>
          <p:cNvPicPr>
            <a:picLocks noChangeAspect="1" noChangeArrowheads="1"/>
          </p:cNvPicPr>
          <p:nvPr/>
        </p:nvPicPr>
        <p:blipFill>
          <a:blip r:embed="rId2"/>
          <a:srcRect/>
          <a:stretch>
            <a:fillRect/>
          </a:stretch>
        </p:blipFill>
        <p:spPr bwMode="auto">
          <a:xfrm>
            <a:off x="2095501" y="0"/>
            <a:ext cx="5610225" cy="4357688"/>
          </a:xfrm>
          <a:prstGeom prst="rect">
            <a:avLst/>
          </a:prstGeom>
          <a:noFill/>
          <a:ln w="9525">
            <a:noFill/>
            <a:miter lim="800000"/>
            <a:headEnd/>
            <a:tailEnd/>
          </a:ln>
        </p:spPr>
      </p:pic>
      <p:sp>
        <p:nvSpPr>
          <p:cNvPr id="21506" name="矩形 11"/>
          <p:cNvSpPr>
            <a:spLocks noChangeArrowheads="1"/>
          </p:cNvSpPr>
          <p:nvPr/>
        </p:nvSpPr>
        <p:spPr bwMode="auto">
          <a:xfrm>
            <a:off x="887896" y="4214813"/>
            <a:ext cx="9806608" cy="2242537"/>
          </a:xfrm>
          <a:prstGeom prst="rect">
            <a:avLst/>
          </a:prstGeom>
          <a:noFill/>
          <a:ln w="9525">
            <a:noFill/>
            <a:miter lim="800000"/>
            <a:headEnd/>
            <a:tailEnd/>
          </a:ln>
        </p:spPr>
        <p:txBody>
          <a:bodyPr wrap="square">
            <a:spAutoFit/>
          </a:bodyPr>
          <a:lstStyle/>
          <a:p>
            <a:pPr>
              <a:lnSpc>
                <a:spcPct val="150000"/>
              </a:lnSpc>
            </a:pPr>
            <a:r>
              <a:rPr lang="zh-CN" altLang="en-US" sz="2400" dirty="0">
                <a:latin typeface="微软雅黑" pitchFamily="34" charset="-122"/>
                <a:ea typeface="微软雅黑" pitchFamily="34" charset="-122"/>
              </a:rPr>
              <a:t>      </a:t>
            </a:r>
            <a:r>
              <a:rPr lang="zh-CN" altLang="en-US" sz="2400" dirty="0">
                <a:latin typeface="Times New Roman" panose="02020603050405020304" pitchFamily="18" charset="0"/>
                <a:ea typeface="微软雅黑" pitchFamily="34" charset="-122"/>
              </a:rPr>
              <a:t>气温</a:t>
            </a:r>
            <a:r>
              <a:rPr lang="en-US" altLang="zh-CN" sz="2400" dirty="0">
                <a:latin typeface="Times New Roman" panose="02020603050405020304" pitchFamily="18" charset="0"/>
                <a:ea typeface="微软雅黑" pitchFamily="34" charset="-122"/>
              </a:rPr>
              <a:t>28</a:t>
            </a:r>
            <a:r>
              <a:rPr lang="zh-CN" altLang="en-US" sz="2400" dirty="0">
                <a:latin typeface="Times New Roman" panose="02020603050405020304" pitchFamily="18" charset="0"/>
                <a:ea typeface="微软雅黑" pitchFamily="34" charset="-122"/>
              </a:rPr>
              <a:t>℃，观测前一小时内有雷暴，现在有间歇性下雨，能见度</a:t>
            </a:r>
            <a:r>
              <a:rPr lang="en-US" altLang="zh-CN" sz="2400" dirty="0">
                <a:latin typeface="Times New Roman" panose="02020603050405020304" pitchFamily="18" charset="0"/>
                <a:ea typeface="微软雅黑" pitchFamily="34" charset="-122"/>
              </a:rPr>
              <a:t>20km</a:t>
            </a:r>
            <a:r>
              <a:rPr lang="zh-CN" altLang="en-US" sz="2400" dirty="0">
                <a:latin typeface="Times New Roman" panose="02020603050405020304" pitchFamily="18" charset="0"/>
                <a:ea typeface="微软雅黑" pitchFamily="34" charset="-122"/>
              </a:rPr>
              <a:t>，露点温度</a:t>
            </a:r>
            <a:r>
              <a:rPr lang="en-US" altLang="zh-CN" sz="2400" dirty="0">
                <a:latin typeface="Times New Roman" panose="02020603050405020304" pitchFamily="18" charset="0"/>
                <a:ea typeface="微软雅黑" pitchFamily="34" charset="-122"/>
              </a:rPr>
              <a:t>24</a:t>
            </a:r>
            <a:r>
              <a:rPr lang="zh-CN" altLang="en-US" sz="2400" dirty="0">
                <a:latin typeface="Times New Roman" panose="02020603050405020304" pitchFamily="18" charset="0"/>
                <a:ea typeface="微软雅黑" pitchFamily="34" charset="-122"/>
              </a:rPr>
              <a:t>℃。总云量</a:t>
            </a:r>
            <a:r>
              <a:rPr lang="en-US" altLang="zh-CN" sz="2400" dirty="0">
                <a:latin typeface="Times New Roman" panose="02020603050405020304" pitchFamily="18" charset="0"/>
                <a:ea typeface="微软雅黑" pitchFamily="34" charset="-122"/>
              </a:rPr>
              <a:t>8/8</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3</a:t>
            </a:r>
            <a:r>
              <a:rPr lang="zh-CN" altLang="en-US" sz="2400" dirty="0">
                <a:latin typeface="Times New Roman" panose="02020603050405020304" pitchFamily="18" charset="0"/>
                <a:ea typeface="微软雅黑" pitchFamily="34" charset="-122"/>
              </a:rPr>
              <a:t>个淡积云，云高</a:t>
            </a:r>
            <a:r>
              <a:rPr lang="en-US" altLang="zh-CN" sz="2400" dirty="0">
                <a:latin typeface="Times New Roman" panose="02020603050405020304" pitchFamily="18" charset="0"/>
                <a:ea typeface="微软雅黑" pitchFamily="34" charset="-122"/>
              </a:rPr>
              <a:t>300m</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4</a:t>
            </a:r>
            <a:r>
              <a:rPr lang="zh-CN" altLang="en-US" sz="2400" dirty="0">
                <a:latin typeface="Times New Roman" panose="02020603050405020304" pitchFamily="18" charset="0"/>
                <a:ea typeface="微软雅黑" pitchFamily="34" charset="-122"/>
              </a:rPr>
              <a:t>个浓积云，云高</a:t>
            </a:r>
            <a:r>
              <a:rPr lang="en-US" altLang="zh-CN" sz="2400" dirty="0">
                <a:latin typeface="Times New Roman" panose="02020603050405020304" pitchFamily="18" charset="0"/>
                <a:ea typeface="微软雅黑" pitchFamily="34" charset="-122"/>
              </a:rPr>
              <a:t>900m</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5</a:t>
            </a:r>
            <a:r>
              <a:rPr lang="zh-CN" altLang="en-US" sz="2400" dirty="0">
                <a:latin typeface="Times New Roman" panose="02020603050405020304" pitchFamily="18" charset="0"/>
                <a:ea typeface="微软雅黑" pitchFamily="34" charset="-122"/>
              </a:rPr>
              <a:t>个高积云，云高</a:t>
            </a:r>
            <a:r>
              <a:rPr lang="en-US" altLang="zh-CN" sz="2400" dirty="0">
                <a:latin typeface="Times New Roman" panose="02020603050405020304" pitchFamily="18" charset="0"/>
                <a:ea typeface="微软雅黑" pitchFamily="34" charset="-122"/>
              </a:rPr>
              <a:t>3600m</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8</a:t>
            </a:r>
            <a:r>
              <a:rPr lang="zh-CN" altLang="en-US" sz="2400" dirty="0">
                <a:latin typeface="Times New Roman" panose="02020603050405020304" pitchFamily="18" charset="0"/>
                <a:ea typeface="微软雅黑" pitchFamily="34" charset="-122"/>
              </a:rPr>
              <a:t>个卷层云，云高</a:t>
            </a:r>
            <a:r>
              <a:rPr lang="en-US" altLang="zh-CN" sz="2400" dirty="0">
                <a:latin typeface="Times New Roman" panose="02020603050405020304" pitchFamily="18" charset="0"/>
                <a:ea typeface="微软雅黑" pitchFamily="34" charset="-122"/>
              </a:rPr>
              <a:t>6800m</a:t>
            </a:r>
            <a:r>
              <a:rPr lang="zh-CN" altLang="en-US" sz="2400" dirty="0">
                <a:latin typeface="Times New Roman" panose="02020603050405020304" pitchFamily="18" charset="0"/>
                <a:ea typeface="微软雅黑" pitchFamily="34" charset="-122"/>
              </a:rPr>
              <a:t>。气压</a:t>
            </a:r>
            <a:r>
              <a:rPr lang="en-US" altLang="zh-CN" sz="2400" dirty="0">
                <a:latin typeface="Times New Roman" panose="02020603050405020304" pitchFamily="18" charset="0"/>
                <a:ea typeface="微软雅黑" pitchFamily="34" charset="-122"/>
              </a:rPr>
              <a:t>1006hPa,</a:t>
            </a:r>
            <a:r>
              <a:rPr lang="zh-CN" altLang="en-US" sz="2400" dirty="0">
                <a:latin typeface="Times New Roman" panose="02020603050405020304" pitchFamily="18" charset="0"/>
                <a:ea typeface="微软雅黑" pitchFamily="34" charset="-122"/>
              </a:rPr>
              <a:t>地面风是南风（或</a:t>
            </a:r>
            <a:r>
              <a:rPr lang="en-US" altLang="zh-CN" sz="2400" dirty="0">
                <a:latin typeface="Times New Roman" panose="02020603050405020304" pitchFamily="18" charset="0"/>
                <a:ea typeface="微软雅黑" pitchFamily="34" charset="-122"/>
              </a:rPr>
              <a:t>180°</a:t>
            </a:r>
            <a:r>
              <a:rPr lang="zh-CN" altLang="en-US" sz="2400" dirty="0">
                <a:latin typeface="Times New Roman" panose="02020603050405020304" pitchFamily="18" charset="0"/>
                <a:ea typeface="微软雅黑" pitchFamily="34" charset="-122"/>
              </a:rPr>
              <a:t>），风速</a:t>
            </a:r>
            <a:r>
              <a:rPr lang="en-US" altLang="zh-CN" sz="2400" dirty="0">
                <a:latin typeface="Times New Roman" panose="02020603050405020304" pitchFamily="18" charset="0"/>
                <a:ea typeface="微软雅黑" pitchFamily="34" charset="-122"/>
              </a:rPr>
              <a:t>4m/s</a:t>
            </a:r>
            <a:r>
              <a:rPr lang="zh-CN" altLang="en-US" sz="2400" dirty="0">
                <a:latin typeface="Times New Roman" panose="02020603050405020304" pitchFamily="18" charset="0"/>
                <a:ea typeface="微软雅黑" pitchFamily="34" charset="-122"/>
              </a:rPr>
              <a:t>。</a:t>
            </a:r>
            <a:endParaRPr lang="zh-CN" altLang="en-US" sz="2400" dirty="0">
              <a:latin typeface="Times New Roman" panose="02020603050405020304" pitchFamily="18" charset="0"/>
            </a:endParaRPr>
          </a:p>
        </p:txBody>
      </p:sp>
      <p:sp>
        <p:nvSpPr>
          <p:cNvPr id="21507" name="Rectangle 9"/>
          <p:cNvSpPr>
            <a:spLocks noChangeArrowheads="1"/>
          </p:cNvSpPr>
          <p:nvPr/>
        </p:nvSpPr>
        <p:spPr bwMode="auto">
          <a:xfrm>
            <a:off x="4638675" y="1125539"/>
            <a:ext cx="647700" cy="503237"/>
          </a:xfrm>
          <a:prstGeom prst="rect">
            <a:avLst/>
          </a:prstGeom>
          <a:solidFill>
            <a:schemeClr val="bg1"/>
          </a:solidFill>
          <a:ln w="9525">
            <a:solidFill>
              <a:schemeClr val="bg1"/>
            </a:solidFill>
            <a:miter lim="800000"/>
            <a:headEnd/>
            <a:tailEnd/>
          </a:ln>
        </p:spPr>
        <p:txBody>
          <a:bodyPr wrap="none" anchor="ctr"/>
          <a:lstStyle/>
          <a:p>
            <a:pPr algn="ctr"/>
            <a:r>
              <a:rPr lang="en-US" altLang="zh-CN" sz="3200">
                <a:latin typeface="黑体" pitchFamily="2" charset="-122"/>
                <a:ea typeface="黑体" pitchFamily="2" charset="-122"/>
              </a:rPr>
              <a:t>8</a:t>
            </a:r>
          </a:p>
        </p:txBody>
      </p:sp>
      <p:grpSp>
        <p:nvGrpSpPr>
          <p:cNvPr id="21508" name="组合 10"/>
          <p:cNvGrpSpPr>
            <a:grpSpLocks/>
          </p:cNvGrpSpPr>
          <p:nvPr/>
        </p:nvGrpSpPr>
        <p:grpSpPr bwMode="auto">
          <a:xfrm>
            <a:off x="5197731" y="1029674"/>
            <a:ext cx="1028700" cy="2682875"/>
            <a:chOff x="5991314" y="3245682"/>
            <a:chExt cx="1028470" cy="2683648"/>
          </a:xfrm>
        </p:grpSpPr>
        <p:sp>
          <p:nvSpPr>
            <p:cNvPr id="5" name="矩形 4"/>
            <p:cNvSpPr/>
            <p:nvPr/>
          </p:nvSpPr>
          <p:spPr>
            <a:xfrm>
              <a:off x="5991314" y="3245682"/>
              <a:ext cx="984030" cy="587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a:solidFill>
                    <a:srgbClr val="FF0000"/>
                  </a:solidFill>
                  <a:latin typeface="微软雅黑" pitchFamily="34" charset="-122"/>
                  <a:ea typeface="微软雅黑" pitchFamily="34" charset="-122"/>
                </a:rPr>
                <a:t>Cs</a:t>
              </a:r>
              <a:endParaRPr lang="zh-CN" altLang="en-US" sz="2800" dirty="0">
                <a:solidFill>
                  <a:srgbClr val="FF0000"/>
                </a:solidFill>
                <a:latin typeface="微软雅黑" pitchFamily="34" charset="-122"/>
                <a:ea typeface="微软雅黑" pitchFamily="34" charset="-122"/>
              </a:endParaRPr>
            </a:p>
          </p:txBody>
        </p:sp>
        <p:sp>
          <p:nvSpPr>
            <p:cNvPr id="8" name="矩形 7"/>
            <p:cNvSpPr/>
            <p:nvPr/>
          </p:nvSpPr>
          <p:spPr>
            <a:xfrm>
              <a:off x="6007185" y="3928504"/>
              <a:ext cx="984030" cy="587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a:solidFill>
                    <a:srgbClr val="FF0000"/>
                  </a:solidFill>
                  <a:latin typeface="微软雅黑" pitchFamily="34" charset="-122"/>
                  <a:ea typeface="微软雅黑" pitchFamily="34" charset="-122"/>
                </a:rPr>
                <a:t>Ac</a:t>
              </a:r>
              <a:endParaRPr lang="zh-CN" altLang="en-US" sz="2800" dirty="0">
                <a:solidFill>
                  <a:srgbClr val="FF0000"/>
                </a:solidFill>
                <a:latin typeface="微软雅黑" pitchFamily="34" charset="-122"/>
                <a:ea typeface="微软雅黑" pitchFamily="34" charset="-122"/>
              </a:endParaRPr>
            </a:p>
          </p:txBody>
        </p:sp>
        <p:sp>
          <p:nvSpPr>
            <p:cNvPr id="9" name="矩形 8"/>
            <p:cNvSpPr/>
            <p:nvPr/>
          </p:nvSpPr>
          <p:spPr>
            <a:xfrm>
              <a:off x="6016708" y="4627205"/>
              <a:ext cx="984030" cy="587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err="1">
                  <a:solidFill>
                    <a:srgbClr val="FF0000"/>
                  </a:solidFill>
                  <a:latin typeface="微软雅黑" pitchFamily="34" charset="-122"/>
                  <a:ea typeface="微软雅黑" pitchFamily="34" charset="-122"/>
                </a:rPr>
                <a:t>TCu</a:t>
              </a:r>
              <a:endParaRPr lang="zh-CN" altLang="en-US" sz="2800" dirty="0">
                <a:solidFill>
                  <a:srgbClr val="FF0000"/>
                </a:solidFill>
                <a:latin typeface="微软雅黑" pitchFamily="34" charset="-122"/>
                <a:ea typeface="微软雅黑" pitchFamily="34" charset="-122"/>
              </a:endParaRPr>
            </a:p>
          </p:txBody>
        </p:sp>
        <p:sp>
          <p:nvSpPr>
            <p:cNvPr id="10" name="矩形 9"/>
            <p:cNvSpPr/>
            <p:nvPr/>
          </p:nvSpPr>
          <p:spPr>
            <a:xfrm>
              <a:off x="6035754" y="5341786"/>
              <a:ext cx="984030" cy="587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a:solidFill>
                    <a:srgbClr val="FF0000"/>
                  </a:solidFill>
                  <a:latin typeface="微软雅黑" pitchFamily="34" charset="-122"/>
                  <a:ea typeface="微软雅黑" pitchFamily="34" charset="-122"/>
                </a:rPr>
                <a:t>Cu</a:t>
              </a:r>
              <a:endParaRPr lang="zh-CN" altLang="en-US" sz="2800" dirty="0">
                <a:solidFill>
                  <a:srgbClr val="FF0000"/>
                </a:solidFill>
                <a:latin typeface="微软雅黑" pitchFamily="34" charset="-122"/>
                <a:ea typeface="微软雅黑" pitchFamily="34" charset="-122"/>
              </a:endParaRPr>
            </a:p>
          </p:txBody>
        </p:sp>
      </p:grpSp>
      <p:pic>
        <p:nvPicPr>
          <p:cNvPr id="3" name="图片 2">
            <a:extLst>
              <a:ext uri="{FF2B5EF4-FFF2-40B4-BE49-F238E27FC236}">
                <a16:creationId xmlns:a16="http://schemas.microsoft.com/office/drawing/2014/main" id="{5DCCCCA3-2F86-4BBB-8A1D-D17D5DDD2C8B}"/>
              </a:ext>
            </a:extLst>
          </p:cNvPr>
          <p:cNvPicPr>
            <a:picLocks noChangeAspect="1"/>
          </p:cNvPicPr>
          <p:nvPr/>
        </p:nvPicPr>
        <p:blipFill>
          <a:blip r:embed="rId3"/>
          <a:stretch>
            <a:fillRect/>
          </a:stretch>
        </p:blipFill>
        <p:spPr>
          <a:xfrm>
            <a:off x="7953212" y="440690"/>
            <a:ext cx="3687160" cy="2760333"/>
          </a:xfrm>
          <a:prstGeom prst="rect">
            <a:avLst/>
          </a:prstGeom>
        </p:spPr>
      </p:pic>
    </p:spTree>
    <p:extLst>
      <p:ext uri="{BB962C8B-B14F-4D97-AF65-F5344CB8AC3E}">
        <p14:creationId xmlns:p14="http://schemas.microsoft.com/office/powerpoint/2010/main" val="3403580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50763" y="197886"/>
            <a:ext cx="2043098" cy="868346"/>
          </a:xfrm>
        </p:spPr>
        <p:txBody>
          <a:bodyPr>
            <a:normAutofit/>
          </a:bodyPr>
          <a:lstStyle/>
          <a:p>
            <a:pPr>
              <a:defRPr/>
            </a:pPr>
            <a:r>
              <a:rPr lang="zh-CN" altLang="en-US" sz="2800" dirty="0">
                <a:solidFill>
                  <a:schemeClr val="tx1"/>
                </a:solidFill>
                <a:latin typeface="Times New Roman" panose="02020603050405020304" pitchFamily="18" charset="0"/>
                <a:ea typeface="微软雅黑" panose="020B0503020204020204" pitchFamily="34" charset="-122"/>
              </a:rPr>
              <a:t>练习</a:t>
            </a:r>
            <a:r>
              <a:rPr lang="en-US" altLang="zh-CN" sz="2800" dirty="0">
                <a:solidFill>
                  <a:schemeClr val="tx1"/>
                </a:solidFill>
                <a:latin typeface="Times New Roman" panose="02020603050405020304" pitchFamily="18" charset="0"/>
                <a:ea typeface="微软雅黑" panose="020B0503020204020204" pitchFamily="34" charset="-122"/>
              </a:rPr>
              <a:t>1</a:t>
            </a:r>
            <a:endParaRPr lang="zh-CN" altLang="en-US" sz="2800" dirty="0">
              <a:solidFill>
                <a:schemeClr val="tx1"/>
              </a:solidFill>
              <a:latin typeface="Times New Roman" panose="02020603050405020304" pitchFamily="18" charset="0"/>
              <a:ea typeface="微软雅黑" panose="020B0503020204020204" pitchFamily="34" charset="-122"/>
            </a:endParaRPr>
          </a:p>
        </p:txBody>
      </p:sp>
      <p:pic>
        <p:nvPicPr>
          <p:cNvPr id="22530" name="Picture 5" descr="图11"/>
          <p:cNvPicPr>
            <a:picLocks noChangeAspect="1" noChangeArrowheads="1"/>
          </p:cNvPicPr>
          <p:nvPr/>
        </p:nvPicPr>
        <p:blipFill>
          <a:blip r:embed="rId2"/>
          <a:srcRect/>
          <a:stretch>
            <a:fillRect/>
          </a:stretch>
        </p:blipFill>
        <p:spPr bwMode="auto">
          <a:xfrm>
            <a:off x="2402372" y="257969"/>
            <a:ext cx="6696075" cy="6342062"/>
          </a:xfrm>
          <a:prstGeom prst="rect">
            <a:avLst/>
          </a:prstGeom>
          <a:noFill/>
          <a:ln w="9525">
            <a:noFill/>
            <a:miter lim="800000"/>
            <a:headEnd/>
            <a:tailEnd/>
          </a:ln>
        </p:spPr>
      </p:pic>
    </p:spTree>
    <p:extLst>
      <p:ext uri="{BB962C8B-B14F-4D97-AF65-F5344CB8AC3E}">
        <p14:creationId xmlns:p14="http://schemas.microsoft.com/office/powerpoint/2010/main" val="304282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2" name="Rectangle 8"/>
          <p:cNvSpPr>
            <a:spLocks noGrp="1" noChangeArrowheads="1"/>
          </p:cNvSpPr>
          <p:nvPr>
            <p:ph type="body" idx="4294967295"/>
          </p:nvPr>
        </p:nvSpPr>
        <p:spPr>
          <a:xfrm>
            <a:off x="-1" y="0"/>
            <a:ext cx="10323443" cy="3571875"/>
          </a:xfrm>
        </p:spPr>
        <p:txBody>
          <a:bodyPr/>
          <a:lstStyle/>
          <a:p>
            <a:pPr marL="0" indent="0">
              <a:lnSpc>
                <a:spcPct val="150000"/>
              </a:lnSpc>
              <a:buNone/>
              <a:defRPr/>
            </a:pPr>
            <a:r>
              <a:rPr lang="en-US" altLang="zh-CN" sz="2400" dirty="0">
                <a:solidFill>
                  <a:schemeClr val="tx1"/>
                </a:solidFill>
                <a:latin typeface="微软雅黑" pitchFamily="34" charset="-122"/>
                <a:ea typeface="微软雅黑" pitchFamily="34" charset="-122"/>
              </a:rPr>
              <a:t>   </a:t>
            </a:r>
            <a:r>
              <a:rPr lang="zh-CN" altLang="en-US" sz="2400" dirty="0">
                <a:solidFill>
                  <a:schemeClr val="tx1"/>
                </a:solidFill>
                <a:latin typeface="微软雅黑" pitchFamily="34" charset="-122"/>
                <a:ea typeface="微软雅黑" pitchFamily="34" charset="-122"/>
              </a:rPr>
              <a:t>（二）日常航空天气报告图</a:t>
            </a:r>
          </a:p>
          <a:p>
            <a:pPr marL="0" indent="0">
              <a:lnSpc>
                <a:spcPct val="150000"/>
              </a:lnSpc>
              <a:buNone/>
              <a:defRPr/>
            </a:pPr>
            <a:r>
              <a:rPr lang="en-US" altLang="zh-CN" sz="2400" dirty="0">
                <a:solidFill>
                  <a:schemeClr val="tx1"/>
                </a:solidFill>
                <a:latin typeface="微软雅黑" pitchFamily="34" charset="-122"/>
                <a:ea typeface="微软雅黑" pitchFamily="34" charset="-122"/>
              </a:rPr>
              <a:t>1</a:t>
            </a:r>
            <a:r>
              <a:rPr lang="zh-CN" altLang="en-US" sz="2400" dirty="0">
                <a:solidFill>
                  <a:schemeClr val="tx1"/>
                </a:solidFill>
                <a:latin typeface="微软雅黑" pitchFamily="34" charset="-122"/>
                <a:ea typeface="微软雅黑" pitchFamily="34" charset="-122"/>
              </a:rPr>
              <a:t>、日常航空天气报告表</a:t>
            </a:r>
            <a:endParaRPr lang="en-US" altLang="zh-CN" sz="2400" dirty="0">
              <a:solidFill>
                <a:schemeClr val="tx1"/>
              </a:solidFill>
              <a:latin typeface="微软雅黑" pitchFamily="34" charset="-122"/>
              <a:ea typeface="微软雅黑" pitchFamily="34" charset="-122"/>
            </a:endParaRPr>
          </a:p>
          <a:p>
            <a:pPr marL="0" indent="0">
              <a:lnSpc>
                <a:spcPct val="150000"/>
              </a:lnSpc>
              <a:buNone/>
              <a:defRPr/>
            </a:pPr>
            <a:r>
              <a:rPr lang="zh-CN" altLang="en-US" sz="2400" dirty="0">
                <a:solidFill>
                  <a:schemeClr val="tx1"/>
                </a:solidFill>
                <a:latin typeface="微软雅黑" pitchFamily="34" charset="-122"/>
                <a:ea typeface="微软雅黑" pitchFamily="34" charset="-122"/>
              </a:rPr>
              <a:t>       在实际应用中，常把各地的报告排列成表：根据其演变规律，判断短期内天气变化趋势和对飞行的影响。</a:t>
            </a:r>
          </a:p>
          <a:p>
            <a:pPr marL="0" indent="0">
              <a:lnSpc>
                <a:spcPct val="150000"/>
              </a:lnSpc>
              <a:buNone/>
              <a:defRPr/>
            </a:pPr>
            <a:r>
              <a:rPr lang="zh-CN" altLang="en-US" sz="2400" dirty="0">
                <a:solidFill>
                  <a:schemeClr val="tx1"/>
                </a:solidFill>
                <a:latin typeface="微软雅黑" pitchFamily="34" charset="-122"/>
                <a:ea typeface="微软雅黑" pitchFamily="34" charset="-122"/>
              </a:rPr>
              <a:t>   </a:t>
            </a:r>
          </a:p>
          <a:p>
            <a:pPr>
              <a:buFontTx/>
              <a:buNone/>
              <a:defRPr/>
            </a:pPr>
            <a:endParaRPr lang="en-US" altLang="zh-CN" sz="2800" dirty="0">
              <a:latin typeface="微软雅黑" pitchFamily="34" charset="-122"/>
              <a:ea typeface="微软雅黑" pitchFamily="34" charset="-122"/>
            </a:endParaRPr>
          </a:p>
        </p:txBody>
      </p:sp>
      <p:pic>
        <p:nvPicPr>
          <p:cNvPr id="23554" name="Picture 5" descr="图11-3"/>
          <p:cNvPicPr>
            <a:picLocks noChangeAspect="1" noChangeArrowheads="1"/>
          </p:cNvPicPr>
          <p:nvPr/>
        </p:nvPicPr>
        <p:blipFill>
          <a:blip r:embed="rId2"/>
          <a:srcRect/>
          <a:stretch>
            <a:fillRect/>
          </a:stretch>
        </p:blipFill>
        <p:spPr bwMode="auto">
          <a:xfrm>
            <a:off x="908258" y="2736023"/>
            <a:ext cx="8732837" cy="2733675"/>
          </a:xfrm>
          <a:prstGeom prst="rect">
            <a:avLst/>
          </a:prstGeom>
          <a:noFill/>
          <a:ln w="9525">
            <a:noFill/>
            <a:miter lim="800000"/>
            <a:headEnd/>
            <a:tailEnd/>
          </a:ln>
        </p:spPr>
      </p:pic>
    </p:spTree>
    <p:extLst>
      <p:ext uri="{BB962C8B-B14F-4D97-AF65-F5344CB8AC3E}">
        <p14:creationId xmlns:p14="http://schemas.microsoft.com/office/powerpoint/2010/main" val="252946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4294967295"/>
          </p:nvPr>
        </p:nvSpPr>
        <p:spPr>
          <a:xfrm>
            <a:off x="503583" y="61913"/>
            <a:ext cx="10243930" cy="2500312"/>
          </a:xfrm>
        </p:spPr>
        <p:txBody>
          <a:bodyPr>
            <a:normAutofit/>
          </a:bodyPr>
          <a:lstStyle/>
          <a:p>
            <a:pPr marL="0" indent="0">
              <a:lnSpc>
                <a:spcPct val="150000"/>
              </a:lnSpc>
              <a:buNone/>
              <a:defRPr/>
            </a:pP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日常航空天气预报图</a:t>
            </a:r>
          </a:p>
          <a:p>
            <a:pPr marL="0" indent="0">
              <a:lnSpc>
                <a:spcPct val="150000"/>
              </a:lnSpc>
              <a:buNone/>
              <a:defRPr/>
            </a:pPr>
            <a:r>
              <a:rPr lang="zh-CN" altLang="en-US" sz="2400" dirty="0">
                <a:solidFill>
                  <a:schemeClr val="tx1"/>
                </a:solidFill>
                <a:latin typeface="Times New Roman" panose="02020603050405020304" pitchFamily="18" charset="0"/>
                <a:ea typeface="微软雅黑" pitchFamily="34" charset="-122"/>
              </a:rPr>
              <a:t>       气象台将沿航线各站的同一时刻的天气实况填在图上，使飞行员能清楚的了解航线上和降落场的现在的天气，航路天气预报是对航线和降落场天气有清楚的了解，是保障飞行安全的基础。</a:t>
            </a:r>
          </a:p>
          <a:p>
            <a:pPr>
              <a:buFontTx/>
              <a:buNone/>
              <a:defRPr/>
            </a:pPr>
            <a:endParaRPr lang="zh-CN" altLang="en-US" sz="2800" dirty="0">
              <a:latin typeface="微软雅黑" pitchFamily="34" charset="-122"/>
              <a:ea typeface="微软雅黑" pitchFamily="34" charset="-122"/>
            </a:endParaRPr>
          </a:p>
          <a:p>
            <a:pPr>
              <a:lnSpc>
                <a:spcPct val="110000"/>
              </a:lnSpc>
              <a:buFontTx/>
              <a:buNone/>
              <a:defRPr/>
            </a:pPr>
            <a:endParaRPr lang="zh-CN" altLang="en-US" sz="2800" dirty="0">
              <a:latin typeface="微软雅黑" pitchFamily="34" charset="-122"/>
              <a:ea typeface="微软雅黑" pitchFamily="34" charset="-122"/>
            </a:endParaRPr>
          </a:p>
          <a:p>
            <a:pPr>
              <a:buFontTx/>
              <a:buNone/>
              <a:defRPr/>
            </a:pPr>
            <a:endParaRPr lang="en-US" altLang="zh-CN" sz="2800" dirty="0">
              <a:latin typeface="微软雅黑" pitchFamily="34" charset="-122"/>
              <a:ea typeface="微软雅黑" pitchFamily="34" charset="-122"/>
            </a:endParaRPr>
          </a:p>
        </p:txBody>
      </p:sp>
      <p:pic>
        <p:nvPicPr>
          <p:cNvPr id="24578" name="Picture 6" descr="图11-4"/>
          <p:cNvPicPr>
            <a:picLocks noChangeAspect="1" noChangeArrowheads="1"/>
          </p:cNvPicPr>
          <p:nvPr/>
        </p:nvPicPr>
        <p:blipFill>
          <a:blip r:embed="rId2"/>
          <a:srcRect/>
          <a:stretch>
            <a:fillRect/>
          </a:stretch>
        </p:blipFill>
        <p:spPr bwMode="auto">
          <a:xfrm>
            <a:off x="2343772" y="2397125"/>
            <a:ext cx="6786562" cy="4460875"/>
          </a:xfrm>
          <a:prstGeom prst="rect">
            <a:avLst/>
          </a:prstGeom>
          <a:noFill/>
          <a:ln w="9525">
            <a:noFill/>
            <a:miter lim="800000"/>
            <a:headEnd/>
            <a:tailEnd/>
          </a:ln>
        </p:spPr>
      </p:pic>
    </p:spTree>
    <p:extLst>
      <p:ext uri="{BB962C8B-B14F-4D97-AF65-F5344CB8AC3E}">
        <p14:creationId xmlns:p14="http://schemas.microsoft.com/office/powerpoint/2010/main" val="4248730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60087" y="238540"/>
            <a:ext cx="4500562" cy="571500"/>
          </a:xfrm>
          <a:prstGeom prst="rect">
            <a:avLst/>
          </a:prstGeom>
          <a:solidFill>
            <a:schemeClr val="bg1"/>
          </a:solidFill>
        </p:spPr>
        <p:txBody>
          <a:bodyPr/>
          <a:lstStyle/>
          <a:p>
            <a:pPr eaLnBrk="0" hangingPunct="0">
              <a:defRPr/>
            </a:pPr>
            <a:r>
              <a:rPr lang="zh-CN" altLang="en-US" sz="2800" dirty="0">
                <a:latin typeface="微软雅黑" pitchFamily="34" charset="-122"/>
                <a:ea typeface="微软雅黑" pitchFamily="34" charset="-122"/>
                <a:cs typeface="+mj-cs"/>
              </a:rPr>
              <a:t>二、航空天气预报 </a:t>
            </a:r>
          </a:p>
        </p:txBody>
      </p:sp>
      <p:sp>
        <p:nvSpPr>
          <p:cNvPr id="25602" name="Rectangle 3"/>
          <p:cNvSpPr txBox="1">
            <a:spLocks noChangeArrowheads="1"/>
          </p:cNvSpPr>
          <p:nvPr/>
        </p:nvSpPr>
        <p:spPr bwMode="auto">
          <a:xfrm>
            <a:off x="940284" y="1077361"/>
            <a:ext cx="8501062" cy="2544762"/>
          </a:xfrm>
          <a:prstGeom prst="rect">
            <a:avLst/>
          </a:prstGeom>
          <a:noFill/>
          <a:ln w="9525">
            <a:noFill/>
            <a:miter lim="800000"/>
            <a:headEnd/>
            <a:tailEnd/>
          </a:ln>
        </p:spPr>
        <p:txBody>
          <a:bodyPr/>
          <a:lstStyle/>
          <a:p>
            <a:pPr eaLnBrk="0" hangingPunct="0">
              <a:lnSpc>
                <a:spcPct val="20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（一）航路天气预报（</a:t>
            </a:r>
            <a:r>
              <a:rPr lang="en-US" altLang="zh-CN" sz="2400" dirty="0">
                <a:latin typeface="Times New Roman" panose="02020603050405020304" pitchFamily="18" charset="0"/>
                <a:ea typeface="微软雅黑" pitchFamily="34" charset="-122"/>
              </a:rPr>
              <a:t>Route Weather Forecasts</a:t>
            </a:r>
            <a:r>
              <a:rPr lang="zh-CN" altLang="en-US" sz="2400" dirty="0">
                <a:latin typeface="Times New Roman" panose="02020603050405020304" pitchFamily="18" charset="0"/>
                <a:ea typeface="微软雅黑" pitchFamily="34" charset="-122"/>
              </a:rPr>
              <a:t>）</a:t>
            </a:r>
          </a:p>
          <a:p>
            <a:pPr eaLnBrk="0" hangingPunct="0">
              <a:lnSpc>
                <a:spcPct val="200000"/>
              </a:lnSpc>
              <a:spcBef>
                <a:spcPts val="400"/>
              </a:spcBef>
              <a:buClr>
                <a:schemeClr val="accent1"/>
              </a:buClr>
              <a:buSzPct val="68000"/>
            </a:pPr>
            <a:r>
              <a:rPr lang="en-US" altLang="zh-CN" sz="2400" dirty="0">
                <a:latin typeface="Times New Roman" panose="02020603050405020304" pitchFamily="18" charset="0"/>
                <a:ea typeface="微软雅黑" pitchFamily="34" charset="-122"/>
              </a:rPr>
              <a:t>——</a:t>
            </a:r>
            <a:r>
              <a:rPr lang="zh-CN" altLang="en-US" sz="2400" dirty="0">
                <a:latin typeface="Times New Roman" panose="02020603050405020304" pitchFamily="18" charset="0"/>
                <a:ea typeface="微软雅黑" pitchFamily="34" charset="-122"/>
              </a:rPr>
              <a:t>对航路上天气的预报和预告，它的有效时间一般为预计飞行时间的前后</a:t>
            </a:r>
            <a:r>
              <a:rPr lang="en-US" altLang="zh-CN" sz="2400" dirty="0">
                <a:latin typeface="Times New Roman" panose="02020603050405020304" pitchFamily="18" charset="0"/>
                <a:ea typeface="微软雅黑" pitchFamily="34" charset="-122"/>
              </a:rPr>
              <a:t>1</a:t>
            </a:r>
            <a:r>
              <a:rPr lang="zh-CN" altLang="en-US" sz="2400" dirty="0">
                <a:latin typeface="Times New Roman" panose="02020603050405020304" pitchFamily="18" charset="0"/>
                <a:ea typeface="微软雅黑" pitchFamily="34" charset="-122"/>
              </a:rPr>
              <a:t>小时，常常为国内中低空航线飞行提供。主要内容包括云、天气现象、飞机颠簸、飞机积冰、飞行高度上的风、气温等。</a:t>
            </a:r>
            <a:endParaRPr lang="zh-CN" altLang="en-US" sz="2400" dirty="0">
              <a:latin typeface="Times New Roman" panose="02020603050405020304" pitchFamily="18" charset="0"/>
              <a:ea typeface="隶书" pitchFamily="49" charset="-122"/>
            </a:endParaRPr>
          </a:p>
        </p:txBody>
      </p:sp>
    </p:spTree>
    <p:extLst>
      <p:ext uri="{BB962C8B-B14F-4D97-AF65-F5344CB8AC3E}">
        <p14:creationId xmlns:p14="http://schemas.microsoft.com/office/powerpoint/2010/main" val="2482252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4" descr="图11-5"/>
          <p:cNvPicPr>
            <a:picLocks noChangeAspect="1" noChangeArrowheads="1"/>
          </p:cNvPicPr>
          <p:nvPr/>
        </p:nvPicPr>
        <p:blipFill>
          <a:blip r:embed="rId2"/>
          <a:srcRect l="2864" t="2380" r="3416" b="3572"/>
          <a:stretch>
            <a:fillRect/>
          </a:stretch>
        </p:blipFill>
        <p:spPr bwMode="auto">
          <a:xfrm>
            <a:off x="3573740" y="0"/>
            <a:ext cx="6334125" cy="6858000"/>
          </a:xfrm>
          <a:prstGeom prst="rect">
            <a:avLst/>
          </a:prstGeom>
          <a:noFill/>
          <a:ln w="9525">
            <a:noFill/>
            <a:miter lim="800000"/>
            <a:headEnd/>
            <a:tailEnd/>
          </a:ln>
        </p:spPr>
      </p:pic>
      <p:sp>
        <p:nvSpPr>
          <p:cNvPr id="26626" name="矩形 2"/>
          <p:cNvSpPr>
            <a:spLocks noChangeArrowheads="1"/>
          </p:cNvSpPr>
          <p:nvPr/>
        </p:nvSpPr>
        <p:spPr bwMode="auto">
          <a:xfrm>
            <a:off x="598627" y="265762"/>
            <a:ext cx="2714625" cy="3163238"/>
          </a:xfrm>
          <a:prstGeom prst="rect">
            <a:avLst/>
          </a:prstGeom>
          <a:noFill/>
          <a:ln w="9525">
            <a:noFill/>
            <a:miter lim="800000"/>
            <a:headEnd/>
            <a:tailEnd/>
          </a:ln>
        </p:spPr>
        <p:txBody>
          <a:bodyPr>
            <a:spAutoFit/>
          </a:bodyPr>
          <a:lstStyle/>
          <a:p>
            <a:pPr>
              <a:lnSpc>
                <a:spcPct val="200000"/>
              </a:lnSpc>
            </a:pPr>
            <a:r>
              <a:rPr lang="zh-CN" altLang="en-US" sz="28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  航路预报的图表形式直观明了，它可以说明在航路上发生的天气现象</a:t>
            </a:r>
            <a:r>
              <a:rPr lang="zh-CN" altLang="en-US" sz="2800" dirty="0">
                <a:latin typeface="微软雅黑" pitchFamily="34" charset="-122"/>
                <a:ea typeface="微软雅黑" pitchFamily="34" charset="-122"/>
              </a:rPr>
              <a:t>。</a:t>
            </a:r>
          </a:p>
        </p:txBody>
      </p:sp>
    </p:spTree>
    <p:extLst>
      <p:ext uri="{BB962C8B-B14F-4D97-AF65-F5344CB8AC3E}">
        <p14:creationId xmlns:p14="http://schemas.microsoft.com/office/powerpoint/2010/main" val="3754614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txBox="1">
            <a:spLocks noChangeArrowheads="1"/>
          </p:cNvSpPr>
          <p:nvPr/>
        </p:nvSpPr>
        <p:spPr bwMode="auto">
          <a:xfrm>
            <a:off x="224874" y="172278"/>
            <a:ext cx="6143625" cy="1071562"/>
          </a:xfrm>
          <a:prstGeom prst="rect">
            <a:avLst/>
          </a:prstGeom>
          <a:solidFill>
            <a:schemeClr val="bg1"/>
          </a:solidFill>
          <a:ln w="9525">
            <a:noFill/>
            <a:miter lim="800000"/>
            <a:headEnd/>
            <a:tailEnd/>
          </a:ln>
        </p:spPr>
        <p:txBody>
          <a:bodyPr/>
          <a:lstStyle/>
          <a:p>
            <a:pPr eaLnBrk="0" hangingPunct="0"/>
            <a:r>
              <a:rPr lang="zh-CN" altLang="en-US" sz="2400" dirty="0">
                <a:latin typeface="Times New Roman" panose="02020603050405020304" pitchFamily="18" charset="0"/>
                <a:ea typeface="微软雅黑" pitchFamily="34" charset="-122"/>
              </a:rPr>
              <a:t>（二）重要航空天气预报 </a:t>
            </a:r>
            <a:endParaRPr lang="en-US" altLang="zh-CN" sz="2400" dirty="0">
              <a:latin typeface="Times New Roman" panose="02020603050405020304" pitchFamily="18" charset="0"/>
              <a:ea typeface="微软雅黑" pitchFamily="34" charset="-122"/>
            </a:endParaRPr>
          </a:p>
          <a:p>
            <a:pPr eaLnBrk="0" hangingPunct="0"/>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Significant Weather  Forecasts</a:t>
            </a:r>
            <a:r>
              <a:rPr lang="zh-CN" altLang="en-US" sz="2400" dirty="0">
                <a:latin typeface="Times New Roman" panose="02020603050405020304" pitchFamily="18" charset="0"/>
                <a:ea typeface="微软雅黑" pitchFamily="34" charset="-122"/>
              </a:rPr>
              <a:t>）</a:t>
            </a:r>
          </a:p>
        </p:txBody>
      </p:sp>
      <p:sp>
        <p:nvSpPr>
          <p:cNvPr id="27650" name="矩形 2"/>
          <p:cNvSpPr>
            <a:spLocks noChangeArrowheads="1"/>
          </p:cNvSpPr>
          <p:nvPr/>
        </p:nvSpPr>
        <p:spPr bwMode="auto">
          <a:xfrm>
            <a:off x="980040" y="1071562"/>
            <a:ext cx="8215312" cy="5468164"/>
          </a:xfrm>
          <a:prstGeom prst="rect">
            <a:avLst/>
          </a:prstGeom>
          <a:noFill/>
          <a:ln w="9525">
            <a:noFill/>
            <a:miter lim="800000"/>
            <a:headEnd/>
            <a:tailEnd/>
          </a:ln>
        </p:spPr>
        <p:txBody>
          <a:bodyPr>
            <a:spAutoFit/>
          </a:bodyPr>
          <a:lstStyle/>
          <a:p>
            <a:pPr indent="457200" algn="just">
              <a:lnSpc>
                <a:spcPct val="150000"/>
              </a:lnSpc>
            </a:pPr>
            <a:r>
              <a:rPr lang="zh-CN" altLang="en-US" sz="2400" dirty="0">
                <a:latin typeface="Times New Roman" panose="02020603050405020304" pitchFamily="18" charset="0"/>
                <a:ea typeface="微软雅黑" pitchFamily="34" charset="-122"/>
              </a:rPr>
              <a:t>重要航空天气预报：是对航路（区域）有重大影响的天气的预报，常以预报图和缩写明语形式的电码提供，一般有效时间为</a:t>
            </a:r>
            <a:r>
              <a:rPr lang="en-US" altLang="zh-CN" sz="2400" dirty="0">
                <a:latin typeface="Times New Roman" panose="02020603050405020304" pitchFamily="18" charset="0"/>
                <a:ea typeface="微软雅黑" pitchFamily="34" charset="-122"/>
              </a:rPr>
              <a:t>24</a:t>
            </a:r>
            <a:r>
              <a:rPr lang="zh-CN" altLang="en-US" sz="2400" dirty="0">
                <a:latin typeface="Times New Roman" panose="02020603050405020304" pitchFamily="18" charset="0"/>
                <a:ea typeface="微软雅黑" pitchFamily="34" charset="-122"/>
              </a:rPr>
              <a:t>小时。</a:t>
            </a:r>
            <a:endParaRPr lang="en-US" altLang="zh-CN" sz="2400" dirty="0">
              <a:latin typeface="Times New Roman" panose="02020603050405020304" pitchFamily="18" charset="0"/>
              <a:ea typeface="微软雅黑" pitchFamily="34" charset="-122"/>
            </a:endParaRPr>
          </a:p>
          <a:p>
            <a:pPr indent="457200" algn="just">
              <a:lnSpc>
                <a:spcPct val="150000"/>
              </a:lnSpc>
            </a:pPr>
            <a:r>
              <a:rPr lang="zh-CN" altLang="en-US" sz="2400" dirty="0">
                <a:latin typeface="Times New Roman" panose="02020603050405020304" pitchFamily="18" charset="0"/>
                <a:ea typeface="微软雅黑" pitchFamily="34" charset="-122"/>
              </a:rPr>
              <a:t>      一般分三种高度层提供：</a:t>
            </a:r>
          </a:p>
          <a:p>
            <a:pPr indent="457200" algn="just">
              <a:lnSpc>
                <a:spcPct val="150000"/>
              </a:lnSpc>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1</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FL100</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10000</a:t>
            </a:r>
            <a:r>
              <a:rPr lang="zh-CN" altLang="en-US" sz="2400" dirty="0">
                <a:latin typeface="Times New Roman" panose="02020603050405020304" pitchFamily="18" charset="0"/>
                <a:ea typeface="微软雅黑" pitchFamily="34" charset="-122"/>
              </a:rPr>
              <a:t>英尺）以下的</a:t>
            </a:r>
            <a:r>
              <a:rPr lang="zh-CN" altLang="en-US" sz="2400" dirty="0">
                <a:solidFill>
                  <a:srgbClr val="FF0000"/>
                </a:solidFill>
                <a:latin typeface="Times New Roman" panose="02020603050405020304" pitchFamily="18" charset="0"/>
                <a:ea typeface="微软雅黑" pitchFamily="34" charset="-122"/>
              </a:rPr>
              <a:t>低层</a:t>
            </a:r>
          </a:p>
          <a:p>
            <a:pPr indent="457200" algn="just">
              <a:lnSpc>
                <a:spcPct val="150000"/>
              </a:lnSpc>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2</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FL100</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10000</a:t>
            </a:r>
            <a:r>
              <a:rPr lang="zh-CN" altLang="en-US" sz="2400" dirty="0">
                <a:latin typeface="Times New Roman" panose="02020603050405020304" pitchFamily="18" charset="0"/>
                <a:ea typeface="微软雅黑" pitchFamily="34" charset="-122"/>
              </a:rPr>
              <a:t>英尺）至</a:t>
            </a:r>
            <a:r>
              <a:rPr lang="en-US" altLang="zh-CN" sz="2400" dirty="0">
                <a:latin typeface="Times New Roman" panose="02020603050405020304" pitchFamily="18" charset="0"/>
                <a:ea typeface="微软雅黑" pitchFamily="34" charset="-122"/>
              </a:rPr>
              <a:t>FL250</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25000</a:t>
            </a:r>
            <a:r>
              <a:rPr lang="zh-CN" altLang="en-US" sz="2400" dirty="0">
                <a:latin typeface="Times New Roman" panose="02020603050405020304" pitchFamily="18" charset="0"/>
                <a:ea typeface="微软雅黑" pitchFamily="34" charset="-122"/>
              </a:rPr>
              <a:t>英尺） </a:t>
            </a:r>
            <a:endParaRPr lang="en-US" altLang="zh-CN" sz="2400" dirty="0">
              <a:latin typeface="Times New Roman" panose="02020603050405020304" pitchFamily="18" charset="0"/>
              <a:ea typeface="微软雅黑" pitchFamily="34" charset="-122"/>
            </a:endParaRPr>
          </a:p>
          <a:p>
            <a:pPr indent="457200" algn="just">
              <a:lnSpc>
                <a:spcPct val="150000"/>
              </a:lnSpc>
            </a:pPr>
            <a:r>
              <a:rPr lang="en-US" altLang="zh-CN" sz="2400" dirty="0">
                <a:latin typeface="Times New Roman" panose="02020603050405020304" pitchFamily="18" charset="0"/>
                <a:ea typeface="微软雅黑" pitchFamily="34" charset="-122"/>
              </a:rPr>
              <a:t>         </a:t>
            </a:r>
            <a:r>
              <a:rPr lang="zh-CN" altLang="en-US" sz="2400" dirty="0">
                <a:latin typeface="Times New Roman" panose="02020603050405020304" pitchFamily="18" charset="0"/>
                <a:ea typeface="微软雅黑" pitchFamily="34" charset="-122"/>
              </a:rPr>
              <a:t>的</a:t>
            </a:r>
            <a:r>
              <a:rPr lang="zh-CN" altLang="en-US" sz="2400" dirty="0">
                <a:solidFill>
                  <a:srgbClr val="FF0000"/>
                </a:solidFill>
                <a:latin typeface="Times New Roman" panose="02020603050405020304" pitchFamily="18" charset="0"/>
                <a:ea typeface="微软雅黑" pitchFamily="34" charset="-122"/>
              </a:rPr>
              <a:t>中层</a:t>
            </a:r>
          </a:p>
          <a:p>
            <a:pPr indent="457200" algn="just">
              <a:lnSpc>
                <a:spcPct val="150000"/>
              </a:lnSpc>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3</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FL250</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25000</a:t>
            </a:r>
            <a:r>
              <a:rPr lang="zh-CN" altLang="en-US" sz="2400" dirty="0">
                <a:latin typeface="Times New Roman" panose="02020603050405020304" pitchFamily="18" charset="0"/>
                <a:ea typeface="微软雅黑" pitchFamily="34" charset="-122"/>
              </a:rPr>
              <a:t>英尺）以上的</a:t>
            </a:r>
            <a:r>
              <a:rPr lang="zh-CN" altLang="en-US" sz="2400" dirty="0">
                <a:solidFill>
                  <a:srgbClr val="FF0000"/>
                </a:solidFill>
                <a:latin typeface="Times New Roman" panose="02020603050405020304" pitchFamily="18" charset="0"/>
                <a:ea typeface="微软雅黑" pitchFamily="34" charset="-122"/>
              </a:rPr>
              <a:t>高层</a:t>
            </a:r>
          </a:p>
          <a:p>
            <a:pPr algn="just">
              <a:lnSpc>
                <a:spcPts val="4000"/>
              </a:lnSpc>
            </a:pPr>
            <a:endParaRPr lang="en-US" altLang="zh-CN" sz="2800" dirty="0">
              <a:latin typeface="微软雅黑" pitchFamily="34" charset="-122"/>
              <a:ea typeface="微软雅黑" pitchFamily="34" charset="-122"/>
            </a:endParaRPr>
          </a:p>
          <a:p>
            <a:pPr algn="just"/>
            <a:endParaRPr lang="zh-CN" altLang="en-US" sz="2800" dirty="0">
              <a:latin typeface="微软雅黑" pitchFamily="34" charset="-122"/>
              <a:ea typeface="微软雅黑" pitchFamily="34" charset="-122"/>
            </a:endParaRPr>
          </a:p>
        </p:txBody>
      </p:sp>
    </p:spTree>
    <p:extLst>
      <p:ext uri="{BB962C8B-B14F-4D97-AF65-F5344CB8AC3E}">
        <p14:creationId xmlns:p14="http://schemas.microsoft.com/office/powerpoint/2010/main" val="3377647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80016" y="174557"/>
            <a:ext cx="6243637" cy="577850"/>
          </a:xfrm>
          <a:prstGeom prst="rect">
            <a:avLst/>
          </a:prstGeom>
        </p:spPr>
        <p:txBody>
          <a:bodyPr/>
          <a:lstStyle/>
          <a:p>
            <a:pPr eaLnBrk="0" hangingPunct="0">
              <a:defRPr/>
            </a:pPr>
            <a:r>
              <a:rPr lang="en-US" altLang="zh-CN" sz="2400" dirty="0">
                <a:latin typeface="Times New Roman" panose="02020603050405020304" pitchFamily="18" charset="0"/>
                <a:ea typeface="微软雅黑" pitchFamily="34" charset="-122"/>
                <a:cs typeface="+mj-cs"/>
              </a:rPr>
              <a:t>1.</a:t>
            </a:r>
            <a:r>
              <a:rPr lang="zh-CN" altLang="en-US" sz="2400" dirty="0">
                <a:latin typeface="Times New Roman" panose="02020603050405020304" pitchFamily="18" charset="0"/>
                <a:ea typeface="微软雅黑" pitchFamily="34" charset="-122"/>
                <a:cs typeface="+mj-cs"/>
              </a:rPr>
              <a:t>低层（</a:t>
            </a:r>
            <a:r>
              <a:rPr lang="en-US" altLang="zh-CN" sz="2400" dirty="0">
                <a:latin typeface="Times New Roman" panose="02020603050405020304" pitchFamily="18" charset="0"/>
                <a:ea typeface="微软雅黑" pitchFamily="34" charset="-122"/>
                <a:cs typeface="+mj-cs"/>
              </a:rPr>
              <a:t>FL100</a:t>
            </a:r>
            <a:r>
              <a:rPr lang="zh-CN" altLang="en-US" sz="2400" dirty="0">
                <a:latin typeface="Times New Roman" panose="02020603050405020304" pitchFamily="18" charset="0"/>
                <a:ea typeface="微软雅黑" pitchFamily="34" charset="-122"/>
                <a:cs typeface="+mj-cs"/>
              </a:rPr>
              <a:t>以下）重要天气预报图 </a:t>
            </a:r>
          </a:p>
        </p:txBody>
      </p:sp>
      <p:sp>
        <p:nvSpPr>
          <p:cNvPr id="28674" name="Rectangle 6"/>
          <p:cNvSpPr txBox="1">
            <a:spLocks noChangeArrowheads="1"/>
          </p:cNvSpPr>
          <p:nvPr/>
        </p:nvSpPr>
        <p:spPr bwMode="auto">
          <a:xfrm>
            <a:off x="780016" y="925167"/>
            <a:ext cx="8358187" cy="4572000"/>
          </a:xfrm>
          <a:prstGeom prst="rect">
            <a:avLst/>
          </a:prstGeom>
          <a:solidFill>
            <a:schemeClr val="bg1"/>
          </a:solidFill>
          <a:ln w="9525">
            <a:noFill/>
            <a:miter lim="800000"/>
            <a:headEnd/>
            <a:tailEnd/>
          </a:ln>
        </p:spPr>
        <p:txBody>
          <a:bodyPr/>
          <a:lstStyle/>
          <a:p>
            <a:pPr marL="365125" indent="-255588" eaLnBrk="0" hangingPunct="0">
              <a:lnSpc>
                <a:spcPct val="150000"/>
              </a:lnSpc>
              <a:spcBef>
                <a:spcPts val="400"/>
              </a:spcBef>
              <a:buClr>
                <a:schemeClr val="accent1"/>
              </a:buClr>
              <a:buSzPct val="68000"/>
            </a:pPr>
            <a:r>
              <a:rPr lang="zh-CN" altLang="en-US" sz="2800" dirty="0">
                <a:latin typeface="微软雅黑" pitchFamily="34" charset="-122"/>
                <a:ea typeface="微软雅黑" pitchFamily="34" charset="-122"/>
              </a:rPr>
              <a:t>（</a:t>
            </a:r>
            <a:r>
              <a:rPr lang="en-US" altLang="zh-CN" sz="2400" dirty="0">
                <a:latin typeface="Times New Roman" panose="02020603050405020304" pitchFamily="18" charset="0"/>
                <a:ea typeface="微软雅黑" pitchFamily="34" charset="-122"/>
              </a:rPr>
              <a:t>1</a:t>
            </a:r>
            <a:r>
              <a:rPr lang="zh-CN" altLang="en-US" sz="2400" dirty="0">
                <a:latin typeface="Times New Roman" panose="02020603050405020304" pitchFamily="18" charset="0"/>
                <a:ea typeface="微软雅黑" pitchFamily="34" charset="-122"/>
              </a:rPr>
              <a:t>）重要天气 </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2</a:t>
            </a:r>
            <a:r>
              <a:rPr lang="zh-CN" altLang="en-US" sz="2400" dirty="0">
                <a:latin typeface="Times New Roman" panose="02020603050405020304" pitchFamily="18" charset="0"/>
                <a:ea typeface="微软雅黑" pitchFamily="34" charset="-122"/>
              </a:rPr>
              <a:t>）重要天气系统 </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3</a:t>
            </a:r>
            <a:r>
              <a:rPr lang="zh-CN" altLang="en-US" sz="2400" dirty="0">
                <a:latin typeface="Times New Roman" panose="02020603050405020304" pitchFamily="18" charset="0"/>
                <a:ea typeface="微软雅黑" pitchFamily="34" charset="-122"/>
              </a:rPr>
              <a:t>）与重要天气相伴的云</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4</a:t>
            </a:r>
            <a:r>
              <a:rPr lang="zh-CN" altLang="en-US" sz="2400" dirty="0">
                <a:latin typeface="Times New Roman" panose="02020603050405020304" pitchFamily="18" charset="0"/>
                <a:ea typeface="微软雅黑" pitchFamily="34" charset="-122"/>
              </a:rPr>
              <a:t>）低于</a:t>
            </a:r>
            <a:r>
              <a:rPr lang="en-US" altLang="zh-CN" sz="2400" dirty="0">
                <a:latin typeface="Times New Roman" panose="02020603050405020304" pitchFamily="18" charset="0"/>
                <a:ea typeface="微软雅黑" pitchFamily="34" charset="-122"/>
              </a:rPr>
              <a:t>5000</a:t>
            </a:r>
            <a:r>
              <a:rPr lang="zh-CN" altLang="en-US" sz="2400" dirty="0">
                <a:latin typeface="Times New Roman" panose="02020603050405020304" pitchFamily="18" charset="0"/>
                <a:ea typeface="微软雅黑" pitchFamily="34" charset="-122"/>
              </a:rPr>
              <a:t>米的地面能见度</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5</a:t>
            </a:r>
            <a:r>
              <a:rPr lang="zh-CN" altLang="en-US" sz="2400" dirty="0">
                <a:latin typeface="Times New Roman" panose="02020603050405020304" pitchFamily="18" charset="0"/>
                <a:ea typeface="微软雅黑" pitchFamily="34" charset="-122"/>
              </a:rPr>
              <a:t>）气压中心及其预期的移动方向和速度</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6</a:t>
            </a: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FL100</a:t>
            </a:r>
            <a:r>
              <a:rPr lang="zh-CN" altLang="en-US" sz="2400" dirty="0">
                <a:latin typeface="Times New Roman" panose="02020603050405020304" pitchFamily="18" charset="0"/>
                <a:ea typeface="微软雅黑" pitchFamily="34" charset="-122"/>
              </a:rPr>
              <a:t>以下的</a:t>
            </a:r>
            <a:r>
              <a:rPr lang="en-US" altLang="zh-CN" sz="2400" dirty="0">
                <a:latin typeface="Times New Roman" panose="02020603050405020304" pitchFamily="18" charset="0"/>
                <a:ea typeface="微软雅黑" pitchFamily="34" charset="-122"/>
              </a:rPr>
              <a:t>0℃</a:t>
            </a:r>
            <a:r>
              <a:rPr lang="zh-CN" altLang="en-US" sz="2400" dirty="0">
                <a:latin typeface="Times New Roman" panose="02020603050405020304" pitchFamily="18" charset="0"/>
                <a:ea typeface="微软雅黑" pitchFamily="34" charset="-122"/>
              </a:rPr>
              <a:t>等温层的高度 </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7</a:t>
            </a:r>
            <a:r>
              <a:rPr lang="zh-CN" altLang="en-US" sz="2400" dirty="0">
                <a:latin typeface="Times New Roman" panose="02020603050405020304" pitchFamily="18" charset="0"/>
                <a:ea typeface="微软雅黑" pitchFamily="34" charset="-122"/>
              </a:rPr>
              <a:t>）海平面温度和海面状况 </a:t>
            </a:r>
          </a:p>
          <a:p>
            <a:pPr marL="365125" indent="-255588"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a:t>
            </a:r>
            <a:r>
              <a:rPr lang="en-US" altLang="zh-CN" sz="2400" dirty="0">
                <a:latin typeface="Times New Roman" panose="02020603050405020304" pitchFamily="18" charset="0"/>
                <a:ea typeface="微软雅黑" pitchFamily="34" charset="-122"/>
              </a:rPr>
              <a:t>8</a:t>
            </a:r>
            <a:r>
              <a:rPr lang="zh-CN" altLang="en-US" sz="2400" dirty="0">
                <a:latin typeface="Times New Roman" panose="02020603050405020304" pitchFamily="18" charset="0"/>
                <a:ea typeface="微软雅黑" pitchFamily="34" charset="-122"/>
              </a:rPr>
              <a:t>）有关当地火山喷发及火山灰云的情报</a:t>
            </a:r>
          </a:p>
        </p:txBody>
      </p:sp>
    </p:spTree>
    <p:extLst>
      <p:ext uri="{BB962C8B-B14F-4D97-AF65-F5344CB8AC3E}">
        <p14:creationId xmlns:p14="http://schemas.microsoft.com/office/powerpoint/2010/main" val="3903278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062421" y="653273"/>
            <a:ext cx="1103292" cy="4564063"/>
          </a:xfrm>
        </p:spPr>
        <p:txBody>
          <a:bodyPr/>
          <a:lstStyle/>
          <a:p>
            <a:pPr>
              <a:defRPr/>
            </a:pPr>
            <a:r>
              <a:rPr lang="zh-CN" altLang="en-US" sz="2800" dirty="0">
                <a:solidFill>
                  <a:schemeClr val="tx1"/>
                </a:solidFill>
                <a:latin typeface="微软雅黑" pitchFamily="34" charset="-122"/>
                <a:ea typeface="微软雅黑" pitchFamily="34" charset="-122"/>
              </a:rPr>
              <a:t>（</a:t>
            </a:r>
            <a:r>
              <a:rPr lang="en-US" altLang="zh-CN" sz="2800" dirty="0">
                <a:solidFill>
                  <a:schemeClr val="tx1"/>
                </a:solidFill>
                <a:latin typeface="微软雅黑" pitchFamily="34" charset="-122"/>
                <a:ea typeface="微软雅黑" pitchFamily="34" charset="-122"/>
              </a:rPr>
              <a:t>1</a:t>
            </a:r>
            <a:r>
              <a:rPr lang="zh-CN" altLang="en-US" sz="2800" dirty="0">
                <a:solidFill>
                  <a:schemeClr val="tx1"/>
                </a:solidFill>
                <a:latin typeface="微软雅黑" pitchFamily="34" charset="-122"/>
                <a:ea typeface="微软雅黑" pitchFamily="34" charset="-122"/>
              </a:rPr>
              <a:t>）</a:t>
            </a:r>
            <a:br>
              <a:rPr lang="zh-CN" altLang="en-US" sz="2800" dirty="0">
                <a:solidFill>
                  <a:schemeClr val="tx1"/>
                </a:solidFill>
                <a:latin typeface="微软雅黑" pitchFamily="34" charset="-122"/>
                <a:ea typeface="微软雅黑" pitchFamily="34" charset="-122"/>
              </a:rPr>
            </a:br>
            <a:r>
              <a:rPr lang="zh-CN" altLang="en-US" sz="2800" dirty="0">
                <a:solidFill>
                  <a:schemeClr val="tx1"/>
                </a:solidFill>
                <a:latin typeface="微软雅黑" pitchFamily="34" charset="-122"/>
                <a:ea typeface="微软雅黑" pitchFamily="34" charset="-122"/>
              </a:rPr>
              <a:t>重要天气的种类和符号 </a:t>
            </a:r>
          </a:p>
        </p:txBody>
      </p:sp>
      <p:pic>
        <p:nvPicPr>
          <p:cNvPr id="29698" name="Picture 4" descr="表11-1"/>
          <p:cNvPicPr>
            <a:picLocks noChangeAspect="1" noChangeArrowheads="1"/>
          </p:cNvPicPr>
          <p:nvPr/>
        </p:nvPicPr>
        <p:blipFill>
          <a:blip r:embed="rId2"/>
          <a:srcRect/>
          <a:stretch>
            <a:fillRect/>
          </a:stretch>
        </p:blipFill>
        <p:spPr bwMode="auto">
          <a:xfrm>
            <a:off x="2976356" y="15875"/>
            <a:ext cx="7358063" cy="6826250"/>
          </a:xfrm>
          <a:prstGeom prst="rect">
            <a:avLst/>
          </a:prstGeom>
          <a:noFill/>
          <a:ln w="9525">
            <a:noFill/>
            <a:miter lim="800000"/>
            <a:headEnd/>
            <a:tailEnd/>
          </a:ln>
        </p:spPr>
      </p:pic>
    </p:spTree>
    <p:extLst>
      <p:ext uri="{BB962C8B-B14F-4D97-AF65-F5344CB8AC3E}">
        <p14:creationId xmlns:p14="http://schemas.microsoft.com/office/powerpoint/2010/main" val="2673141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571522" y="748935"/>
            <a:ext cx="1106464" cy="4176712"/>
          </a:xfrm>
        </p:spPr>
        <p:txBody>
          <a:bodyPr/>
          <a:lstStyle/>
          <a:p>
            <a:pPr>
              <a:defRPr/>
            </a:pPr>
            <a:r>
              <a:rPr lang="zh-CN" altLang="en-US" sz="2800" dirty="0">
                <a:solidFill>
                  <a:schemeClr val="tx1"/>
                </a:solidFill>
                <a:latin typeface="微软雅黑" pitchFamily="34" charset="-122"/>
                <a:ea typeface="微软雅黑" pitchFamily="34" charset="-122"/>
              </a:rPr>
              <a:t>（</a:t>
            </a:r>
            <a:r>
              <a:rPr lang="en-US" altLang="zh-CN" sz="2800" dirty="0">
                <a:solidFill>
                  <a:schemeClr val="tx1"/>
                </a:solidFill>
                <a:latin typeface="微软雅黑" pitchFamily="34" charset="-122"/>
                <a:ea typeface="微软雅黑" pitchFamily="34" charset="-122"/>
              </a:rPr>
              <a:t>2</a:t>
            </a:r>
            <a:r>
              <a:rPr lang="zh-CN" altLang="en-US" sz="2800" dirty="0">
                <a:solidFill>
                  <a:schemeClr val="tx1"/>
                </a:solidFill>
                <a:latin typeface="微软雅黑" pitchFamily="34" charset="-122"/>
                <a:ea typeface="微软雅黑" pitchFamily="34" charset="-122"/>
              </a:rPr>
              <a:t>）</a:t>
            </a:r>
            <a:br>
              <a:rPr lang="zh-CN" altLang="en-US" sz="2800" dirty="0">
                <a:solidFill>
                  <a:schemeClr val="tx1"/>
                </a:solidFill>
                <a:latin typeface="微软雅黑" pitchFamily="34" charset="-122"/>
                <a:ea typeface="微软雅黑" pitchFamily="34" charset="-122"/>
              </a:rPr>
            </a:br>
            <a:r>
              <a:rPr lang="zh-CN" altLang="en-US" sz="2800" dirty="0">
                <a:solidFill>
                  <a:schemeClr val="tx1"/>
                </a:solidFill>
                <a:latin typeface="微软雅黑" pitchFamily="34" charset="-122"/>
                <a:ea typeface="微软雅黑" pitchFamily="34" charset="-122"/>
              </a:rPr>
              <a:t>重要 天气 系统 符号 </a:t>
            </a:r>
          </a:p>
        </p:txBody>
      </p:sp>
      <p:pic>
        <p:nvPicPr>
          <p:cNvPr id="30722" name="Picture 5" descr="表11-2"/>
          <p:cNvPicPr>
            <a:picLocks noChangeAspect="1" noChangeArrowheads="1"/>
          </p:cNvPicPr>
          <p:nvPr/>
        </p:nvPicPr>
        <p:blipFill>
          <a:blip r:embed="rId2"/>
          <a:srcRect/>
          <a:stretch>
            <a:fillRect/>
          </a:stretch>
        </p:blipFill>
        <p:spPr bwMode="auto">
          <a:xfrm>
            <a:off x="2235477" y="0"/>
            <a:ext cx="8132763" cy="6643688"/>
          </a:xfrm>
          <a:prstGeom prst="rect">
            <a:avLst/>
          </a:prstGeom>
          <a:noFill/>
          <a:ln w="9525">
            <a:noFill/>
            <a:miter lim="800000"/>
            <a:headEnd/>
            <a:tailEnd/>
          </a:ln>
        </p:spPr>
      </p:pic>
    </p:spTree>
    <p:extLst>
      <p:ext uri="{BB962C8B-B14F-4D97-AF65-F5344CB8AC3E}">
        <p14:creationId xmlns:p14="http://schemas.microsoft.com/office/powerpoint/2010/main" val="635832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61096" y="122440"/>
            <a:ext cx="6423025" cy="523875"/>
          </a:xfrm>
        </p:spPr>
        <p:txBody>
          <a:bodyPr>
            <a:normAutofit/>
          </a:bodyPr>
          <a:lstStyle/>
          <a:p>
            <a:pPr>
              <a:defRPr/>
            </a:pP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）与重要天气相伴的云</a:t>
            </a:r>
          </a:p>
        </p:txBody>
      </p:sp>
      <p:sp>
        <p:nvSpPr>
          <p:cNvPr id="31746" name="Rectangle 3"/>
          <p:cNvSpPr>
            <a:spLocks noGrp="1" noChangeArrowheads="1"/>
          </p:cNvSpPr>
          <p:nvPr>
            <p:ph type="body" idx="1"/>
          </p:nvPr>
        </p:nvSpPr>
        <p:spPr>
          <a:xfrm>
            <a:off x="193316" y="695566"/>
            <a:ext cx="10796116" cy="1730096"/>
          </a:xfrm>
          <a:solidFill>
            <a:schemeClr val="bg1"/>
          </a:solidFill>
        </p:spPr>
        <p:txBody>
          <a:bodyPr>
            <a:normAutofit fontScale="92500" lnSpcReduction="20000"/>
          </a:bodyPr>
          <a:lstStyle/>
          <a:p>
            <a:pPr marL="0" indent="0" algn="just">
              <a:lnSpc>
                <a:spcPct val="170000"/>
              </a:lnSpc>
              <a:buNone/>
            </a:pPr>
            <a:r>
              <a:rPr lang="en-US" altLang="zh-CN" sz="900" dirty="0">
                <a:latin typeface="方正姚体" pitchFamily="2" charset="-122"/>
                <a:ea typeface="方正姚体" pitchFamily="2" charset="-122"/>
              </a:rPr>
              <a:t>   </a:t>
            </a:r>
            <a:r>
              <a:rPr lang="zh-CN" altLang="en-US" sz="2400" dirty="0">
                <a:solidFill>
                  <a:schemeClr val="tx1"/>
                </a:solidFill>
                <a:latin typeface="Times New Roman" panose="02020603050405020304" pitchFamily="18" charset="0"/>
                <a:ea typeface="微软雅黑" panose="020B0503020204020204" pitchFamily="34" charset="-122"/>
              </a:rPr>
              <a:t>云量用简语描述，云状用简写符号。</a:t>
            </a:r>
          </a:p>
          <a:p>
            <a:pPr marL="0" indent="0" algn="just">
              <a:lnSpc>
                <a:spcPct val="170000"/>
              </a:lnSpc>
              <a:buNone/>
            </a:pPr>
            <a:r>
              <a:rPr lang="zh-CN" altLang="en-US" sz="2400" dirty="0">
                <a:solidFill>
                  <a:schemeClr val="tx1"/>
                </a:solidFill>
                <a:latin typeface="Times New Roman" panose="02020603050405020304" pitchFamily="18" charset="0"/>
                <a:ea typeface="微软雅黑" panose="020B0503020204020204" pitchFamily="34" charset="-122"/>
              </a:rPr>
              <a:t>  重要天气和云区范围用波状线围成，有些重要天气和云还标出下限高度和上限高度，有时还用简语加以说明 </a:t>
            </a:r>
          </a:p>
        </p:txBody>
      </p:sp>
      <p:sp>
        <p:nvSpPr>
          <p:cNvPr id="31747" name="Rectangle 5"/>
          <p:cNvSpPr>
            <a:spLocks noChangeArrowheads="1"/>
          </p:cNvSpPr>
          <p:nvPr/>
        </p:nvSpPr>
        <p:spPr bwMode="auto">
          <a:xfrm>
            <a:off x="1288551" y="3682245"/>
            <a:ext cx="2719131" cy="1500188"/>
          </a:xfrm>
          <a:prstGeom prst="rect">
            <a:avLst/>
          </a:prstGeom>
          <a:noFill/>
          <a:ln w="9525">
            <a:noFill/>
            <a:miter lim="800000"/>
            <a:headEnd/>
            <a:tailEnd/>
          </a:ln>
        </p:spPr>
        <p:txBody>
          <a:bodyPr anchor="ctr"/>
          <a:lstStyle/>
          <a:p>
            <a:pPr algn="ctr">
              <a:lnSpc>
                <a:spcPts val="4000"/>
              </a:lnSpc>
            </a:pPr>
            <a:r>
              <a:rPr lang="zh-CN" altLang="en-US" sz="2800" dirty="0">
                <a:solidFill>
                  <a:schemeClr val="accent5"/>
                </a:solidFill>
                <a:latin typeface="微软雅黑" pitchFamily="34" charset="-122"/>
                <a:ea typeface="微软雅黑" pitchFamily="34" charset="-122"/>
              </a:rPr>
              <a:t>重要天气预报常用简语 </a:t>
            </a:r>
          </a:p>
        </p:txBody>
      </p:sp>
      <p:grpSp>
        <p:nvGrpSpPr>
          <p:cNvPr id="31748" name="Group 6"/>
          <p:cNvGrpSpPr>
            <a:grpSpLocks/>
          </p:cNvGrpSpPr>
          <p:nvPr/>
        </p:nvGrpSpPr>
        <p:grpSpPr bwMode="auto">
          <a:xfrm>
            <a:off x="4007682" y="2123943"/>
            <a:ext cx="6264275" cy="4383087"/>
            <a:chOff x="-3" y="-3"/>
            <a:chExt cx="2890" cy="3170"/>
          </a:xfrm>
        </p:grpSpPr>
        <p:grpSp>
          <p:nvGrpSpPr>
            <p:cNvPr id="31749" name="Group 7"/>
            <p:cNvGrpSpPr>
              <a:grpSpLocks/>
            </p:cNvGrpSpPr>
            <p:nvPr/>
          </p:nvGrpSpPr>
          <p:grpSpPr bwMode="auto">
            <a:xfrm>
              <a:off x="0" y="0"/>
              <a:ext cx="2884" cy="3164"/>
              <a:chOff x="0" y="0"/>
              <a:chExt cx="2884" cy="3164"/>
            </a:xfrm>
          </p:grpSpPr>
          <p:grpSp>
            <p:nvGrpSpPr>
              <p:cNvPr id="31751" name="Group 8"/>
              <p:cNvGrpSpPr>
                <a:grpSpLocks/>
              </p:cNvGrpSpPr>
              <p:nvPr/>
            </p:nvGrpSpPr>
            <p:grpSpPr bwMode="auto">
              <a:xfrm>
                <a:off x="0" y="0"/>
                <a:ext cx="458" cy="374"/>
                <a:chOff x="0" y="0"/>
                <a:chExt cx="458" cy="374"/>
              </a:xfrm>
            </p:grpSpPr>
            <p:sp>
              <p:nvSpPr>
                <p:cNvPr id="31893" name="Rectangle 9"/>
                <p:cNvSpPr>
                  <a:spLocks noChangeArrowheads="1"/>
                </p:cNvSpPr>
                <p:nvPr/>
              </p:nvSpPr>
              <p:spPr bwMode="auto">
                <a:xfrm>
                  <a:off x="0" y="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简</a:t>
                  </a:r>
                  <a:r>
                    <a:rPr lang="zh-CN" altLang="en-US" sz="2000" b="1">
                      <a:cs typeface="Times New Roman" pitchFamily="18" charset="0"/>
                    </a:rPr>
                    <a:t>  </a:t>
                  </a:r>
                  <a:r>
                    <a:rPr lang="zh-CN" altLang="en-US" sz="2000" b="1">
                      <a:ea typeface="方正书宋简体"/>
                      <a:cs typeface="方正书宋简体"/>
                    </a:rPr>
                    <a:t>语</a:t>
                  </a:r>
                  <a:endParaRPr lang="zh-CN" altLang="en-US" sz="2000" b="1"/>
                </a:p>
              </p:txBody>
            </p:sp>
            <p:sp>
              <p:nvSpPr>
                <p:cNvPr id="31894" name="Rectangle 10"/>
                <p:cNvSpPr>
                  <a:spLocks noChangeArrowheads="1"/>
                </p:cNvSpPr>
                <p:nvPr/>
              </p:nvSpPr>
              <p:spPr bwMode="auto">
                <a:xfrm>
                  <a:off x="0" y="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2" name="Group 11"/>
              <p:cNvGrpSpPr>
                <a:grpSpLocks/>
              </p:cNvGrpSpPr>
              <p:nvPr/>
            </p:nvGrpSpPr>
            <p:grpSpPr bwMode="auto">
              <a:xfrm>
                <a:off x="458" y="0"/>
                <a:ext cx="458" cy="374"/>
                <a:chOff x="458" y="0"/>
                <a:chExt cx="458" cy="374"/>
              </a:xfrm>
            </p:grpSpPr>
            <p:sp>
              <p:nvSpPr>
                <p:cNvPr id="31891" name="Rectangle 12"/>
                <p:cNvSpPr>
                  <a:spLocks noChangeArrowheads="1"/>
                </p:cNvSpPr>
                <p:nvPr/>
              </p:nvSpPr>
              <p:spPr bwMode="auto">
                <a:xfrm>
                  <a:off x="458" y="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含</a:t>
                  </a:r>
                  <a:r>
                    <a:rPr lang="zh-CN" altLang="en-US" sz="2000" b="1">
                      <a:cs typeface="Times New Roman" pitchFamily="18" charset="0"/>
                    </a:rPr>
                    <a:t>  </a:t>
                  </a:r>
                  <a:r>
                    <a:rPr lang="zh-CN" altLang="en-US" sz="2000" b="1">
                      <a:ea typeface="方正书宋简体"/>
                      <a:cs typeface="方正书宋简体"/>
                    </a:rPr>
                    <a:t>义</a:t>
                  </a:r>
                  <a:endParaRPr lang="zh-CN" altLang="en-US" sz="2000" b="1"/>
                </a:p>
              </p:txBody>
            </p:sp>
            <p:sp>
              <p:nvSpPr>
                <p:cNvPr id="31892" name="Rectangle 13"/>
                <p:cNvSpPr>
                  <a:spLocks noChangeArrowheads="1"/>
                </p:cNvSpPr>
                <p:nvPr/>
              </p:nvSpPr>
              <p:spPr bwMode="auto">
                <a:xfrm>
                  <a:off x="458" y="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3" name="Group 14"/>
              <p:cNvGrpSpPr>
                <a:grpSpLocks/>
              </p:cNvGrpSpPr>
              <p:nvPr/>
            </p:nvGrpSpPr>
            <p:grpSpPr bwMode="auto">
              <a:xfrm>
                <a:off x="916" y="0"/>
                <a:ext cx="458" cy="374"/>
                <a:chOff x="916" y="0"/>
                <a:chExt cx="458" cy="374"/>
              </a:xfrm>
            </p:grpSpPr>
            <p:sp>
              <p:nvSpPr>
                <p:cNvPr id="31889" name="Rectangle 15"/>
                <p:cNvSpPr>
                  <a:spLocks noChangeArrowheads="1"/>
                </p:cNvSpPr>
                <p:nvPr/>
              </p:nvSpPr>
              <p:spPr bwMode="auto">
                <a:xfrm>
                  <a:off x="916" y="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简</a:t>
                  </a:r>
                  <a:r>
                    <a:rPr lang="zh-CN" altLang="en-US" sz="2000" b="1">
                      <a:cs typeface="Times New Roman" pitchFamily="18" charset="0"/>
                    </a:rPr>
                    <a:t>  </a:t>
                  </a:r>
                  <a:r>
                    <a:rPr lang="zh-CN" altLang="en-US" sz="2000" b="1">
                      <a:ea typeface="方正书宋简体"/>
                      <a:cs typeface="方正书宋简体"/>
                    </a:rPr>
                    <a:t>语</a:t>
                  </a:r>
                  <a:endParaRPr lang="zh-CN" altLang="en-US" sz="2000" b="1"/>
                </a:p>
              </p:txBody>
            </p:sp>
            <p:sp>
              <p:nvSpPr>
                <p:cNvPr id="31890" name="Rectangle 16"/>
                <p:cNvSpPr>
                  <a:spLocks noChangeArrowheads="1"/>
                </p:cNvSpPr>
                <p:nvPr/>
              </p:nvSpPr>
              <p:spPr bwMode="auto">
                <a:xfrm>
                  <a:off x="916" y="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4" name="Group 17"/>
              <p:cNvGrpSpPr>
                <a:grpSpLocks/>
              </p:cNvGrpSpPr>
              <p:nvPr/>
            </p:nvGrpSpPr>
            <p:grpSpPr bwMode="auto">
              <a:xfrm>
                <a:off x="1374" y="0"/>
                <a:ext cx="458" cy="374"/>
                <a:chOff x="1374" y="0"/>
                <a:chExt cx="458" cy="374"/>
              </a:xfrm>
            </p:grpSpPr>
            <p:sp>
              <p:nvSpPr>
                <p:cNvPr id="31887" name="Rectangle 18"/>
                <p:cNvSpPr>
                  <a:spLocks noChangeArrowheads="1"/>
                </p:cNvSpPr>
                <p:nvPr/>
              </p:nvSpPr>
              <p:spPr bwMode="auto">
                <a:xfrm>
                  <a:off x="1374" y="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含</a:t>
                  </a:r>
                  <a:r>
                    <a:rPr lang="zh-CN" altLang="en-US" sz="2000" b="1">
                      <a:cs typeface="Times New Roman" pitchFamily="18" charset="0"/>
                    </a:rPr>
                    <a:t>  </a:t>
                  </a:r>
                  <a:r>
                    <a:rPr lang="zh-CN" altLang="en-US" sz="2000" b="1">
                      <a:ea typeface="方正书宋简体"/>
                      <a:cs typeface="方正书宋简体"/>
                    </a:rPr>
                    <a:t>义</a:t>
                  </a:r>
                  <a:endParaRPr lang="zh-CN" altLang="en-US" sz="2000" b="1"/>
                </a:p>
              </p:txBody>
            </p:sp>
            <p:sp>
              <p:nvSpPr>
                <p:cNvPr id="31888" name="Rectangle 19"/>
                <p:cNvSpPr>
                  <a:spLocks noChangeArrowheads="1"/>
                </p:cNvSpPr>
                <p:nvPr/>
              </p:nvSpPr>
              <p:spPr bwMode="auto">
                <a:xfrm>
                  <a:off x="1374" y="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5" name="Group 20"/>
              <p:cNvGrpSpPr>
                <a:grpSpLocks/>
              </p:cNvGrpSpPr>
              <p:nvPr/>
            </p:nvGrpSpPr>
            <p:grpSpPr bwMode="auto">
              <a:xfrm>
                <a:off x="1832" y="0"/>
                <a:ext cx="458" cy="374"/>
                <a:chOff x="1832" y="0"/>
                <a:chExt cx="458" cy="374"/>
              </a:xfrm>
            </p:grpSpPr>
            <p:sp>
              <p:nvSpPr>
                <p:cNvPr id="31885" name="Rectangle 21"/>
                <p:cNvSpPr>
                  <a:spLocks noChangeArrowheads="1"/>
                </p:cNvSpPr>
                <p:nvPr/>
              </p:nvSpPr>
              <p:spPr bwMode="auto">
                <a:xfrm>
                  <a:off x="1832" y="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简</a:t>
                  </a:r>
                  <a:r>
                    <a:rPr lang="zh-CN" altLang="en-US" sz="2000" b="1">
                      <a:cs typeface="Times New Roman" pitchFamily="18" charset="0"/>
                    </a:rPr>
                    <a:t>  </a:t>
                  </a:r>
                  <a:r>
                    <a:rPr lang="zh-CN" altLang="en-US" sz="2000" b="1">
                      <a:ea typeface="方正书宋简体"/>
                      <a:cs typeface="方正书宋简体"/>
                    </a:rPr>
                    <a:t>语</a:t>
                  </a:r>
                  <a:endParaRPr lang="zh-CN" altLang="en-US" sz="2000" b="1"/>
                </a:p>
              </p:txBody>
            </p:sp>
            <p:sp>
              <p:nvSpPr>
                <p:cNvPr id="31886" name="Rectangle 22"/>
                <p:cNvSpPr>
                  <a:spLocks noChangeArrowheads="1"/>
                </p:cNvSpPr>
                <p:nvPr/>
              </p:nvSpPr>
              <p:spPr bwMode="auto">
                <a:xfrm>
                  <a:off x="1832" y="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6" name="Group 23"/>
              <p:cNvGrpSpPr>
                <a:grpSpLocks/>
              </p:cNvGrpSpPr>
              <p:nvPr/>
            </p:nvGrpSpPr>
            <p:grpSpPr bwMode="auto">
              <a:xfrm>
                <a:off x="2290" y="0"/>
                <a:ext cx="594" cy="374"/>
                <a:chOff x="2290" y="0"/>
                <a:chExt cx="594" cy="374"/>
              </a:xfrm>
            </p:grpSpPr>
            <p:sp>
              <p:nvSpPr>
                <p:cNvPr id="31883" name="Rectangle 24"/>
                <p:cNvSpPr>
                  <a:spLocks noChangeArrowheads="1"/>
                </p:cNvSpPr>
                <p:nvPr/>
              </p:nvSpPr>
              <p:spPr bwMode="auto">
                <a:xfrm>
                  <a:off x="2290" y="0"/>
                  <a:ext cx="594"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含</a:t>
                  </a:r>
                  <a:r>
                    <a:rPr lang="zh-CN" altLang="en-US" sz="2000" b="1">
                      <a:cs typeface="Times New Roman" pitchFamily="18" charset="0"/>
                    </a:rPr>
                    <a:t>  </a:t>
                  </a:r>
                  <a:r>
                    <a:rPr lang="zh-CN" altLang="en-US" sz="2000" b="1">
                      <a:ea typeface="方正书宋简体"/>
                      <a:cs typeface="方正书宋简体"/>
                    </a:rPr>
                    <a:t>义</a:t>
                  </a:r>
                  <a:endParaRPr lang="zh-CN" altLang="en-US" sz="2000" b="1"/>
                </a:p>
              </p:txBody>
            </p:sp>
            <p:sp>
              <p:nvSpPr>
                <p:cNvPr id="31884" name="Rectangle 25"/>
                <p:cNvSpPr>
                  <a:spLocks noChangeArrowheads="1"/>
                </p:cNvSpPr>
                <p:nvPr/>
              </p:nvSpPr>
              <p:spPr bwMode="auto">
                <a:xfrm>
                  <a:off x="2290" y="0"/>
                  <a:ext cx="594"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7" name="Group 26"/>
              <p:cNvGrpSpPr>
                <a:grpSpLocks/>
              </p:cNvGrpSpPr>
              <p:nvPr/>
            </p:nvGrpSpPr>
            <p:grpSpPr bwMode="auto">
              <a:xfrm>
                <a:off x="0" y="374"/>
                <a:ext cx="458" cy="374"/>
                <a:chOff x="0" y="374"/>
                <a:chExt cx="458" cy="374"/>
              </a:xfrm>
            </p:grpSpPr>
            <p:sp>
              <p:nvSpPr>
                <p:cNvPr id="31881" name="Rectangle 27"/>
                <p:cNvSpPr>
                  <a:spLocks noChangeArrowheads="1"/>
                </p:cNvSpPr>
                <p:nvPr/>
              </p:nvSpPr>
              <p:spPr bwMode="auto">
                <a:xfrm>
                  <a:off x="0" y="374"/>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CLD</a:t>
                  </a:r>
                  <a:endParaRPr lang="en-US" altLang="zh-CN" sz="2000" b="1"/>
                </a:p>
              </p:txBody>
            </p:sp>
            <p:sp>
              <p:nvSpPr>
                <p:cNvPr id="31882" name="Rectangle 28"/>
                <p:cNvSpPr>
                  <a:spLocks noChangeArrowheads="1"/>
                </p:cNvSpPr>
                <p:nvPr/>
              </p:nvSpPr>
              <p:spPr bwMode="auto">
                <a:xfrm>
                  <a:off x="0" y="374"/>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8" name="Group 29"/>
              <p:cNvGrpSpPr>
                <a:grpSpLocks/>
              </p:cNvGrpSpPr>
              <p:nvPr/>
            </p:nvGrpSpPr>
            <p:grpSpPr bwMode="auto">
              <a:xfrm>
                <a:off x="458" y="374"/>
                <a:ext cx="458" cy="374"/>
                <a:chOff x="458" y="374"/>
                <a:chExt cx="458" cy="374"/>
              </a:xfrm>
            </p:grpSpPr>
            <p:sp>
              <p:nvSpPr>
                <p:cNvPr id="31879" name="Rectangle 30"/>
                <p:cNvSpPr>
                  <a:spLocks noChangeArrowheads="1"/>
                </p:cNvSpPr>
                <p:nvPr/>
              </p:nvSpPr>
              <p:spPr bwMode="auto">
                <a:xfrm>
                  <a:off x="458" y="374"/>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云</a:t>
                  </a:r>
                  <a:endParaRPr lang="zh-CN" altLang="en-US" sz="2000" b="1"/>
                </a:p>
              </p:txBody>
            </p:sp>
            <p:sp>
              <p:nvSpPr>
                <p:cNvPr id="31880" name="Rectangle 31"/>
                <p:cNvSpPr>
                  <a:spLocks noChangeArrowheads="1"/>
                </p:cNvSpPr>
                <p:nvPr/>
              </p:nvSpPr>
              <p:spPr bwMode="auto">
                <a:xfrm>
                  <a:off x="458" y="374"/>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59" name="Group 32"/>
              <p:cNvGrpSpPr>
                <a:grpSpLocks/>
              </p:cNvGrpSpPr>
              <p:nvPr/>
            </p:nvGrpSpPr>
            <p:grpSpPr bwMode="auto">
              <a:xfrm>
                <a:off x="916" y="374"/>
                <a:ext cx="458" cy="374"/>
                <a:chOff x="916" y="374"/>
                <a:chExt cx="458" cy="374"/>
              </a:xfrm>
            </p:grpSpPr>
            <p:sp>
              <p:nvSpPr>
                <p:cNvPr id="31877" name="Rectangle 33"/>
                <p:cNvSpPr>
                  <a:spLocks noChangeArrowheads="1"/>
                </p:cNvSpPr>
                <p:nvPr/>
              </p:nvSpPr>
              <p:spPr bwMode="auto">
                <a:xfrm>
                  <a:off x="916" y="374"/>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FRQ</a:t>
                  </a:r>
                  <a:endParaRPr lang="en-US" altLang="zh-CN" sz="2000" b="1"/>
                </a:p>
              </p:txBody>
            </p:sp>
            <p:sp>
              <p:nvSpPr>
                <p:cNvPr id="31878" name="Rectangle 34"/>
                <p:cNvSpPr>
                  <a:spLocks noChangeArrowheads="1"/>
                </p:cNvSpPr>
                <p:nvPr/>
              </p:nvSpPr>
              <p:spPr bwMode="auto">
                <a:xfrm>
                  <a:off x="916" y="374"/>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0" name="Group 35"/>
              <p:cNvGrpSpPr>
                <a:grpSpLocks/>
              </p:cNvGrpSpPr>
              <p:nvPr/>
            </p:nvGrpSpPr>
            <p:grpSpPr bwMode="auto">
              <a:xfrm>
                <a:off x="1374" y="374"/>
                <a:ext cx="458" cy="374"/>
                <a:chOff x="1374" y="374"/>
                <a:chExt cx="458" cy="374"/>
              </a:xfrm>
            </p:grpSpPr>
            <p:sp>
              <p:nvSpPr>
                <p:cNvPr id="31875" name="Rectangle 36"/>
                <p:cNvSpPr>
                  <a:spLocks noChangeArrowheads="1"/>
                </p:cNvSpPr>
                <p:nvPr/>
              </p:nvSpPr>
              <p:spPr bwMode="auto">
                <a:xfrm>
                  <a:off x="1374" y="374"/>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频繁的</a:t>
                  </a:r>
                  <a:endParaRPr lang="zh-CN" altLang="en-US" sz="2000" b="1"/>
                </a:p>
              </p:txBody>
            </p:sp>
            <p:sp>
              <p:nvSpPr>
                <p:cNvPr id="31876" name="Rectangle 37"/>
                <p:cNvSpPr>
                  <a:spLocks noChangeArrowheads="1"/>
                </p:cNvSpPr>
                <p:nvPr/>
              </p:nvSpPr>
              <p:spPr bwMode="auto">
                <a:xfrm>
                  <a:off x="1374" y="374"/>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1" name="Group 38"/>
              <p:cNvGrpSpPr>
                <a:grpSpLocks/>
              </p:cNvGrpSpPr>
              <p:nvPr/>
            </p:nvGrpSpPr>
            <p:grpSpPr bwMode="auto">
              <a:xfrm>
                <a:off x="1832" y="374"/>
                <a:ext cx="458" cy="374"/>
                <a:chOff x="1832" y="374"/>
                <a:chExt cx="458" cy="374"/>
              </a:xfrm>
            </p:grpSpPr>
            <p:sp>
              <p:nvSpPr>
                <p:cNvPr id="31873" name="Rectangle 39"/>
                <p:cNvSpPr>
                  <a:spLocks noChangeArrowheads="1"/>
                </p:cNvSpPr>
                <p:nvPr/>
              </p:nvSpPr>
              <p:spPr bwMode="auto">
                <a:xfrm>
                  <a:off x="1832" y="374"/>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BKN</a:t>
                  </a:r>
                  <a:endParaRPr lang="en-US" altLang="zh-CN" sz="2000" b="1"/>
                </a:p>
              </p:txBody>
            </p:sp>
            <p:sp>
              <p:nvSpPr>
                <p:cNvPr id="31874" name="Rectangle 40"/>
                <p:cNvSpPr>
                  <a:spLocks noChangeArrowheads="1"/>
                </p:cNvSpPr>
                <p:nvPr/>
              </p:nvSpPr>
              <p:spPr bwMode="auto">
                <a:xfrm>
                  <a:off x="1832" y="374"/>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2" name="Group 41"/>
              <p:cNvGrpSpPr>
                <a:grpSpLocks/>
              </p:cNvGrpSpPr>
              <p:nvPr/>
            </p:nvGrpSpPr>
            <p:grpSpPr bwMode="auto">
              <a:xfrm>
                <a:off x="2290" y="374"/>
                <a:ext cx="594" cy="374"/>
                <a:chOff x="2290" y="374"/>
                <a:chExt cx="594" cy="374"/>
              </a:xfrm>
            </p:grpSpPr>
            <p:sp>
              <p:nvSpPr>
                <p:cNvPr id="31871" name="Rectangle 42"/>
                <p:cNvSpPr>
                  <a:spLocks noChangeArrowheads="1"/>
                </p:cNvSpPr>
                <p:nvPr/>
              </p:nvSpPr>
              <p:spPr bwMode="auto">
                <a:xfrm>
                  <a:off x="2290" y="374"/>
                  <a:ext cx="594"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多云</a:t>
                  </a:r>
                  <a:endParaRPr lang="zh-CN" altLang="en-US" sz="2000" b="1"/>
                </a:p>
              </p:txBody>
            </p:sp>
            <p:sp>
              <p:nvSpPr>
                <p:cNvPr id="31872" name="Rectangle 43"/>
                <p:cNvSpPr>
                  <a:spLocks noChangeArrowheads="1"/>
                </p:cNvSpPr>
                <p:nvPr/>
              </p:nvSpPr>
              <p:spPr bwMode="auto">
                <a:xfrm>
                  <a:off x="2290" y="374"/>
                  <a:ext cx="594"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3" name="Group 44"/>
              <p:cNvGrpSpPr>
                <a:grpSpLocks/>
              </p:cNvGrpSpPr>
              <p:nvPr/>
            </p:nvGrpSpPr>
            <p:grpSpPr bwMode="auto">
              <a:xfrm>
                <a:off x="0" y="748"/>
                <a:ext cx="458" cy="374"/>
                <a:chOff x="0" y="748"/>
                <a:chExt cx="458" cy="374"/>
              </a:xfrm>
            </p:grpSpPr>
            <p:sp>
              <p:nvSpPr>
                <p:cNvPr id="31869" name="Rectangle 45"/>
                <p:cNvSpPr>
                  <a:spLocks noChangeArrowheads="1"/>
                </p:cNvSpPr>
                <p:nvPr/>
              </p:nvSpPr>
              <p:spPr bwMode="auto">
                <a:xfrm>
                  <a:off x="0" y="748"/>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OCNL</a:t>
                  </a:r>
                  <a:endParaRPr lang="en-US" altLang="zh-CN" sz="2000" b="1"/>
                </a:p>
              </p:txBody>
            </p:sp>
            <p:sp>
              <p:nvSpPr>
                <p:cNvPr id="31870" name="Rectangle 46"/>
                <p:cNvSpPr>
                  <a:spLocks noChangeArrowheads="1"/>
                </p:cNvSpPr>
                <p:nvPr/>
              </p:nvSpPr>
              <p:spPr bwMode="auto">
                <a:xfrm>
                  <a:off x="0" y="748"/>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4" name="Group 47"/>
              <p:cNvGrpSpPr>
                <a:grpSpLocks/>
              </p:cNvGrpSpPr>
              <p:nvPr/>
            </p:nvGrpSpPr>
            <p:grpSpPr bwMode="auto">
              <a:xfrm>
                <a:off x="458" y="748"/>
                <a:ext cx="458" cy="374"/>
                <a:chOff x="458" y="748"/>
                <a:chExt cx="458" cy="374"/>
              </a:xfrm>
            </p:grpSpPr>
            <p:sp>
              <p:nvSpPr>
                <p:cNvPr id="31867" name="Rectangle 48"/>
                <p:cNvSpPr>
                  <a:spLocks noChangeArrowheads="1"/>
                </p:cNvSpPr>
                <p:nvPr/>
              </p:nvSpPr>
              <p:spPr bwMode="auto">
                <a:xfrm>
                  <a:off x="458" y="748"/>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有时</a:t>
                  </a:r>
                  <a:endParaRPr lang="zh-CN" altLang="en-US" sz="2000" b="1"/>
                </a:p>
              </p:txBody>
            </p:sp>
            <p:sp>
              <p:nvSpPr>
                <p:cNvPr id="31868" name="Rectangle 49"/>
                <p:cNvSpPr>
                  <a:spLocks noChangeArrowheads="1"/>
                </p:cNvSpPr>
                <p:nvPr/>
              </p:nvSpPr>
              <p:spPr bwMode="auto">
                <a:xfrm>
                  <a:off x="458" y="748"/>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5" name="Group 50"/>
              <p:cNvGrpSpPr>
                <a:grpSpLocks/>
              </p:cNvGrpSpPr>
              <p:nvPr/>
            </p:nvGrpSpPr>
            <p:grpSpPr bwMode="auto">
              <a:xfrm>
                <a:off x="916" y="748"/>
                <a:ext cx="458" cy="374"/>
                <a:chOff x="916" y="748"/>
                <a:chExt cx="458" cy="374"/>
              </a:xfrm>
            </p:grpSpPr>
            <p:sp>
              <p:nvSpPr>
                <p:cNvPr id="31865" name="Rectangle 51"/>
                <p:cNvSpPr>
                  <a:spLocks noChangeArrowheads="1"/>
                </p:cNvSpPr>
                <p:nvPr/>
              </p:nvSpPr>
              <p:spPr bwMode="auto">
                <a:xfrm>
                  <a:off x="916" y="748"/>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SCT</a:t>
                  </a:r>
                  <a:endParaRPr lang="en-US" altLang="zh-CN" sz="2000" b="1"/>
                </a:p>
              </p:txBody>
            </p:sp>
            <p:sp>
              <p:nvSpPr>
                <p:cNvPr id="31866" name="Rectangle 52"/>
                <p:cNvSpPr>
                  <a:spLocks noChangeArrowheads="1"/>
                </p:cNvSpPr>
                <p:nvPr/>
              </p:nvSpPr>
              <p:spPr bwMode="auto">
                <a:xfrm>
                  <a:off x="916" y="748"/>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6" name="Group 53"/>
              <p:cNvGrpSpPr>
                <a:grpSpLocks/>
              </p:cNvGrpSpPr>
              <p:nvPr/>
            </p:nvGrpSpPr>
            <p:grpSpPr bwMode="auto">
              <a:xfrm>
                <a:off x="1374" y="748"/>
                <a:ext cx="458" cy="374"/>
                <a:chOff x="1374" y="748"/>
                <a:chExt cx="458" cy="374"/>
              </a:xfrm>
            </p:grpSpPr>
            <p:sp>
              <p:nvSpPr>
                <p:cNvPr id="31863" name="Rectangle 54"/>
                <p:cNvSpPr>
                  <a:spLocks noChangeArrowheads="1"/>
                </p:cNvSpPr>
                <p:nvPr/>
              </p:nvSpPr>
              <p:spPr bwMode="auto">
                <a:xfrm>
                  <a:off x="1374" y="748"/>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疏散的</a:t>
                  </a:r>
                  <a:endParaRPr lang="zh-CN" altLang="en-US" sz="2000" b="1"/>
                </a:p>
              </p:txBody>
            </p:sp>
            <p:sp>
              <p:nvSpPr>
                <p:cNvPr id="31864" name="Rectangle 55"/>
                <p:cNvSpPr>
                  <a:spLocks noChangeArrowheads="1"/>
                </p:cNvSpPr>
                <p:nvPr/>
              </p:nvSpPr>
              <p:spPr bwMode="auto">
                <a:xfrm>
                  <a:off x="1374" y="748"/>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7" name="Group 56"/>
              <p:cNvGrpSpPr>
                <a:grpSpLocks/>
              </p:cNvGrpSpPr>
              <p:nvPr/>
            </p:nvGrpSpPr>
            <p:grpSpPr bwMode="auto">
              <a:xfrm>
                <a:off x="1832" y="748"/>
                <a:ext cx="458" cy="374"/>
                <a:chOff x="1832" y="748"/>
                <a:chExt cx="458" cy="374"/>
              </a:xfrm>
            </p:grpSpPr>
            <p:sp>
              <p:nvSpPr>
                <p:cNvPr id="31861" name="Rectangle 57"/>
                <p:cNvSpPr>
                  <a:spLocks noChangeArrowheads="1"/>
                </p:cNvSpPr>
                <p:nvPr/>
              </p:nvSpPr>
              <p:spPr bwMode="auto">
                <a:xfrm>
                  <a:off x="1832" y="748"/>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LAN</a:t>
                  </a:r>
                  <a:endParaRPr lang="en-US" altLang="zh-CN" sz="2000" b="1"/>
                </a:p>
              </p:txBody>
            </p:sp>
            <p:sp>
              <p:nvSpPr>
                <p:cNvPr id="31862" name="Rectangle 58"/>
                <p:cNvSpPr>
                  <a:spLocks noChangeArrowheads="1"/>
                </p:cNvSpPr>
                <p:nvPr/>
              </p:nvSpPr>
              <p:spPr bwMode="auto">
                <a:xfrm>
                  <a:off x="1832" y="748"/>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8" name="Group 59"/>
              <p:cNvGrpSpPr>
                <a:grpSpLocks/>
              </p:cNvGrpSpPr>
              <p:nvPr/>
            </p:nvGrpSpPr>
            <p:grpSpPr bwMode="auto">
              <a:xfrm>
                <a:off x="2290" y="748"/>
                <a:ext cx="594" cy="374"/>
                <a:chOff x="2290" y="748"/>
                <a:chExt cx="594" cy="374"/>
              </a:xfrm>
            </p:grpSpPr>
            <p:sp>
              <p:nvSpPr>
                <p:cNvPr id="31859" name="Rectangle 60"/>
                <p:cNvSpPr>
                  <a:spLocks noChangeArrowheads="1"/>
                </p:cNvSpPr>
                <p:nvPr/>
              </p:nvSpPr>
              <p:spPr bwMode="auto">
                <a:xfrm>
                  <a:off x="2290" y="748"/>
                  <a:ext cx="594"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内陆</a:t>
                  </a:r>
                  <a:endParaRPr lang="zh-CN" altLang="en-US" sz="2000" b="1"/>
                </a:p>
              </p:txBody>
            </p:sp>
            <p:sp>
              <p:nvSpPr>
                <p:cNvPr id="31860" name="Rectangle 61"/>
                <p:cNvSpPr>
                  <a:spLocks noChangeArrowheads="1"/>
                </p:cNvSpPr>
                <p:nvPr/>
              </p:nvSpPr>
              <p:spPr bwMode="auto">
                <a:xfrm>
                  <a:off x="2290" y="748"/>
                  <a:ext cx="594"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69" name="Group 62"/>
              <p:cNvGrpSpPr>
                <a:grpSpLocks/>
              </p:cNvGrpSpPr>
              <p:nvPr/>
            </p:nvGrpSpPr>
            <p:grpSpPr bwMode="auto">
              <a:xfrm>
                <a:off x="0" y="1122"/>
                <a:ext cx="458" cy="374"/>
                <a:chOff x="0" y="1122"/>
                <a:chExt cx="458" cy="374"/>
              </a:xfrm>
            </p:grpSpPr>
            <p:sp>
              <p:nvSpPr>
                <p:cNvPr id="31857" name="Rectangle 63"/>
                <p:cNvSpPr>
                  <a:spLocks noChangeArrowheads="1"/>
                </p:cNvSpPr>
                <p:nvPr/>
              </p:nvSpPr>
              <p:spPr bwMode="auto">
                <a:xfrm>
                  <a:off x="0" y="1122"/>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GRADU</a:t>
                  </a:r>
                  <a:endParaRPr lang="en-US" altLang="zh-CN" sz="2000" b="1"/>
                </a:p>
              </p:txBody>
            </p:sp>
            <p:sp>
              <p:nvSpPr>
                <p:cNvPr id="31858" name="Rectangle 64"/>
                <p:cNvSpPr>
                  <a:spLocks noChangeArrowheads="1"/>
                </p:cNvSpPr>
                <p:nvPr/>
              </p:nvSpPr>
              <p:spPr bwMode="auto">
                <a:xfrm>
                  <a:off x="0" y="1122"/>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0" name="Group 65"/>
              <p:cNvGrpSpPr>
                <a:grpSpLocks/>
              </p:cNvGrpSpPr>
              <p:nvPr/>
            </p:nvGrpSpPr>
            <p:grpSpPr bwMode="auto">
              <a:xfrm>
                <a:off x="458" y="1122"/>
                <a:ext cx="458" cy="374"/>
                <a:chOff x="458" y="1122"/>
                <a:chExt cx="458" cy="374"/>
              </a:xfrm>
            </p:grpSpPr>
            <p:sp>
              <p:nvSpPr>
                <p:cNvPr id="31855" name="Rectangle 66"/>
                <p:cNvSpPr>
                  <a:spLocks noChangeArrowheads="1"/>
                </p:cNvSpPr>
                <p:nvPr/>
              </p:nvSpPr>
              <p:spPr bwMode="auto">
                <a:xfrm>
                  <a:off x="458" y="1122"/>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逐渐地</a:t>
                  </a:r>
                  <a:endParaRPr lang="zh-CN" altLang="en-US" sz="2000" b="1"/>
                </a:p>
              </p:txBody>
            </p:sp>
            <p:sp>
              <p:nvSpPr>
                <p:cNvPr id="31856" name="Rectangle 67"/>
                <p:cNvSpPr>
                  <a:spLocks noChangeArrowheads="1"/>
                </p:cNvSpPr>
                <p:nvPr/>
              </p:nvSpPr>
              <p:spPr bwMode="auto">
                <a:xfrm>
                  <a:off x="458" y="1122"/>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1" name="Group 68"/>
              <p:cNvGrpSpPr>
                <a:grpSpLocks/>
              </p:cNvGrpSpPr>
              <p:nvPr/>
            </p:nvGrpSpPr>
            <p:grpSpPr bwMode="auto">
              <a:xfrm>
                <a:off x="916" y="1122"/>
                <a:ext cx="458" cy="374"/>
                <a:chOff x="916" y="1122"/>
                <a:chExt cx="458" cy="374"/>
              </a:xfrm>
            </p:grpSpPr>
            <p:sp>
              <p:nvSpPr>
                <p:cNvPr id="31853" name="Rectangle 69"/>
                <p:cNvSpPr>
                  <a:spLocks noChangeArrowheads="1"/>
                </p:cNvSpPr>
                <p:nvPr/>
              </p:nvSpPr>
              <p:spPr bwMode="auto">
                <a:xfrm>
                  <a:off x="916" y="1122"/>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LYR</a:t>
                  </a:r>
                  <a:endParaRPr lang="en-US" altLang="zh-CN" sz="2000" b="1"/>
                </a:p>
              </p:txBody>
            </p:sp>
            <p:sp>
              <p:nvSpPr>
                <p:cNvPr id="31854" name="Rectangle 70"/>
                <p:cNvSpPr>
                  <a:spLocks noChangeArrowheads="1"/>
                </p:cNvSpPr>
                <p:nvPr/>
              </p:nvSpPr>
              <p:spPr bwMode="auto">
                <a:xfrm>
                  <a:off x="916" y="1122"/>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2" name="Group 71"/>
              <p:cNvGrpSpPr>
                <a:grpSpLocks/>
              </p:cNvGrpSpPr>
              <p:nvPr/>
            </p:nvGrpSpPr>
            <p:grpSpPr bwMode="auto">
              <a:xfrm>
                <a:off x="1374" y="1122"/>
                <a:ext cx="458" cy="374"/>
                <a:chOff x="1374" y="1122"/>
                <a:chExt cx="458" cy="374"/>
              </a:xfrm>
            </p:grpSpPr>
            <p:sp>
              <p:nvSpPr>
                <p:cNvPr id="31851" name="Rectangle 72"/>
                <p:cNvSpPr>
                  <a:spLocks noChangeArrowheads="1"/>
                </p:cNvSpPr>
                <p:nvPr/>
              </p:nvSpPr>
              <p:spPr bwMode="auto">
                <a:xfrm>
                  <a:off x="1374" y="1122"/>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呈层状</a:t>
                  </a:r>
                  <a:endParaRPr lang="zh-CN" altLang="en-US" sz="2000" b="1"/>
                </a:p>
              </p:txBody>
            </p:sp>
            <p:sp>
              <p:nvSpPr>
                <p:cNvPr id="31852" name="Rectangle 73"/>
                <p:cNvSpPr>
                  <a:spLocks noChangeArrowheads="1"/>
                </p:cNvSpPr>
                <p:nvPr/>
              </p:nvSpPr>
              <p:spPr bwMode="auto">
                <a:xfrm>
                  <a:off x="1374" y="1122"/>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3" name="Group 74"/>
              <p:cNvGrpSpPr>
                <a:grpSpLocks/>
              </p:cNvGrpSpPr>
              <p:nvPr/>
            </p:nvGrpSpPr>
            <p:grpSpPr bwMode="auto">
              <a:xfrm>
                <a:off x="1832" y="1122"/>
                <a:ext cx="458" cy="374"/>
                <a:chOff x="1832" y="1122"/>
                <a:chExt cx="458" cy="374"/>
              </a:xfrm>
            </p:grpSpPr>
            <p:sp>
              <p:nvSpPr>
                <p:cNvPr id="31849" name="Rectangle 75"/>
                <p:cNvSpPr>
                  <a:spLocks noChangeArrowheads="1"/>
                </p:cNvSpPr>
                <p:nvPr/>
              </p:nvSpPr>
              <p:spPr bwMode="auto">
                <a:xfrm>
                  <a:off x="1832" y="1122"/>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COT</a:t>
                  </a:r>
                  <a:endParaRPr lang="en-US" altLang="zh-CN" sz="2000" b="1"/>
                </a:p>
              </p:txBody>
            </p:sp>
            <p:sp>
              <p:nvSpPr>
                <p:cNvPr id="31850" name="Rectangle 76"/>
                <p:cNvSpPr>
                  <a:spLocks noChangeArrowheads="1"/>
                </p:cNvSpPr>
                <p:nvPr/>
              </p:nvSpPr>
              <p:spPr bwMode="auto">
                <a:xfrm>
                  <a:off x="1832" y="1122"/>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4" name="Group 77"/>
              <p:cNvGrpSpPr>
                <a:grpSpLocks/>
              </p:cNvGrpSpPr>
              <p:nvPr/>
            </p:nvGrpSpPr>
            <p:grpSpPr bwMode="auto">
              <a:xfrm>
                <a:off x="2290" y="1122"/>
                <a:ext cx="594" cy="374"/>
                <a:chOff x="2290" y="1122"/>
                <a:chExt cx="594" cy="374"/>
              </a:xfrm>
            </p:grpSpPr>
            <p:sp>
              <p:nvSpPr>
                <p:cNvPr id="31847" name="Rectangle 78"/>
                <p:cNvSpPr>
                  <a:spLocks noChangeArrowheads="1"/>
                </p:cNvSpPr>
                <p:nvPr/>
              </p:nvSpPr>
              <p:spPr bwMode="auto">
                <a:xfrm>
                  <a:off x="2290" y="1122"/>
                  <a:ext cx="594"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在海岸</a:t>
                  </a:r>
                  <a:endParaRPr lang="zh-CN" altLang="en-US" sz="2000" b="1"/>
                </a:p>
              </p:txBody>
            </p:sp>
            <p:sp>
              <p:nvSpPr>
                <p:cNvPr id="31848" name="Rectangle 79"/>
                <p:cNvSpPr>
                  <a:spLocks noChangeArrowheads="1"/>
                </p:cNvSpPr>
                <p:nvPr/>
              </p:nvSpPr>
              <p:spPr bwMode="auto">
                <a:xfrm>
                  <a:off x="2290" y="1122"/>
                  <a:ext cx="594"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5" name="Group 80"/>
              <p:cNvGrpSpPr>
                <a:grpSpLocks/>
              </p:cNvGrpSpPr>
              <p:nvPr/>
            </p:nvGrpSpPr>
            <p:grpSpPr bwMode="auto">
              <a:xfrm>
                <a:off x="0" y="1496"/>
                <a:ext cx="458" cy="374"/>
                <a:chOff x="0" y="1496"/>
                <a:chExt cx="458" cy="374"/>
              </a:xfrm>
            </p:grpSpPr>
            <p:sp>
              <p:nvSpPr>
                <p:cNvPr id="31845" name="Rectangle 81"/>
                <p:cNvSpPr>
                  <a:spLocks noChangeArrowheads="1"/>
                </p:cNvSpPr>
                <p:nvPr/>
              </p:nvSpPr>
              <p:spPr bwMode="auto">
                <a:xfrm>
                  <a:off x="0" y="1496"/>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STNL</a:t>
                  </a:r>
                  <a:endParaRPr lang="en-US" altLang="zh-CN" sz="2000" b="1"/>
                </a:p>
              </p:txBody>
            </p:sp>
            <p:sp>
              <p:nvSpPr>
                <p:cNvPr id="31846" name="Rectangle 82"/>
                <p:cNvSpPr>
                  <a:spLocks noChangeArrowheads="1"/>
                </p:cNvSpPr>
                <p:nvPr/>
              </p:nvSpPr>
              <p:spPr bwMode="auto">
                <a:xfrm>
                  <a:off x="0" y="1496"/>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6" name="Group 83"/>
              <p:cNvGrpSpPr>
                <a:grpSpLocks/>
              </p:cNvGrpSpPr>
              <p:nvPr/>
            </p:nvGrpSpPr>
            <p:grpSpPr bwMode="auto">
              <a:xfrm>
                <a:off x="458" y="1496"/>
                <a:ext cx="458" cy="374"/>
                <a:chOff x="458" y="1496"/>
                <a:chExt cx="458" cy="374"/>
              </a:xfrm>
            </p:grpSpPr>
            <p:sp>
              <p:nvSpPr>
                <p:cNvPr id="31843" name="Rectangle 84"/>
                <p:cNvSpPr>
                  <a:spLocks noChangeArrowheads="1"/>
                </p:cNvSpPr>
                <p:nvPr/>
              </p:nvSpPr>
              <p:spPr bwMode="auto">
                <a:xfrm>
                  <a:off x="458" y="1496"/>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停滞</a:t>
                  </a:r>
                  <a:endParaRPr lang="zh-CN" altLang="en-US" sz="2000" b="1"/>
                </a:p>
              </p:txBody>
            </p:sp>
            <p:sp>
              <p:nvSpPr>
                <p:cNvPr id="31844" name="Rectangle 85"/>
                <p:cNvSpPr>
                  <a:spLocks noChangeArrowheads="1"/>
                </p:cNvSpPr>
                <p:nvPr/>
              </p:nvSpPr>
              <p:spPr bwMode="auto">
                <a:xfrm>
                  <a:off x="458" y="1496"/>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7" name="Group 86"/>
              <p:cNvGrpSpPr>
                <a:grpSpLocks/>
              </p:cNvGrpSpPr>
              <p:nvPr/>
            </p:nvGrpSpPr>
            <p:grpSpPr bwMode="auto">
              <a:xfrm>
                <a:off x="916" y="1496"/>
                <a:ext cx="458" cy="374"/>
                <a:chOff x="916" y="1496"/>
                <a:chExt cx="458" cy="374"/>
              </a:xfrm>
            </p:grpSpPr>
            <p:sp>
              <p:nvSpPr>
                <p:cNvPr id="31841" name="Rectangle 87"/>
                <p:cNvSpPr>
                  <a:spLocks noChangeArrowheads="1"/>
                </p:cNvSpPr>
                <p:nvPr/>
              </p:nvSpPr>
              <p:spPr bwMode="auto">
                <a:xfrm>
                  <a:off x="916" y="1496"/>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SLW</a:t>
                  </a:r>
                  <a:endParaRPr lang="en-US" altLang="zh-CN" sz="2000" b="1"/>
                </a:p>
              </p:txBody>
            </p:sp>
            <p:sp>
              <p:nvSpPr>
                <p:cNvPr id="31842" name="Rectangle 88"/>
                <p:cNvSpPr>
                  <a:spLocks noChangeArrowheads="1"/>
                </p:cNvSpPr>
                <p:nvPr/>
              </p:nvSpPr>
              <p:spPr bwMode="auto">
                <a:xfrm>
                  <a:off x="916" y="1496"/>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8" name="Group 89"/>
              <p:cNvGrpSpPr>
                <a:grpSpLocks/>
              </p:cNvGrpSpPr>
              <p:nvPr/>
            </p:nvGrpSpPr>
            <p:grpSpPr bwMode="auto">
              <a:xfrm>
                <a:off x="1374" y="1496"/>
                <a:ext cx="458" cy="374"/>
                <a:chOff x="1374" y="1496"/>
                <a:chExt cx="458" cy="374"/>
              </a:xfrm>
            </p:grpSpPr>
            <p:sp>
              <p:nvSpPr>
                <p:cNvPr id="31839" name="Rectangle 90"/>
                <p:cNvSpPr>
                  <a:spLocks noChangeArrowheads="1"/>
                </p:cNvSpPr>
                <p:nvPr/>
              </p:nvSpPr>
              <p:spPr bwMode="auto">
                <a:xfrm>
                  <a:off x="1374" y="1496"/>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慢</a:t>
                  </a:r>
                  <a:endParaRPr lang="zh-CN" altLang="en-US" sz="2000" b="1"/>
                </a:p>
              </p:txBody>
            </p:sp>
            <p:sp>
              <p:nvSpPr>
                <p:cNvPr id="31840" name="Rectangle 91"/>
                <p:cNvSpPr>
                  <a:spLocks noChangeArrowheads="1"/>
                </p:cNvSpPr>
                <p:nvPr/>
              </p:nvSpPr>
              <p:spPr bwMode="auto">
                <a:xfrm>
                  <a:off x="1374" y="1496"/>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79" name="Group 92"/>
              <p:cNvGrpSpPr>
                <a:grpSpLocks/>
              </p:cNvGrpSpPr>
              <p:nvPr/>
            </p:nvGrpSpPr>
            <p:grpSpPr bwMode="auto">
              <a:xfrm>
                <a:off x="1832" y="1496"/>
                <a:ext cx="458" cy="374"/>
                <a:chOff x="1832" y="1496"/>
                <a:chExt cx="458" cy="374"/>
              </a:xfrm>
            </p:grpSpPr>
            <p:sp>
              <p:nvSpPr>
                <p:cNvPr id="31837" name="Rectangle 93"/>
                <p:cNvSpPr>
                  <a:spLocks noChangeArrowheads="1"/>
                </p:cNvSpPr>
                <p:nvPr/>
              </p:nvSpPr>
              <p:spPr bwMode="auto">
                <a:xfrm>
                  <a:off x="1832" y="1496"/>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MAR</a:t>
                  </a:r>
                  <a:endParaRPr lang="en-US" altLang="zh-CN" sz="2000" b="1"/>
                </a:p>
              </p:txBody>
            </p:sp>
            <p:sp>
              <p:nvSpPr>
                <p:cNvPr id="31838" name="Rectangle 94"/>
                <p:cNvSpPr>
                  <a:spLocks noChangeArrowheads="1"/>
                </p:cNvSpPr>
                <p:nvPr/>
              </p:nvSpPr>
              <p:spPr bwMode="auto">
                <a:xfrm>
                  <a:off x="1832" y="1496"/>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0" name="Group 95"/>
              <p:cNvGrpSpPr>
                <a:grpSpLocks/>
              </p:cNvGrpSpPr>
              <p:nvPr/>
            </p:nvGrpSpPr>
            <p:grpSpPr bwMode="auto">
              <a:xfrm>
                <a:off x="2290" y="1496"/>
                <a:ext cx="594" cy="374"/>
                <a:chOff x="2290" y="1496"/>
                <a:chExt cx="594" cy="374"/>
              </a:xfrm>
            </p:grpSpPr>
            <p:sp>
              <p:nvSpPr>
                <p:cNvPr id="31835" name="Rectangle 96"/>
                <p:cNvSpPr>
                  <a:spLocks noChangeArrowheads="1"/>
                </p:cNvSpPr>
                <p:nvPr/>
              </p:nvSpPr>
              <p:spPr bwMode="auto">
                <a:xfrm>
                  <a:off x="2290" y="1496"/>
                  <a:ext cx="594"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在海上</a:t>
                  </a:r>
                  <a:endParaRPr lang="zh-CN" altLang="en-US" sz="2000" b="1"/>
                </a:p>
              </p:txBody>
            </p:sp>
            <p:sp>
              <p:nvSpPr>
                <p:cNvPr id="31836" name="Rectangle 97"/>
                <p:cNvSpPr>
                  <a:spLocks noChangeArrowheads="1"/>
                </p:cNvSpPr>
                <p:nvPr/>
              </p:nvSpPr>
              <p:spPr bwMode="auto">
                <a:xfrm>
                  <a:off x="2290" y="1496"/>
                  <a:ext cx="594"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1" name="Group 98"/>
              <p:cNvGrpSpPr>
                <a:grpSpLocks/>
              </p:cNvGrpSpPr>
              <p:nvPr/>
            </p:nvGrpSpPr>
            <p:grpSpPr bwMode="auto">
              <a:xfrm>
                <a:off x="0" y="1870"/>
                <a:ext cx="458" cy="374"/>
                <a:chOff x="0" y="1870"/>
                <a:chExt cx="458" cy="374"/>
              </a:xfrm>
            </p:grpSpPr>
            <p:sp>
              <p:nvSpPr>
                <p:cNvPr id="31833" name="Rectangle 99"/>
                <p:cNvSpPr>
                  <a:spLocks noChangeArrowheads="1"/>
                </p:cNvSpPr>
                <p:nvPr/>
              </p:nvSpPr>
              <p:spPr bwMode="auto">
                <a:xfrm>
                  <a:off x="0" y="1870"/>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ISOL</a:t>
                  </a:r>
                  <a:endParaRPr lang="en-US" altLang="zh-CN" sz="2000" b="1"/>
                </a:p>
              </p:txBody>
            </p:sp>
            <p:sp>
              <p:nvSpPr>
                <p:cNvPr id="31834" name="Rectangle 100"/>
                <p:cNvSpPr>
                  <a:spLocks noChangeArrowheads="1"/>
                </p:cNvSpPr>
                <p:nvPr/>
              </p:nvSpPr>
              <p:spPr bwMode="auto">
                <a:xfrm>
                  <a:off x="0" y="187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2" name="Group 101"/>
              <p:cNvGrpSpPr>
                <a:grpSpLocks/>
              </p:cNvGrpSpPr>
              <p:nvPr/>
            </p:nvGrpSpPr>
            <p:grpSpPr bwMode="auto">
              <a:xfrm>
                <a:off x="458" y="1870"/>
                <a:ext cx="458" cy="374"/>
                <a:chOff x="458" y="1870"/>
                <a:chExt cx="458" cy="374"/>
              </a:xfrm>
            </p:grpSpPr>
            <p:sp>
              <p:nvSpPr>
                <p:cNvPr id="31831" name="Rectangle 102"/>
                <p:cNvSpPr>
                  <a:spLocks noChangeArrowheads="1"/>
                </p:cNvSpPr>
                <p:nvPr/>
              </p:nvSpPr>
              <p:spPr bwMode="auto">
                <a:xfrm>
                  <a:off x="458" y="187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独立</a:t>
                  </a:r>
                  <a:endParaRPr lang="zh-CN" altLang="en-US" sz="2000" b="1"/>
                </a:p>
              </p:txBody>
            </p:sp>
            <p:sp>
              <p:nvSpPr>
                <p:cNvPr id="31832" name="Rectangle 103"/>
                <p:cNvSpPr>
                  <a:spLocks noChangeArrowheads="1"/>
                </p:cNvSpPr>
                <p:nvPr/>
              </p:nvSpPr>
              <p:spPr bwMode="auto">
                <a:xfrm>
                  <a:off x="458" y="187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3" name="Group 104"/>
              <p:cNvGrpSpPr>
                <a:grpSpLocks/>
              </p:cNvGrpSpPr>
              <p:nvPr/>
            </p:nvGrpSpPr>
            <p:grpSpPr bwMode="auto">
              <a:xfrm>
                <a:off x="916" y="1870"/>
                <a:ext cx="458" cy="374"/>
                <a:chOff x="916" y="1870"/>
                <a:chExt cx="458" cy="374"/>
              </a:xfrm>
            </p:grpSpPr>
            <p:sp>
              <p:nvSpPr>
                <p:cNvPr id="31829" name="Rectangle 105"/>
                <p:cNvSpPr>
                  <a:spLocks noChangeArrowheads="1"/>
                </p:cNvSpPr>
                <p:nvPr/>
              </p:nvSpPr>
              <p:spPr bwMode="auto">
                <a:xfrm>
                  <a:off x="916" y="1870"/>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INC</a:t>
                  </a:r>
                  <a:endParaRPr lang="en-US" altLang="zh-CN" sz="2000" b="1"/>
                </a:p>
              </p:txBody>
            </p:sp>
            <p:sp>
              <p:nvSpPr>
                <p:cNvPr id="31830" name="Rectangle 106"/>
                <p:cNvSpPr>
                  <a:spLocks noChangeArrowheads="1"/>
                </p:cNvSpPr>
                <p:nvPr/>
              </p:nvSpPr>
              <p:spPr bwMode="auto">
                <a:xfrm>
                  <a:off x="916" y="187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4" name="Group 107"/>
              <p:cNvGrpSpPr>
                <a:grpSpLocks/>
              </p:cNvGrpSpPr>
              <p:nvPr/>
            </p:nvGrpSpPr>
            <p:grpSpPr bwMode="auto">
              <a:xfrm>
                <a:off x="1374" y="1870"/>
                <a:ext cx="458" cy="374"/>
                <a:chOff x="1374" y="1870"/>
                <a:chExt cx="458" cy="374"/>
              </a:xfrm>
            </p:grpSpPr>
            <p:sp>
              <p:nvSpPr>
                <p:cNvPr id="31827" name="Rectangle 108"/>
                <p:cNvSpPr>
                  <a:spLocks noChangeArrowheads="1"/>
                </p:cNvSpPr>
                <p:nvPr/>
              </p:nvSpPr>
              <p:spPr bwMode="auto">
                <a:xfrm>
                  <a:off x="1374" y="1870"/>
                  <a:ext cx="458"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在云内</a:t>
                  </a:r>
                  <a:endParaRPr lang="zh-CN" altLang="en-US" sz="2000" b="1"/>
                </a:p>
              </p:txBody>
            </p:sp>
            <p:sp>
              <p:nvSpPr>
                <p:cNvPr id="31828" name="Rectangle 109"/>
                <p:cNvSpPr>
                  <a:spLocks noChangeArrowheads="1"/>
                </p:cNvSpPr>
                <p:nvPr/>
              </p:nvSpPr>
              <p:spPr bwMode="auto">
                <a:xfrm>
                  <a:off x="1374" y="187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5" name="Group 110"/>
              <p:cNvGrpSpPr>
                <a:grpSpLocks/>
              </p:cNvGrpSpPr>
              <p:nvPr/>
            </p:nvGrpSpPr>
            <p:grpSpPr bwMode="auto">
              <a:xfrm>
                <a:off x="1832" y="1870"/>
                <a:ext cx="458" cy="374"/>
                <a:chOff x="1832" y="1870"/>
                <a:chExt cx="458" cy="374"/>
              </a:xfrm>
            </p:grpSpPr>
            <p:sp>
              <p:nvSpPr>
                <p:cNvPr id="31825" name="Rectangle 111"/>
                <p:cNvSpPr>
                  <a:spLocks noChangeArrowheads="1"/>
                </p:cNvSpPr>
                <p:nvPr/>
              </p:nvSpPr>
              <p:spPr bwMode="auto">
                <a:xfrm>
                  <a:off x="1832" y="1870"/>
                  <a:ext cx="458" cy="374"/>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VAL</a:t>
                  </a:r>
                  <a:endParaRPr lang="en-US" altLang="zh-CN" sz="2000" b="1"/>
                </a:p>
              </p:txBody>
            </p:sp>
            <p:sp>
              <p:nvSpPr>
                <p:cNvPr id="31826" name="Rectangle 112"/>
                <p:cNvSpPr>
                  <a:spLocks noChangeArrowheads="1"/>
                </p:cNvSpPr>
                <p:nvPr/>
              </p:nvSpPr>
              <p:spPr bwMode="auto">
                <a:xfrm>
                  <a:off x="1832" y="1870"/>
                  <a:ext cx="458"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6" name="Group 113"/>
              <p:cNvGrpSpPr>
                <a:grpSpLocks/>
              </p:cNvGrpSpPr>
              <p:nvPr/>
            </p:nvGrpSpPr>
            <p:grpSpPr bwMode="auto">
              <a:xfrm>
                <a:off x="2290" y="1870"/>
                <a:ext cx="594" cy="374"/>
                <a:chOff x="2290" y="1870"/>
                <a:chExt cx="594" cy="374"/>
              </a:xfrm>
            </p:grpSpPr>
            <p:sp>
              <p:nvSpPr>
                <p:cNvPr id="31823" name="Rectangle 114"/>
                <p:cNvSpPr>
                  <a:spLocks noChangeArrowheads="1"/>
                </p:cNvSpPr>
                <p:nvPr/>
              </p:nvSpPr>
              <p:spPr bwMode="auto">
                <a:xfrm>
                  <a:off x="2290" y="1870"/>
                  <a:ext cx="594" cy="374"/>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在山谷地区</a:t>
                  </a:r>
                  <a:endParaRPr lang="zh-CN" altLang="en-US" sz="2000" b="1"/>
                </a:p>
              </p:txBody>
            </p:sp>
            <p:sp>
              <p:nvSpPr>
                <p:cNvPr id="31824" name="Rectangle 115"/>
                <p:cNvSpPr>
                  <a:spLocks noChangeArrowheads="1"/>
                </p:cNvSpPr>
                <p:nvPr/>
              </p:nvSpPr>
              <p:spPr bwMode="auto">
                <a:xfrm>
                  <a:off x="2290" y="1870"/>
                  <a:ext cx="594" cy="374"/>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7" name="Group 116"/>
              <p:cNvGrpSpPr>
                <a:grpSpLocks/>
              </p:cNvGrpSpPr>
              <p:nvPr/>
            </p:nvGrpSpPr>
            <p:grpSpPr bwMode="auto">
              <a:xfrm>
                <a:off x="0" y="2244"/>
                <a:ext cx="458" cy="460"/>
                <a:chOff x="0" y="2244"/>
                <a:chExt cx="458" cy="460"/>
              </a:xfrm>
            </p:grpSpPr>
            <p:sp>
              <p:nvSpPr>
                <p:cNvPr id="31821" name="Rectangle 117"/>
                <p:cNvSpPr>
                  <a:spLocks noChangeArrowheads="1"/>
                </p:cNvSpPr>
                <p:nvPr/>
              </p:nvSpPr>
              <p:spPr bwMode="auto">
                <a:xfrm>
                  <a:off x="0" y="2244"/>
                  <a:ext cx="458" cy="460"/>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EMBD</a:t>
                  </a:r>
                  <a:endParaRPr lang="en-US" altLang="zh-CN" sz="2000" b="1"/>
                </a:p>
              </p:txBody>
            </p:sp>
            <p:sp>
              <p:nvSpPr>
                <p:cNvPr id="31822" name="Rectangle 118"/>
                <p:cNvSpPr>
                  <a:spLocks noChangeArrowheads="1"/>
                </p:cNvSpPr>
                <p:nvPr/>
              </p:nvSpPr>
              <p:spPr bwMode="auto">
                <a:xfrm>
                  <a:off x="0" y="224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8" name="Group 119"/>
              <p:cNvGrpSpPr>
                <a:grpSpLocks/>
              </p:cNvGrpSpPr>
              <p:nvPr/>
            </p:nvGrpSpPr>
            <p:grpSpPr bwMode="auto">
              <a:xfrm>
                <a:off x="458" y="2244"/>
                <a:ext cx="458" cy="460"/>
                <a:chOff x="458" y="2244"/>
                <a:chExt cx="458" cy="460"/>
              </a:xfrm>
            </p:grpSpPr>
            <p:sp>
              <p:nvSpPr>
                <p:cNvPr id="31819" name="Rectangle 120"/>
                <p:cNvSpPr>
                  <a:spLocks noChangeArrowheads="1"/>
                </p:cNvSpPr>
                <p:nvPr/>
              </p:nvSpPr>
              <p:spPr bwMode="auto">
                <a:xfrm>
                  <a:off x="458" y="2244"/>
                  <a:ext cx="458" cy="460"/>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隐藏</a:t>
                  </a:r>
                  <a:endParaRPr lang="zh-CN" altLang="en-US" sz="2000" b="1"/>
                </a:p>
              </p:txBody>
            </p:sp>
            <p:sp>
              <p:nvSpPr>
                <p:cNvPr id="31820" name="Rectangle 121"/>
                <p:cNvSpPr>
                  <a:spLocks noChangeArrowheads="1"/>
                </p:cNvSpPr>
                <p:nvPr/>
              </p:nvSpPr>
              <p:spPr bwMode="auto">
                <a:xfrm>
                  <a:off x="458" y="224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89" name="Group 122"/>
              <p:cNvGrpSpPr>
                <a:grpSpLocks/>
              </p:cNvGrpSpPr>
              <p:nvPr/>
            </p:nvGrpSpPr>
            <p:grpSpPr bwMode="auto">
              <a:xfrm>
                <a:off x="916" y="2244"/>
                <a:ext cx="458" cy="460"/>
                <a:chOff x="916" y="2244"/>
                <a:chExt cx="458" cy="460"/>
              </a:xfrm>
            </p:grpSpPr>
            <p:sp>
              <p:nvSpPr>
                <p:cNvPr id="31817" name="Rectangle 123"/>
                <p:cNvSpPr>
                  <a:spLocks noChangeArrowheads="1"/>
                </p:cNvSpPr>
                <p:nvPr/>
              </p:nvSpPr>
              <p:spPr bwMode="auto">
                <a:xfrm>
                  <a:off x="916" y="2244"/>
                  <a:ext cx="458" cy="460"/>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LOC</a:t>
                  </a:r>
                  <a:endParaRPr lang="en-US" altLang="zh-CN" sz="2000" b="1"/>
                </a:p>
              </p:txBody>
            </p:sp>
            <p:sp>
              <p:nvSpPr>
                <p:cNvPr id="31818" name="Rectangle 124"/>
                <p:cNvSpPr>
                  <a:spLocks noChangeArrowheads="1"/>
                </p:cNvSpPr>
                <p:nvPr/>
              </p:nvSpPr>
              <p:spPr bwMode="auto">
                <a:xfrm>
                  <a:off x="916" y="224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0" name="Group 125"/>
              <p:cNvGrpSpPr>
                <a:grpSpLocks/>
              </p:cNvGrpSpPr>
              <p:nvPr/>
            </p:nvGrpSpPr>
            <p:grpSpPr bwMode="auto">
              <a:xfrm>
                <a:off x="1374" y="2244"/>
                <a:ext cx="458" cy="460"/>
                <a:chOff x="1374" y="2244"/>
                <a:chExt cx="458" cy="460"/>
              </a:xfrm>
            </p:grpSpPr>
            <p:sp>
              <p:nvSpPr>
                <p:cNvPr id="31815" name="Rectangle 126"/>
                <p:cNvSpPr>
                  <a:spLocks noChangeArrowheads="1"/>
                </p:cNvSpPr>
                <p:nvPr/>
              </p:nvSpPr>
              <p:spPr bwMode="auto">
                <a:xfrm>
                  <a:off x="1374" y="2244"/>
                  <a:ext cx="458" cy="460"/>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局地</a:t>
                  </a:r>
                  <a:endParaRPr lang="zh-CN" altLang="en-US" sz="2000" b="1"/>
                </a:p>
              </p:txBody>
            </p:sp>
            <p:sp>
              <p:nvSpPr>
                <p:cNvPr id="31816" name="Rectangle 127"/>
                <p:cNvSpPr>
                  <a:spLocks noChangeArrowheads="1"/>
                </p:cNvSpPr>
                <p:nvPr/>
              </p:nvSpPr>
              <p:spPr bwMode="auto">
                <a:xfrm>
                  <a:off x="1374" y="224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1" name="Group 128"/>
              <p:cNvGrpSpPr>
                <a:grpSpLocks/>
              </p:cNvGrpSpPr>
              <p:nvPr/>
            </p:nvGrpSpPr>
            <p:grpSpPr bwMode="auto">
              <a:xfrm>
                <a:off x="1832" y="2244"/>
                <a:ext cx="458" cy="460"/>
                <a:chOff x="1832" y="2244"/>
                <a:chExt cx="458" cy="460"/>
              </a:xfrm>
            </p:grpSpPr>
            <p:sp>
              <p:nvSpPr>
                <p:cNvPr id="31813" name="Rectangle 129"/>
                <p:cNvSpPr>
                  <a:spLocks noChangeArrowheads="1"/>
                </p:cNvSpPr>
                <p:nvPr/>
              </p:nvSpPr>
              <p:spPr bwMode="auto">
                <a:xfrm>
                  <a:off x="1832" y="2244"/>
                  <a:ext cx="458" cy="460"/>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CIT</a:t>
                  </a:r>
                  <a:endParaRPr lang="en-US" altLang="zh-CN" sz="2000" b="1"/>
                </a:p>
              </p:txBody>
            </p:sp>
            <p:sp>
              <p:nvSpPr>
                <p:cNvPr id="31814" name="Rectangle 130"/>
                <p:cNvSpPr>
                  <a:spLocks noChangeArrowheads="1"/>
                </p:cNvSpPr>
                <p:nvPr/>
              </p:nvSpPr>
              <p:spPr bwMode="auto">
                <a:xfrm>
                  <a:off x="1832" y="224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2" name="Group 131"/>
              <p:cNvGrpSpPr>
                <a:grpSpLocks/>
              </p:cNvGrpSpPr>
              <p:nvPr/>
            </p:nvGrpSpPr>
            <p:grpSpPr bwMode="auto">
              <a:xfrm>
                <a:off x="2290" y="2244"/>
                <a:ext cx="594" cy="460"/>
                <a:chOff x="2290" y="2244"/>
                <a:chExt cx="594" cy="460"/>
              </a:xfrm>
            </p:grpSpPr>
            <p:sp>
              <p:nvSpPr>
                <p:cNvPr id="31811" name="Rectangle 132"/>
                <p:cNvSpPr>
                  <a:spLocks noChangeArrowheads="1"/>
                </p:cNvSpPr>
                <p:nvPr/>
              </p:nvSpPr>
              <p:spPr bwMode="auto">
                <a:xfrm>
                  <a:off x="2290" y="2244"/>
                  <a:ext cx="594" cy="460"/>
                </a:xfrm>
                <a:prstGeom prst="rect">
                  <a:avLst/>
                </a:prstGeom>
                <a:noFill/>
                <a:ln w="38100">
                  <a:solidFill>
                    <a:schemeClr val="hlink"/>
                  </a:solidFill>
                  <a:miter lim="800000"/>
                  <a:headEnd type="none" w="sm" len="sm"/>
                  <a:tailEnd type="none" w="sm" len="sm"/>
                </a:ln>
              </p:spPr>
              <p:txBody>
                <a:bodyPr anchor="ctr"/>
                <a:lstStyle/>
                <a:p>
                  <a:pPr algn="ctr"/>
                  <a:endParaRPr lang="en-US" altLang="zh-CN" sz="2000" b="1">
                    <a:ea typeface="方正书宋简体"/>
                    <a:cs typeface="方正书宋简体"/>
                  </a:endParaRPr>
                </a:p>
                <a:p>
                  <a:pPr algn="ctr"/>
                  <a:r>
                    <a:rPr lang="zh-CN" altLang="en-US" sz="2000" b="1">
                      <a:ea typeface="方正书宋简体"/>
                      <a:cs typeface="方正书宋简体"/>
                    </a:rPr>
                    <a:t>邻近或在</a:t>
                  </a:r>
                </a:p>
                <a:p>
                  <a:pPr algn="ctr"/>
                  <a:r>
                    <a:rPr lang="zh-CN" altLang="en-US" sz="2000" b="1">
                      <a:ea typeface="方正书宋简体"/>
                      <a:cs typeface="方正书宋简体"/>
                    </a:rPr>
                    <a:t>城市上空</a:t>
                  </a:r>
                  <a:endParaRPr lang="zh-CN" altLang="en-US" sz="2000" b="1">
                    <a:latin typeface="宋体" charset="-122"/>
                  </a:endParaRPr>
                </a:p>
                <a:p>
                  <a:pPr algn="ctr" eaLnBrk="0" hangingPunct="0"/>
                  <a:endParaRPr lang="en-US" altLang="zh-CN" sz="2000" b="1"/>
                </a:p>
              </p:txBody>
            </p:sp>
            <p:sp>
              <p:nvSpPr>
                <p:cNvPr id="31812" name="Rectangle 133"/>
                <p:cNvSpPr>
                  <a:spLocks noChangeArrowheads="1"/>
                </p:cNvSpPr>
                <p:nvPr/>
              </p:nvSpPr>
              <p:spPr bwMode="auto">
                <a:xfrm>
                  <a:off x="2290" y="2244"/>
                  <a:ext cx="594"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3" name="Group 134"/>
              <p:cNvGrpSpPr>
                <a:grpSpLocks/>
              </p:cNvGrpSpPr>
              <p:nvPr/>
            </p:nvGrpSpPr>
            <p:grpSpPr bwMode="auto">
              <a:xfrm>
                <a:off x="0" y="2704"/>
                <a:ext cx="458" cy="460"/>
                <a:chOff x="0" y="2704"/>
                <a:chExt cx="458" cy="460"/>
              </a:xfrm>
            </p:grpSpPr>
            <p:sp>
              <p:nvSpPr>
                <p:cNvPr id="31809" name="Rectangle 135"/>
                <p:cNvSpPr>
                  <a:spLocks noChangeArrowheads="1"/>
                </p:cNvSpPr>
                <p:nvPr/>
              </p:nvSpPr>
              <p:spPr bwMode="auto">
                <a:xfrm>
                  <a:off x="0" y="2704"/>
                  <a:ext cx="458" cy="460"/>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ISLTD</a:t>
                  </a:r>
                  <a:endParaRPr lang="en-US" altLang="zh-CN" sz="2000" b="1"/>
                </a:p>
              </p:txBody>
            </p:sp>
            <p:sp>
              <p:nvSpPr>
                <p:cNvPr id="31810" name="Rectangle 136"/>
                <p:cNvSpPr>
                  <a:spLocks noChangeArrowheads="1"/>
                </p:cNvSpPr>
                <p:nvPr/>
              </p:nvSpPr>
              <p:spPr bwMode="auto">
                <a:xfrm>
                  <a:off x="0" y="270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4" name="Group 137"/>
              <p:cNvGrpSpPr>
                <a:grpSpLocks/>
              </p:cNvGrpSpPr>
              <p:nvPr/>
            </p:nvGrpSpPr>
            <p:grpSpPr bwMode="auto">
              <a:xfrm>
                <a:off x="458" y="2704"/>
                <a:ext cx="458" cy="460"/>
                <a:chOff x="458" y="2704"/>
                <a:chExt cx="458" cy="460"/>
              </a:xfrm>
            </p:grpSpPr>
            <p:sp>
              <p:nvSpPr>
                <p:cNvPr id="31807" name="Rectangle 138"/>
                <p:cNvSpPr>
                  <a:spLocks noChangeArrowheads="1"/>
                </p:cNvSpPr>
                <p:nvPr/>
              </p:nvSpPr>
              <p:spPr bwMode="auto">
                <a:xfrm>
                  <a:off x="458" y="2704"/>
                  <a:ext cx="458" cy="460"/>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有些地方</a:t>
                  </a:r>
                  <a:endParaRPr lang="zh-CN" altLang="en-US" sz="2000" b="1"/>
                </a:p>
              </p:txBody>
            </p:sp>
            <p:sp>
              <p:nvSpPr>
                <p:cNvPr id="31808" name="Rectangle 139"/>
                <p:cNvSpPr>
                  <a:spLocks noChangeArrowheads="1"/>
                </p:cNvSpPr>
                <p:nvPr/>
              </p:nvSpPr>
              <p:spPr bwMode="auto">
                <a:xfrm>
                  <a:off x="458" y="270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5" name="Group 140"/>
              <p:cNvGrpSpPr>
                <a:grpSpLocks/>
              </p:cNvGrpSpPr>
              <p:nvPr/>
            </p:nvGrpSpPr>
            <p:grpSpPr bwMode="auto">
              <a:xfrm>
                <a:off x="916" y="2704"/>
                <a:ext cx="458" cy="460"/>
                <a:chOff x="916" y="2704"/>
                <a:chExt cx="458" cy="460"/>
              </a:xfrm>
            </p:grpSpPr>
            <p:sp>
              <p:nvSpPr>
                <p:cNvPr id="31805" name="Rectangle 141"/>
                <p:cNvSpPr>
                  <a:spLocks noChangeArrowheads="1"/>
                </p:cNvSpPr>
                <p:nvPr/>
              </p:nvSpPr>
              <p:spPr bwMode="auto">
                <a:xfrm>
                  <a:off x="916" y="2704"/>
                  <a:ext cx="458" cy="460"/>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OVC</a:t>
                  </a:r>
                  <a:endParaRPr lang="en-US" altLang="zh-CN" sz="2000" b="1"/>
                </a:p>
              </p:txBody>
            </p:sp>
            <p:sp>
              <p:nvSpPr>
                <p:cNvPr id="31806" name="Rectangle 142"/>
                <p:cNvSpPr>
                  <a:spLocks noChangeArrowheads="1"/>
                </p:cNvSpPr>
                <p:nvPr/>
              </p:nvSpPr>
              <p:spPr bwMode="auto">
                <a:xfrm>
                  <a:off x="916" y="270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6" name="Group 143"/>
              <p:cNvGrpSpPr>
                <a:grpSpLocks/>
              </p:cNvGrpSpPr>
              <p:nvPr/>
            </p:nvGrpSpPr>
            <p:grpSpPr bwMode="auto">
              <a:xfrm>
                <a:off x="1374" y="2704"/>
                <a:ext cx="458" cy="460"/>
                <a:chOff x="1374" y="2704"/>
                <a:chExt cx="458" cy="460"/>
              </a:xfrm>
            </p:grpSpPr>
            <p:sp>
              <p:nvSpPr>
                <p:cNvPr id="31803" name="Rectangle 144"/>
                <p:cNvSpPr>
                  <a:spLocks noChangeArrowheads="1"/>
                </p:cNvSpPr>
                <p:nvPr/>
              </p:nvSpPr>
              <p:spPr bwMode="auto">
                <a:xfrm>
                  <a:off x="1374" y="2704"/>
                  <a:ext cx="458" cy="460"/>
                </a:xfrm>
                <a:prstGeom prst="rect">
                  <a:avLst/>
                </a:prstGeom>
                <a:noFill/>
                <a:ln w="38100">
                  <a:solidFill>
                    <a:schemeClr val="hlink"/>
                  </a:solidFill>
                  <a:miter lim="800000"/>
                  <a:headEnd type="none" w="sm" len="sm"/>
                  <a:tailEnd type="none" w="sm" len="sm"/>
                </a:ln>
              </p:spPr>
              <p:txBody>
                <a:bodyPr anchor="ctr"/>
                <a:lstStyle/>
                <a:p>
                  <a:pPr algn="ctr"/>
                  <a:r>
                    <a:rPr lang="zh-CN" altLang="en-US" sz="2000" b="1">
                      <a:ea typeface="方正书宋简体"/>
                      <a:cs typeface="方正书宋简体"/>
                    </a:rPr>
                    <a:t>阴天</a:t>
                  </a:r>
                  <a:endParaRPr lang="zh-CN" altLang="en-US" sz="2000" b="1"/>
                </a:p>
              </p:txBody>
            </p:sp>
            <p:sp>
              <p:nvSpPr>
                <p:cNvPr id="31804" name="Rectangle 145"/>
                <p:cNvSpPr>
                  <a:spLocks noChangeArrowheads="1"/>
                </p:cNvSpPr>
                <p:nvPr/>
              </p:nvSpPr>
              <p:spPr bwMode="auto">
                <a:xfrm>
                  <a:off x="1374" y="270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7" name="Group 146"/>
              <p:cNvGrpSpPr>
                <a:grpSpLocks/>
              </p:cNvGrpSpPr>
              <p:nvPr/>
            </p:nvGrpSpPr>
            <p:grpSpPr bwMode="auto">
              <a:xfrm>
                <a:off x="1832" y="2704"/>
                <a:ext cx="458" cy="460"/>
                <a:chOff x="1832" y="2704"/>
                <a:chExt cx="458" cy="460"/>
              </a:xfrm>
            </p:grpSpPr>
            <p:sp>
              <p:nvSpPr>
                <p:cNvPr id="31801" name="Rectangle 147"/>
                <p:cNvSpPr>
                  <a:spLocks noChangeArrowheads="1"/>
                </p:cNvSpPr>
                <p:nvPr/>
              </p:nvSpPr>
              <p:spPr bwMode="auto">
                <a:xfrm>
                  <a:off x="1832" y="2704"/>
                  <a:ext cx="458" cy="460"/>
                </a:xfrm>
                <a:prstGeom prst="rect">
                  <a:avLst/>
                </a:prstGeom>
                <a:noFill/>
                <a:ln w="38100">
                  <a:solidFill>
                    <a:schemeClr val="hlink"/>
                  </a:solidFill>
                  <a:miter lim="800000"/>
                  <a:headEnd type="none" w="sm" len="sm"/>
                  <a:tailEnd type="none" w="sm" len="sm"/>
                </a:ln>
              </p:spPr>
              <p:txBody>
                <a:bodyPr anchor="ctr"/>
                <a:lstStyle/>
                <a:p>
                  <a:pPr algn="ctr"/>
                  <a:r>
                    <a:rPr lang="en-US" altLang="zh-CN" sz="2000" b="1">
                      <a:cs typeface="Times New Roman" pitchFamily="18" charset="0"/>
                    </a:rPr>
                    <a:t>MON</a:t>
                  </a:r>
                  <a:endParaRPr lang="en-US" altLang="zh-CN" sz="2000" b="1"/>
                </a:p>
              </p:txBody>
            </p:sp>
            <p:sp>
              <p:nvSpPr>
                <p:cNvPr id="31802" name="Rectangle 148"/>
                <p:cNvSpPr>
                  <a:spLocks noChangeArrowheads="1"/>
                </p:cNvSpPr>
                <p:nvPr/>
              </p:nvSpPr>
              <p:spPr bwMode="auto">
                <a:xfrm>
                  <a:off x="1832" y="2704"/>
                  <a:ext cx="458"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nvGrpSpPr>
              <p:cNvPr id="31798" name="Group 149"/>
              <p:cNvGrpSpPr>
                <a:grpSpLocks/>
              </p:cNvGrpSpPr>
              <p:nvPr/>
            </p:nvGrpSpPr>
            <p:grpSpPr bwMode="auto">
              <a:xfrm>
                <a:off x="2290" y="2704"/>
                <a:ext cx="594" cy="460"/>
                <a:chOff x="2290" y="2704"/>
                <a:chExt cx="594" cy="460"/>
              </a:xfrm>
            </p:grpSpPr>
            <p:sp>
              <p:nvSpPr>
                <p:cNvPr id="31799" name="Rectangle 150"/>
                <p:cNvSpPr>
                  <a:spLocks noChangeArrowheads="1"/>
                </p:cNvSpPr>
                <p:nvPr/>
              </p:nvSpPr>
              <p:spPr bwMode="auto">
                <a:xfrm>
                  <a:off x="2290" y="2704"/>
                  <a:ext cx="594" cy="460"/>
                </a:xfrm>
                <a:prstGeom prst="rect">
                  <a:avLst/>
                </a:prstGeom>
                <a:noFill/>
                <a:ln w="38100">
                  <a:solidFill>
                    <a:schemeClr val="hlink"/>
                  </a:solidFill>
                  <a:miter lim="800000"/>
                  <a:headEnd type="none" w="sm" len="sm"/>
                  <a:tailEnd type="none" w="sm" len="sm"/>
                </a:ln>
              </p:spPr>
              <p:txBody>
                <a:bodyPr anchor="ctr"/>
                <a:lstStyle/>
                <a:p>
                  <a:pPr algn="ctr"/>
                  <a:endParaRPr lang="en-US" altLang="zh-CN" sz="2000" b="1">
                    <a:ea typeface="方正书宋简体"/>
                    <a:cs typeface="方正书宋简体"/>
                  </a:endParaRPr>
                </a:p>
                <a:p>
                  <a:pPr algn="ctr"/>
                  <a:r>
                    <a:rPr lang="zh-CN" altLang="en-US" sz="2000" b="1">
                      <a:ea typeface="方正书宋简体"/>
                      <a:cs typeface="方正书宋简体"/>
                    </a:rPr>
                    <a:t>在高地或</a:t>
                  </a:r>
                </a:p>
                <a:p>
                  <a:pPr algn="ctr"/>
                  <a:r>
                    <a:rPr lang="zh-CN" altLang="en-US" sz="2000" b="1">
                      <a:ea typeface="方正书宋简体"/>
                      <a:cs typeface="方正书宋简体"/>
                    </a:rPr>
                    <a:t>山区上空</a:t>
                  </a:r>
                  <a:endParaRPr lang="zh-CN" altLang="en-US" sz="2000" b="1">
                    <a:latin typeface="宋体" charset="-122"/>
                  </a:endParaRPr>
                </a:p>
                <a:p>
                  <a:pPr algn="ctr" eaLnBrk="0" hangingPunct="0"/>
                  <a:endParaRPr lang="en-US" altLang="zh-CN" sz="2000" b="1"/>
                </a:p>
              </p:txBody>
            </p:sp>
            <p:sp>
              <p:nvSpPr>
                <p:cNvPr id="31800" name="Rectangle 151"/>
                <p:cNvSpPr>
                  <a:spLocks noChangeArrowheads="1"/>
                </p:cNvSpPr>
                <p:nvPr/>
              </p:nvSpPr>
              <p:spPr bwMode="auto">
                <a:xfrm>
                  <a:off x="2290" y="2704"/>
                  <a:ext cx="594" cy="46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grpSp>
        <p:sp>
          <p:nvSpPr>
            <p:cNvPr id="31750" name="Rectangle 152"/>
            <p:cNvSpPr>
              <a:spLocks noChangeArrowheads="1"/>
            </p:cNvSpPr>
            <p:nvPr/>
          </p:nvSpPr>
          <p:spPr bwMode="auto">
            <a:xfrm>
              <a:off x="-3" y="-3"/>
              <a:ext cx="2890" cy="3170"/>
            </a:xfrm>
            <a:prstGeom prst="rect">
              <a:avLst/>
            </a:prstGeom>
            <a:noFill/>
            <a:ln w="38100">
              <a:solidFill>
                <a:schemeClr val="hlink"/>
              </a:solidFill>
              <a:miter lim="800000"/>
              <a:headEnd type="none" w="sm" len="sm"/>
              <a:tailEnd type="none" w="sm" len="sm"/>
            </a:ln>
          </p:spPr>
          <p:txBody>
            <a:bodyPr wrap="none"/>
            <a:lstStyle/>
            <a:p>
              <a:endParaRPr lang="zh-CN" altLang="en-US"/>
            </a:p>
          </p:txBody>
        </p:sp>
      </p:grpSp>
    </p:spTree>
    <p:extLst>
      <p:ext uri="{BB962C8B-B14F-4D97-AF65-F5344CB8AC3E}">
        <p14:creationId xmlns:p14="http://schemas.microsoft.com/office/powerpoint/2010/main" val="3107275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841514" y="250031"/>
            <a:ext cx="747713" cy="5856288"/>
          </a:xfrm>
          <a:solidFill>
            <a:srgbClr val="CCFFFF"/>
          </a:solidFill>
        </p:spPr>
        <p:txBody>
          <a:bodyPr/>
          <a:lstStyle/>
          <a:p>
            <a:pPr>
              <a:defRPr/>
            </a:pPr>
            <a:r>
              <a:rPr lang="zh-CN" altLang="en-US" sz="2400" dirty="0">
                <a:solidFill>
                  <a:schemeClr val="tx1"/>
                </a:solidFill>
                <a:latin typeface="微软雅黑" panose="020B0503020204020204" pitchFamily="34" charset="-122"/>
                <a:ea typeface="微软雅黑" panose="020B0503020204020204" pitchFamily="34" charset="-122"/>
              </a:rPr>
              <a:t>低层重要天气预报图举例</a:t>
            </a:r>
          </a:p>
        </p:txBody>
      </p:sp>
      <p:pic>
        <p:nvPicPr>
          <p:cNvPr id="32770" name="Picture 4" descr="图11-6"/>
          <p:cNvPicPr>
            <a:picLocks noChangeAspect="1" noChangeArrowheads="1"/>
          </p:cNvPicPr>
          <p:nvPr/>
        </p:nvPicPr>
        <p:blipFill>
          <a:blip r:embed="rId2"/>
          <a:srcRect/>
          <a:stretch>
            <a:fillRect/>
          </a:stretch>
        </p:blipFill>
        <p:spPr bwMode="auto">
          <a:xfrm>
            <a:off x="2320131" y="250031"/>
            <a:ext cx="7551737" cy="6357937"/>
          </a:xfrm>
          <a:prstGeom prst="rect">
            <a:avLst/>
          </a:prstGeom>
          <a:noFill/>
          <a:ln w="9525">
            <a:noFill/>
            <a:miter lim="800000"/>
            <a:headEnd/>
            <a:tailEnd/>
          </a:ln>
        </p:spPr>
      </p:pic>
    </p:spTree>
    <p:extLst>
      <p:ext uri="{BB962C8B-B14F-4D97-AF65-F5344CB8AC3E}">
        <p14:creationId xmlns:p14="http://schemas.microsoft.com/office/powerpoint/2010/main" val="3902780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2238348" y="1"/>
            <a:ext cx="7031060" cy="960437"/>
          </a:xfrm>
        </p:spPr>
        <p:txBody>
          <a:bodyPr/>
          <a:lstStyle/>
          <a:p>
            <a:pPr>
              <a:defRPr/>
            </a:pPr>
            <a:r>
              <a:rPr lang="en-US" altLang="zh-CN" sz="2800" dirty="0">
                <a:solidFill>
                  <a:schemeClr val="tx1"/>
                </a:solidFill>
                <a:latin typeface="微软雅黑" pitchFamily="34" charset="-122"/>
                <a:ea typeface="微软雅黑" pitchFamily="34" charset="-122"/>
              </a:rPr>
              <a:t>2.</a:t>
            </a:r>
            <a:r>
              <a:rPr lang="zh-CN" altLang="en-US" sz="2800" dirty="0">
                <a:solidFill>
                  <a:schemeClr val="tx1"/>
                </a:solidFill>
                <a:latin typeface="微软雅黑" pitchFamily="34" charset="-122"/>
                <a:ea typeface="微软雅黑" pitchFamily="34" charset="-122"/>
              </a:rPr>
              <a:t>中层（</a:t>
            </a:r>
            <a:r>
              <a:rPr lang="en-US" altLang="zh-CN" sz="2800" dirty="0">
                <a:solidFill>
                  <a:schemeClr val="tx1"/>
                </a:solidFill>
                <a:latin typeface="微软雅黑" pitchFamily="34" charset="-122"/>
                <a:ea typeface="微软雅黑" pitchFamily="34" charset="-122"/>
              </a:rPr>
              <a:t>FL100</a:t>
            </a:r>
            <a:r>
              <a:rPr lang="zh-CN" altLang="en-US" sz="2800" dirty="0">
                <a:solidFill>
                  <a:schemeClr val="tx1"/>
                </a:solidFill>
                <a:latin typeface="微软雅黑" pitchFamily="34" charset="-122"/>
                <a:ea typeface="微软雅黑" pitchFamily="34" charset="-122"/>
              </a:rPr>
              <a:t>至</a:t>
            </a:r>
            <a:r>
              <a:rPr lang="en-US" altLang="zh-CN" sz="2800" dirty="0">
                <a:solidFill>
                  <a:schemeClr val="tx1"/>
                </a:solidFill>
                <a:latin typeface="微软雅黑" pitchFamily="34" charset="-122"/>
                <a:ea typeface="微软雅黑" pitchFamily="34" charset="-122"/>
              </a:rPr>
              <a:t>FL250</a:t>
            </a:r>
            <a:r>
              <a:rPr lang="zh-CN" altLang="en-US" sz="2800" dirty="0">
                <a:solidFill>
                  <a:schemeClr val="tx1"/>
                </a:solidFill>
                <a:latin typeface="微软雅黑" pitchFamily="34" charset="-122"/>
                <a:ea typeface="微软雅黑" pitchFamily="34" charset="-122"/>
              </a:rPr>
              <a:t>）重要天气预报图 </a:t>
            </a:r>
          </a:p>
        </p:txBody>
      </p:sp>
      <p:sp>
        <p:nvSpPr>
          <p:cNvPr id="33794" name="Rectangle 5"/>
          <p:cNvSpPr>
            <a:spLocks noChangeArrowheads="1"/>
          </p:cNvSpPr>
          <p:nvPr/>
        </p:nvSpPr>
        <p:spPr bwMode="auto">
          <a:xfrm>
            <a:off x="2351089" y="1125538"/>
            <a:ext cx="7705725" cy="1008062"/>
          </a:xfrm>
          <a:prstGeom prst="rect">
            <a:avLst/>
          </a:prstGeom>
          <a:noFill/>
          <a:ln w="9525">
            <a:noFill/>
            <a:miter lim="800000"/>
            <a:headEnd/>
            <a:tailEnd/>
          </a:ln>
        </p:spPr>
        <p:txBody>
          <a:bodyPr anchor="ctr"/>
          <a:lstStyle/>
          <a:p>
            <a:pPr algn="ctr"/>
            <a:r>
              <a:rPr lang="zh-CN" altLang="en-US" sz="2800">
                <a:solidFill>
                  <a:srgbClr val="FFFFFF"/>
                </a:solidFill>
                <a:latin typeface="宋体" charset="-122"/>
                <a:ea typeface="华文新魏" pitchFamily="2" charset="-122"/>
              </a:rPr>
              <a:t>（</a:t>
            </a:r>
            <a:r>
              <a:rPr lang="en-US" altLang="zh-CN" sz="2800">
                <a:solidFill>
                  <a:srgbClr val="FFFFFF"/>
                </a:solidFill>
                <a:latin typeface="宋体" charset="-122"/>
                <a:ea typeface="华文新魏" pitchFamily="2" charset="-122"/>
              </a:rPr>
              <a:t>1</a:t>
            </a:r>
            <a:r>
              <a:rPr lang="zh-CN" altLang="en-US" sz="2800">
                <a:solidFill>
                  <a:srgbClr val="FFFFFF"/>
                </a:solidFill>
                <a:latin typeface="宋体" charset="-122"/>
                <a:ea typeface="华文新魏" pitchFamily="2" charset="-122"/>
              </a:rPr>
              <a:t>）中层重要天气预报图简介</a:t>
            </a:r>
            <a:br>
              <a:rPr lang="zh-CN" altLang="en-US" sz="2800">
                <a:solidFill>
                  <a:srgbClr val="FFFFFF"/>
                </a:solidFill>
                <a:latin typeface="宋体" charset="-122"/>
                <a:ea typeface="华文新魏" pitchFamily="2" charset="-122"/>
              </a:rPr>
            </a:br>
            <a:r>
              <a:rPr lang="en-US" altLang="zh-CN" sz="2800">
                <a:solidFill>
                  <a:srgbClr val="FFFFFF"/>
                </a:solidFill>
                <a:cs typeface="Times New Roman" pitchFamily="18" charset="0"/>
              </a:rPr>
              <a:t>(FL100</a:t>
            </a:r>
            <a:r>
              <a:rPr lang="en-US" altLang="zh-CN" sz="2800">
                <a:solidFill>
                  <a:srgbClr val="FFFFFF"/>
                </a:solidFill>
                <a:latin typeface="宋体" charset="-122"/>
              </a:rPr>
              <a:t>——</a:t>
            </a:r>
            <a:r>
              <a:rPr lang="en-US" altLang="zh-CN" sz="2800">
                <a:solidFill>
                  <a:srgbClr val="FFFFFF"/>
                </a:solidFill>
                <a:cs typeface="Times New Roman" pitchFamily="18" charset="0"/>
              </a:rPr>
              <a:t>FL250)</a:t>
            </a:r>
            <a:endParaRPr lang="en-US" altLang="zh-CN" sz="2800">
              <a:solidFill>
                <a:srgbClr val="FFFFFF"/>
              </a:solidFill>
              <a:latin typeface="宋体" charset="-122"/>
            </a:endParaRPr>
          </a:p>
        </p:txBody>
      </p:sp>
      <p:sp>
        <p:nvSpPr>
          <p:cNvPr id="33795" name="Rectangle 6"/>
          <p:cNvSpPr>
            <a:spLocks noGrp="1" noChangeArrowheads="1"/>
          </p:cNvSpPr>
          <p:nvPr>
            <p:ph type="body" idx="1"/>
          </p:nvPr>
        </p:nvSpPr>
        <p:spPr>
          <a:xfrm>
            <a:off x="742121" y="785814"/>
            <a:ext cx="10893287" cy="6072187"/>
          </a:xfrm>
          <a:solidFill>
            <a:schemeClr val="bg1"/>
          </a:solidFill>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在中层重要天气预报图上，主要的内容仍然是重要天气现象和天气系统。</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与低层预报不同的是没有地面能见度、气压中心、</a:t>
            </a:r>
            <a:r>
              <a:rPr lang="en-US" altLang="zh-CN" sz="2400" dirty="0">
                <a:solidFill>
                  <a:schemeClr val="tx1"/>
                </a:solidFill>
                <a:latin typeface="Times New Roman" panose="02020603050405020304" pitchFamily="18" charset="0"/>
                <a:ea typeface="微软雅黑" pitchFamily="34" charset="-122"/>
              </a:rPr>
              <a:t>0℃</a:t>
            </a:r>
            <a:r>
              <a:rPr lang="zh-CN" altLang="en-US" sz="2400" dirty="0">
                <a:solidFill>
                  <a:schemeClr val="tx1"/>
                </a:solidFill>
                <a:latin typeface="Times New Roman" panose="02020603050405020304" pitchFamily="18" charset="0"/>
                <a:ea typeface="微软雅黑" pitchFamily="34" charset="-122"/>
              </a:rPr>
              <a:t>等温层高度、海平面温度和海面状况等内容</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增加了出现在中高空的飞行气象条件：</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──晴空颠簸及其强度（晴空颠簸区用断线标出）</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──急流及出现高度和风速（用流线箭头表示）</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──火山灰云（</a:t>
            </a:r>
            <a:r>
              <a:rPr lang="en-US" altLang="zh-CN" sz="2400" dirty="0">
                <a:solidFill>
                  <a:schemeClr val="tx1"/>
                </a:solidFill>
                <a:latin typeface="Times New Roman" panose="02020603050405020304" pitchFamily="18" charset="0"/>
                <a:ea typeface="微软雅黑" pitchFamily="34" charset="-122"/>
              </a:rPr>
              <a:t>VA</a:t>
            </a:r>
            <a:r>
              <a:rPr lang="zh-CN" altLang="en-US" sz="2400" dirty="0">
                <a:solidFill>
                  <a:schemeClr val="tx1"/>
                </a:solidFill>
                <a:latin typeface="Times New Roman" panose="02020603050405020304" pitchFamily="18" charset="0"/>
                <a:ea typeface="微软雅黑" pitchFamily="34" charset="-122"/>
              </a:rPr>
              <a:t>）</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需要注意的是，</a:t>
            </a:r>
            <a:r>
              <a:rPr lang="zh-CN" altLang="en-US" sz="2400" dirty="0">
                <a:solidFill>
                  <a:schemeClr val="accent5"/>
                </a:solidFill>
                <a:latin typeface="Times New Roman" panose="02020603050405020304" pitchFamily="18" charset="0"/>
                <a:ea typeface="微软雅黑" pitchFamily="34" charset="-122"/>
              </a:rPr>
              <a:t>高空急流的风速表示与天气图上的有所差别：这里一条短线代表</a:t>
            </a:r>
            <a:r>
              <a:rPr lang="en-US" altLang="zh-CN" sz="2400" dirty="0">
                <a:solidFill>
                  <a:schemeClr val="accent5"/>
                </a:solidFill>
                <a:latin typeface="Times New Roman" panose="02020603050405020304" pitchFamily="18" charset="0"/>
                <a:ea typeface="微软雅黑" pitchFamily="34" charset="-122"/>
              </a:rPr>
              <a:t>10KT</a:t>
            </a:r>
            <a:r>
              <a:rPr lang="zh-CN" altLang="en-US" sz="2400" dirty="0">
                <a:solidFill>
                  <a:schemeClr val="accent5"/>
                </a:solidFill>
                <a:latin typeface="Times New Roman" panose="02020603050405020304" pitchFamily="18" charset="0"/>
                <a:ea typeface="微软雅黑" pitchFamily="34" charset="-122"/>
              </a:rPr>
              <a:t>，一个黑色的风三角代表</a:t>
            </a:r>
            <a:r>
              <a:rPr lang="en-US" altLang="zh-CN" sz="2400" dirty="0">
                <a:solidFill>
                  <a:schemeClr val="accent5"/>
                </a:solidFill>
                <a:latin typeface="Times New Roman" panose="02020603050405020304" pitchFamily="18" charset="0"/>
                <a:ea typeface="微软雅黑" pitchFamily="34" charset="-122"/>
              </a:rPr>
              <a:t>50KT</a:t>
            </a:r>
            <a:endParaRPr lang="zh-CN" altLang="en-US" sz="2400" dirty="0">
              <a:solidFill>
                <a:schemeClr val="accent5"/>
              </a:solidFill>
              <a:latin typeface="Times New Roman" panose="02020603050405020304" pitchFamily="18" charset="0"/>
              <a:ea typeface="微软雅黑" pitchFamily="34" charset="-122"/>
            </a:endParaRPr>
          </a:p>
        </p:txBody>
      </p:sp>
    </p:spTree>
    <p:extLst>
      <p:ext uri="{BB962C8B-B14F-4D97-AF65-F5344CB8AC3E}">
        <p14:creationId xmlns:p14="http://schemas.microsoft.com/office/powerpoint/2010/main" val="4061095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6377908-90DF-49AC-9F0E-8059EF6884EE}"/>
              </a:ext>
            </a:extLst>
          </p:cNvPr>
          <p:cNvPicPr>
            <a:picLocks noChangeAspect="1"/>
          </p:cNvPicPr>
          <p:nvPr/>
        </p:nvPicPr>
        <p:blipFill>
          <a:blip r:embed="rId2"/>
          <a:stretch>
            <a:fillRect/>
          </a:stretch>
        </p:blipFill>
        <p:spPr>
          <a:xfrm>
            <a:off x="1166191" y="196806"/>
            <a:ext cx="9157253" cy="6230498"/>
          </a:xfrm>
          <a:prstGeom prst="rect">
            <a:avLst/>
          </a:prstGeom>
        </p:spPr>
      </p:pic>
    </p:spTree>
    <p:extLst>
      <p:ext uri="{BB962C8B-B14F-4D97-AF65-F5344CB8AC3E}">
        <p14:creationId xmlns:p14="http://schemas.microsoft.com/office/powerpoint/2010/main" val="3806542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113183" y="96080"/>
            <a:ext cx="649288" cy="5864225"/>
          </a:xfrm>
        </p:spPr>
        <p:txBody>
          <a:bodyPr/>
          <a:lstStyle/>
          <a:p>
            <a:pPr>
              <a:defRPr/>
            </a:pPr>
            <a:br>
              <a:rPr lang="zh-CN" altLang="en-US" sz="2800" dirty="0">
                <a:solidFill>
                  <a:srgbClr val="FFFFFF"/>
                </a:solidFill>
                <a:latin typeface="宋体" pitchFamily="2" charset="-122"/>
                <a:ea typeface="华文新魏" pitchFamily="2" charset="-122"/>
              </a:rPr>
            </a:br>
            <a:r>
              <a:rPr lang="zh-CN" altLang="en-US" sz="2400" dirty="0">
                <a:solidFill>
                  <a:schemeClr val="tx1"/>
                </a:solidFill>
                <a:latin typeface="微软雅黑" panose="020B0503020204020204" pitchFamily="34" charset="-122"/>
                <a:ea typeface="微软雅黑" panose="020B0503020204020204" pitchFamily="34" charset="-122"/>
              </a:rPr>
              <a:t>中层重要天气预报图举例</a:t>
            </a:r>
            <a:endParaRPr lang="zh-CN" altLang="en-US" sz="2800" dirty="0">
              <a:solidFill>
                <a:schemeClr val="tx1"/>
              </a:solidFill>
              <a:latin typeface="微软雅黑" panose="020B0503020204020204" pitchFamily="34" charset="-122"/>
              <a:ea typeface="微软雅黑" panose="020B0503020204020204" pitchFamily="34" charset="-122"/>
            </a:endParaRPr>
          </a:p>
        </p:txBody>
      </p:sp>
      <p:pic>
        <p:nvPicPr>
          <p:cNvPr id="34818" name="Picture 4" descr="图11-8"/>
          <p:cNvPicPr>
            <a:picLocks noChangeAspect="1" noChangeArrowheads="1"/>
          </p:cNvPicPr>
          <p:nvPr/>
        </p:nvPicPr>
        <p:blipFill>
          <a:blip r:embed="rId2"/>
          <a:srcRect/>
          <a:stretch>
            <a:fillRect/>
          </a:stretch>
        </p:blipFill>
        <p:spPr bwMode="auto">
          <a:xfrm>
            <a:off x="2546489" y="0"/>
            <a:ext cx="6500813" cy="6813550"/>
          </a:xfrm>
          <a:prstGeom prst="rect">
            <a:avLst/>
          </a:prstGeom>
          <a:noFill/>
          <a:ln w="9525">
            <a:noFill/>
            <a:miter lim="800000"/>
            <a:headEnd/>
            <a:tailEnd/>
          </a:ln>
        </p:spPr>
      </p:pic>
    </p:spTree>
    <p:extLst>
      <p:ext uri="{BB962C8B-B14F-4D97-AF65-F5344CB8AC3E}">
        <p14:creationId xmlns:p14="http://schemas.microsoft.com/office/powerpoint/2010/main" val="3714626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280543" y="188150"/>
            <a:ext cx="3814762" cy="774700"/>
          </a:xfrm>
        </p:spPr>
        <p:txBody>
          <a:bodyPr/>
          <a:lstStyle/>
          <a:p>
            <a:pPr>
              <a:defRPr/>
            </a:pPr>
            <a:r>
              <a:rPr lang="en-US" altLang="zh-CN" sz="2800" dirty="0">
                <a:solidFill>
                  <a:schemeClr val="tx1"/>
                </a:solidFill>
                <a:latin typeface="微软雅黑" pitchFamily="34" charset="-122"/>
                <a:ea typeface="微软雅黑" pitchFamily="34" charset="-122"/>
              </a:rPr>
              <a:t>3.</a:t>
            </a:r>
            <a:r>
              <a:rPr lang="zh-CN" altLang="en-US" sz="2800" dirty="0">
                <a:solidFill>
                  <a:schemeClr val="tx1"/>
                </a:solidFill>
                <a:latin typeface="微软雅黑" pitchFamily="34" charset="-122"/>
                <a:ea typeface="微软雅黑" pitchFamily="34" charset="-122"/>
              </a:rPr>
              <a:t>高层重要天气预报图 </a:t>
            </a:r>
          </a:p>
        </p:txBody>
      </p:sp>
      <p:sp>
        <p:nvSpPr>
          <p:cNvPr id="35842" name="Rectangle 6"/>
          <p:cNvSpPr>
            <a:spLocks noGrp="1" noChangeArrowheads="1"/>
          </p:cNvSpPr>
          <p:nvPr>
            <p:ph type="body" idx="1"/>
          </p:nvPr>
        </p:nvSpPr>
        <p:spPr>
          <a:xfrm>
            <a:off x="927652" y="1071562"/>
            <a:ext cx="9240286" cy="4388333"/>
          </a:xfrm>
          <a:solidFill>
            <a:schemeClr val="bg1"/>
          </a:solidFill>
        </p:spPr>
        <p:txBody>
          <a:bodyPr>
            <a:normAutofit/>
          </a:bodyPr>
          <a:lstStyle/>
          <a:p>
            <a:pPr>
              <a:lnSpc>
                <a:spcPts val="4000"/>
              </a:lnSpc>
              <a:buNone/>
            </a:pPr>
            <a:r>
              <a:rPr lang="zh-CN" altLang="en-US" sz="2800" dirty="0">
                <a:solidFill>
                  <a:schemeClr val="tx1"/>
                </a:solidFill>
                <a:latin typeface="微软雅黑" pitchFamily="34" charset="-122"/>
                <a:ea typeface="微软雅黑" pitchFamily="34" charset="-122"/>
              </a:rPr>
              <a:t>内容：</a:t>
            </a:r>
          </a:p>
          <a:p>
            <a:pPr>
              <a:lnSpc>
                <a:spcPct val="20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）预报了中层的所有的天气现象，</a:t>
            </a:r>
          </a:p>
          <a:p>
            <a:pPr>
              <a:lnSpc>
                <a:spcPct val="20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）云只预报积雨云，</a:t>
            </a:r>
            <a:endParaRPr lang="en-US" altLang="zh-CN" sz="2400" dirty="0">
              <a:solidFill>
                <a:schemeClr val="tx1"/>
              </a:solidFill>
              <a:latin typeface="Times New Roman" panose="02020603050405020304" pitchFamily="18" charset="0"/>
              <a:ea typeface="微软雅黑" pitchFamily="34" charset="-122"/>
            </a:endParaRPr>
          </a:p>
          <a:p>
            <a:pPr>
              <a:lnSpc>
                <a:spcPct val="20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）增加了对流层顶高度的资料， 对流层顶高度用数字表示，</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单位为</a:t>
            </a:r>
            <a:r>
              <a:rPr lang="en-US" altLang="zh-CN" sz="2400" dirty="0">
                <a:solidFill>
                  <a:schemeClr val="tx1"/>
                </a:solidFill>
                <a:latin typeface="Times New Roman" panose="02020603050405020304" pitchFamily="18" charset="0"/>
                <a:ea typeface="微软雅黑" pitchFamily="34" charset="-122"/>
              </a:rPr>
              <a:t>100</a:t>
            </a:r>
            <a:r>
              <a:rPr lang="zh-CN" altLang="en-US" sz="2400" dirty="0">
                <a:solidFill>
                  <a:schemeClr val="tx1"/>
                </a:solidFill>
                <a:latin typeface="Times New Roman" panose="02020603050405020304" pitchFamily="18" charset="0"/>
                <a:ea typeface="微软雅黑" pitchFamily="34" charset="-122"/>
              </a:rPr>
              <a:t>英尺。 </a:t>
            </a:r>
          </a:p>
        </p:txBody>
      </p:sp>
      <p:sp>
        <p:nvSpPr>
          <p:cNvPr id="35843" name="Rectangle 5"/>
          <p:cNvSpPr>
            <a:spLocks noChangeArrowheads="1"/>
          </p:cNvSpPr>
          <p:nvPr/>
        </p:nvSpPr>
        <p:spPr bwMode="auto">
          <a:xfrm>
            <a:off x="-621125" y="5085178"/>
            <a:ext cx="7559675" cy="574675"/>
          </a:xfrm>
          <a:prstGeom prst="rect">
            <a:avLst/>
          </a:prstGeom>
          <a:noFill/>
          <a:ln w="9525">
            <a:noFill/>
            <a:miter lim="800000"/>
            <a:headEnd/>
            <a:tailEnd/>
          </a:ln>
        </p:spPr>
        <p:txBody>
          <a:bodyPr anchor="ctr"/>
          <a:lstStyle/>
          <a:p>
            <a:pPr algn="ctr"/>
            <a:r>
              <a:rPr lang="zh-CN" altLang="en-US" sz="2800" dirty="0">
                <a:solidFill>
                  <a:srgbClr val="FFFFFF"/>
                </a:solidFill>
                <a:latin typeface="宋体" charset="-122"/>
                <a:ea typeface="华文新魏" pitchFamily="2" charset="-122"/>
              </a:rPr>
              <a:t>高层重要天气预报图的内容</a:t>
            </a:r>
          </a:p>
        </p:txBody>
      </p:sp>
    </p:spTree>
    <p:extLst>
      <p:ext uri="{BB962C8B-B14F-4D97-AF65-F5344CB8AC3E}">
        <p14:creationId xmlns:p14="http://schemas.microsoft.com/office/powerpoint/2010/main" val="3706092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549137" y="537335"/>
            <a:ext cx="611188" cy="5492750"/>
          </a:xfrm>
        </p:spPr>
        <p:txBody>
          <a:bodyPr/>
          <a:lstStyle/>
          <a:p>
            <a:pPr>
              <a:defRPr/>
            </a:pPr>
            <a:r>
              <a:rPr lang="zh-CN" altLang="en-US" sz="2800" dirty="0">
                <a:solidFill>
                  <a:schemeClr val="tx1"/>
                </a:solidFill>
                <a:latin typeface="微软雅黑" pitchFamily="34" charset="-122"/>
                <a:ea typeface="微软雅黑" pitchFamily="34" charset="-122"/>
              </a:rPr>
              <a:t>高层重要天气预报图举例</a:t>
            </a:r>
          </a:p>
        </p:txBody>
      </p:sp>
      <p:pic>
        <p:nvPicPr>
          <p:cNvPr id="36866" name="Picture 5" descr="图11-9"/>
          <p:cNvPicPr>
            <a:picLocks noChangeAspect="1" noChangeArrowheads="1"/>
          </p:cNvPicPr>
          <p:nvPr/>
        </p:nvPicPr>
        <p:blipFill>
          <a:blip r:embed="rId2"/>
          <a:srcRect l="24220" r="27794" b="37721"/>
          <a:stretch>
            <a:fillRect/>
          </a:stretch>
        </p:blipFill>
        <p:spPr bwMode="auto">
          <a:xfrm>
            <a:off x="1888436" y="61085"/>
            <a:ext cx="7377113" cy="6445250"/>
          </a:xfrm>
          <a:prstGeom prst="rect">
            <a:avLst/>
          </a:prstGeom>
          <a:noFill/>
          <a:ln w="9525">
            <a:noFill/>
            <a:miter lim="800000"/>
            <a:headEnd/>
            <a:tailEnd/>
          </a:ln>
        </p:spPr>
      </p:pic>
    </p:spTree>
    <p:extLst>
      <p:ext uri="{BB962C8B-B14F-4D97-AF65-F5344CB8AC3E}">
        <p14:creationId xmlns:p14="http://schemas.microsoft.com/office/powerpoint/2010/main" val="3519151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Grp="1" noChangeArrowheads="1"/>
          </p:cNvSpPr>
          <p:nvPr>
            <p:ph type="title"/>
          </p:nvPr>
        </p:nvSpPr>
        <p:spPr>
          <a:xfrm>
            <a:off x="561118" y="293184"/>
            <a:ext cx="522287" cy="5340350"/>
          </a:xfrm>
        </p:spPr>
        <p:txBody>
          <a:bodyPr/>
          <a:lstStyle/>
          <a:p>
            <a:pPr>
              <a:defRPr/>
            </a:pPr>
            <a:r>
              <a:rPr lang="zh-CN" altLang="en-US" sz="2800" dirty="0">
                <a:solidFill>
                  <a:schemeClr val="tx1"/>
                </a:solidFill>
                <a:latin typeface="微软雅黑" pitchFamily="34" charset="-122"/>
                <a:ea typeface="微软雅黑" pitchFamily="34" charset="-122"/>
              </a:rPr>
              <a:t>高层重要天气预报图举例</a:t>
            </a:r>
          </a:p>
        </p:txBody>
      </p:sp>
      <p:pic>
        <p:nvPicPr>
          <p:cNvPr id="37890" name="Picture 1028" descr="图11-9"/>
          <p:cNvPicPr>
            <a:picLocks noChangeAspect="1" noChangeArrowheads="1"/>
          </p:cNvPicPr>
          <p:nvPr/>
        </p:nvPicPr>
        <p:blipFill>
          <a:blip r:embed="rId2"/>
          <a:srcRect l="39565" r="6895" b="36586"/>
          <a:stretch>
            <a:fillRect/>
          </a:stretch>
        </p:blipFill>
        <p:spPr bwMode="auto">
          <a:xfrm>
            <a:off x="1948484" y="0"/>
            <a:ext cx="7780338" cy="6858000"/>
          </a:xfrm>
          <a:prstGeom prst="rect">
            <a:avLst/>
          </a:prstGeom>
          <a:noFill/>
          <a:ln w="9525">
            <a:noFill/>
            <a:miter lim="800000"/>
            <a:headEnd/>
            <a:tailEnd/>
          </a:ln>
        </p:spPr>
      </p:pic>
    </p:spTree>
    <p:extLst>
      <p:ext uri="{BB962C8B-B14F-4D97-AF65-F5344CB8AC3E}">
        <p14:creationId xmlns:p14="http://schemas.microsoft.com/office/powerpoint/2010/main" val="2667208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06018" y="106017"/>
            <a:ext cx="4818067" cy="739758"/>
          </a:xfrm>
          <a:solidFill>
            <a:schemeClr val="bg1"/>
          </a:solidFill>
        </p:spPr>
        <p:txBody>
          <a:bodyPr>
            <a:normAutofit/>
          </a:bodyPr>
          <a:lstStyle/>
          <a:p>
            <a:pPr>
              <a:defRPr/>
            </a:pPr>
            <a:r>
              <a:rPr lang="zh-CN" altLang="en-US" sz="2800" dirty="0">
                <a:solidFill>
                  <a:schemeClr val="tx1"/>
                </a:solidFill>
                <a:latin typeface="微软雅黑" pitchFamily="34" charset="-122"/>
                <a:ea typeface="微软雅黑" pitchFamily="34" charset="-122"/>
              </a:rPr>
              <a:t>（三）等压面预报图 </a:t>
            </a:r>
          </a:p>
        </p:txBody>
      </p:sp>
      <p:sp>
        <p:nvSpPr>
          <p:cNvPr id="39938" name="Rectangle 3"/>
          <p:cNvSpPr>
            <a:spLocks noGrp="1" noChangeArrowheads="1"/>
          </p:cNvSpPr>
          <p:nvPr>
            <p:ph type="body" idx="1"/>
          </p:nvPr>
        </p:nvSpPr>
        <p:spPr>
          <a:xfrm>
            <a:off x="649358" y="1071563"/>
            <a:ext cx="10455964" cy="5143500"/>
          </a:xfrm>
        </p:spPr>
        <p:txBody>
          <a:bodyPr>
            <a:normAutofit/>
          </a:bodyPr>
          <a:lstStyle/>
          <a:p>
            <a:pPr marL="0" indent="0" algn="just">
              <a:lnSpc>
                <a:spcPct val="150000"/>
              </a:lnSpc>
              <a:buNone/>
            </a:pPr>
            <a:r>
              <a:rPr lang="zh-CN" altLang="en-US" sz="2800" dirty="0">
                <a:latin typeface="微软雅黑" pitchFamily="34" charset="-122"/>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等压面预报图是为高空飞行时提供的一定区域内飞行高度上的风向、风速和气温的预报，其有效时段为</a:t>
            </a:r>
            <a:r>
              <a:rPr lang="en-US" altLang="zh-CN" sz="2400" dirty="0">
                <a:solidFill>
                  <a:schemeClr val="tx1"/>
                </a:solidFill>
                <a:latin typeface="Times New Roman" panose="02020603050405020304" pitchFamily="18" charset="0"/>
                <a:ea typeface="微软雅黑" pitchFamily="34" charset="-122"/>
              </a:rPr>
              <a:t>24</a:t>
            </a:r>
            <a:r>
              <a:rPr lang="zh-CN" altLang="en-US" sz="2400" dirty="0">
                <a:solidFill>
                  <a:schemeClr val="tx1"/>
                </a:solidFill>
                <a:latin typeface="Times New Roman" panose="02020603050405020304" pitchFamily="18" charset="0"/>
                <a:ea typeface="微软雅黑" pitchFamily="34" charset="-122"/>
              </a:rPr>
              <a:t>小时</a:t>
            </a:r>
          </a:p>
          <a:p>
            <a:pPr marL="0" indent="0" algn="just">
              <a:lnSpc>
                <a:spcPct val="150000"/>
              </a:lnSpc>
              <a:buNone/>
            </a:pPr>
            <a:r>
              <a:rPr lang="zh-CN" altLang="en-US" sz="2400" dirty="0">
                <a:solidFill>
                  <a:schemeClr val="tx1"/>
                </a:solidFill>
                <a:latin typeface="Times New Roman" panose="02020603050405020304" pitchFamily="18" charset="0"/>
                <a:ea typeface="微软雅黑" pitchFamily="34" charset="-122"/>
              </a:rPr>
              <a:t>       在等压面预报图上，等高线（或气流线）用黑细实线表示，风向风速（或等风速线）用矢杆和矢羽表示，等温线用黑色虚线表示 。</a:t>
            </a:r>
            <a:endParaRPr lang="en-US" altLang="zh-CN" sz="2400" dirty="0">
              <a:solidFill>
                <a:schemeClr val="tx1"/>
              </a:solidFill>
              <a:latin typeface="Times New Roman" panose="02020603050405020304" pitchFamily="18" charset="0"/>
              <a:ea typeface="微软雅黑" pitchFamily="34" charset="-122"/>
            </a:endParaRPr>
          </a:p>
          <a:p>
            <a:pPr marL="0" indent="0" algn="just">
              <a:lnSpc>
                <a:spcPct val="150000"/>
              </a:lnSpc>
              <a:buNone/>
            </a:pPr>
            <a:r>
              <a:rPr lang="zh-CN" altLang="en-US" sz="2400" dirty="0">
                <a:solidFill>
                  <a:schemeClr val="tx1"/>
                </a:solidFill>
                <a:latin typeface="Times New Roman" panose="02020603050405020304" pitchFamily="18" charset="0"/>
                <a:ea typeface="微软雅黑" pitchFamily="34" charset="-122"/>
              </a:rPr>
              <a:t>       我国制作的多为</a:t>
            </a:r>
            <a:r>
              <a:rPr lang="en-US" altLang="zh-CN" sz="2400" dirty="0">
                <a:solidFill>
                  <a:schemeClr val="tx1"/>
                </a:solidFill>
                <a:latin typeface="Times New Roman" panose="02020603050405020304" pitchFamily="18" charset="0"/>
                <a:ea typeface="微软雅黑" pitchFamily="34" charset="-122"/>
              </a:rPr>
              <a:t>300hPa</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9000m</a:t>
            </a:r>
            <a:r>
              <a:rPr lang="zh-CN" altLang="en-US" sz="2400" dirty="0">
                <a:solidFill>
                  <a:schemeClr val="tx1"/>
                </a:solidFill>
                <a:latin typeface="Times New Roman" panose="02020603050405020304" pitchFamily="18" charset="0"/>
                <a:ea typeface="微软雅黑" pitchFamily="34" charset="-122"/>
              </a:rPr>
              <a:t>）和</a:t>
            </a:r>
            <a:r>
              <a:rPr lang="en-US" altLang="zh-CN" sz="2400" dirty="0">
                <a:solidFill>
                  <a:schemeClr val="tx1"/>
                </a:solidFill>
                <a:latin typeface="Times New Roman" panose="02020603050405020304" pitchFamily="18" charset="0"/>
                <a:ea typeface="微软雅黑" pitchFamily="34" charset="-122"/>
              </a:rPr>
              <a:t>200hPa</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12000m</a:t>
            </a:r>
            <a:r>
              <a:rPr lang="zh-CN" altLang="en-US" sz="2400" dirty="0">
                <a:solidFill>
                  <a:schemeClr val="tx1"/>
                </a:solidFill>
                <a:latin typeface="Times New Roman" panose="02020603050405020304" pitchFamily="18" charset="0"/>
                <a:ea typeface="微软雅黑" pitchFamily="34" charset="-122"/>
              </a:rPr>
              <a:t>）。通过等压面图可以看出气压系统的分布、温度的分布以及高空风的情况，并且判断出高空急流的位置。</a:t>
            </a:r>
          </a:p>
        </p:txBody>
      </p:sp>
    </p:spTree>
    <p:extLst>
      <p:ext uri="{BB962C8B-B14F-4D97-AF65-F5344CB8AC3E}">
        <p14:creationId xmlns:p14="http://schemas.microsoft.com/office/powerpoint/2010/main" val="2752048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03363" y="545066"/>
            <a:ext cx="1258888" cy="4822825"/>
          </a:xfrm>
        </p:spPr>
        <p:txBody>
          <a:bodyPr>
            <a:normAutofit/>
          </a:bodyPr>
          <a:lstStyle/>
          <a:p>
            <a:pPr>
              <a:lnSpc>
                <a:spcPct val="150000"/>
              </a:lnSpc>
              <a:defRPr/>
            </a:pPr>
            <a:r>
              <a:rPr lang="en-US" altLang="zh-CN" sz="2400" dirty="0">
                <a:solidFill>
                  <a:schemeClr val="tx1"/>
                </a:solidFill>
                <a:latin typeface="Times New Roman" panose="02020603050405020304" pitchFamily="18" charset="0"/>
                <a:ea typeface="微软雅黑" panose="020B0503020204020204" pitchFamily="34" charset="-122"/>
              </a:rPr>
              <a:t>200hPa</a:t>
            </a:r>
            <a:br>
              <a:rPr lang="en-US" altLang="zh-CN" sz="2400" dirty="0">
                <a:solidFill>
                  <a:schemeClr val="tx1"/>
                </a:solidFill>
                <a:latin typeface="Times New Roman" panose="02020603050405020304" pitchFamily="18" charset="0"/>
                <a:ea typeface="微软雅黑" panose="020B0503020204020204" pitchFamily="34" charset="-122"/>
              </a:rPr>
            </a:br>
            <a:r>
              <a:rPr lang="zh-CN" altLang="en-US" sz="2400" dirty="0">
                <a:solidFill>
                  <a:schemeClr val="tx1"/>
                </a:solidFill>
                <a:latin typeface="Times New Roman" panose="02020603050405020304" pitchFamily="18" charset="0"/>
                <a:ea typeface="微软雅黑" panose="020B0503020204020204" pitchFamily="34" charset="-122"/>
              </a:rPr>
              <a:t>等压面</a:t>
            </a:r>
            <a:br>
              <a:rPr lang="zh-CN" altLang="en-US" sz="2400" dirty="0">
                <a:solidFill>
                  <a:schemeClr val="tx1"/>
                </a:solidFill>
                <a:latin typeface="Times New Roman" panose="02020603050405020304" pitchFamily="18" charset="0"/>
                <a:ea typeface="微软雅黑" panose="020B0503020204020204" pitchFamily="34" charset="-122"/>
              </a:rPr>
            </a:br>
            <a:r>
              <a:rPr lang="zh-CN" altLang="en-US" sz="2400" dirty="0">
                <a:solidFill>
                  <a:schemeClr val="tx1"/>
                </a:solidFill>
                <a:latin typeface="Times New Roman" panose="02020603050405020304" pitchFamily="18" charset="0"/>
                <a:ea typeface="微软雅黑" panose="020B0503020204020204" pitchFamily="34" charset="-122"/>
              </a:rPr>
              <a:t>预报图</a:t>
            </a:r>
            <a:r>
              <a:rPr lang="zh-CN" altLang="en-US" sz="2400" dirty="0">
                <a:latin typeface="Times New Roman" panose="02020603050405020304" pitchFamily="18" charset="0"/>
                <a:ea typeface="微软雅黑" panose="020B0503020204020204" pitchFamily="34" charset="-122"/>
              </a:rPr>
              <a:t> </a:t>
            </a:r>
          </a:p>
        </p:txBody>
      </p:sp>
      <p:pic>
        <p:nvPicPr>
          <p:cNvPr id="40962" name="Picture 4" descr="图11-11"/>
          <p:cNvPicPr>
            <a:picLocks noChangeAspect="1" noChangeArrowheads="1"/>
          </p:cNvPicPr>
          <p:nvPr/>
        </p:nvPicPr>
        <p:blipFill>
          <a:blip r:embed="rId2"/>
          <a:srcRect t="4445" r="10594" b="32222"/>
          <a:stretch>
            <a:fillRect/>
          </a:stretch>
        </p:blipFill>
        <p:spPr bwMode="auto">
          <a:xfrm>
            <a:off x="2197377" y="145153"/>
            <a:ext cx="7072313" cy="6299200"/>
          </a:xfrm>
          <a:prstGeom prst="rect">
            <a:avLst/>
          </a:prstGeom>
          <a:noFill/>
          <a:ln w="9525">
            <a:noFill/>
            <a:miter lim="800000"/>
            <a:headEnd/>
            <a:tailEnd/>
          </a:ln>
        </p:spPr>
      </p:pic>
    </p:spTree>
    <p:extLst>
      <p:ext uri="{BB962C8B-B14F-4D97-AF65-F5344CB8AC3E}">
        <p14:creationId xmlns:p14="http://schemas.microsoft.com/office/powerpoint/2010/main" val="283760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0" y="0"/>
            <a:ext cx="5257808" cy="868346"/>
          </a:xfrm>
          <a:solidFill>
            <a:schemeClr val="bg1"/>
          </a:solidFill>
        </p:spPr>
        <p:txBody>
          <a:bodyPr>
            <a:normAutofit/>
          </a:bodyPr>
          <a:lstStyle/>
          <a:p>
            <a:pPr>
              <a:defRPr/>
            </a:pPr>
            <a:r>
              <a:rPr lang="zh-CN" altLang="en-US" sz="2800" dirty="0">
                <a:solidFill>
                  <a:schemeClr val="tx1"/>
                </a:solidFill>
                <a:latin typeface="微软雅黑" pitchFamily="34" charset="-122"/>
                <a:ea typeface="微软雅黑" pitchFamily="34" charset="-122"/>
              </a:rPr>
              <a:t>（四）空中风和温度预报图 </a:t>
            </a:r>
          </a:p>
        </p:txBody>
      </p:sp>
      <p:sp>
        <p:nvSpPr>
          <p:cNvPr id="41986" name="Rectangle 3"/>
          <p:cNvSpPr>
            <a:spLocks noGrp="1" noChangeArrowheads="1"/>
          </p:cNvSpPr>
          <p:nvPr>
            <p:ph type="body" idx="1"/>
          </p:nvPr>
        </p:nvSpPr>
        <p:spPr>
          <a:xfrm>
            <a:off x="516835" y="690149"/>
            <a:ext cx="9293296" cy="1928812"/>
          </a:xfrm>
        </p:spPr>
        <p:txBody>
          <a:bodyPr/>
          <a:lstStyle/>
          <a:p>
            <a:pPr marL="0" indent="0" algn="just">
              <a:lnSpc>
                <a:spcPct val="200000"/>
              </a:lnSpc>
              <a:buNone/>
            </a:pPr>
            <a:r>
              <a:rPr lang="zh-CN" altLang="en-US" sz="2800" dirty="0">
                <a:latin typeface="微软雅黑" pitchFamily="34" charset="-122"/>
                <a:ea typeface="微软雅黑" pitchFamily="34" charset="-122"/>
              </a:rPr>
              <a:t>       </a:t>
            </a:r>
            <a:r>
              <a:rPr lang="zh-CN" altLang="en-US" sz="2800" dirty="0">
                <a:solidFill>
                  <a:schemeClr val="tx1"/>
                </a:solidFill>
                <a:latin typeface="微软雅黑" pitchFamily="34" charset="-122"/>
                <a:ea typeface="微软雅黑" pitchFamily="34" charset="-122"/>
              </a:rPr>
              <a:t>空中风和温度预报提供的是选择的航站上空不同高度的风向、风速及温度，这些预报在作飞行计划时十分重要</a:t>
            </a:r>
            <a:r>
              <a:rPr lang="zh-CN" altLang="en-US" sz="2400" dirty="0">
                <a:solidFill>
                  <a:schemeClr val="tx1"/>
                </a:solidFill>
                <a:latin typeface="宋体" charset="-122"/>
                <a:ea typeface="方正姚体" pitchFamily="2" charset="-122"/>
              </a:rPr>
              <a:t>。</a:t>
            </a:r>
            <a:endParaRPr lang="zh-CN" altLang="en-US" sz="2400" dirty="0">
              <a:solidFill>
                <a:schemeClr val="tx1"/>
              </a:solidFill>
              <a:ea typeface="方正姚体" pitchFamily="2" charset="-122"/>
            </a:endParaRPr>
          </a:p>
        </p:txBody>
      </p:sp>
      <p:pic>
        <p:nvPicPr>
          <p:cNvPr id="41987" name="Picture 4" descr="图11-13N"/>
          <p:cNvPicPr>
            <a:picLocks noChangeAspect="1" noChangeArrowheads="1"/>
          </p:cNvPicPr>
          <p:nvPr/>
        </p:nvPicPr>
        <p:blipFill>
          <a:blip r:embed="rId2"/>
          <a:srcRect r="1031"/>
          <a:stretch>
            <a:fillRect/>
          </a:stretch>
        </p:blipFill>
        <p:spPr bwMode="auto">
          <a:xfrm>
            <a:off x="2727258" y="2724082"/>
            <a:ext cx="5616575" cy="1630362"/>
          </a:xfrm>
          <a:prstGeom prst="rect">
            <a:avLst/>
          </a:prstGeom>
          <a:noFill/>
          <a:ln w="9525">
            <a:noFill/>
            <a:miter lim="800000"/>
            <a:headEnd/>
            <a:tailEnd/>
          </a:ln>
        </p:spPr>
      </p:pic>
      <p:sp>
        <p:nvSpPr>
          <p:cNvPr id="2" name="文本框 1">
            <a:extLst>
              <a:ext uri="{FF2B5EF4-FFF2-40B4-BE49-F238E27FC236}">
                <a16:creationId xmlns:a16="http://schemas.microsoft.com/office/drawing/2014/main" id="{355E24BC-0CE4-4237-9B63-E5F02A81BAC7}"/>
              </a:ext>
            </a:extLst>
          </p:cNvPr>
          <p:cNvSpPr txBox="1"/>
          <p:nvPr/>
        </p:nvSpPr>
        <p:spPr>
          <a:xfrm>
            <a:off x="1099930" y="4545496"/>
            <a:ext cx="9581322" cy="1131079"/>
          </a:xfrm>
          <a:prstGeom prst="rect">
            <a:avLst/>
          </a:prstGeom>
          <a:noFill/>
        </p:spPr>
        <p:txBody>
          <a:bodyPr wrap="square" rtlCol="0">
            <a:spAutoFit/>
          </a:bodyPr>
          <a:lstStyle/>
          <a:p>
            <a:pPr>
              <a:lnSpc>
                <a:spcPct val="150000"/>
              </a:lnSpc>
            </a:pPr>
            <a:r>
              <a:rPr lang="zh-CN" altLang="en-US" sz="2400" dirty="0">
                <a:solidFill>
                  <a:schemeClr val="accent5"/>
                </a:solidFill>
                <a:latin typeface="Times New Roman" panose="02020603050405020304" pitchFamily="18" charset="0"/>
                <a:ea typeface="微软雅黑" panose="020B0503020204020204" pitchFamily="34" charset="-122"/>
              </a:rPr>
              <a:t>在这种图上要注意的是风速的表示，一条短线为</a:t>
            </a:r>
            <a:r>
              <a:rPr lang="en-US" altLang="zh-CN" sz="2400" dirty="0">
                <a:solidFill>
                  <a:schemeClr val="accent5"/>
                </a:solidFill>
                <a:latin typeface="Times New Roman" panose="02020603050405020304" pitchFamily="18" charset="0"/>
                <a:ea typeface="微软雅黑" panose="020B0503020204020204" pitchFamily="34" charset="-122"/>
              </a:rPr>
              <a:t>10</a:t>
            </a:r>
            <a:r>
              <a:rPr lang="zh-CN" altLang="en-US" sz="2400" dirty="0">
                <a:solidFill>
                  <a:schemeClr val="accent5"/>
                </a:solidFill>
                <a:latin typeface="Times New Roman" panose="02020603050405020304" pitchFamily="18" charset="0"/>
                <a:ea typeface="微软雅黑" panose="020B0503020204020204" pitchFamily="34" charset="-122"/>
              </a:rPr>
              <a:t>海里</a:t>
            </a:r>
            <a:r>
              <a:rPr lang="en-US" altLang="zh-CN" sz="2400" dirty="0">
                <a:solidFill>
                  <a:schemeClr val="accent5"/>
                </a:solidFill>
                <a:latin typeface="Times New Roman" panose="02020603050405020304" pitchFamily="18" charset="0"/>
                <a:ea typeface="微软雅黑" panose="020B0503020204020204" pitchFamily="34" charset="-122"/>
              </a:rPr>
              <a:t>/</a:t>
            </a:r>
            <a:r>
              <a:rPr lang="zh-CN" altLang="en-US" sz="2400" dirty="0">
                <a:solidFill>
                  <a:schemeClr val="accent5"/>
                </a:solidFill>
                <a:latin typeface="Times New Roman" panose="02020603050405020304" pitchFamily="18" charset="0"/>
                <a:ea typeface="微软雅黑" panose="020B0503020204020204" pitchFamily="34" charset="-122"/>
              </a:rPr>
              <a:t>小时，一面三角旗是</a:t>
            </a:r>
            <a:r>
              <a:rPr lang="en-US" altLang="zh-CN" sz="2400" dirty="0">
                <a:solidFill>
                  <a:schemeClr val="accent5"/>
                </a:solidFill>
                <a:latin typeface="Times New Roman" panose="02020603050405020304" pitchFamily="18" charset="0"/>
                <a:ea typeface="微软雅黑" panose="020B0503020204020204" pitchFamily="34" charset="-122"/>
              </a:rPr>
              <a:t>50</a:t>
            </a:r>
            <a:r>
              <a:rPr lang="zh-CN" altLang="en-US" sz="2400" dirty="0">
                <a:solidFill>
                  <a:schemeClr val="accent5"/>
                </a:solidFill>
                <a:latin typeface="Times New Roman" panose="02020603050405020304" pitchFamily="18" charset="0"/>
                <a:ea typeface="微软雅黑" panose="020B0503020204020204" pitchFamily="34" charset="-122"/>
              </a:rPr>
              <a:t>海里</a:t>
            </a:r>
            <a:r>
              <a:rPr lang="en-US" altLang="zh-CN" sz="2400" dirty="0">
                <a:solidFill>
                  <a:schemeClr val="accent5"/>
                </a:solidFill>
                <a:latin typeface="Times New Roman" panose="02020603050405020304" pitchFamily="18" charset="0"/>
                <a:ea typeface="微软雅黑" panose="020B0503020204020204" pitchFamily="34" charset="-122"/>
              </a:rPr>
              <a:t>/</a:t>
            </a:r>
            <a:r>
              <a:rPr lang="zh-CN" altLang="en-US" sz="2400" dirty="0">
                <a:solidFill>
                  <a:schemeClr val="accent5"/>
                </a:solidFill>
                <a:latin typeface="Times New Roman" panose="02020603050405020304" pitchFamily="18" charset="0"/>
                <a:ea typeface="微软雅黑" panose="020B0503020204020204" pitchFamily="34" charset="-122"/>
              </a:rPr>
              <a:t>小时，而温度除前面标有“</a:t>
            </a:r>
            <a:r>
              <a:rPr lang="en-US" altLang="zh-CN" sz="2400" dirty="0">
                <a:solidFill>
                  <a:schemeClr val="accent5"/>
                </a:solidFill>
                <a:latin typeface="Times New Roman" panose="02020603050405020304" pitchFamily="18" charset="0"/>
                <a:ea typeface="微软雅黑" panose="020B0503020204020204" pitchFamily="34" charset="-122"/>
              </a:rPr>
              <a:t>+”</a:t>
            </a:r>
            <a:r>
              <a:rPr lang="zh-CN" altLang="en-US" sz="2400" dirty="0">
                <a:solidFill>
                  <a:schemeClr val="accent5"/>
                </a:solidFill>
                <a:latin typeface="Times New Roman" panose="02020603050405020304" pitchFamily="18" charset="0"/>
                <a:ea typeface="微软雅黑" panose="020B0503020204020204" pitchFamily="34" charset="-122"/>
              </a:rPr>
              <a:t>号外，均为负℃值。</a:t>
            </a:r>
          </a:p>
        </p:txBody>
      </p:sp>
    </p:spTree>
    <p:extLst>
      <p:ext uri="{BB962C8B-B14F-4D97-AF65-F5344CB8AC3E}">
        <p14:creationId xmlns:p14="http://schemas.microsoft.com/office/powerpoint/2010/main" val="457026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1028" descr="zht"/>
          <p:cNvPicPr>
            <a:picLocks noChangeAspect="1" noChangeArrowheads="1"/>
          </p:cNvPicPr>
          <p:nvPr/>
        </p:nvPicPr>
        <p:blipFill>
          <a:blip r:embed="rId2"/>
          <a:srcRect l="29167" t="28889" r="18333" b="24112"/>
          <a:stretch>
            <a:fillRect/>
          </a:stretch>
        </p:blipFill>
        <p:spPr bwMode="auto">
          <a:xfrm>
            <a:off x="1006545" y="901355"/>
            <a:ext cx="8572500" cy="5757862"/>
          </a:xfrm>
          <a:prstGeom prst="rect">
            <a:avLst/>
          </a:prstGeom>
          <a:noFill/>
          <a:ln w="9525">
            <a:noFill/>
            <a:miter lim="800000"/>
            <a:headEnd/>
            <a:tailEnd/>
          </a:ln>
        </p:spPr>
      </p:pic>
      <p:sp>
        <p:nvSpPr>
          <p:cNvPr id="4" name="文本框 3">
            <a:extLst>
              <a:ext uri="{FF2B5EF4-FFF2-40B4-BE49-F238E27FC236}">
                <a16:creationId xmlns:a16="http://schemas.microsoft.com/office/drawing/2014/main" id="{23B59882-F512-40F8-90A9-DBFB86507DE1}"/>
              </a:ext>
            </a:extLst>
          </p:cNvPr>
          <p:cNvSpPr txBox="1"/>
          <p:nvPr/>
        </p:nvSpPr>
        <p:spPr>
          <a:xfrm>
            <a:off x="781878" y="185530"/>
            <a:ext cx="6029739" cy="579967"/>
          </a:xfrm>
          <a:prstGeom prst="rect">
            <a:avLst/>
          </a:prstGeom>
          <a:noFill/>
        </p:spPr>
        <p:txBody>
          <a:bodyPr wrap="square" rtlCol="0">
            <a:spAutoFit/>
          </a:bodyPr>
          <a:lstStyle/>
          <a:p>
            <a:pPr>
              <a:lnSpc>
                <a:spcPct val="150000"/>
              </a:lnSpc>
            </a:pPr>
            <a:r>
              <a:rPr lang="zh-CN" altLang="en-US" sz="2400">
                <a:latin typeface="Times New Roman" panose="02020603050405020304" pitchFamily="18" charset="0"/>
                <a:ea typeface="微软雅黑" panose="020B0503020204020204" pitchFamily="34" charset="-122"/>
              </a:rPr>
              <a:t>标准等压面上的风和温度</a:t>
            </a:r>
            <a:endParaRPr lang="zh-CN" altLang="en-US" sz="24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20549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xfrm>
            <a:off x="344557" y="1448422"/>
            <a:ext cx="10230678" cy="3732212"/>
          </a:xfrm>
        </p:spPr>
        <p:txBody>
          <a:bodyPr/>
          <a:lstStyle/>
          <a:p>
            <a:pPr marL="0" indent="0">
              <a:lnSpc>
                <a:spcPct val="150000"/>
              </a:lnSpc>
              <a:buNone/>
            </a:pPr>
            <a:r>
              <a:rPr lang="zh-CN" altLang="en-US" sz="2800" dirty="0">
                <a:latin typeface="微软雅黑" pitchFamily="34" charset="-122"/>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图中方框及方框中的内容指示的是该方框所覆盖的纬线</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经线交叉点上的几个</a:t>
            </a:r>
            <a:r>
              <a:rPr lang="zh-CN" altLang="en-US" sz="2400" dirty="0">
                <a:solidFill>
                  <a:srgbClr val="FF0000"/>
                </a:solidFill>
                <a:latin typeface="Times New Roman" panose="02020603050405020304" pitchFamily="18" charset="0"/>
                <a:ea typeface="微软雅黑" pitchFamily="34" charset="-122"/>
              </a:rPr>
              <a:t>高度</a:t>
            </a:r>
            <a:r>
              <a:rPr lang="zh-CN" altLang="en-US" sz="2400" dirty="0">
                <a:solidFill>
                  <a:schemeClr val="tx1"/>
                </a:solidFill>
                <a:latin typeface="Times New Roman" panose="02020603050405020304" pitchFamily="18" charset="0"/>
                <a:ea typeface="微软雅黑" pitchFamily="34" charset="-122"/>
              </a:rPr>
              <a:t>层（以千英尺为单位）上的</a:t>
            </a:r>
            <a:r>
              <a:rPr lang="zh-CN" altLang="en-US" sz="2400" dirty="0">
                <a:solidFill>
                  <a:srgbClr val="FF0000"/>
                </a:solidFill>
                <a:latin typeface="Times New Roman" panose="02020603050405020304" pitchFamily="18" charset="0"/>
                <a:ea typeface="微软雅黑" pitchFamily="34" charset="-122"/>
              </a:rPr>
              <a:t>风向</a:t>
            </a:r>
            <a:r>
              <a:rPr lang="zh-CN" altLang="en-US" sz="2400" dirty="0">
                <a:latin typeface="Times New Roman" panose="02020603050405020304" pitchFamily="18" charset="0"/>
                <a:ea typeface="微软雅黑" pitchFamily="34" charset="-122"/>
              </a:rPr>
              <a:t>、</a:t>
            </a:r>
            <a:r>
              <a:rPr lang="zh-CN" altLang="en-US" sz="2400" dirty="0">
                <a:solidFill>
                  <a:srgbClr val="FF0000"/>
                </a:solidFill>
                <a:latin typeface="Times New Roman" panose="02020603050405020304" pitchFamily="18" charset="0"/>
                <a:ea typeface="微软雅黑" pitchFamily="34" charset="-122"/>
              </a:rPr>
              <a:t>风速</a:t>
            </a:r>
            <a:r>
              <a:rPr lang="zh-CN" altLang="en-US" sz="2400" dirty="0">
                <a:solidFill>
                  <a:schemeClr val="tx1"/>
                </a:solidFill>
                <a:latin typeface="Times New Roman" panose="02020603050405020304" pitchFamily="18" charset="0"/>
                <a:ea typeface="微软雅黑" pitchFamily="34" charset="-122"/>
              </a:rPr>
              <a:t>（单位为真度和海里</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小时）及</a:t>
            </a:r>
            <a:r>
              <a:rPr lang="zh-CN" altLang="en-US" sz="2400" dirty="0">
                <a:solidFill>
                  <a:srgbClr val="FF0000"/>
                </a:solidFill>
                <a:latin typeface="Times New Roman" panose="02020603050405020304" pitchFamily="18" charset="0"/>
                <a:ea typeface="微软雅黑" pitchFamily="34" charset="-122"/>
              </a:rPr>
              <a:t>温度</a:t>
            </a:r>
            <a:r>
              <a:rPr lang="zh-CN" altLang="en-US" sz="2400" dirty="0">
                <a:solidFill>
                  <a:schemeClr val="tx1"/>
                </a:solidFill>
                <a:latin typeface="Times New Roman" panose="02020603050405020304" pitchFamily="18" charset="0"/>
                <a:ea typeface="微软雅黑" pitchFamily="34" charset="-122"/>
              </a:rPr>
              <a:t>（摄氏度）。</a:t>
            </a:r>
          </a:p>
          <a:p>
            <a:pPr marL="0" indent="0">
              <a:lnSpc>
                <a:spcPct val="150000"/>
              </a:lnSpc>
              <a:buNone/>
            </a:pPr>
            <a:r>
              <a:rPr lang="zh-CN" altLang="en-US" sz="2400" dirty="0">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 如“</a:t>
            </a:r>
            <a:r>
              <a:rPr lang="en-US" altLang="zh-CN" sz="2400" dirty="0">
                <a:solidFill>
                  <a:schemeClr val="tx1"/>
                </a:solidFill>
                <a:latin typeface="Times New Roman" panose="02020603050405020304" pitchFamily="18" charset="0"/>
                <a:ea typeface="微软雅黑" pitchFamily="34" charset="-122"/>
              </a:rPr>
              <a:t>05 090 15 -03”</a:t>
            </a:r>
            <a:r>
              <a:rPr lang="zh-CN" altLang="en-US" sz="2400" dirty="0">
                <a:solidFill>
                  <a:schemeClr val="tx1"/>
                </a:solidFill>
                <a:latin typeface="Times New Roman" panose="02020603050405020304" pitchFamily="18" charset="0"/>
                <a:ea typeface="微软雅黑" pitchFamily="34" charset="-122"/>
              </a:rPr>
              <a:t>表示的是：在</a:t>
            </a:r>
            <a:r>
              <a:rPr lang="en-US" altLang="zh-CN" sz="2400" dirty="0">
                <a:solidFill>
                  <a:schemeClr val="tx1"/>
                </a:solidFill>
                <a:latin typeface="Times New Roman" panose="02020603050405020304" pitchFamily="18" charset="0"/>
                <a:ea typeface="微软雅黑" pitchFamily="34" charset="-122"/>
              </a:rPr>
              <a:t>5000</a:t>
            </a:r>
            <a:r>
              <a:rPr lang="zh-CN" altLang="en-US" sz="2400" dirty="0">
                <a:solidFill>
                  <a:schemeClr val="tx1"/>
                </a:solidFill>
                <a:latin typeface="Times New Roman" panose="02020603050405020304" pitchFamily="18" charset="0"/>
                <a:ea typeface="微软雅黑" pitchFamily="34" charset="-122"/>
              </a:rPr>
              <a:t>英尺高度，风是从</a:t>
            </a:r>
            <a:r>
              <a:rPr lang="en-US" altLang="zh-CN" sz="2400" dirty="0">
                <a:solidFill>
                  <a:schemeClr val="tx1"/>
                </a:solidFill>
                <a:latin typeface="Times New Roman" panose="02020603050405020304" pitchFamily="18" charset="0"/>
                <a:ea typeface="微软雅黑" pitchFamily="34" charset="-122"/>
              </a:rPr>
              <a:t>90</a:t>
            </a:r>
            <a:r>
              <a:rPr lang="zh-CN" altLang="en-US" sz="2400" dirty="0">
                <a:solidFill>
                  <a:schemeClr val="tx1"/>
                </a:solidFill>
                <a:latin typeface="Times New Roman" panose="02020603050405020304" pitchFamily="18" charset="0"/>
                <a:ea typeface="微软雅黑" pitchFamily="34" charset="-122"/>
              </a:rPr>
              <a:t>度的方位吹来，风速</a:t>
            </a:r>
            <a:r>
              <a:rPr lang="en-US" altLang="zh-CN" sz="2400" dirty="0">
                <a:solidFill>
                  <a:schemeClr val="tx1"/>
                </a:solidFill>
                <a:latin typeface="Times New Roman" panose="02020603050405020304" pitchFamily="18" charset="0"/>
                <a:ea typeface="微软雅黑" pitchFamily="34" charset="-122"/>
              </a:rPr>
              <a:t>15</a:t>
            </a:r>
            <a:r>
              <a:rPr lang="zh-CN" altLang="en-US" sz="2400" dirty="0">
                <a:solidFill>
                  <a:schemeClr val="tx1"/>
                </a:solidFill>
                <a:latin typeface="Times New Roman" panose="02020603050405020304" pitchFamily="18" charset="0"/>
                <a:ea typeface="微软雅黑" pitchFamily="34" charset="-122"/>
              </a:rPr>
              <a:t>海里</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小时，温度是</a:t>
            </a: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 </a:t>
            </a:r>
          </a:p>
        </p:txBody>
      </p:sp>
      <p:sp>
        <p:nvSpPr>
          <p:cNvPr id="4" name="文本框 3">
            <a:extLst>
              <a:ext uri="{FF2B5EF4-FFF2-40B4-BE49-F238E27FC236}">
                <a16:creationId xmlns:a16="http://schemas.microsoft.com/office/drawing/2014/main" id="{38DBCF99-5DF6-4188-8602-3157F4DA2DCF}"/>
              </a:ext>
            </a:extLst>
          </p:cNvPr>
          <p:cNvSpPr txBox="1"/>
          <p:nvPr/>
        </p:nvSpPr>
        <p:spPr>
          <a:xfrm>
            <a:off x="437322" y="331304"/>
            <a:ext cx="5022574" cy="579967"/>
          </a:xfrm>
          <a:prstGeom prst="rect">
            <a:avLst/>
          </a:prstGeom>
          <a:noFill/>
        </p:spPr>
        <p:txBody>
          <a:bodyPr wrap="square" rtlCol="0">
            <a:spAutoFit/>
          </a:bodyPr>
          <a:lstStyle/>
          <a:p>
            <a:pPr>
              <a:lnSpc>
                <a:spcPct val="150000"/>
              </a:lnSpc>
            </a:pPr>
            <a:r>
              <a:rPr lang="zh-CN" altLang="en-US" sz="2400">
                <a:latin typeface="Times New Roman" panose="02020603050405020304" pitchFamily="18" charset="0"/>
                <a:ea typeface="微软雅黑" panose="020B0503020204020204" pitchFamily="34" charset="-122"/>
              </a:rPr>
              <a:t>表格式的空中风和温度预报图 </a:t>
            </a:r>
            <a:endParaRPr lang="zh-CN" altLang="en-US" sz="24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56082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992314" y="404814"/>
            <a:ext cx="598487" cy="5995987"/>
          </a:xfrm>
        </p:spPr>
        <p:txBody>
          <a:bodyPr/>
          <a:lstStyle/>
          <a:p>
            <a:pPr>
              <a:defRPr/>
            </a:pPr>
            <a:r>
              <a:rPr lang="zh-CN" altLang="en-US" sz="2800" dirty="0">
                <a:solidFill>
                  <a:schemeClr val="tx1"/>
                </a:solidFill>
                <a:latin typeface="微软雅黑" pitchFamily="34" charset="-122"/>
                <a:ea typeface="微软雅黑" pitchFamily="34" charset="-122"/>
              </a:rPr>
              <a:t>表格式的空中风和温度预报图</a:t>
            </a:r>
          </a:p>
        </p:txBody>
      </p:sp>
      <p:pic>
        <p:nvPicPr>
          <p:cNvPr id="45058" name="Picture 4" descr="图11-14"/>
          <p:cNvPicPr>
            <a:picLocks noChangeAspect="1" noChangeArrowheads="1"/>
          </p:cNvPicPr>
          <p:nvPr/>
        </p:nvPicPr>
        <p:blipFill>
          <a:blip r:embed="rId2"/>
          <a:srcRect t="38203" r="7777"/>
          <a:stretch>
            <a:fillRect/>
          </a:stretch>
        </p:blipFill>
        <p:spPr bwMode="auto">
          <a:xfrm>
            <a:off x="3216275" y="188913"/>
            <a:ext cx="6934200" cy="6470650"/>
          </a:xfrm>
          <a:prstGeom prst="rect">
            <a:avLst/>
          </a:prstGeom>
          <a:noFill/>
          <a:ln w="9525">
            <a:noFill/>
            <a:miter lim="800000"/>
            <a:headEnd/>
            <a:tailEnd/>
          </a:ln>
        </p:spPr>
      </p:pic>
    </p:spTree>
    <p:extLst>
      <p:ext uri="{BB962C8B-B14F-4D97-AF65-F5344CB8AC3E}">
        <p14:creationId xmlns:p14="http://schemas.microsoft.com/office/powerpoint/2010/main" val="3464501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663730" y="112150"/>
            <a:ext cx="4714908" cy="1143000"/>
          </a:xfrm>
        </p:spPr>
        <p:txBody>
          <a:bodyPr/>
          <a:lstStyle/>
          <a:p>
            <a:pPr>
              <a:defRPr/>
            </a:pPr>
            <a:r>
              <a:rPr lang="zh-CN" altLang="en-US" sz="3200" dirty="0">
                <a:solidFill>
                  <a:schemeClr val="tx1"/>
                </a:solidFill>
                <a:latin typeface="微软雅黑" pitchFamily="34" charset="-122"/>
                <a:ea typeface="微软雅黑" pitchFamily="34" charset="-122"/>
              </a:rPr>
              <a:t>第二节   航空气象电报</a:t>
            </a:r>
          </a:p>
        </p:txBody>
      </p:sp>
      <p:sp>
        <p:nvSpPr>
          <p:cNvPr id="46082" name="Rectangle 3"/>
          <p:cNvSpPr>
            <a:spLocks noGrp="1" noChangeArrowheads="1"/>
          </p:cNvSpPr>
          <p:nvPr>
            <p:ph type="body" idx="1"/>
          </p:nvPr>
        </p:nvSpPr>
        <p:spPr>
          <a:xfrm>
            <a:off x="587652" y="958534"/>
            <a:ext cx="8501063" cy="3006725"/>
          </a:xfrm>
        </p:spPr>
        <p:txBody>
          <a:bodyPr>
            <a:normAutofit/>
          </a:bodyPr>
          <a:lstStyle/>
          <a:p>
            <a:pPr>
              <a:lnSpc>
                <a:spcPct val="150000"/>
              </a:lnSpc>
              <a:buFont typeface="Wingdings 3" pitchFamily="18" charset="2"/>
              <a:buNone/>
            </a:pPr>
            <a:r>
              <a:rPr lang="zh-CN" altLang="en-US" sz="2400" dirty="0">
                <a:solidFill>
                  <a:schemeClr val="tx1"/>
                </a:solidFill>
                <a:latin typeface="Times New Roman" panose="02020603050405020304" pitchFamily="18" charset="0"/>
                <a:ea typeface="微软雅黑" pitchFamily="34" charset="-122"/>
              </a:rPr>
              <a:t>航空气象电报的种类很多，比较常见的是三种：</a:t>
            </a:r>
            <a:endParaRPr lang="en-US" altLang="zh-CN" sz="2400" dirty="0">
              <a:solidFill>
                <a:schemeClr val="tx1"/>
              </a:solidFill>
              <a:latin typeface="Times New Roman" panose="02020603050405020304" pitchFamily="18" charset="0"/>
              <a:ea typeface="微软雅黑" pitchFamily="34" charset="-122"/>
            </a:endParaRPr>
          </a:p>
          <a:p>
            <a:pPr>
              <a:lnSpc>
                <a:spcPct val="150000"/>
              </a:lnSpc>
              <a:buFont typeface="Wingdings 3" pitchFamily="18" charset="2"/>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）日常航空天气报告（或特殊报告）电报</a:t>
            </a:r>
            <a:endParaRPr lang="en-US" altLang="zh-CN" sz="2400" dirty="0">
              <a:solidFill>
                <a:schemeClr val="tx1"/>
              </a:solidFill>
              <a:latin typeface="Times New Roman" panose="02020603050405020304" pitchFamily="18" charset="0"/>
              <a:ea typeface="微软雅黑" pitchFamily="34" charset="-122"/>
            </a:endParaRPr>
          </a:p>
          <a:p>
            <a:pPr>
              <a:lnSpc>
                <a:spcPct val="150000"/>
              </a:lnSpc>
              <a:buFont typeface="Wingdings 3" pitchFamily="18" charset="2"/>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）航站天气预报电报</a:t>
            </a:r>
            <a:endParaRPr lang="en-US" altLang="zh-CN" sz="2400" dirty="0">
              <a:solidFill>
                <a:schemeClr val="tx1"/>
              </a:solidFill>
              <a:latin typeface="Times New Roman" panose="02020603050405020304" pitchFamily="18" charset="0"/>
              <a:ea typeface="微软雅黑" pitchFamily="34" charset="-122"/>
            </a:endParaRPr>
          </a:p>
          <a:p>
            <a:pPr>
              <a:lnSpc>
                <a:spcPct val="150000"/>
              </a:lnSpc>
              <a:buFont typeface="Wingdings 3" pitchFamily="18" charset="2"/>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）航路（区域）天气预报电报</a:t>
            </a:r>
            <a:endParaRPr lang="en-US" altLang="zh-CN" sz="2400" dirty="0">
              <a:solidFill>
                <a:schemeClr val="tx1"/>
              </a:solidFill>
              <a:latin typeface="Times New Roman" panose="02020603050405020304" pitchFamily="18" charset="0"/>
              <a:ea typeface="微软雅黑" pitchFamily="34" charset="-122"/>
            </a:endParaRPr>
          </a:p>
        </p:txBody>
      </p:sp>
      <p:grpSp>
        <p:nvGrpSpPr>
          <p:cNvPr id="46083" name="Group 5"/>
          <p:cNvGrpSpPr>
            <a:grpSpLocks/>
          </p:cNvGrpSpPr>
          <p:nvPr/>
        </p:nvGrpSpPr>
        <p:grpSpPr bwMode="auto">
          <a:xfrm>
            <a:off x="2166801" y="3965259"/>
            <a:ext cx="2471737" cy="2205038"/>
            <a:chOff x="1835" y="1296"/>
            <a:chExt cx="2101" cy="1845"/>
          </a:xfrm>
        </p:grpSpPr>
        <p:sp>
          <p:nvSpPr>
            <p:cNvPr id="46094" name="AutoShape 6"/>
            <p:cNvSpPr>
              <a:spLocks noChangeArrowheads="1"/>
            </p:cNvSpPr>
            <p:nvPr/>
          </p:nvSpPr>
          <p:spPr bwMode="gray">
            <a:xfrm rot="10800000" flipH="1">
              <a:off x="2680" y="2889"/>
              <a:ext cx="374" cy="252"/>
            </a:xfrm>
            <a:prstGeom prst="upArrow">
              <a:avLst>
                <a:gd name="adj1" fmla="val 51676"/>
                <a:gd name="adj2" fmla="val 100000"/>
              </a:avLst>
            </a:prstGeom>
            <a:gradFill rotWithShape="1">
              <a:gsLst>
                <a:gs pos="0">
                  <a:srgbClr val="A1A1FF"/>
                </a:gs>
                <a:gs pos="100000">
                  <a:srgbClr val="DADAFF"/>
                </a:gs>
              </a:gsLst>
              <a:lin ang="0" scaled="1"/>
            </a:gradFill>
            <a:ln w="9525" algn="ctr">
              <a:noFill/>
              <a:miter lim="800000"/>
              <a:headEnd/>
              <a:tailEnd/>
            </a:ln>
          </p:spPr>
          <p:txBody>
            <a:bodyPr wrap="none" anchor="ctr"/>
            <a:lstStyle/>
            <a:p>
              <a:endParaRPr lang="zh-CN" altLang="en-US"/>
            </a:p>
          </p:txBody>
        </p:sp>
        <p:sp>
          <p:nvSpPr>
            <p:cNvPr id="46095" name="AutoShape 7"/>
            <p:cNvSpPr>
              <a:spLocks noChangeArrowheads="1"/>
            </p:cNvSpPr>
            <p:nvPr/>
          </p:nvSpPr>
          <p:spPr bwMode="gray">
            <a:xfrm rot="16200000" flipH="1">
              <a:off x="1804" y="1979"/>
              <a:ext cx="339" cy="277"/>
            </a:xfrm>
            <a:prstGeom prst="upArrow">
              <a:avLst>
                <a:gd name="adj1" fmla="val 51676"/>
                <a:gd name="adj2" fmla="val 100000"/>
              </a:avLst>
            </a:prstGeom>
            <a:gradFill rotWithShape="1">
              <a:gsLst>
                <a:gs pos="0">
                  <a:srgbClr val="A1A1FF"/>
                </a:gs>
                <a:gs pos="100000">
                  <a:srgbClr val="DADAFF"/>
                </a:gs>
              </a:gsLst>
              <a:lin ang="0" scaled="1"/>
            </a:gradFill>
            <a:ln w="9525" algn="ctr">
              <a:noFill/>
              <a:miter lim="800000"/>
              <a:headEnd/>
              <a:tailEnd/>
            </a:ln>
          </p:spPr>
          <p:txBody>
            <a:bodyPr wrap="none" anchor="ctr"/>
            <a:lstStyle/>
            <a:p>
              <a:endParaRPr lang="zh-CN" altLang="en-US"/>
            </a:p>
          </p:txBody>
        </p:sp>
        <p:sp>
          <p:nvSpPr>
            <p:cNvPr id="46096" name="AutoShape 8"/>
            <p:cNvSpPr>
              <a:spLocks noChangeArrowheads="1"/>
            </p:cNvSpPr>
            <p:nvPr/>
          </p:nvSpPr>
          <p:spPr bwMode="gray">
            <a:xfrm rot="5400000" flipH="1">
              <a:off x="3626" y="1996"/>
              <a:ext cx="360" cy="261"/>
            </a:xfrm>
            <a:prstGeom prst="upArrow">
              <a:avLst>
                <a:gd name="adj1" fmla="val 51676"/>
                <a:gd name="adj2" fmla="val 100000"/>
              </a:avLst>
            </a:prstGeom>
            <a:gradFill rotWithShape="1">
              <a:gsLst>
                <a:gs pos="0">
                  <a:srgbClr val="A1A1FF"/>
                </a:gs>
                <a:gs pos="100000">
                  <a:srgbClr val="DADAFF"/>
                </a:gs>
              </a:gsLst>
              <a:lin ang="0" scaled="1"/>
            </a:gradFill>
            <a:ln w="9525" algn="ctr">
              <a:noFill/>
              <a:miter lim="800000"/>
              <a:headEnd/>
              <a:tailEnd/>
            </a:ln>
          </p:spPr>
          <p:txBody>
            <a:bodyPr wrap="none" anchor="ctr"/>
            <a:lstStyle/>
            <a:p>
              <a:endParaRPr lang="zh-CN" altLang="en-US"/>
            </a:p>
          </p:txBody>
        </p:sp>
        <p:sp>
          <p:nvSpPr>
            <p:cNvPr id="46097" name="Oval 9"/>
            <p:cNvSpPr>
              <a:spLocks noChangeArrowheads="1"/>
            </p:cNvSpPr>
            <p:nvPr/>
          </p:nvSpPr>
          <p:spPr bwMode="gray">
            <a:xfrm>
              <a:off x="2078" y="1296"/>
              <a:ext cx="1615" cy="1615"/>
            </a:xfrm>
            <a:prstGeom prst="ellipse">
              <a:avLst/>
            </a:prstGeom>
            <a:gradFill rotWithShape="1">
              <a:gsLst>
                <a:gs pos="0">
                  <a:srgbClr val="767676"/>
                </a:gs>
                <a:gs pos="50000">
                  <a:srgbClr val="FFFFFF"/>
                </a:gs>
                <a:gs pos="100000">
                  <a:srgbClr val="767676"/>
                </a:gs>
              </a:gsLst>
              <a:lin ang="5400000" scaled="1"/>
            </a:gradFill>
            <a:ln w="28575" algn="ctr">
              <a:solidFill>
                <a:schemeClr val="tx1"/>
              </a:solidFill>
              <a:round/>
              <a:headEnd/>
              <a:tailEnd/>
            </a:ln>
          </p:spPr>
          <p:txBody>
            <a:bodyPr wrap="none" anchor="ctr"/>
            <a:lstStyle/>
            <a:p>
              <a:endParaRPr lang="zh-CN" altLang="en-US"/>
            </a:p>
          </p:txBody>
        </p:sp>
        <p:sp>
          <p:nvSpPr>
            <p:cNvPr id="46098" name="Oval 10"/>
            <p:cNvSpPr>
              <a:spLocks noChangeArrowheads="1"/>
            </p:cNvSpPr>
            <p:nvPr/>
          </p:nvSpPr>
          <p:spPr bwMode="gray">
            <a:xfrm>
              <a:off x="2170" y="1387"/>
              <a:ext cx="1430" cy="1430"/>
            </a:xfrm>
            <a:prstGeom prst="ellipse">
              <a:avLst/>
            </a:prstGeom>
            <a:gradFill rotWithShape="1">
              <a:gsLst>
                <a:gs pos="0">
                  <a:srgbClr val="A2A2A2"/>
                </a:gs>
                <a:gs pos="50000">
                  <a:srgbClr val="FFFFFF"/>
                </a:gs>
                <a:gs pos="100000">
                  <a:srgbClr val="A2A2A2"/>
                </a:gs>
              </a:gsLst>
              <a:lin ang="0" scaled="1"/>
            </a:gradFill>
            <a:ln w="9525" algn="ctr">
              <a:noFill/>
              <a:round/>
              <a:headEnd/>
              <a:tailEnd/>
            </a:ln>
          </p:spPr>
          <p:txBody>
            <a:bodyPr wrap="none" anchor="ctr"/>
            <a:lstStyle/>
            <a:p>
              <a:endParaRPr lang="zh-CN" altLang="en-US"/>
            </a:p>
          </p:txBody>
        </p:sp>
        <p:sp>
          <p:nvSpPr>
            <p:cNvPr id="2" name="Oval 11"/>
            <p:cNvSpPr>
              <a:spLocks noChangeArrowheads="1"/>
            </p:cNvSpPr>
            <p:nvPr/>
          </p:nvSpPr>
          <p:spPr bwMode="gray">
            <a:xfrm>
              <a:off x="2255" y="1887"/>
              <a:ext cx="221" cy="43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p>
          </p:txBody>
        </p:sp>
        <p:sp>
          <p:nvSpPr>
            <p:cNvPr id="4" name="Oval 12"/>
            <p:cNvSpPr>
              <a:spLocks noChangeArrowheads="1"/>
            </p:cNvSpPr>
            <p:nvPr/>
          </p:nvSpPr>
          <p:spPr bwMode="gray">
            <a:xfrm>
              <a:off x="2254" y="1887"/>
              <a:ext cx="221" cy="435"/>
            </a:xfrm>
            <a:prstGeom prst="ellipse">
              <a:avLst/>
            </a:prstGeom>
            <a:gradFill rotWithShape="1">
              <a:gsLst>
                <a:gs pos="0">
                  <a:srgbClr val="000000"/>
                </a:gs>
                <a:gs pos="100000">
                  <a:srgbClr val="FFCC00"/>
                </a:gs>
              </a:gsLst>
              <a:lin ang="2700000" scaled="1"/>
            </a:gradFill>
            <a:ln w="38100" algn="ctr">
              <a:noFill/>
              <a:round/>
              <a:headEnd/>
              <a:tailEnd/>
            </a:ln>
          </p:spPr>
          <p:txBody>
            <a:bodyPr wrap="none" anchor="ctr">
              <a:spAutoFit/>
            </a:bodyPr>
            <a:lstStyle/>
            <a:p>
              <a:endParaRPr lang="zh-CN" altLang="en-US"/>
            </a:p>
          </p:txBody>
        </p:sp>
        <p:sp>
          <p:nvSpPr>
            <p:cNvPr id="3" name="Oval 13"/>
            <p:cNvSpPr>
              <a:spLocks noChangeArrowheads="1"/>
            </p:cNvSpPr>
            <p:nvPr/>
          </p:nvSpPr>
          <p:spPr bwMode="gray">
            <a:xfrm>
              <a:off x="2337" y="1887"/>
              <a:ext cx="1096" cy="435"/>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p>
          </p:txBody>
        </p:sp>
        <p:sp>
          <p:nvSpPr>
            <p:cNvPr id="46102" name="Oval 14"/>
            <p:cNvSpPr>
              <a:spLocks noChangeArrowheads="1"/>
            </p:cNvSpPr>
            <p:nvPr/>
          </p:nvSpPr>
          <p:spPr bwMode="gray">
            <a:xfrm>
              <a:off x="2337" y="1887"/>
              <a:ext cx="1096" cy="435"/>
            </a:xfrm>
            <a:prstGeom prst="ellipse">
              <a:avLst/>
            </a:prstGeom>
            <a:gradFill rotWithShape="1">
              <a:gsLst>
                <a:gs pos="0">
                  <a:srgbClr val="FFCC00"/>
                </a:gs>
                <a:gs pos="100000">
                  <a:srgbClr val="7C6300"/>
                </a:gs>
              </a:gsLst>
              <a:lin ang="2700000" scaled="1"/>
            </a:gradFill>
            <a:ln w="38100" algn="ctr">
              <a:noFill/>
              <a:round/>
              <a:headEnd/>
              <a:tailEnd/>
            </a:ln>
          </p:spPr>
          <p:txBody>
            <a:bodyPr anchor="ctr">
              <a:spAutoFit/>
            </a:bodyPr>
            <a:lstStyle/>
            <a:p>
              <a:endParaRPr lang="zh-CN" altLang="en-US"/>
            </a:p>
          </p:txBody>
        </p:sp>
        <p:sp>
          <p:nvSpPr>
            <p:cNvPr id="46103" name="Text Box 15"/>
            <p:cNvSpPr txBox="1">
              <a:spLocks noChangeArrowheads="1"/>
            </p:cNvSpPr>
            <p:nvPr/>
          </p:nvSpPr>
          <p:spPr bwMode="auto">
            <a:xfrm>
              <a:off x="2422" y="1821"/>
              <a:ext cx="936" cy="536"/>
            </a:xfrm>
            <a:prstGeom prst="rect">
              <a:avLst/>
            </a:prstGeom>
            <a:noFill/>
            <a:ln w="9525">
              <a:noFill/>
              <a:miter lim="800000"/>
              <a:headEnd/>
              <a:tailEnd/>
            </a:ln>
          </p:spPr>
          <p:txBody>
            <a:bodyPr wrap="none">
              <a:spAutoFit/>
            </a:bodyPr>
            <a:lstStyle/>
            <a:p>
              <a:pPr algn="ctr" eaLnBrk="0" hangingPunct="0"/>
              <a:r>
                <a:rPr lang="zh-CN" altLang="en-US" sz="3600" b="1">
                  <a:solidFill>
                    <a:srgbClr val="FF0000"/>
                  </a:solidFill>
                </a:rPr>
                <a:t>电报</a:t>
              </a:r>
            </a:p>
          </p:txBody>
        </p:sp>
      </p:grpSp>
      <p:grpSp>
        <p:nvGrpSpPr>
          <p:cNvPr id="46084" name="Group 16"/>
          <p:cNvGrpSpPr>
            <a:grpSpLocks/>
          </p:cNvGrpSpPr>
          <p:nvPr/>
        </p:nvGrpSpPr>
        <p:grpSpPr bwMode="auto">
          <a:xfrm>
            <a:off x="4730199" y="3973290"/>
            <a:ext cx="2974975" cy="644525"/>
            <a:chOff x="1488" y="3282"/>
            <a:chExt cx="2736" cy="406"/>
          </a:xfrm>
        </p:grpSpPr>
        <p:grpSp>
          <p:nvGrpSpPr>
            <p:cNvPr id="46090" name="Group 17"/>
            <p:cNvGrpSpPr>
              <a:grpSpLocks/>
            </p:cNvGrpSpPr>
            <p:nvPr/>
          </p:nvGrpSpPr>
          <p:grpSpPr bwMode="auto">
            <a:xfrm>
              <a:off x="1488" y="3282"/>
              <a:ext cx="2736" cy="406"/>
              <a:chOff x="1404" y="3282"/>
              <a:chExt cx="3060" cy="406"/>
            </a:xfrm>
          </p:grpSpPr>
          <p:sp>
            <p:nvSpPr>
              <p:cNvPr id="46092" name="AutoShape 18"/>
              <p:cNvSpPr>
                <a:spLocks noChangeArrowheads="1"/>
              </p:cNvSpPr>
              <p:nvPr/>
            </p:nvSpPr>
            <p:spPr bwMode="gray">
              <a:xfrm>
                <a:off x="1404" y="3282"/>
                <a:ext cx="3060" cy="406"/>
              </a:xfrm>
              <a:prstGeom prst="roundRect">
                <a:avLst>
                  <a:gd name="adj" fmla="val 50000"/>
                </a:avLst>
              </a:prstGeom>
              <a:gradFill rotWithShape="1">
                <a:gsLst>
                  <a:gs pos="0">
                    <a:srgbClr val="2268B4"/>
                  </a:gs>
                  <a:gs pos="100000">
                    <a:srgbClr val="99CCFF"/>
                  </a:gs>
                </a:gsLst>
                <a:lin ang="0" scaled="1"/>
              </a:gradFill>
              <a:ln w="9525" algn="ctr">
                <a:noFill/>
                <a:round/>
                <a:headEnd/>
                <a:tailEnd/>
              </a:ln>
            </p:spPr>
            <p:txBody>
              <a:bodyPr wrap="none" anchor="ctr"/>
              <a:lstStyle/>
              <a:p>
                <a:endParaRPr lang="zh-CN" altLang="en-US"/>
              </a:p>
            </p:txBody>
          </p:sp>
          <p:sp>
            <p:nvSpPr>
              <p:cNvPr id="46093" name="AutoShape 19"/>
              <p:cNvSpPr>
                <a:spLocks noChangeArrowheads="1"/>
              </p:cNvSpPr>
              <p:nvPr/>
            </p:nvSpPr>
            <p:spPr bwMode="gray">
              <a:xfrm>
                <a:off x="1458" y="3312"/>
                <a:ext cx="2970" cy="336"/>
              </a:xfrm>
              <a:prstGeom prst="roundRect">
                <a:avLst>
                  <a:gd name="adj" fmla="val 50000"/>
                </a:avLst>
              </a:prstGeom>
              <a:gradFill rotWithShape="1">
                <a:gsLst>
                  <a:gs pos="0">
                    <a:srgbClr val="8BB5EC"/>
                  </a:gs>
                  <a:gs pos="100000">
                    <a:srgbClr val="1166D7">
                      <a:alpha val="50000"/>
                    </a:srgbClr>
                  </a:gs>
                </a:gsLst>
                <a:lin ang="0" scaled="1"/>
              </a:gradFill>
              <a:ln w="9525" algn="ctr">
                <a:noFill/>
                <a:round/>
                <a:headEnd/>
                <a:tailEnd/>
              </a:ln>
            </p:spPr>
            <p:txBody>
              <a:bodyPr wrap="none" anchor="ctr"/>
              <a:lstStyle/>
              <a:p>
                <a:endParaRPr lang="zh-CN" altLang="en-US"/>
              </a:p>
            </p:txBody>
          </p:sp>
        </p:grpSp>
        <p:sp>
          <p:nvSpPr>
            <p:cNvPr id="46100" name="Text Box 20"/>
            <p:cNvSpPr txBox="1">
              <a:spLocks noChangeArrowheads="1"/>
            </p:cNvSpPr>
            <p:nvPr/>
          </p:nvSpPr>
          <p:spPr bwMode="gray">
            <a:xfrm>
              <a:off x="1548" y="3312"/>
              <a:ext cx="2640" cy="365"/>
            </a:xfrm>
            <a:prstGeom prst="rect">
              <a:avLst/>
            </a:prstGeom>
            <a:noFill/>
            <a:ln w="9525" algn="ctr">
              <a:noFill/>
              <a:miter lim="800000"/>
              <a:headEnd/>
              <a:tailEnd/>
            </a:ln>
            <a:effectLst>
              <a:outerShdw dist="35921" dir="2700000" algn="ctr" rotWithShape="0">
                <a:schemeClr val="bg2">
                  <a:alpha val="50000"/>
                </a:schemeClr>
              </a:outerShdw>
            </a:effectLst>
          </p:spPr>
          <p:txBody>
            <a:bodyPr>
              <a:spAutoFit/>
            </a:bodyPr>
            <a:lstStyle/>
            <a:p>
              <a:pPr algn="ctr" eaLnBrk="0" hangingPunct="0">
                <a:defRPr/>
              </a:pPr>
              <a:r>
                <a:rPr lang="zh-CN" altLang="en-US" sz="3200" b="1">
                  <a:solidFill>
                    <a:srgbClr val="FF0000"/>
                  </a:solidFill>
                  <a:ea typeface="黑体" pitchFamily="2" charset="-122"/>
                </a:rPr>
                <a:t>报头</a:t>
              </a:r>
            </a:p>
          </p:txBody>
        </p:sp>
      </p:grpSp>
      <p:grpSp>
        <p:nvGrpSpPr>
          <p:cNvPr id="46085" name="Group 21"/>
          <p:cNvGrpSpPr>
            <a:grpSpLocks/>
          </p:cNvGrpSpPr>
          <p:nvPr/>
        </p:nvGrpSpPr>
        <p:grpSpPr bwMode="auto">
          <a:xfrm>
            <a:off x="4785781" y="5191475"/>
            <a:ext cx="2881312" cy="644525"/>
            <a:chOff x="1488" y="3282"/>
            <a:chExt cx="2736" cy="406"/>
          </a:xfrm>
        </p:grpSpPr>
        <p:grpSp>
          <p:nvGrpSpPr>
            <p:cNvPr id="46086" name="Group 22"/>
            <p:cNvGrpSpPr>
              <a:grpSpLocks/>
            </p:cNvGrpSpPr>
            <p:nvPr/>
          </p:nvGrpSpPr>
          <p:grpSpPr bwMode="auto">
            <a:xfrm>
              <a:off x="1488" y="3282"/>
              <a:ext cx="2736" cy="406"/>
              <a:chOff x="1404" y="3282"/>
              <a:chExt cx="3060" cy="406"/>
            </a:xfrm>
          </p:grpSpPr>
          <p:sp>
            <p:nvSpPr>
              <p:cNvPr id="46088" name="AutoShape 23"/>
              <p:cNvSpPr>
                <a:spLocks noChangeArrowheads="1"/>
              </p:cNvSpPr>
              <p:nvPr/>
            </p:nvSpPr>
            <p:spPr bwMode="gray">
              <a:xfrm>
                <a:off x="1404" y="3282"/>
                <a:ext cx="3060" cy="406"/>
              </a:xfrm>
              <a:prstGeom prst="roundRect">
                <a:avLst>
                  <a:gd name="adj" fmla="val 50000"/>
                </a:avLst>
              </a:prstGeom>
              <a:gradFill rotWithShape="1">
                <a:gsLst>
                  <a:gs pos="0">
                    <a:srgbClr val="2268B4"/>
                  </a:gs>
                  <a:gs pos="100000">
                    <a:srgbClr val="99CCFF"/>
                  </a:gs>
                </a:gsLst>
                <a:lin ang="0" scaled="1"/>
              </a:gradFill>
              <a:ln w="9525" algn="ctr">
                <a:noFill/>
                <a:round/>
                <a:headEnd/>
                <a:tailEnd/>
              </a:ln>
            </p:spPr>
            <p:txBody>
              <a:bodyPr wrap="none" anchor="ctr"/>
              <a:lstStyle/>
              <a:p>
                <a:endParaRPr lang="zh-CN" altLang="en-US"/>
              </a:p>
            </p:txBody>
          </p:sp>
          <p:sp>
            <p:nvSpPr>
              <p:cNvPr id="46089" name="AutoShape 24"/>
              <p:cNvSpPr>
                <a:spLocks noChangeArrowheads="1"/>
              </p:cNvSpPr>
              <p:nvPr/>
            </p:nvSpPr>
            <p:spPr bwMode="gray">
              <a:xfrm>
                <a:off x="1458" y="3312"/>
                <a:ext cx="2970" cy="336"/>
              </a:xfrm>
              <a:prstGeom prst="roundRect">
                <a:avLst>
                  <a:gd name="adj" fmla="val 50000"/>
                </a:avLst>
              </a:prstGeom>
              <a:gradFill rotWithShape="1">
                <a:gsLst>
                  <a:gs pos="0">
                    <a:srgbClr val="8BB5EC"/>
                  </a:gs>
                  <a:gs pos="100000">
                    <a:srgbClr val="1166D7">
                      <a:alpha val="50000"/>
                    </a:srgbClr>
                  </a:gs>
                </a:gsLst>
                <a:lin ang="0" scaled="1"/>
              </a:gradFill>
              <a:ln w="9525" algn="ctr">
                <a:noFill/>
                <a:round/>
                <a:headEnd/>
                <a:tailEnd/>
              </a:ln>
            </p:spPr>
            <p:txBody>
              <a:bodyPr wrap="none" anchor="ctr"/>
              <a:lstStyle/>
              <a:p>
                <a:endParaRPr lang="zh-CN" altLang="en-US"/>
              </a:p>
            </p:txBody>
          </p:sp>
        </p:grpSp>
        <p:sp>
          <p:nvSpPr>
            <p:cNvPr id="46105" name="Text Box 25"/>
            <p:cNvSpPr txBox="1">
              <a:spLocks noChangeArrowheads="1"/>
            </p:cNvSpPr>
            <p:nvPr/>
          </p:nvSpPr>
          <p:spPr bwMode="gray">
            <a:xfrm>
              <a:off x="1548" y="3312"/>
              <a:ext cx="2640" cy="365"/>
            </a:xfrm>
            <a:prstGeom prst="rect">
              <a:avLst/>
            </a:prstGeom>
            <a:noFill/>
            <a:ln w="9525" algn="ctr">
              <a:noFill/>
              <a:miter lim="800000"/>
              <a:headEnd/>
              <a:tailEnd/>
            </a:ln>
            <a:effectLst>
              <a:outerShdw dist="35921" dir="2700000" algn="ctr" rotWithShape="0">
                <a:schemeClr val="bg2">
                  <a:alpha val="50000"/>
                </a:schemeClr>
              </a:outerShdw>
            </a:effectLst>
          </p:spPr>
          <p:txBody>
            <a:bodyPr>
              <a:spAutoFit/>
            </a:bodyPr>
            <a:lstStyle/>
            <a:p>
              <a:pPr algn="ctr" eaLnBrk="0" hangingPunct="0">
                <a:defRPr/>
              </a:pPr>
              <a:r>
                <a:rPr lang="zh-CN" altLang="en-US" sz="3200" b="1">
                  <a:solidFill>
                    <a:srgbClr val="FF0000"/>
                  </a:solidFill>
                  <a:ea typeface="黑体" pitchFamily="2" charset="-122"/>
                </a:rPr>
                <a:t>电文</a:t>
              </a:r>
            </a:p>
          </p:txBody>
        </p:sp>
      </p:grpSp>
    </p:spTree>
    <p:extLst>
      <p:ext uri="{BB962C8B-B14F-4D97-AF65-F5344CB8AC3E}">
        <p14:creationId xmlns:p14="http://schemas.microsoft.com/office/powerpoint/2010/main" val="2828863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内容占位符 1"/>
          <p:cNvSpPr>
            <a:spLocks noGrp="1"/>
          </p:cNvSpPr>
          <p:nvPr>
            <p:ph idx="1"/>
          </p:nvPr>
        </p:nvSpPr>
        <p:spPr>
          <a:xfrm>
            <a:off x="0" y="0"/>
            <a:ext cx="12364278" cy="6357937"/>
          </a:xfrm>
        </p:spPr>
        <p:txBody>
          <a:bodyPr>
            <a:noAutofit/>
          </a:bodyPr>
          <a:lstStyle/>
          <a:p>
            <a:pPr marL="0" indent="0">
              <a:lnSpc>
                <a:spcPts val="4000"/>
              </a:lnSpc>
              <a:buNone/>
            </a:pPr>
            <a:r>
              <a:rPr lang="zh-CN" altLang="en-US" sz="2400" dirty="0">
                <a:solidFill>
                  <a:schemeClr val="tx1"/>
                </a:solidFill>
                <a:latin typeface="Times New Roman" panose="02020603050405020304" pitchFamily="18" charset="0"/>
                <a:ea typeface="微软雅黑" pitchFamily="34" charset="-122"/>
              </a:rPr>
              <a:t>报头格式分为四段，其形式如下：</a:t>
            </a:r>
            <a:endParaRPr lang="en-US" altLang="zh-CN" sz="2400" dirty="0">
              <a:solidFill>
                <a:schemeClr val="tx1"/>
              </a:solidFill>
              <a:latin typeface="Times New Roman" panose="02020603050405020304" pitchFamily="18" charset="0"/>
              <a:ea typeface="微软雅黑" pitchFamily="34" charset="-122"/>
            </a:endParaRPr>
          </a:p>
          <a:p>
            <a:pPr marL="0" indent="0">
              <a:lnSpc>
                <a:spcPts val="4000"/>
              </a:lnSpc>
              <a:buNone/>
            </a:pPr>
            <a:r>
              <a:rPr lang="zh-CN" altLang="en-US" sz="2400" dirty="0">
                <a:solidFill>
                  <a:schemeClr val="tx1"/>
                </a:solidFill>
                <a:latin typeface="Times New Roman" panose="02020603050405020304" pitchFamily="18" charset="0"/>
                <a:ea typeface="微软雅黑" pitchFamily="34" charset="-122"/>
              </a:rPr>
              <a:t>      第一段：</a:t>
            </a:r>
            <a:r>
              <a:rPr lang="en-US" altLang="zh-CN" sz="2400" dirty="0">
                <a:solidFill>
                  <a:schemeClr val="tx1"/>
                </a:solidFill>
                <a:latin typeface="Times New Roman" panose="02020603050405020304" pitchFamily="18" charset="0"/>
                <a:ea typeface="微软雅黑" pitchFamily="34" charset="-122"/>
              </a:rPr>
              <a:t>ZCZC TYMXXX</a:t>
            </a:r>
          </a:p>
          <a:p>
            <a:pPr marL="0" indent="0">
              <a:lnSpc>
                <a:spcPts val="4000"/>
              </a:lnSpc>
              <a:buNone/>
            </a:pPr>
            <a:r>
              <a:rPr lang="en-US" altLang="zh-CN" sz="2400" dirty="0">
                <a:solidFill>
                  <a:schemeClr val="tx1"/>
                </a:solidFill>
                <a:latin typeface="Times New Roman" panose="02020603050405020304" pitchFamily="18" charset="0"/>
                <a:ea typeface="微软雅黑" pitchFamily="34" charset="-122"/>
              </a:rPr>
              <a:t>     ZCZC TYM </a:t>
            </a:r>
            <a:r>
              <a:rPr lang="zh-CN" altLang="en-US" sz="2400" dirty="0">
                <a:solidFill>
                  <a:schemeClr val="tx1"/>
                </a:solidFill>
                <a:latin typeface="Times New Roman" panose="02020603050405020304" pitchFamily="18" charset="0"/>
                <a:ea typeface="微软雅黑" pitchFamily="34" charset="-122"/>
              </a:rPr>
              <a:t>为关键字，一般不变，</a:t>
            </a:r>
            <a:r>
              <a:rPr lang="en-US" altLang="zh-CN" sz="2400" dirty="0">
                <a:solidFill>
                  <a:schemeClr val="tx1"/>
                </a:solidFill>
                <a:latin typeface="Times New Roman" panose="02020603050405020304" pitchFamily="18" charset="0"/>
                <a:ea typeface="微软雅黑" pitchFamily="34" charset="-122"/>
              </a:rPr>
              <a:t>XXX </a:t>
            </a:r>
            <a:r>
              <a:rPr lang="zh-CN" altLang="en-US" sz="2400" dirty="0">
                <a:solidFill>
                  <a:schemeClr val="tx1"/>
                </a:solidFill>
                <a:latin typeface="Times New Roman" panose="02020603050405020304" pitchFamily="18" charset="0"/>
                <a:ea typeface="微软雅黑" pitchFamily="34" charset="-122"/>
              </a:rPr>
              <a:t>为所发电报编号，如第</a:t>
            </a:r>
            <a:r>
              <a:rPr lang="en-US" altLang="zh-CN" sz="2400" dirty="0">
                <a:solidFill>
                  <a:schemeClr val="tx1"/>
                </a:solidFill>
                <a:latin typeface="Times New Roman" panose="02020603050405020304" pitchFamily="18" charset="0"/>
                <a:ea typeface="微软雅黑" pitchFamily="34" charset="-122"/>
              </a:rPr>
              <a:t>25 </a:t>
            </a:r>
            <a:r>
              <a:rPr lang="zh-CN" altLang="en-US" sz="2400" dirty="0">
                <a:solidFill>
                  <a:schemeClr val="tx1"/>
                </a:solidFill>
                <a:latin typeface="Times New Roman" panose="02020603050405020304" pitchFamily="18" charset="0"/>
                <a:ea typeface="微软雅黑" pitchFamily="34" charset="-122"/>
              </a:rPr>
              <a:t>份电报为（</a:t>
            </a:r>
            <a:r>
              <a:rPr lang="en-US" altLang="zh-CN" sz="2400" dirty="0">
                <a:solidFill>
                  <a:schemeClr val="tx1"/>
                </a:solidFill>
                <a:latin typeface="Times New Roman" panose="02020603050405020304" pitchFamily="18" charset="0"/>
                <a:ea typeface="微软雅黑" pitchFamily="34" charset="-122"/>
              </a:rPr>
              <a:t>ZCZC TYM025</a:t>
            </a:r>
            <a:r>
              <a:rPr lang="zh-CN" altLang="en-US" sz="2400" dirty="0">
                <a:solidFill>
                  <a:schemeClr val="tx1"/>
                </a:solidFill>
                <a:latin typeface="Times New Roman" panose="02020603050405020304" pitchFamily="18" charset="0"/>
                <a:ea typeface="微软雅黑" pitchFamily="34" charset="-122"/>
              </a:rPr>
              <a:t>）</a:t>
            </a:r>
          </a:p>
          <a:p>
            <a:pPr marL="0" indent="0">
              <a:lnSpc>
                <a:spcPts val="4000"/>
              </a:lnSpc>
              <a:buNone/>
            </a:pPr>
            <a:r>
              <a:rPr lang="zh-CN" altLang="en-US" sz="2400" dirty="0">
                <a:solidFill>
                  <a:schemeClr val="tx1"/>
                </a:solidFill>
                <a:latin typeface="Times New Roman" panose="02020603050405020304" pitchFamily="18" charset="0"/>
                <a:ea typeface="微软雅黑" pitchFamily="34" charset="-122"/>
              </a:rPr>
              <a:t>      第二段：</a:t>
            </a:r>
            <a:r>
              <a:rPr lang="en-US" altLang="zh-CN" sz="2400" dirty="0">
                <a:solidFill>
                  <a:schemeClr val="tx1"/>
                </a:solidFill>
                <a:latin typeface="Times New Roman" panose="02020603050405020304" pitchFamily="18" charset="0"/>
                <a:ea typeface="微软雅黑" pitchFamily="34" charset="-122"/>
              </a:rPr>
              <a:t>GG/DD  </a:t>
            </a:r>
            <a:r>
              <a:rPr lang="zh-CN" altLang="en-US" sz="2400" dirty="0">
                <a:solidFill>
                  <a:schemeClr val="tx1"/>
                </a:solidFill>
                <a:latin typeface="Times New Roman" panose="02020603050405020304" pitchFamily="18" charset="0"/>
                <a:ea typeface="微软雅黑" pitchFamily="34" charset="-122"/>
              </a:rPr>
              <a:t>收报地址</a:t>
            </a:r>
            <a:endParaRPr lang="en-US" altLang="zh-CN" sz="2400" dirty="0">
              <a:solidFill>
                <a:schemeClr val="tx1"/>
              </a:solidFill>
              <a:latin typeface="Times New Roman" panose="02020603050405020304" pitchFamily="18" charset="0"/>
              <a:ea typeface="微软雅黑" pitchFamily="34" charset="-122"/>
            </a:endParaRPr>
          </a:p>
          <a:p>
            <a:pPr marL="0" indent="0">
              <a:lnSpc>
                <a:spcPts val="4000"/>
              </a:lnSpc>
              <a:buNone/>
            </a:pPr>
            <a:r>
              <a:rPr lang="en-US" altLang="zh-CN" sz="2400" dirty="0">
                <a:solidFill>
                  <a:schemeClr val="tx1"/>
                </a:solidFill>
                <a:latin typeface="Times New Roman" panose="02020603050405020304" pitchFamily="18" charset="0"/>
                <a:ea typeface="微软雅黑" pitchFamily="34" charset="-122"/>
              </a:rPr>
              <a:t>      </a:t>
            </a:r>
            <a:r>
              <a:rPr lang="en-US" altLang="zh-CN" sz="2400" dirty="0">
                <a:solidFill>
                  <a:schemeClr val="accent5"/>
                </a:solidFill>
                <a:latin typeface="Times New Roman" panose="02020603050405020304" pitchFamily="18" charset="0"/>
                <a:ea typeface="微软雅黑" pitchFamily="34" charset="-122"/>
              </a:rPr>
              <a:t>GG </a:t>
            </a:r>
            <a:r>
              <a:rPr lang="zh-CN" altLang="en-US" sz="2400" dirty="0">
                <a:solidFill>
                  <a:schemeClr val="accent5"/>
                </a:solidFill>
                <a:latin typeface="Times New Roman" panose="02020603050405020304" pitchFamily="18" charset="0"/>
                <a:ea typeface="微软雅黑" pitchFamily="34" charset="-122"/>
              </a:rPr>
              <a:t>为关键字，指普通报，</a:t>
            </a:r>
            <a:r>
              <a:rPr lang="en-US" altLang="zh-CN" sz="2400" dirty="0">
                <a:solidFill>
                  <a:schemeClr val="accent5"/>
                </a:solidFill>
                <a:latin typeface="Times New Roman" panose="02020603050405020304" pitchFamily="18" charset="0"/>
                <a:ea typeface="微软雅黑" pitchFamily="34" charset="-122"/>
              </a:rPr>
              <a:t>DD </a:t>
            </a:r>
            <a:r>
              <a:rPr lang="zh-CN" altLang="en-US" sz="2400" dirty="0">
                <a:solidFill>
                  <a:schemeClr val="accent5"/>
                </a:solidFill>
                <a:latin typeface="Times New Roman" panose="02020603050405020304" pitchFamily="18" charset="0"/>
                <a:ea typeface="微软雅黑" pitchFamily="34" charset="-122"/>
              </a:rPr>
              <a:t>也是关键字，指危险报</a:t>
            </a:r>
            <a:r>
              <a:rPr lang="zh-CN" altLang="en-US" sz="2400" dirty="0">
                <a:solidFill>
                  <a:schemeClr val="tx1"/>
                </a:solidFill>
                <a:latin typeface="Times New Roman" panose="02020603050405020304" pitchFamily="18" charset="0"/>
                <a:ea typeface="微软雅黑" pitchFamily="34" charset="-122"/>
              </a:rPr>
              <a:t>，后面跟八个字符为一组的收报地址， 前四个字母为机场四字代码， 后四个字符为收报部门：   </a:t>
            </a:r>
            <a:endParaRPr lang="en-US" altLang="zh-CN" sz="2400" dirty="0">
              <a:solidFill>
                <a:schemeClr val="tx1"/>
              </a:solidFill>
              <a:latin typeface="Times New Roman" panose="02020603050405020304" pitchFamily="18" charset="0"/>
              <a:ea typeface="微软雅黑" pitchFamily="34" charset="-122"/>
            </a:endParaRPr>
          </a:p>
          <a:p>
            <a:pPr marL="0" indent="0">
              <a:lnSpc>
                <a:spcPts val="4000"/>
              </a:lnSpc>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气象台：</a:t>
            </a:r>
            <a:r>
              <a:rPr lang="en-US" altLang="zh-CN" sz="2400" dirty="0">
                <a:solidFill>
                  <a:schemeClr val="tx1"/>
                </a:solidFill>
                <a:latin typeface="Times New Roman" panose="02020603050405020304" pitchFamily="18" charset="0"/>
                <a:ea typeface="微软雅黑" pitchFamily="34" charset="-122"/>
              </a:rPr>
              <a:t>YMYX </a:t>
            </a:r>
            <a:r>
              <a:rPr lang="zh-CN" altLang="en-US" sz="2400" dirty="0">
                <a:solidFill>
                  <a:schemeClr val="tx1"/>
                </a:solidFill>
                <a:latin typeface="Times New Roman" panose="02020603050405020304" pitchFamily="18" charset="0"/>
                <a:ea typeface="微软雅黑" pitchFamily="34" charset="-122"/>
              </a:rPr>
              <a:t>，国际民航收集中心：</a:t>
            </a:r>
            <a:r>
              <a:rPr lang="en-US" altLang="zh-CN" sz="2400" dirty="0">
                <a:solidFill>
                  <a:schemeClr val="tx1"/>
                </a:solidFill>
                <a:latin typeface="Times New Roman" panose="02020603050405020304" pitchFamily="18" charset="0"/>
                <a:ea typeface="微软雅黑" pitchFamily="34" charset="-122"/>
              </a:rPr>
              <a:t>YPYX    </a:t>
            </a:r>
            <a:r>
              <a:rPr lang="zh-CN" altLang="en-US" sz="2400" dirty="0">
                <a:solidFill>
                  <a:schemeClr val="tx1"/>
                </a:solidFill>
                <a:latin typeface="Times New Roman" panose="02020603050405020304" pitchFamily="18" charset="0"/>
                <a:ea typeface="微软雅黑" pitchFamily="34" charset="-122"/>
              </a:rPr>
              <a:t>  发电台： </a:t>
            </a:r>
            <a:r>
              <a:rPr lang="en-US" altLang="zh-CN" sz="2400" dirty="0">
                <a:solidFill>
                  <a:schemeClr val="tx1"/>
                </a:solidFill>
                <a:latin typeface="Times New Roman" panose="02020603050405020304" pitchFamily="18" charset="0"/>
                <a:ea typeface="微软雅黑" pitchFamily="34" charset="-122"/>
              </a:rPr>
              <a:t>YFYX </a:t>
            </a:r>
            <a:r>
              <a:rPr lang="zh-CN" altLang="en-US" sz="2400" dirty="0">
                <a:solidFill>
                  <a:schemeClr val="tx1"/>
                </a:solidFill>
                <a:latin typeface="Times New Roman" panose="02020603050405020304" pitchFamily="18" charset="0"/>
                <a:ea typeface="微软雅黑" pitchFamily="34" charset="-122"/>
              </a:rPr>
              <a:t>， 发站调：</a:t>
            </a:r>
            <a:r>
              <a:rPr lang="en-US" altLang="zh-CN" sz="2400" dirty="0">
                <a:solidFill>
                  <a:schemeClr val="tx1"/>
                </a:solidFill>
                <a:latin typeface="Times New Roman" panose="02020603050405020304" pitchFamily="18" charset="0"/>
                <a:ea typeface="微软雅黑" pitchFamily="34" charset="-122"/>
              </a:rPr>
              <a:t>ZPZP</a:t>
            </a:r>
            <a:r>
              <a:rPr lang="zh-CN" altLang="en-US" sz="2400" dirty="0">
                <a:solidFill>
                  <a:schemeClr val="tx1"/>
                </a:solidFill>
                <a:latin typeface="Times New Roman" panose="02020603050405020304" pitchFamily="18" charset="0"/>
                <a:ea typeface="微软雅黑" pitchFamily="34" charset="-122"/>
              </a:rPr>
              <a:t>，</a:t>
            </a:r>
            <a:endParaRPr lang="en-US" altLang="zh-CN" sz="2400" dirty="0">
              <a:solidFill>
                <a:schemeClr val="tx1"/>
              </a:solidFill>
              <a:latin typeface="Times New Roman" panose="02020603050405020304" pitchFamily="18" charset="0"/>
              <a:ea typeface="微软雅黑" pitchFamily="34" charset="-122"/>
            </a:endParaRPr>
          </a:p>
          <a:p>
            <a:pPr marL="0" indent="0">
              <a:lnSpc>
                <a:spcPts val="4000"/>
              </a:lnSpc>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区调为：</a:t>
            </a:r>
            <a:r>
              <a:rPr lang="en-US" altLang="zh-CN" sz="2400" dirty="0">
                <a:solidFill>
                  <a:schemeClr val="tx1"/>
                </a:solidFill>
                <a:latin typeface="Times New Roman" panose="02020603050405020304" pitchFamily="18" charset="0"/>
                <a:ea typeface="微软雅黑" pitchFamily="34" charset="-122"/>
              </a:rPr>
              <a:t>ZXZX</a:t>
            </a:r>
          </a:p>
          <a:p>
            <a:pPr marL="0" indent="0">
              <a:lnSpc>
                <a:spcPts val="4000"/>
              </a:lnSpc>
              <a:buNone/>
            </a:pPr>
            <a:r>
              <a:rPr lang="zh-CN" altLang="en-US" sz="2400" dirty="0">
                <a:solidFill>
                  <a:schemeClr val="tx1"/>
                </a:solidFill>
                <a:latin typeface="Times New Roman" panose="02020603050405020304" pitchFamily="18" charset="0"/>
                <a:ea typeface="微软雅黑" pitchFamily="34" charset="-122"/>
              </a:rPr>
              <a:t>例：电码“</a:t>
            </a:r>
            <a:r>
              <a:rPr lang="en-US" altLang="zh-CN" sz="2400" dirty="0">
                <a:solidFill>
                  <a:schemeClr val="tx1"/>
                </a:solidFill>
                <a:latin typeface="Times New Roman" panose="02020603050405020304" pitchFamily="18" charset="0"/>
                <a:ea typeface="微软雅黑" pitchFamily="34" charset="-122"/>
              </a:rPr>
              <a:t>GG ZUUUYMYX  ZBAAYPYX</a:t>
            </a:r>
            <a:r>
              <a:rPr lang="zh-CN" altLang="en-US" sz="2400" dirty="0">
                <a:solidFill>
                  <a:schemeClr val="tx1"/>
                </a:solidFill>
                <a:latin typeface="Times New Roman" panose="02020603050405020304" pitchFamily="18" charset="0"/>
                <a:ea typeface="微软雅黑" pitchFamily="34" charset="-122"/>
              </a:rPr>
              <a:t>”发往双流机场气象台和北京国际民航气象资料收集中心的普通报</a:t>
            </a:r>
          </a:p>
        </p:txBody>
      </p:sp>
    </p:spTree>
    <p:extLst>
      <p:ext uri="{BB962C8B-B14F-4D97-AF65-F5344CB8AC3E}">
        <p14:creationId xmlns:p14="http://schemas.microsoft.com/office/powerpoint/2010/main" val="359978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内容占位符 1"/>
          <p:cNvSpPr>
            <a:spLocks noGrp="1"/>
          </p:cNvSpPr>
          <p:nvPr>
            <p:ph idx="1"/>
          </p:nvPr>
        </p:nvSpPr>
        <p:spPr>
          <a:xfrm>
            <a:off x="596348" y="428626"/>
            <a:ext cx="9585877" cy="5508348"/>
          </a:xfrm>
        </p:spPr>
        <p:txBody>
          <a:bodyPr>
            <a:normAutofit/>
          </a:bodyPr>
          <a:lstStyle/>
          <a:p>
            <a:pPr marL="0" indent="0">
              <a:lnSpc>
                <a:spcPct val="200000"/>
              </a:lnSpc>
              <a:buNone/>
            </a:pPr>
            <a:r>
              <a:rPr lang="zh-CN" altLang="en-US" sz="2400" dirty="0">
                <a:solidFill>
                  <a:schemeClr val="tx1"/>
                </a:solidFill>
                <a:latin typeface="Times New Roman" panose="02020603050405020304" pitchFamily="18" charset="0"/>
                <a:ea typeface="微软雅黑" pitchFamily="34" charset="-122"/>
              </a:rPr>
              <a:t>第三段：</a:t>
            </a:r>
            <a:r>
              <a:rPr lang="en-US" altLang="zh-CN" sz="2400" dirty="0" err="1">
                <a:solidFill>
                  <a:schemeClr val="tx1"/>
                </a:solidFill>
                <a:latin typeface="Times New Roman" panose="02020603050405020304" pitchFamily="18" charset="0"/>
                <a:ea typeface="微软雅黑" pitchFamily="34" charset="-122"/>
              </a:rPr>
              <a:t>YYGGgg</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发报地址</a:t>
            </a:r>
          </a:p>
          <a:p>
            <a:pPr marL="0" indent="0">
              <a:lnSpc>
                <a:spcPct val="200000"/>
              </a:lnSpc>
              <a:buNone/>
            </a:pPr>
            <a:r>
              <a:rPr lang="en-US" altLang="zh-CN" sz="2400" dirty="0" err="1">
                <a:solidFill>
                  <a:schemeClr val="tx1"/>
                </a:solidFill>
                <a:latin typeface="Times New Roman" panose="02020603050405020304" pitchFamily="18" charset="0"/>
                <a:ea typeface="微软雅黑" pitchFamily="34" charset="-122"/>
              </a:rPr>
              <a:t>YYGGgg</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表示发报的日、 时、 分 （世界时）。</a:t>
            </a:r>
            <a:endParaRPr lang="en-US" altLang="zh-CN" sz="2400" dirty="0">
              <a:solidFill>
                <a:schemeClr val="tx1"/>
              </a:solidFill>
              <a:latin typeface="Times New Roman" panose="02020603050405020304" pitchFamily="18" charset="0"/>
              <a:ea typeface="微软雅黑" pitchFamily="34" charset="-122"/>
            </a:endParaRPr>
          </a:p>
          <a:p>
            <a:pPr marL="0" indent="0">
              <a:lnSpc>
                <a:spcPct val="200000"/>
              </a:lnSpc>
              <a:buNone/>
            </a:pPr>
            <a:r>
              <a:rPr lang="zh-CN" altLang="en-US" sz="2400" dirty="0">
                <a:solidFill>
                  <a:schemeClr val="tx1"/>
                </a:solidFill>
                <a:latin typeface="Times New Roman" panose="02020603050405020304" pitchFamily="18" charset="0"/>
                <a:ea typeface="微软雅黑" pitchFamily="34" charset="-122"/>
              </a:rPr>
              <a:t>世界时</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北京时</a:t>
            </a:r>
            <a:r>
              <a:rPr lang="en-US" altLang="zh-CN" sz="2400" dirty="0">
                <a:solidFill>
                  <a:schemeClr val="tx1"/>
                </a:solidFill>
                <a:latin typeface="Times New Roman" panose="02020603050405020304" pitchFamily="18" charset="0"/>
                <a:ea typeface="微软雅黑" pitchFamily="34" charset="-122"/>
              </a:rPr>
              <a:t>-8</a:t>
            </a:r>
            <a:r>
              <a:rPr lang="zh-CN" altLang="en-US" sz="2400" dirty="0">
                <a:solidFill>
                  <a:schemeClr val="tx1"/>
                </a:solidFill>
                <a:latin typeface="Times New Roman" panose="02020603050405020304" pitchFamily="18" charset="0"/>
                <a:ea typeface="微软雅黑" pitchFamily="34" charset="-122"/>
              </a:rPr>
              <a:t>。发报地址亦用八个字符。</a:t>
            </a:r>
          </a:p>
          <a:p>
            <a:pPr marL="0" indent="0">
              <a:lnSpc>
                <a:spcPct val="200000"/>
              </a:lnSpc>
              <a:buNone/>
            </a:pPr>
            <a:r>
              <a:rPr lang="zh-CN" altLang="en-US" sz="2400" dirty="0">
                <a:solidFill>
                  <a:schemeClr val="tx1"/>
                </a:solidFill>
                <a:latin typeface="Times New Roman" panose="02020603050405020304" pitchFamily="18" charset="0"/>
                <a:ea typeface="微软雅黑" pitchFamily="34" charset="-122"/>
              </a:rPr>
              <a:t>如“</a:t>
            </a:r>
            <a:r>
              <a:rPr lang="en-US" altLang="zh-CN" sz="2400" dirty="0">
                <a:solidFill>
                  <a:schemeClr val="tx1"/>
                </a:solidFill>
                <a:latin typeface="Times New Roman" panose="02020603050405020304" pitchFamily="18" charset="0"/>
                <a:ea typeface="微软雅黑" pitchFamily="34" charset="-122"/>
              </a:rPr>
              <a:t>230855 ZUGHYMYX ” </a:t>
            </a:r>
          </a:p>
          <a:p>
            <a:pPr marL="0" indent="0">
              <a:lnSpc>
                <a:spcPct val="200000"/>
              </a:lnSpc>
              <a:buNone/>
            </a:pPr>
            <a:r>
              <a:rPr lang="zh-CN" altLang="en-US" sz="2400" dirty="0">
                <a:solidFill>
                  <a:schemeClr val="tx1"/>
                </a:solidFill>
                <a:latin typeface="Times New Roman" panose="02020603050405020304" pitchFamily="18" charset="0"/>
                <a:ea typeface="微软雅黑" pitchFamily="34" charset="-122"/>
              </a:rPr>
              <a:t>表示是由广汉机场气象台于 </a:t>
            </a:r>
            <a:r>
              <a:rPr lang="en-US" altLang="zh-CN" sz="2400" dirty="0">
                <a:solidFill>
                  <a:schemeClr val="tx1"/>
                </a:solidFill>
                <a:latin typeface="Times New Roman" panose="02020603050405020304" pitchFamily="18" charset="0"/>
                <a:ea typeface="微软雅黑" pitchFamily="34" charset="-122"/>
              </a:rPr>
              <a:t>23 </a:t>
            </a:r>
            <a:r>
              <a:rPr lang="zh-CN" altLang="en-US" sz="2400" dirty="0">
                <a:solidFill>
                  <a:schemeClr val="tx1"/>
                </a:solidFill>
                <a:latin typeface="Times New Roman" panose="02020603050405020304" pitchFamily="18" charset="0"/>
                <a:ea typeface="微软雅黑" pitchFamily="34" charset="-122"/>
              </a:rPr>
              <a:t>号 </a:t>
            </a:r>
            <a:r>
              <a:rPr lang="en-US" altLang="zh-CN" sz="2400" dirty="0">
                <a:solidFill>
                  <a:schemeClr val="tx1"/>
                </a:solidFill>
                <a:latin typeface="Times New Roman" panose="02020603050405020304" pitchFamily="18" charset="0"/>
                <a:ea typeface="微软雅黑" pitchFamily="34" charset="-122"/>
              </a:rPr>
              <a:t>08</a:t>
            </a:r>
            <a:r>
              <a:rPr lang="zh-CN" altLang="en-US" sz="2400" dirty="0">
                <a:solidFill>
                  <a:schemeClr val="tx1"/>
                </a:solidFill>
                <a:latin typeface="Times New Roman" panose="02020603050405020304" pitchFamily="18" charset="0"/>
                <a:ea typeface="微软雅黑" pitchFamily="34" charset="-122"/>
              </a:rPr>
              <a:t>时 </a:t>
            </a:r>
            <a:r>
              <a:rPr lang="en-US" altLang="zh-CN" sz="2400" dirty="0">
                <a:solidFill>
                  <a:schemeClr val="tx1"/>
                </a:solidFill>
                <a:latin typeface="Times New Roman" panose="02020603050405020304" pitchFamily="18" charset="0"/>
                <a:ea typeface="微软雅黑" pitchFamily="34" charset="-122"/>
              </a:rPr>
              <a:t>55 </a:t>
            </a:r>
            <a:r>
              <a:rPr lang="zh-CN" altLang="en-US" sz="2400" dirty="0">
                <a:solidFill>
                  <a:schemeClr val="tx1"/>
                </a:solidFill>
                <a:latin typeface="Times New Roman" panose="02020603050405020304" pitchFamily="18" charset="0"/>
                <a:ea typeface="微软雅黑" pitchFamily="34" charset="-122"/>
              </a:rPr>
              <a:t>分（世界时）发的电报。 ”</a:t>
            </a:r>
          </a:p>
        </p:txBody>
      </p:sp>
    </p:spTree>
    <p:extLst>
      <p:ext uri="{BB962C8B-B14F-4D97-AF65-F5344CB8AC3E}">
        <p14:creationId xmlns:p14="http://schemas.microsoft.com/office/powerpoint/2010/main" val="830734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内容占位符 1"/>
          <p:cNvSpPr>
            <a:spLocks noGrp="1"/>
          </p:cNvSpPr>
          <p:nvPr>
            <p:ph idx="1"/>
          </p:nvPr>
        </p:nvSpPr>
        <p:spPr>
          <a:xfrm>
            <a:off x="566324" y="171658"/>
            <a:ext cx="8229600" cy="1428750"/>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第四段：</a:t>
            </a:r>
            <a:r>
              <a:rPr lang="en-US" altLang="zh-CN" sz="2400" dirty="0">
                <a:solidFill>
                  <a:schemeClr val="tx1"/>
                </a:solidFill>
                <a:latin typeface="Times New Roman" panose="02020603050405020304" pitchFamily="18" charset="0"/>
                <a:ea typeface="微软雅黑" pitchFamily="34" charset="-122"/>
              </a:rPr>
              <a:t>TTAAKK CCCC </a:t>
            </a:r>
            <a:r>
              <a:rPr lang="en-US" altLang="zh-CN" sz="2400" dirty="0" err="1">
                <a:solidFill>
                  <a:schemeClr val="tx1"/>
                </a:solidFill>
                <a:latin typeface="Times New Roman" panose="02020603050405020304" pitchFamily="18" charset="0"/>
                <a:ea typeface="微软雅黑" pitchFamily="34" charset="-122"/>
              </a:rPr>
              <a:t>YYGGgg</a:t>
            </a:r>
            <a:r>
              <a:rPr lang="en-US" altLang="zh-CN" sz="2400" dirty="0">
                <a:solidFill>
                  <a:schemeClr val="tx1"/>
                </a:solidFill>
                <a:latin typeface="Times New Roman" panose="02020603050405020304" pitchFamily="18" charset="0"/>
                <a:ea typeface="微软雅黑" pitchFamily="34" charset="-122"/>
              </a:rPr>
              <a:t> BBB</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TT </a:t>
            </a:r>
            <a:r>
              <a:rPr lang="zh-CN" altLang="en-US" sz="2400" dirty="0">
                <a:solidFill>
                  <a:schemeClr val="tx1"/>
                </a:solidFill>
                <a:latin typeface="Times New Roman" panose="02020603050405020304" pitchFamily="18" charset="0"/>
                <a:ea typeface="微软雅黑" pitchFamily="34" charset="-122"/>
              </a:rPr>
              <a:t>表示气象电报的类别，如表所示 </a:t>
            </a:r>
          </a:p>
        </p:txBody>
      </p:sp>
      <p:grpSp>
        <p:nvGrpSpPr>
          <p:cNvPr id="49154" name="Group 66"/>
          <p:cNvGrpSpPr>
            <a:grpSpLocks/>
          </p:cNvGrpSpPr>
          <p:nvPr/>
        </p:nvGrpSpPr>
        <p:grpSpPr bwMode="auto">
          <a:xfrm>
            <a:off x="860771" y="1864829"/>
            <a:ext cx="8382000" cy="3733800"/>
            <a:chOff x="-3" y="-3"/>
            <a:chExt cx="2956" cy="1876"/>
          </a:xfrm>
        </p:grpSpPr>
        <p:grpSp>
          <p:nvGrpSpPr>
            <p:cNvPr id="49155" name="Group 64"/>
            <p:cNvGrpSpPr>
              <a:grpSpLocks/>
            </p:cNvGrpSpPr>
            <p:nvPr/>
          </p:nvGrpSpPr>
          <p:grpSpPr bwMode="auto">
            <a:xfrm>
              <a:off x="0" y="0"/>
              <a:ext cx="2950" cy="1870"/>
              <a:chOff x="0" y="0"/>
              <a:chExt cx="2950" cy="1870"/>
            </a:xfrm>
          </p:grpSpPr>
          <p:grpSp>
            <p:nvGrpSpPr>
              <p:cNvPr id="49157" name="Group 25"/>
              <p:cNvGrpSpPr>
                <a:grpSpLocks/>
              </p:cNvGrpSpPr>
              <p:nvPr/>
            </p:nvGrpSpPr>
            <p:grpSpPr bwMode="auto">
              <a:xfrm>
                <a:off x="0" y="0"/>
                <a:ext cx="737" cy="374"/>
                <a:chOff x="0" y="0"/>
                <a:chExt cx="737" cy="374"/>
              </a:xfrm>
            </p:grpSpPr>
            <p:sp>
              <p:nvSpPr>
                <p:cNvPr id="49215" name="Rectangle 4"/>
                <p:cNvSpPr>
                  <a:spLocks noChangeArrowheads="1"/>
                </p:cNvSpPr>
                <p:nvPr/>
              </p:nvSpPr>
              <p:spPr bwMode="auto">
                <a:xfrm>
                  <a:off x="0" y="0"/>
                  <a:ext cx="737"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电</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码（</a:t>
                  </a:r>
                  <a:r>
                    <a:rPr lang="en-US" altLang="zh-CN" sz="2400" b="1">
                      <a:solidFill>
                        <a:srgbClr val="000066"/>
                      </a:solidFill>
                      <a:cs typeface="Times New Roman" pitchFamily="18" charset="0"/>
                    </a:rPr>
                    <a:t>TT</a:t>
                  </a:r>
                  <a:r>
                    <a:rPr lang="zh-CN" altLang="en-US" sz="2400" b="1">
                      <a:solidFill>
                        <a:srgbClr val="000066"/>
                      </a:solidFill>
                      <a:ea typeface="方正书宋简体"/>
                      <a:cs typeface="方正书宋简体"/>
                    </a:rPr>
                    <a:t>）</a:t>
                  </a:r>
                  <a:endParaRPr lang="zh-CN" altLang="en-US" sz="2400" b="1">
                    <a:solidFill>
                      <a:srgbClr val="000066"/>
                    </a:solidFill>
                  </a:endParaRPr>
                </a:p>
              </p:txBody>
            </p:sp>
            <p:sp>
              <p:nvSpPr>
                <p:cNvPr id="66" name="Rectangle 24"/>
                <p:cNvSpPr>
                  <a:spLocks noChangeArrowheads="1"/>
                </p:cNvSpPr>
                <p:nvPr/>
              </p:nvSpPr>
              <p:spPr bwMode="auto">
                <a:xfrm>
                  <a:off x="0" y="0"/>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58" name="Group 27"/>
              <p:cNvGrpSpPr>
                <a:grpSpLocks/>
              </p:cNvGrpSpPr>
              <p:nvPr/>
            </p:nvGrpSpPr>
            <p:grpSpPr bwMode="auto">
              <a:xfrm>
                <a:off x="737" y="0"/>
                <a:ext cx="738" cy="374"/>
                <a:chOff x="737" y="0"/>
                <a:chExt cx="738" cy="374"/>
              </a:xfrm>
            </p:grpSpPr>
            <p:sp>
              <p:nvSpPr>
                <p:cNvPr id="49213" name="Rectangle 5"/>
                <p:cNvSpPr>
                  <a:spLocks noChangeArrowheads="1"/>
                </p:cNvSpPr>
                <p:nvPr/>
              </p:nvSpPr>
              <p:spPr bwMode="auto">
                <a:xfrm>
                  <a:off x="737" y="0"/>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电</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报</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类</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别</a:t>
                  </a:r>
                  <a:endParaRPr lang="zh-CN" altLang="en-US" sz="2400" b="1">
                    <a:solidFill>
                      <a:srgbClr val="000066"/>
                    </a:solidFill>
                  </a:endParaRPr>
                </a:p>
              </p:txBody>
            </p:sp>
            <p:sp>
              <p:nvSpPr>
                <p:cNvPr id="64" name="Rectangle 26"/>
                <p:cNvSpPr>
                  <a:spLocks noChangeArrowheads="1"/>
                </p:cNvSpPr>
                <p:nvPr/>
              </p:nvSpPr>
              <p:spPr bwMode="auto">
                <a:xfrm>
                  <a:off x="737" y="0"/>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59" name="Group 29"/>
              <p:cNvGrpSpPr>
                <a:grpSpLocks/>
              </p:cNvGrpSpPr>
              <p:nvPr/>
            </p:nvGrpSpPr>
            <p:grpSpPr bwMode="auto">
              <a:xfrm>
                <a:off x="1475" y="0"/>
                <a:ext cx="737" cy="374"/>
                <a:chOff x="1475" y="0"/>
                <a:chExt cx="737" cy="374"/>
              </a:xfrm>
            </p:grpSpPr>
            <p:sp>
              <p:nvSpPr>
                <p:cNvPr id="49211" name="Rectangle 6"/>
                <p:cNvSpPr>
                  <a:spLocks noChangeArrowheads="1"/>
                </p:cNvSpPr>
                <p:nvPr/>
              </p:nvSpPr>
              <p:spPr bwMode="auto">
                <a:xfrm>
                  <a:off x="1475" y="0"/>
                  <a:ext cx="737"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电</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码（</a:t>
                  </a:r>
                  <a:r>
                    <a:rPr lang="en-US" altLang="zh-CN" sz="2400" b="1">
                      <a:solidFill>
                        <a:srgbClr val="000066"/>
                      </a:solidFill>
                      <a:cs typeface="Times New Roman" pitchFamily="18" charset="0"/>
                    </a:rPr>
                    <a:t>TT</a:t>
                  </a:r>
                  <a:r>
                    <a:rPr lang="zh-CN" altLang="en-US" sz="2400" b="1">
                      <a:solidFill>
                        <a:srgbClr val="000066"/>
                      </a:solidFill>
                      <a:ea typeface="方正书宋简体"/>
                      <a:cs typeface="方正书宋简体"/>
                    </a:rPr>
                    <a:t>）</a:t>
                  </a:r>
                  <a:endParaRPr lang="zh-CN" altLang="en-US" sz="2400" b="1">
                    <a:solidFill>
                      <a:srgbClr val="000066"/>
                    </a:solidFill>
                  </a:endParaRPr>
                </a:p>
              </p:txBody>
            </p:sp>
            <p:sp>
              <p:nvSpPr>
                <p:cNvPr id="62" name="Rectangle 28"/>
                <p:cNvSpPr>
                  <a:spLocks noChangeArrowheads="1"/>
                </p:cNvSpPr>
                <p:nvPr/>
              </p:nvSpPr>
              <p:spPr bwMode="auto">
                <a:xfrm>
                  <a:off x="1475" y="0"/>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0" name="Group 31"/>
              <p:cNvGrpSpPr>
                <a:grpSpLocks/>
              </p:cNvGrpSpPr>
              <p:nvPr/>
            </p:nvGrpSpPr>
            <p:grpSpPr bwMode="auto">
              <a:xfrm>
                <a:off x="2212" y="0"/>
                <a:ext cx="738" cy="374"/>
                <a:chOff x="2212" y="0"/>
                <a:chExt cx="738" cy="374"/>
              </a:xfrm>
            </p:grpSpPr>
            <p:sp>
              <p:nvSpPr>
                <p:cNvPr id="49209" name="Rectangle 7"/>
                <p:cNvSpPr>
                  <a:spLocks noChangeArrowheads="1"/>
                </p:cNvSpPr>
                <p:nvPr/>
              </p:nvSpPr>
              <p:spPr bwMode="auto">
                <a:xfrm>
                  <a:off x="2212" y="0"/>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dirty="0">
                      <a:solidFill>
                        <a:srgbClr val="000066"/>
                      </a:solidFill>
                      <a:ea typeface="方正书宋简体"/>
                      <a:cs typeface="方正书宋简体"/>
                    </a:rPr>
                    <a:t>电</a:t>
                  </a:r>
                  <a:r>
                    <a:rPr lang="zh-CN" altLang="en-US" sz="2400" b="1" dirty="0">
                      <a:solidFill>
                        <a:srgbClr val="000066"/>
                      </a:solidFill>
                      <a:cs typeface="Times New Roman" pitchFamily="18" charset="0"/>
                    </a:rPr>
                    <a:t>  </a:t>
                  </a:r>
                  <a:r>
                    <a:rPr lang="zh-CN" altLang="en-US" sz="2400" b="1" dirty="0">
                      <a:solidFill>
                        <a:srgbClr val="000066"/>
                      </a:solidFill>
                      <a:ea typeface="方正书宋简体"/>
                      <a:cs typeface="方正书宋简体"/>
                    </a:rPr>
                    <a:t>报</a:t>
                  </a:r>
                  <a:r>
                    <a:rPr lang="zh-CN" altLang="en-US" sz="2400" b="1" dirty="0">
                      <a:solidFill>
                        <a:srgbClr val="000066"/>
                      </a:solidFill>
                      <a:cs typeface="Times New Roman" pitchFamily="18" charset="0"/>
                    </a:rPr>
                    <a:t>  </a:t>
                  </a:r>
                  <a:r>
                    <a:rPr lang="zh-CN" altLang="en-US" sz="2400" b="1" dirty="0">
                      <a:solidFill>
                        <a:srgbClr val="000066"/>
                      </a:solidFill>
                      <a:ea typeface="方正书宋简体"/>
                      <a:cs typeface="方正书宋简体"/>
                    </a:rPr>
                    <a:t>类</a:t>
                  </a:r>
                  <a:r>
                    <a:rPr lang="zh-CN" altLang="en-US" sz="2400" b="1" dirty="0">
                      <a:solidFill>
                        <a:srgbClr val="000066"/>
                      </a:solidFill>
                      <a:cs typeface="Times New Roman" pitchFamily="18" charset="0"/>
                    </a:rPr>
                    <a:t>  </a:t>
                  </a:r>
                  <a:r>
                    <a:rPr lang="zh-CN" altLang="en-US" sz="2400" b="1" dirty="0">
                      <a:solidFill>
                        <a:srgbClr val="000066"/>
                      </a:solidFill>
                      <a:ea typeface="方正书宋简体"/>
                      <a:cs typeface="方正书宋简体"/>
                    </a:rPr>
                    <a:t>别</a:t>
                  </a:r>
                  <a:endParaRPr lang="zh-CN" altLang="en-US" sz="2400" b="1" dirty="0">
                    <a:solidFill>
                      <a:srgbClr val="000066"/>
                    </a:solidFill>
                  </a:endParaRPr>
                </a:p>
              </p:txBody>
            </p:sp>
            <p:sp>
              <p:nvSpPr>
                <p:cNvPr id="60" name="Rectangle 30"/>
                <p:cNvSpPr>
                  <a:spLocks noChangeArrowheads="1"/>
                </p:cNvSpPr>
                <p:nvPr/>
              </p:nvSpPr>
              <p:spPr bwMode="auto">
                <a:xfrm>
                  <a:off x="2212" y="0"/>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1" name="Group 33"/>
              <p:cNvGrpSpPr>
                <a:grpSpLocks/>
              </p:cNvGrpSpPr>
              <p:nvPr/>
            </p:nvGrpSpPr>
            <p:grpSpPr bwMode="auto">
              <a:xfrm>
                <a:off x="0" y="374"/>
                <a:ext cx="737" cy="374"/>
                <a:chOff x="0" y="374"/>
                <a:chExt cx="737" cy="374"/>
              </a:xfrm>
            </p:grpSpPr>
            <p:sp>
              <p:nvSpPr>
                <p:cNvPr id="49207" name="Rectangle 8"/>
                <p:cNvSpPr>
                  <a:spLocks noChangeArrowheads="1"/>
                </p:cNvSpPr>
                <p:nvPr/>
              </p:nvSpPr>
              <p:spPr bwMode="auto">
                <a:xfrm>
                  <a:off x="0" y="374"/>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SA</a:t>
                  </a:r>
                  <a:endParaRPr lang="en-US" altLang="zh-CN" sz="2400" b="1">
                    <a:solidFill>
                      <a:srgbClr val="000066"/>
                    </a:solidFill>
                  </a:endParaRPr>
                </a:p>
              </p:txBody>
            </p:sp>
            <p:sp>
              <p:nvSpPr>
                <p:cNvPr id="58" name="Rectangle 32"/>
                <p:cNvSpPr>
                  <a:spLocks noChangeArrowheads="1"/>
                </p:cNvSpPr>
                <p:nvPr/>
              </p:nvSpPr>
              <p:spPr bwMode="auto">
                <a:xfrm>
                  <a:off x="0" y="374"/>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2" name="Group 35"/>
              <p:cNvGrpSpPr>
                <a:grpSpLocks/>
              </p:cNvGrpSpPr>
              <p:nvPr/>
            </p:nvGrpSpPr>
            <p:grpSpPr bwMode="auto">
              <a:xfrm>
                <a:off x="737" y="374"/>
                <a:ext cx="738" cy="374"/>
                <a:chOff x="737" y="374"/>
                <a:chExt cx="738" cy="374"/>
              </a:xfrm>
            </p:grpSpPr>
            <p:sp>
              <p:nvSpPr>
                <p:cNvPr id="49205" name="Rectangle 9"/>
                <p:cNvSpPr>
                  <a:spLocks noChangeArrowheads="1"/>
                </p:cNvSpPr>
                <p:nvPr/>
              </p:nvSpPr>
              <p:spPr bwMode="auto">
                <a:xfrm>
                  <a:off x="737" y="374"/>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日常航空天气报告</a:t>
                  </a:r>
                  <a:endParaRPr lang="zh-CN" altLang="en-US" sz="2400" b="1">
                    <a:solidFill>
                      <a:srgbClr val="000066"/>
                    </a:solidFill>
                  </a:endParaRPr>
                </a:p>
              </p:txBody>
            </p:sp>
            <p:sp>
              <p:nvSpPr>
                <p:cNvPr id="56" name="Rectangle 34"/>
                <p:cNvSpPr>
                  <a:spLocks noChangeArrowheads="1"/>
                </p:cNvSpPr>
                <p:nvPr/>
              </p:nvSpPr>
              <p:spPr bwMode="auto">
                <a:xfrm>
                  <a:off x="737" y="374"/>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3" name="Group 37"/>
              <p:cNvGrpSpPr>
                <a:grpSpLocks/>
              </p:cNvGrpSpPr>
              <p:nvPr/>
            </p:nvGrpSpPr>
            <p:grpSpPr bwMode="auto">
              <a:xfrm>
                <a:off x="1475" y="374"/>
                <a:ext cx="737" cy="374"/>
                <a:chOff x="1475" y="374"/>
                <a:chExt cx="737" cy="374"/>
              </a:xfrm>
            </p:grpSpPr>
            <p:sp>
              <p:nvSpPr>
                <p:cNvPr id="49203" name="Rectangle 10"/>
                <p:cNvSpPr>
                  <a:spLocks noChangeArrowheads="1"/>
                </p:cNvSpPr>
                <p:nvPr/>
              </p:nvSpPr>
              <p:spPr bwMode="auto">
                <a:xfrm>
                  <a:off x="1475" y="374"/>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FR</a:t>
                  </a:r>
                  <a:endParaRPr lang="en-US" altLang="zh-CN" sz="2400" b="1">
                    <a:solidFill>
                      <a:srgbClr val="000066"/>
                    </a:solidFill>
                  </a:endParaRPr>
                </a:p>
              </p:txBody>
            </p:sp>
            <p:sp>
              <p:nvSpPr>
                <p:cNvPr id="54" name="Rectangle 36"/>
                <p:cNvSpPr>
                  <a:spLocks noChangeArrowheads="1"/>
                </p:cNvSpPr>
                <p:nvPr/>
              </p:nvSpPr>
              <p:spPr bwMode="auto">
                <a:xfrm>
                  <a:off x="1475" y="374"/>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4" name="Group 39"/>
              <p:cNvGrpSpPr>
                <a:grpSpLocks/>
              </p:cNvGrpSpPr>
              <p:nvPr/>
            </p:nvGrpSpPr>
            <p:grpSpPr bwMode="auto">
              <a:xfrm>
                <a:off x="2212" y="374"/>
                <a:ext cx="738" cy="374"/>
                <a:chOff x="2212" y="374"/>
                <a:chExt cx="738" cy="374"/>
              </a:xfrm>
            </p:grpSpPr>
            <p:sp>
              <p:nvSpPr>
                <p:cNvPr id="49201" name="Rectangle 11"/>
                <p:cNvSpPr>
                  <a:spLocks noChangeArrowheads="1"/>
                </p:cNvSpPr>
                <p:nvPr/>
              </p:nvSpPr>
              <p:spPr bwMode="auto">
                <a:xfrm>
                  <a:off x="2212" y="374"/>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航路天气预报</a:t>
                  </a:r>
                  <a:endParaRPr lang="zh-CN" altLang="en-US" sz="2400" b="1">
                    <a:solidFill>
                      <a:srgbClr val="000066"/>
                    </a:solidFill>
                  </a:endParaRPr>
                </a:p>
              </p:txBody>
            </p:sp>
            <p:sp>
              <p:nvSpPr>
                <p:cNvPr id="52" name="Rectangle 38"/>
                <p:cNvSpPr>
                  <a:spLocks noChangeArrowheads="1"/>
                </p:cNvSpPr>
                <p:nvPr/>
              </p:nvSpPr>
              <p:spPr bwMode="auto">
                <a:xfrm>
                  <a:off x="2212" y="374"/>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5" name="Group 41"/>
              <p:cNvGrpSpPr>
                <a:grpSpLocks/>
              </p:cNvGrpSpPr>
              <p:nvPr/>
            </p:nvGrpSpPr>
            <p:grpSpPr bwMode="auto">
              <a:xfrm>
                <a:off x="0" y="748"/>
                <a:ext cx="737" cy="374"/>
                <a:chOff x="0" y="748"/>
                <a:chExt cx="737" cy="374"/>
              </a:xfrm>
            </p:grpSpPr>
            <p:sp>
              <p:nvSpPr>
                <p:cNvPr id="49199" name="Rectangle 12"/>
                <p:cNvSpPr>
                  <a:spLocks noChangeArrowheads="1"/>
                </p:cNvSpPr>
                <p:nvPr/>
              </p:nvSpPr>
              <p:spPr bwMode="auto">
                <a:xfrm>
                  <a:off x="0" y="748"/>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SP</a:t>
                  </a:r>
                  <a:endParaRPr lang="en-US" altLang="zh-CN" sz="2400" b="1">
                    <a:solidFill>
                      <a:srgbClr val="000066"/>
                    </a:solidFill>
                  </a:endParaRPr>
                </a:p>
              </p:txBody>
            </p:sp>
            <p:sp>
              <p:nvSpPr>
                <p:cNvPr id="50" name="Rectangle 40"/>
                <p:cNvSpPr>
                  <a:spLocks noChangeArrowheads="1"/>
                </p:cNvSpPr>
                <p:nvPr/>
              </p:nvSpPr>
              <p:spPr bwMode="auto">
                <a:xfrm>
                  <a:off x="0" y="748"/>
                  <a:ext cx="737" cy="366"/>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6" name="Group 43"/>
              <p:cNvGrpSpPr>
                <a:grpSpLocks/>
              </p:cNvGrpSpPr>
              <p:nvPr/>
            </p:nvGrpSpPr>
            <p:grpSpPr bwMode="auto">
              <a:xfrm>
                <a:off x="737" y="748"/>
                <a:ext cx="738" cy="374"/>
                <a:chOff x="737" y="748"/>
                <a:chExt cx="738" cy="374"/>
              </a:xfrm>
            </p:grpSpPr>
            <p:sp>
              <p:nvSpPr>
                <p:cNvPr id="49197" name="Rectangle 13"/>
                <p:cNvSpPr>
                  <a:spLocks noChangeArrowheads="1"/>
                </p:cNvSpPr>
                <p:nvPr/>
              </p:nvSpPr>
              <p:spPr bwMode="auto">
                <a:xfrm>
                  <a:off x="737" y="748"/>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特殊报告</a:t>
                  </a:r>
                  <a:endParaRPr lang="zh-CN" altLang="en-US" sz="2400" b="1">
                    <a:solidFill>
                      <a:srgbClr val="000066"/>
                    </a:solidFill>
                  </a:endParaRPr>
                </a:p>
              </p:txBody>
            </p:sp>
            <p:sp>
              <p:nvSpPr>
                <p:cNvPr id="48" name="Rectangle 42"/>
                <p:cNvSpPr>
                  <a:spLocks noChangeArrowheads="1"/>
                </p:cNvSpPr>
                <p:nvPr/>
              </p:nvSpPr>
              <p:spPr bwMode="auto">
                <a:xfrm>
                  <a:off x="737" y="748"/>
                  <a:ext cx="738" cy="366"/>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7" name="Group 45"/>
              <p:cNvGrpSpPr>
                <a:grpSpLocks/>
              </p:cNvGrpSpPr>
              <p:nvPr/>
            </p:nvGrpSpPr>
            <p:grpSpPr bwMode="auto">
              <a:xfrm>
                <a:off x="1475" y="748"/>
                <a:ext cx="737" cy="374"/>
                <a:chOff x="1475" y="748"/>
                <a:chExt cx="737" cy="374"/>
              </a:xfrm>
            </p:grpSpPr>
            <p:sp>
              <p:nvSpPr>
                <p:cNvPr id="49195" name="Rectangle 14"/>
                <p:cNvSpPr>
                  <a:spLocks noChangeArrowheads="1"/>
                </p:cNvSpPr>
                <p:nvPr/>
              </p:nvSpPr>
              <p:spPr bwMode="auto">
                <a:xfrm>
                  <a:off x="1475" y="748"/>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FA</a:t>
                  </a:r>
                  <a:endParaRPr lang="en-US" altLang="zh-CN" sz="2400" b="1">
                    <a:solidFill>
                      <a:srgbClr val="000066"/>
                    </a:solidFill>
                  </a:endParaRPr>
                </a:p>
              </p:txBody>
            </p:sp>
            <p:sp>
              <p:nvSpPr>
                <p:cNvPr id="46" name="Rectangle 44"/>
                <p:cNvSpPr>
                  <a:spLocks noChangeArrowheads="1"/>
                </p:cNvSpPr>
                <p:nvPr/>
              </p:nvSpPr>
              <p:spPr bwMode="auto">
                <a:xfrm>
                  <a:off x="1475" y="748"/>
                  <a:ext cx="737" cy="366"/>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8" name="Group 47"/>
              <p:cNvGrpSpPr>
                <a:grpSpLocks/>
              </p:cNvGrpSpPr>
              <p:nvPr/>
            </p:nvGrpSpPr>
            <p:grpSpPr bwMode="auto">
              <a:xfrm>
                <a:off x="2212" y="748"/>
                <a:ext cx="738" cy="374"/>
                <a:chOff x="2212" y="748"/>
                <a:chExt cx="738" cy="374"/>
              </a:xfrm>
            </p:grpSpPr>
            <p:sp>
              <p:nvSpPr>
                <p:cNvPr id="49193" name="Rectangle 15"/>
                <p:cNvSpPr>
                  <a:spLocks noChangeArrowheads="1"/>
                </p:cNvSpPr>
                <p:nvPr/>
              </p:nvSpPr>
              <p:spPr bwMode="auto">
                <a:xfrm>
                  <a:off x="2212" y="748"/>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区域天气预报</a:t>
                  </a:r>
                  <a:endParaRPr lang="zh-CN" altLang="en-US" sz="2400" b="1">
                    <a:solidFill>
                      <a:srgbClr val="000066"/>
                    </a:solidFill>
                  </a:endParaRPr>
                </a:p>
              </p:txBody>
            </p:sp>
            <p:sp>
              <p:nvSpPr>
                <p:cNvPr id="44" name="Rectangle 46"/>
                <p:cNvSpPr>
                  <a:spLocks noChangeArrowheads="1"/>
                </p:cNvSpPr>
                <p:nvPr/>
              </p:nvSpPr>
              <p:spPr bwMode="auto">
                <a:xfrm>
                  <a:off x="2212" y="748"/>
                  <a:ext cx="738" cy="366"/>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69" name="Group 49"/>
              <p:cNvGrpSpPr>
                <a:grpSpLocks/>
              </p:cNvGrpSpPr>
              <p:nvPr/>
            </p:nvGrpSpPr>
            <p:grpSpPr bwMode="auto">
              <a:xfrm>
                <a:off x="0" y="1122"/>
                <a:ext cx="737" cy="374"/>
                <a:chOff x="0" y="1122"/>
                <a:chExt cx="737" cy="374"/>
              </a:xfrm>
            </p:grpSpPr>
            <p:sp>
              <p:nvSpPr>
                <p:cNvPr id="49191" name="Rectangle 16"/>
                <p:cNvSpPr>
                  <a:spLocks noChangeArrowheads="1"/>
                </p:cNvSpPr>
                <p:nvPr/>
              </p:nvSpPr>
              <p:spPr bwMode="auto">
                <a:xfrm>
                  <a:off x="0" y="1122"/>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FC</a:t>
                  </a:r>
                  <a:endParaRPr lang="en-US" altLang="zh-CN" sz="2400" b="1">
                    <a:solidFill>
                      <a:srgbClr val="000066"/>
                    </a:solidFill>
                  </a:endParaRPr>
                </a:p>
              </p:txBody>
            </p:sp>
            <p:sp>
              <p:nvSpPr>
                <p:cNvPr id="42" name="Rectangle 48"/>
                <p:cNvSpPr>
                  <a:spLocks noChangeArrowheads="1"/>
                </p:cNvSpPr>
                <p:nvPr/>
              </p:nvSpPr>
              <p:spPr bwMode="auto">
                <a:xfrm>
                  <a:off x="0" y="1122"/>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0" name="Group 51"/>
              <p:cNvGrpSpPr>
                <a:grpSpLocks/>
              </p:cNvGrpSpPr>
              <p:nvPr/>
            </p:nvGrpSpPr>
            <p:grpSpPr bwMode="auto">
              <a:xfrm>
                <a:off x="737" y="1122"/>
                <a:ext cx="738" cy="374"/>
                <a:chOff x="737" y="1122"/>
                <a:chExt cx="738" cy="374"/>
              </a:xfrm>
            </p:grpSpPr>
            <p:sp>
              <p:nvSpPr>
                <p:cNvPr id="49189" name="Rectangle 17"/>
                <p:cNvSpPr>
                  <a:spLocks noChangeArrowheads="1"/>
                </p:cNvSpPr>
                <p:nvPr/>
              </p:nvSpPr>
              <p:spPr bwMode="auto">
                <a:xfrm>
                  <a:off x="737" y="1122"/>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航站天气报告（≤</a:t>
                  </a:r>
                  <a:r>
                    <a:rPr lang="en-US" altLang="zh-CN" sz="2400" b="1">
                      <a:solidFill>
                        <a:srgbClr val="000066"/>
                      </a:solidFill>
                      <a:cs typeface="Times New Roman" pitchFamily="18" charset="0"/>
                    </a:rPr>
                    <a:t>12</a:t>
                  </a:r>
                  <a:r>
                    <a:rPr lang="en-US" altLang="zh-CN" sz="2400" b="1">
                      <a:solidFill>
                        <a:srgbClr val="000066"/>
                      </a:solidFill>
                      <a:ea typeface="方正书宋简体"/>
                      <a:cs typeface="方正书宋简体"/>
                      <a:sym typeface="Symbol" pitchFamily="18" charset="2"/>
                    </a:rPr>
                    <a:t></a:t>
                  </a:r>
                  <a:r>
                    <a:rPr lang="en-US" altLang="zh-CN" sz="2400" b="1">
                      <a:solidFill>
                        <a:srgbClr val="000066"/>
                      </a:solidFill>
                      <a:cs typeface="Times New Roman" pitchFamily="18" charset="0"/>
                    </a:rPr>
                    <a:t>h</a:t>
                  </a:r>
                  <a:r>
                    <a:rPr lang="zh-CN" altLang="en-US" sz="2400" b="1">
                      <a:solidFill>
                        <a:srgbClr val="000066"/>
                      </a:solidFill>
                      <a:ea typeface="方正书宋简体"/>
                      <a:cs typeface="方正书宋简体"/>
                      <a:sym typeface="Symbol" pitchFamily="18" charset="2"/>
                    </a:rPr>
                    <a:t>）</a:t>
                  </a:r>
                </a:p>
              </p:txBody>
            </p:sp>
            <p:sp>
              <p:nvSpPr>
                <p:cNvPr id="40" name="Rectangle 50"/>
                <p:cNvSpPr>
                  <a:spLocks noChangeArrowheads="1"/>
                </p:cNvSpPr>
                <p:nvPr/>
              </p:nvSpPr>
              <p:spPr bwMode="auto">
                <a:xfrm>
                  <a:off x="737" y="1122"/>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1" name="Group 53"/>
              <p:cNvGrpSpPr>
                <a:grpSpLocks/>
              </p:cNvGrpSpPr>
              <p:nvPr/>
            </p:nvGrpSpPr>
            <p:grpSpPr bwMode="auto">
              <a:xfrm>
                <a:off x="1475" y="1122"/>
                <a:ext cx="737" cy="374"/>
                <a:chOff x="1475" y="1122"/>
                <a:chExt cx="737" cy="374"/>
              </a:xfrm>
            </p:grpSpPr>
            <p:sp>
              <p:nvSpPr>
                <p:cNvPr id="49187" name="Rectangle 18"/>
                <p:cNvSpPr>
                  <a:spLocks noChangeArrowheads="1"/>
                </p:cNvSpPr>
                <p:nvPr/>
              </p:nvSpPr>
              <p:spPr bwMode="auto">
                <a:xfrm>
                  <a:off x="1475" y="1122"/>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WS</a:t>
                  </a:r>
                  <a:endParaRPr lang="en-US" altLang="zh-CN" sz="2400" b="1">
                    <a:solidFill>
                      <a:srgbClr val="000066"/>
                    </a:solidFill>
                  </a:endParaRPr>
                </a:p>
              </p:txBody>
            </p:sp>
            <p:sp>
              <p:nvSpPr>
                <p:cNvPr id="38" name="Rectangle 52"/>
                <p:cNvSpPr>
                  <a:spLocks noChangeArrowheads="1"/>
                </p:cNvSpPr>
                <p:nvPr/>
              </p:nvSpPr>
              <p:spPr bwMode="auto">
                <a:xfrm>
                  <a:off x="1475" y="1122"/>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2" name="Group 55"/>
              <p:cNvGrpSpPr>
                <a:grpSpLocks/>
              </p:cNvGrpSpPr>
              <p:nvPr/>
            </p:nvGrpSpPr>
            <p:grpSpPr bwMode="auto">
              <a:xfrm>
                <a:off x="2212" y="1122"/>
                <a:ext cx="738" cy="374"/>
                <a:chOff x="2212" y="1122"/>
                <a:chExt cx="738" cy="374"/>
              </a:xfrm>
            </p:grpSpPr>
            <p:sp>
              <p:nvSpPr>
                <p:cNvPr id="49185" name="Rectangle 19"/>
                <p:cNvSpPr>
                  <a:spLocks noChangeArrowheads="1"/>
                </p:cNvSpPr>
                <p:nvPr/>
              </p:nvSpPr>
              <p:spPr bwMode="auto">
                <a:xfrm>
                  <a:off x="2212" y="1122"/>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重要气象情报</a:t>
                  </a:r>
                  <a:endParaRPr lang="zh-CN" altLang="en-US" sz="2400" b="1">
                    <a:solidFill>
                      <a:srgbClr val="000066"/>
                    </a:solidFill>
                  </a:endParaRPr>
                </a:p>
              </p:txBody>
            </p:sp>
            <p:sp>
              <p:nvSpPr>
                <p:cNvPr id="36" name="Rectangle 54"/>
                <p:cNvSpPr>
                  <a:spLocks noChangeArrowheads="1"/>
                </p:cNvSpPr>
                <p:nvPr/>
              </p:nvSpPr>
              <p:spPr bwMode="auto">
                <a:xfrm>
                  <a:off x="2212" y="1122"/>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3" name="Group 57"/>
              <p:cNvGrpSpPr>
                <a:grpSpLocks/>
              </p:cNvGrpSpPr>
              <p:nvPr/>
            </p:nvGrpSpPr>
            <p:grpSpPr bwMode="auto">
              <a:xfrm>
                <a:off x="0" y="1496"/>
                <a:ext cx="737" cy="374"/>
                <a:chOff x="0" y="1496"/>
                <a:chExt cx="737" cy="374"/>
              </a:xfrm>
            </p:grpSpPr>
            <p:sp>
              <p:nvSpPr>
                <p:cNvPr id="49183" name="Rectangle 20"/>
                <p:cNvSpPr>
                  <a:spLocks noChangeArrowheads="1"/>
                </p:cNvSpPr>
                <p:nvPr/>
              </p:nvSpPr>
              <p:spPr bwMode="auto">
                <a:xfrm>
                  <a:off x="0" y="1496"/>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FT</a:t>
                  </a:r>
                  <a:endParaRPr lang="en-US" altLang="zh-CN" sz="2400" b="1">
                    <a:solidFill>
                      <a:srgbClr val="000066"/>
                    </a:solidFill>
                  </a:endParaRPr>
                </a:p>
              </p:txBody>
            </p:sp>
            <p:sp>
              <p:nvSpPr>
                <p:cNvPr id="34" name="Rectangle 56"/>
                <p:cNvSpPr>
                  <a:spLocks noChangeArrowheads="1"/>
                </p:cNvSpPr>
                <p:nvPr/>
              </p:nvSpPr>
              <p:spPr bwMode="auto">
                <a:xfrm>
                  <a:off x="0" y="1496"/>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4" name="Group 59"/>
              <p:cNvGrpSpPr>
                <a:grpSpLocks/>
              </p:cNvGrpSpPr>
              <p:nvPr/>
            </p:nvGrpSpPr>
            <p:grpSpPr bwMode="auto">
              <a:xfrm>
                <a:off x="737" y="1496"/>
                <a:ext cx="738" cy="374"/>
                <a:chOff x="737" y="1496"/>
                <a:chExt cx="738" cy="374"/>
              </a:xfrm>
            </p:grpSpPr>
            <p:sp>
              <p:nvSpPr>
                <p:cNvPr id="49181" name="Rectangle 21"/>
                <p:cNvSpPr>
                  <a:spLocks noChangeArrowheads="1"/>
                </p:cNvSpPr>
                <p:nvPr/>
              </p:nvSpPr>
              <p:spPr bwMode="auto">
                <a:xfrm>
                  <a:off x="737" y="1496"/>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航站天气预报</a:t>
                  </a:r>
                  <a:endParaRPr lang="zh-CN" altLang="en-US" sz="2400" b="1">
                    <a:solidFill>
                      <a:srgbClr val="000066"/>
                    </a:solidFill>
                    <a:latin typeface="宋体" charset="-122"/>
                  </a:endParaRPr>
                </a:p>
                <a:p>
                  <a:pPr algn="ctr" eaLnBrk="0" hangingPunct="0"/>
                  <a:r>
                    <a:rPr lang="zh-CN" altLang="en-US" sz="2400" b="1">
                      <a:solidFill>
                        <a:srgbClr val="000066"/>
                      </a:solidFill>
                      <a:ea typeface="方正书宋简体"/>
                      <a:cs typeface="方正书宋简体"/>
                    </a:rPr>
                    <a:t>（＞</a:t>
                  </a:r>
                  <a:r>
                    <a:rPr lang="en-US" altLang="zh-CN" sz="2400" b="1">
                      <a:solidFill>
                        <a:srgbClr val="000066"/>
                      </a:solidFill>
                      <a:cs typeface="Times New Roman" pitchFamily="18" charset="0"/>
                    </a:rPr>
                    <a:t>12</a:t>
                  </a:r>
                  <a:r>
                    <a:rPr lang="en-US" altLang="zh-CN" sz="2400" b="1">
                      <a:solidFill>
                        <a:srgbClr val="000066"/>
                      </a:solidFill>
                      <a:ea typeface="方正书宋简体"/>
                      <a:cs typeface="方正书宋简体"/>
                      <a:sym typeface="Symbol" pitchFamily="18" charset="2"/>
                    </a:rPr>
                    <a:t></a:t>
                  </a:r>
                  <a:r>
                    <a:rPr lang="en-US" altLang="zh-CN" sz="2400" b="1">
                      <a:solidFill>
                        <a:srgbClr val="000066"/>
                      </a:solidFill>
                      <a:cs typeface="Times New Roman" pitchFamily="18" charset="0"/>
                    </a:rPr>
                    <a:t>h</a:t>
                  </a:r>
                  <a:r>
                    <a:rPr lang="zh-CN" altLang="en-US" sz="2400" b="1">
                      <a:solidFill>
                        <a:srgbClr val="000066"/>
                      </a:solidFill>
                      <a:ea typeface="方正书宋简体"/>
                      <a:cs typeface="方正书宋简体"/>
                      <a:sym typeface="Symbol" pitchFamily="18" charset="2"/>
                    </a:rPr>
                    <a:t>）</a:t>
                  </a:r>
                </a:p>
              </p:txBody>
            </p:sp>
            <p:sp>
              <p:nvSpPr>
                <p:cNvPr id="32" name="Rectangle 58"/>
                <p:cNvSpPr>
                  <a:spLocks noChangeArrowheads="1"/>
                </p:cNvSpPr>
                <p:nvPr/>
              </p:nvSpPr>
              <p:spPr bwMode="auto">
                <a:xfrm>
                  <a:off x="737" y="1496"/>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5" name="Group 61"/>
              <p:cNvGrpSpPr>
                <a:grpSpLocks/>
              </p:cNvGrpSpPr>
              <p:nvPr/>
            </p:nvGrpSpPr>
            <p:grpSpPr bwMode="auto">
              <a:xfrm>
                <a:off x="1475" y="1496"/>
                <a:ext cx="737" cy="374"/>
                <a:chOff x="1475" y="1496"/>
                <a:chExt cx="737" cy="374"/>
              </a:xfrm>
            </p:grpSpPr>
            <p:sp>
              <p:nvSpPr>
                <p:cNvPr id="49179" name="Rectangle 22"/>
                <p:cNvSpPr>
                  <a:spLocks noChangeArrowheads="1"/>
                </p:cNvSpPr>
                <p:nvPr/>
              </p:nvSpPr>
              <p:spPr bwMode="auto">
                <a:xfrm>
                  <a:off x="1475" y="1496"/>
                  <a:ext cx="737" cy="374"/>
                </a:xfrm>
                <a:prstGeom prst="rect">
                  <a:avLst/>
                </a:prstGeom>
                <a:noFill/>
                <a:ln w="38100">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UA</a:t>
                  </a:r>
                  <a:endParaRPr lang="en-US" altLang="zh-CN" sz="2400" b="1">
                    <a:solidFill>
                      <a:srgbClr val="000066"/>
                    </a:solidFill>
                  </a:endParaRPr>
                </a:p>
              </p:txBody>
            </p:sp>
            <p:sp>
              <p:nvSpPr>
                <p:cNvPr id="30" name="Rectangle 60"/>
                <p:cNvSpPr>
                  <a:spLocks noChangeArrowheads="1"/>
                </p:cNvSpPr>
                <p:nvPr/>
              </p:nvSpPr>
              <p:spPr bwMode="auto">
                <a:xfrm>
                  <a:off x="1475" y="1496"/>
                  <a:ext cx="737"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49176" name="Group 63"/>
              <p:cNvGrpSpPr>
                <a:grpSpLocks/>
              </p:cNvGrpSpPr>
              <p:nvPr/>
            </p:nvGrpSpPr>
            <p:grpSpPr bwMode="auto">
              <a:xfrm>
                <a:off x="2212" y="1496"/>
                <a:ext cx="738" cy="374"/>
                <a:chOff x="2212" y="1496"/>
                <a:chExt cx="738" cy="374"/>
              </a:xfrm>
            </p:grpSpPr>
            <p:sp>
              <p:nvSpPr>
                <p:cNvPr id="49177" name="Rectangle 23"/>
                <p:cNvSpPr>
                  <a:spLocks noChangeArrowheads="1"/>
                </p:cNvSpPr>
                <p:nvPr/>
              </p:nvSpPr>
              <p:spPr bwMode="auto">
                <a:xfrm>
                  <a:off x="2212" y="1496"/>
                  <a:ext cx="738" cy="374"/>
                </a:xfrm>
                <a:prstGeom prst="rect">
                  <a:avLst/>
                </a:prstGeom>
                <a:noFill/>
                <a:ln w="38100">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飞机空中报告</a:t>
                  </a:r>
                  <a:endParaRPr lang="zh-CN" altLang="en-US" sz="2400" b="1">
                    <a:solidFill>
                      <a:srgbClr val="000066"/>
                    </a:solidFill>
                  </a:endParaRPr>
                </a:p>
              </p:txBody>
            </p:sp>
            <p:sp>
              <p:nvSpPr>
                <p:cNvPr id="28" name="Rectangle 62"/>
                <p:cNvSpPr>
                  <a:spLocks noChangeArrowheads="1"/>
                </p:cNvSpPr>
                <p:nvPr/>
              </p:nvSpPr>
              <p:spPr bwMode="auto">
                <a:xfrm>
                  <a:off x="2212" y="1496"/>
                  <a:ext cx="738" cy="374"/>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sp>
          <p:nvSpPr>
            <p:cNvPr id="6" name="Rectangle 65"/>
            <p:cNvSpPr>
              <a:spLocks noChangeArrowheads="1"/>
            </p:cNvSpPr>
            <p:nvPr/>
          </p:nvSpPr>
          <p:spPr bwMode="auto">
            <a:xfrm>
              <a:off x="-3" y="-3"/>
              <a:ext cx="2956" cy="1876"/>
            </a:xfrm>
            <a:prstGeom prst="rect">
              <a:avLst/>
            </a:prstGeom>
            <a:noFill/>
            <a:ln w="38100">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spTree>
    <p:extLst>
      <p:ext uri="{BB962C8B-B14F-4D97-AF65-F5344CB8AC3E}">
        <p14:creationId xmlns:p14="http://schemas.microsoft.com/office/powerpoint/2010/main" val="2900959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8138" y="118764"/>
            <a:ext cx="8229600" cy="1285875"/>
          </a:xfrm>
        </p:spPr>
        <p:txBody>
          <a:bodyPr>
            <a:normAutofit lnSpcReduction="10000"/>
          </a:bodyPr>
          <a:lstStyle/>
          <a:p>
            <a:pPr marL="0" indent="0">
              <a:lnSpc>
                <a:spcPct val="150000"/>
              </a:lnSpc>
              <a:buNone/>
              <a:defRPr/>
            </a:pPr>
            <a:r>
              <a:rPr lang="en-US" altLang="zh-CN" sz="2400" dirty="0">
                <a:solidFill>
                  <a:schemeClr val="tx1"/>
                </a:solidFill>
                <a:latin typeface="Times New Roman" panose="02020603050405020304" pitchFamily="18" charset="0"/>
                <a:ea typeface="微软雅黑" pitchFamily="34" charset="-122"/>
              </a:rPr>
              <a:t>AA </a:t>
            </a:r>
            <a:r>
              <a:rPr lang="zh-CN" altLang="en-US" sz="2400" dirty="0">
                <a:solidFill>
                  <a:schemeClr val="tx1"/>
                </a:solidFill>
                <a:latin typeface="Times New Roman" panose="02020603050405020304" pitchFamily="18" charset="0"/>
                <a:ea typeface="微软雅黑" pitchFamily="34" charset="-122"/>
              </a:rPr>
              <a:t>表示地理代码，如中国用“</a:t>
            </a:r>
            <a:r>
              <a:rPr lang="en-US" altLang="zh-CN" sz="2400" dirty="0">
                <a:solidFill>
                  <a:schemeClr val="tx1"/>
                </a:solidFill>
                <a:latin typeface="Times New Roman" panose="02020603050405020304" pitchFamily="18" charset="0"/>
                <a:ea typeface="微软雅黑" pitchFamily="34" charset="-122"/>
              </a:rPr>
              <a:t>CI”</a:t>
            </a:r>
            <a:r>
              <a:rPr lang="zh-CN" altLang="en-US" sz="2400" dirty="0">
                <a:solidFill>
                  <a:schemeClr val="tx1"/>
                </a:solidFill>
                <a:latin typeface="Times New Roman" panose="02020603050405020304" pitchFamily="18" charset="0"/>
                <a:ea typeface="微软雅黑" pitchFamily="34" charset="-122"/>
              </a:rPr>
              <a:t>日本 </a:t>
            </a:r>
            <a:r>
              <a:rPr lang="en-US" altLang="zh-CN" sz="2400" dirty="0">
                <a:solidFill>
                  <a:schemeClr val="tx1"/>
                </a:solidFill>
                <a:latin typeface="Times New Roman" panose="02020603050405020304" pitchFamily="18" charset="0"/>
                <a:ea typeface="微软雅黑" pitchFamily="34" charset="-122"/>
              </a:rPr>
              <a:t>ZP</a:t>
            </a:r>
          </a:p>
          <a:p>
            <a:pPr marL="0" indent="0">
              <a:lnSpc>
                <a:spcPct val="150000"/>
              </a:lnSpc>
              <a:buNone/>
              <a:defRPr/>
            </a:pPr>
            <a:r>
              <a:rPr lang="en-US" altLang="zh-CN" sz="2400" dirty="0">
                <a:solidFill>
                  <a:schemeClr val="tx1"/>
                </a:solidFill>
                <a:latin typeface="Times New Roman" panose="02020603050405020304" pitchFamily="18" charset="0"/>
                <a:ea typeface="微软雅黑" pitchFamily="34" charset="-122"/>
              </a:rPr>
              <a:t>KK </a:t>
            </a:r>
            <a:r>
              <a:rPr lang="zh-CN" altLang="en-US" sz="2400" dirty="0">
                <a:solidFill>
                  <a:schemeClr val="tx1"/>
                </a:solidFill>
                <a:latin typeface="Times New Roman" panose="02020603050405020304" pitchFamily="18" charset="0"/>
                <a:ea typeface="微软雅黑" pitchFamily="34" charset="-122"/>
              </a:rPr>
              <a:t>表示中国各区编码，见表</a:t>
            </a:r>
          </a:p>
          <a:p>
            <a:pPr>
              <a:defRPr/>
            </a:pPr>
            <a:endParaRPr lang="zh-CN" altLang="en-US" dirty="0"/>
          </a:p>
        </p:txBody>
      </p:sp>
      <p:grpSp>
        <p:nvGrpSpPr>
          <p:cNvPr id="50178" name="Group 4"/>
          <p:cNvGrpSpPr>
            <a:grpSpLocks/>
          </p:cNvGrpSpPr>
          <p:nvPr/>
        </p:nvGrpSpPr>
        <p:grpSpPr bwMode="auto">
          <a:xfrm>
            <a:off x="2212906" y="1640186"/>
            <a:ext cx="6781800" cy="5099050"/>
            <a:chOff x="-3" y="-3"/>
            <a:chExt cx="2032" cy="4120"/>
          </a:xfrm>
        </p:grpSpPr>
        <p:grpSp>
          <p:nvGrpSpPr>
            <p:cNvPr id="50179" name="Group 5"/>
            <p:cNvGrpSpPr>
              <a:grpSpLocks/>
            </p:cNvGrpSpPr>
            <p:nvPr/>
          </p:nvGrpSpPr>
          <p:grpSpPr bwMode="auto">
            <a:xfrm>
              <a:off x="0" y="0"/>
              <a:ext cx="2026" cy="4117"/>
              <a:chOff x="0" y="0"/>
              <a:chExt cx="2026" cy="4117"/>
            </a:xfrm>
          </p:grpSpPr>
          <p:grpSp>
            <p:nvGrpSpPr>
              <p:cNvPr id="50181" name="Group 6"/>
              <p:cNvGrpSpPr>
                <a:grpSpLocks/>
              </p:cNvGrpSpPr>
              <p:nvPr/>
            </p:nvGrpSpPr>
            <p:grpSpPr bwMode="auto">
              <a:xfrm>
                <a:off x="0" y="0"/>
                <a:ext cx="305" cy="377"/>
                <a:chOff x="0" y="0"/>
                <a:chExt cx="305" cy="377"/>
              </a:xfrm>
            </p:grpSpPr>
            <p:sp>
              <p:nvSpPr>
                <p:cNvPr id="50245" name="Rectangle 7"/>
                <p:cNvSpPr>
                  <a:spLocks noChangeArrowheads="1"/>
                </p:cNvSpPr>
                <p:nvPr/>
              </p:nvSpPr>
              <p:spPr bwMode="auto">
                <a:xfrm>
                  <a:off x="0" y="0"/>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KK</a:t>
                  </a:r>
                  <a:endParaRPr lang="en-US" altLang="zh-CN" sz="2400" b="1">
                    <a:solidFill>
                      <a:srgbClr val="000066"/>
                    </a:solidFill>
                  </a:endParaRPr>
                </a:p>
              </p:txBody>
            </p:sp>
            <p:sp>
              <p:nvSpPr>
                <p:cNvPr id="73" name="Rectangle 8"/>
                <p:cNvSpPr>
                  <a:spLocks noChangeArrowheads="1"/>
                </p:cNvSpPr>
                <p:nvPr/>
              </p:nvSpPr>
              <p:spPr bwMode="auto">
                <a:xfrm>
                  <a:off x="0" y="0"/>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2" name="Group 9"/>
              <p:cNvGrpSpPr>
                <a:grpSpLocks/>
              </p:cNvGrpSpPr>
              <p:nvPr/>
            </p:nvGrpSpPr>
            <p:grpSpPr bwMode="auto">
              <a:xfrm>
                <a:off x="305" y="0"/>
                <a:ext cx="1721" cy="377"/>
                <a:chOff x="305" y="0"/>
                <a:chExt cx="1721" cy="377"/>
              </a:xfrm>
            </p:grpSpPr>
            <p:sp>
              <p:nvSpPr>
                <p:cNvPr id="50243" name="Rectangle 10"/>
                <p:cNvSpPr>
                  <a:spLocks noChangeArrowheads="1"/>
                </p:cNvSpPr>
                <p:nvPr/>
              </p:nvSpPr>
              <p:spPr bwMode="auto">
                <a:xfrm>
                  <a:off x="305" y="0"/>
                  <a:ext cx="1721" cy="374"/>
                </a:xfrm>
                <a:prstGeom prst="rect">
                  <a:avLst/>
                </a:prstGeom>
                <a:noFill/>
                <a:ln w="34925">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指</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示</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范</a:t>
                  </a:r>
                  <a:r>
                    <a:rPr lang="zh-CN" altLang="en-US" sz="2400" b="1">
                      <a:solidFill>
                        <a:srgbClr val="000066"/>
                      </a:solidFill>
                      <a:cs typeface="Times New Roman" pitchFamily="18" charset="0"/>
                    </a:rPr>
                    <a:t>  </a:t>
                  </a:r>
                  <a:r>
                    <a:rPr lang="zh-CN" altLang="en-US" sz="2400" b="1">
                      <a:solidFill>
                        <a:srgbClr val="000066"/>
                      </a:solidFill>
                      <a:ea typeface="方正书宋简体"/>
                      <a:cs typeface="方正书宋简体"/>
                    </a:rPr>
                    <a:t>围</a:t>
                  </a:r>
                  <a:endParaRPr lang="zh-CN" altLang="en-US" sz="2400" b="1">
                    <a:solidFill>
                      <a:srgbClr val="000066"/>
                    </a:solidFill>
                  </a:endParaRPr>
                </a:p>
              </p:txBody>
            </p:sp>
            <p:sp>
              <p:nvSpPr>
                <p:cNvPr id="71" name="Rectangle 11"/>
                <p:cNvSpPr>
                  <a:spLocks noChangeArrowheads="1"/>
                </p:cNvSpPr>
                <p:nvPr/>
              </p:nvSpPr>
              <p:spPr bwMode="auto">
                <a:xfrm>
                  <a:off x="305" y="0"/>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3" name="Group 12"/>
              <p:cNvGrpSpPr>
                <a:grpSpLocks/>
              </p:cNvGrpSpPr>
              <p:nvPr/>
            </p:nvGrpSpPr>
            <p:grpSpPr bwMode="auto">
              <a:xfrm>
                <a:off x="0" y="374"/>
                <a:ext cx="305" cy="374"/>
                <a:chOff x="0" y="374"/>
                <a:chExt cx="305" cy="374"/>
              </a:xfrm>
            </p:grpSpPr>
            <p:sp>
              <p:nvSpPr>
                <p:cNvPr id="50241" name="Rectangle 13"/>
                <p:cNvSpPr>
                  <a:spLocks noChangeArrowheads="1"/>
                </p:cNvSpPr>
                <p:nvPr/>
              </p:nvSpPr>
              <p:spPr bwMode="auto">
                <a:xfrm>
                  <a:off x="0" y="374"/>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31</a:t>
                  </a:r>
                  <a:endParaRPr lang="en-US" altLang="zh-CN" sz="2400" b="1">
                    <a:solidFill>
                      <a:srgbClr val="000066"/>
                    </a:solidFill>
                  </a:endParaRPr>
                </a:p>
              </p:txBody>
            </p:sp>
            <p:sp>
              <p:nvSpPr>
                <p:cNvPr id="69" name="Rectangle 14"/>
                <p:cNvSpPr>
                  <a:spLocks noChangeArrowheads="1"/>
                </p:cNvSpPr>
                <p:nvPr/>
              </p:nvSpPr>
              <p:spPr bwMode="auto">
                <a:xfrm>
                  <a:off x="0" y="374"/>
                  <a:ext cx="305" cy="371"/>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4" name="Group 15"/>
              <p:cNvGrpSpPr>
                <a:grpSpLocks/>
              </p:cNvGrpSpPr>
              <p:nvPr/>
            </p:nvGrpSpPr>
            <p:grpSpPr bwMode="auto">
              <a:xfrm>
                <a:off x="305" y="374"/>
                <a:ext cx="1721" cy="374"/>
                <a:chOff x="305" y="374"/>
                <a:chExt cx="1721" cy="374"/>
              </a:xfrm>
            </p:grpSpPr>
            <p:sp>
              <p:nvSpPr>
                <p:cNvPr id="50239" name="Rectangle 16"/>
                <p:cNvSpPr>
                  <a:spLocks noChangeArrowheads="1"/>
                </p:cNvSpPr>
                <p:nvPr/>
              </p:nvSpPr>
              <p:spPr bwMode="auto">
                <a:xfrm>
                  <a:off x="305" y="374"/>
                  <a:ext cx="1721" cy="374"/>
                </a:xfrm>
                <a:prstGeom prst="rect">
                  <a:avLst/>
                </a:prstGeom>
                <a:noFill/>
                <a:ln w="34925">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北京气象收集中心（第一部分）</a:t>
                  </a:r>
                  <a:endParaRPr lang="zh-CN" altLang="en-US" sz="2400" b="1">
                    <a:solidFill>
                      <a:srgbClr val="000066"/>
                    </a:solidFill>
                  </a:endParaRPr>
                </a:p>
              </p:txBody>
            </p:sp>
            <p:sp>
              <p:nvSpPr>
                <p:cNvPr id="67" name="Rectangle 17"/>
                <p:cNvSpPr>
                  <a:spLocks noChangeArrowheads="1"/>
                </p:cNvSpPr>
                <p:nvPr/>
              </p:nvSpPr>
              <p:spPr bwMode="auto">
                <a:xfrm>
                  <a:off x="305" y="374"/>
                  <a:ext cx="1721" cy="371"/>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5" name="Group 18"/>
              <p:cNvGrpSpPr>
                <a:grpSpLocks/>
              </p:cNvGrpSpPr>
              <p:nvPr/>
            </p:nvGrpSpPr>
            <p:grpSpPr bwMode="auto">
              <a:xfrm>
                <a:off x="0" y="745"/>
                <a:ext cx="305" cy="377"/>
                <a:chOff x="0" y="745"/>
                <a:chExt cx="305" cy="377"/>
              </a:xfrm>
            </p:grpSpPr>
            <p:sp>
              <p:nvSpPr>
                <p:cNvPr id="50237" name="Rectangle 19"/>
                <p:cNvSpPr>
                  <a:spLocks noChangeArrowheads="1"/>
                </p:cNvSpPr>
                <p:nvPr/>
              </p:nvSpPr>
              <p:spPr bwMode="auto">
                <a:xfrm>
                  <a:off x="0" y="748"/>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32</a:t>
                  </a:r>
                  <a:endParaRPr lang="en-US" altLang="zh-CN" sz="2400" b="1">
                    <a:solidFill>
                      <a:srgbClr val="000066"/>
                    </a:solidFill>
                  </a:endParaRPr>
                </a:p>
              </p:txBody>
            </p:sp>
            <p:sp>
              <p:nvSpPr>
                <p:cNvPr id="65" name="Rectangle 20"/>
                <p:cNvSpPr>
                  <a:spLocks noChangeArrowheads="1"/>
                </p:cNvSpPr>
                <p:nvPr/>
              </p:nvSpPr>
              <p:spPr bwMode="auto">
                <a:xfrm>
                  <a:off x="0" y="745"/>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6" name="Group 21"/>
              <p:cNvGrpSpPr>
                <a:grpSpLocks/>
              </p:cNvGrpSpPr>
              <p:nvPr/>
            </p:nvGrpSpPr>
            <p:grpSpPr bwMode="auto">
              <a:xfrm>
                <a:off x="305" y="745"/>
                <a:ext cx="1721" cy="377"/>
                <a:chOff x="305" y="745"/>
                <a:chExt cx="1721" cy="377"/>
              </a:xfrm>
            </p:grpSpPr>
            <p:sp>
              <p:nvSpPr>
                <p:cNvPr id="50235" name="Rectangle 22"/>
                <p:cNvSpPr>
                  <a:spLocks noChangeArrowheads="1"/>
                </p:cNvSpPr>
                <p:nvPr/>
              </p:nvSpPr>
              <p:spPr bwMode="auto">
                <a:xfrm>
                  <a:off x="305" y="748"/>
                  <a:ext cx="1721" cy="374"/>
                </a:xfrm>
                <a:prstGeom prst="rect">
                  <a:avLst/>
                </a:prstGeom>
                <a:noFill/>
                <a:ln w="34925">
                  <a:solidFill>
                    <a:srgbClr val="000066"/>
                  </a:solidFill>
                  <a:miter lim="800000"/>
                  <a:headEnd type="none" w="sm" len="sm"/>
                  <a:tailEnd type="none" w="sm" len="sm"/>
                </a:ln>
              </p:spPr>
              <p:txBody>
                <a:bodyPr anchor="ctr"/>
                <a:lstStyle/>
                <a:p>
                  <a:pPr algn="ctr"/>
                  <a:r>
                    <a:rPr lang="zh-CN" altLang="en-US" sz="2400" b="1">
                      <a:solidFill>
                        <a:srgbClr val="000066"/>
                      </a:solidFill>
                      <a:ea typeface="方正书宋简体"/>
                      <a:cs typeface="方正书宋简体"/>
                    </a:rPr>
                    <a:t>北京气象收集中心（第二部分）</a:t>
                  </a:r>
                  <a:endParaRPr lang="zh-CN" altLang="en-US" sz="2400" b="1">
                    <a:solidFill>
                      <a:srgbClr val="000066"/>
                    </a:solidFill>
                  </a:endParaRPr>
                </a:p>
              </p:txBody>
            </p:sp>
            <p:sp>
              <p:nvSpPr>
                <p:cNvPr id="63" name="Rectangle 23"/>
                <p:cNvSpPr>
                  <a:spLocks noChangeArrowheads="1"/>
                </p:cNvSpPr>
                <p:nvPr/>
              </p:nvSpPr>
              <p:spPr bwMode="auto">
                <a:xfrm>
                  <a:off x="305" y="745"/>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7" name="Group 24"/>
              <p:cNvGrpSpPr>
                <a:grpSpLocks/>
              </p:cNvGrpSpPr>
              <p:nvPr/>
            </p:nvGrpSpPr>
            <p:grpSpPr bwMode="auto">
              <a:xfrm>
                <a:off x="0" y="1122"/>
                <a:ext cx="305" cy="377"/>
                <a:chOff x="0" y="1122"/>
                <a:chExt cx="305" cy="377"/>
              </a:xfrm>
            </p:grpSpPr>
            <p:sp>
              <p:nvSpPr>
                <p:cNvPr id="50233" name="Rectangle 25"/>
                <p:cNvSpPr>
                  <a:spLocks noChangeArrowheads="1"/>
                </p:cNvSpPr>
                <p:nvPr/>
              </p:nvSpPr>
              <p:spPr bwMode="auto">
                <a:xfrm>
                  <a:off x="0" y="1122"/>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33</a:t>
                  </a:r>
                  <a:endParaRPr lang="en-US" altLang="zh-CN" sz="2400" b="1">
                    <a:solidFill>
                      <a:srgbClr val="000066"/>
                    </a:solidFill>
                  </a:endParaRPr>
                </a:p>
              </p:txBody>
            </p:sp>
            <p:sp>
              <p:nvSpPr>
                <p:cNvPr id="61" name="Rectangle 26"/>
                <p:cNvSpPr>
                  <a:spLocks noChangeArrowheads="1"/>
                </p:cNvSpPr>
                <p:nvPr/>
              </p:nvSpPr>
              <p:spPr bwMode="auto">
                <a:xfrm>
                  <a:off x="0" y="1122"/>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8" name="Group 27"/>
              <p:cNvGrpSpPr>
                <a:grpSpLocks/>
              </p:cNvGrpSpPr>
              <p:nvPr/>
            </p:nvGrpSpPr>
            <p:grpSpPr bwMode="auto">
              <a:xfrm>
                <a:off x="305" y="1122"/>
                <a:ext cx="1721" cy="377"/>
                <a:chOff x="305" y="1122"/>
                <a:chExt cx="1721" cy="377"/>
              </a:xfrm>
            </p:grpSpPr>
            <p:sp>
              <p:nvSpPr>
                <p:cNvPr id="50231" name="Rectangle 28"/>
                <p:cNvSpPr>
                  <a:spLocks noChangeArrowheads="1"/>
                </p:cNvSpPr>
                <p:nvPr/>
              </p:nvSpPr>
              <p:spPr bwMode="auto">
                <a:xfrm>
                  <a:off x="305" y="1122"/>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ZB</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华北（四字地名代码前两位）</a:t>
                  </a:r>
                  <a:endParaRPr lang="zh-CN" altLang="en-US" sz="2400" b="1">
                    <a:solidFill>
                      <a:srgbClr val="000066"/>
                    </a:solidFill>
                  </a:endParaRPr>
                </a:p>
              </p:txBody>
            </p:sp>
            <p:sp>
              <p:nvSpPr>
                <p:cNvPr id="59" name="Rectangle 29"/>
                <p:cNvSpPr>
                  <a:spLocks noChangeArrowheads="1"/>
                </p:cNvSpPr>
                <p:nvPr/>
              </p:nvSpPr>
              <p:spPr bwMode="auto">
                <a:xfrm>
                  <a:off x="305" y="1122"/>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89" name="Group 30"/>
              <p:cNvGrpSpPr>
                <a:grpSpLocks/>
              </p:cNvGrpSpPr>
              <p:nvPr/>
            </p:nvGrpSpPr>
            <p:grpSpPr bwMode="auto">
              <a:xfrm>
                <a:off x="0" y="1496"/>
                <a:ext cx="305" cy="374"/>
                <a:chOff x="0" y="1496"/>
                <a:chExt cx="305" cy="374"/>
              </a:xfrm>
            </p:grpSpPr>
            <p:sp>
              <p:nvSpPr>
                <p:cNvPr id="50229" name="Rectangle 31"/>
                <p:cNvSpPr>
                  <a:spLocks noChangeArrowheads="1"/>
                </p:cNvSpPr>
                <p:nvPr/>
              </p:nvSpPr>
              <p:spPr bwMode="auto">
                <a:xfrm>
                  <a:off x="0" y="1496"/>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34</a:t>
                  </a:r>
                  <a:endParaRPr lang="en-US" altLang="zh-CN" sz="2400" b="1">
                    <a:solidFill>
                      <a:srgbClr val="000066"/>
                    </a:solidFill>
                  </a:endParaRPr>
                </a:p>
              </p:txBody>
            </p:sp>
            <p:sp>
              <p:nvSpPr>
                <p:cNvPr id="57" name="Rectangle 32"/>
                <p:cNvSpPr>
                  <a:spLocks noChangeArrowheads="1"/>
                </p:cNvSpPr>
                <p:nvPr/>
              </p:nvSpPr>
              <p:spPr bwMode="auto">
                <a:xfrm>
                  <a:off x="0" y="1493"/>
                  <a:ext cx="305" cy="375"/>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0" name="Group 33"/>
              <p:cNvGrpSpPr>
                <a:grpSpLocks/>
              </p:cNvGrpSpPr>
              <p:nvPr/>
            </p:nvGrpSpPr>
            <p:grpSpPr bwMode="auto">
              <a:xfrm>
                <a:off x="305" y="1496"/>
                <a:ext cx="1721" cy="374"/>
                <a:chOff x="305" y="1496"/>
                <a:chExt cx="1721" cy="374"/>
              </a:xfrm>
            </p:grpSpPr>
            <p:sp>
              <p:nvSpPr>
                <p:cNvPr id="50227" name="Rectangle 34"/>
                <p:cNvSpPr>
                  <a:spLocks noChangeArrowheads="1"/>
                </p:cNvSpPr>
                <p:nvPr/>
              </p:nvSpPr>
              <p:spPr bwMode="auto">
                <a:xfrm>
                  <a:off x="305" y="1496"/>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ZS</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华东</a:t>
                  </a:r>
                  <a:endParaRPr lang="zh-CN" altLang="en-US" sz="2400" b="1">
                    <a:solidFill>
                      <a:srgbClr val="000066"/>
                    </a:solidFill>
                  </a:endParaRPr>
                </a:p>
              </p:txBody>
            </p:sp>
            <p:sp>
              <p:nvSpPr>
                <p:cNvPr id="55" name="Rectangle 35"/>
                <p:cNvSpPr>
                  <a:spLocks noChangeArrowheads="1"/>
                </p:cNvSpPr>
                <p:nvPr/>
              </p:nvSpPr>
              <p:spPr bwMode="auto">
                <a:xfrm>
                  <a:off x="305" y="1493"/>
                  <a:ext cx="1721" cy="375"/>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1" name="Group 36"/>
              <p:cNvGrpSpPr>
                <a:grpSpLocks/>
              </p:cNvGrpSpPr>
              <p:nvPr/>
            </p:nvGrpSpPr>
            <p:grpSpPr bwMode="auto">
              <a:xfrm>
                <a:off x="0" y="1870"/>
                <a:ext cx="305" cy="377"/>
                <a:chOff x="0" y="1870"/>
                <a:chExt cx="305" cy="377"/>
              </a:xfrm>
            </p:grpSpPr>
            <p:sp>
              <p:nvSpPr>
                <p:cNvPr id="50225" name="Rectangle 37"/>
                <p:cNvSpPr>
                  <a:spLocks noChangeArrowheads="1"/>
                </p:cNvSpPr>
                <p:nvPr/>
              </p:nvSpPr>
              <p:spPr bwMode="auto">
                <a:xfrm>
                  <a:off x="0" y="1870"/>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35</a:t>
                  </a:r>
                  <a:endParaRPr lang="en-US" altLang="zh-CN" sz="2400" b="1">
                    <a:solidFill>
                      <a:srgbClr val="000066"/>
                    </a:solidFill>
                  </a:endParaRPr>
                </a:p>
              </p:txBody>
            </p:sp>
            <p:sp>
              <p:nvSpPr>
                <p:cNvPr id="53" name="Rectangle 38"/>
                <p:cNvSpPr>
                  <a:spLocks noChangeArrowheads="1"/>
                </p:cNvSpPr>
                <p:nvPr/>
              </p:nvSpPr>
              <p:spPr bwMode="auto">
                <a:xfrm>
                  <a:off x="0" y="1870"/>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2" name="Group 39"/>
              <p:cNvGrpSpPr>
                <a:grpSpLocks/>
              </p:cNvGrpSpPr>
              <p:nvPr/>
            </p:nvGrpSpPr>
            <p:grpSpPr bwMode="auto">
              <a:xfrm>
                <a:off x="305" y="1870"/>
                <a:ext cx="1721" cy="377"/>
                <a:chOff x="305" y="1870"/>
                <a:chExt cx="1721" cy="377"/>
              </a:xfrm>
            </p:grpSpPr>
            <p:sp>
              <p:nvSpPr>
                <p:cNvPr id="50223" name="Rectangle 40"/>
                <p:cNvSpPr>
                  <a:spLocks noChangeArrowheads="1"/>
                </p:cNvSpPr>
                <p:nvPr/>
              </p:nvSpPr>
              <p:spPr bwMode="auto">
                <a:xfrm>
                  <a:off x="305" y="1870"/>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ZG</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华南</a:t>
                  </a:r>
                  <a:endParaRPr lang="zh-CN" altLang="en-US" sz="2400" b="1">
                    <a:solidFill>
                      <a:srgbClr val="000066"/>
                    </a:solidFill>
                  </a:endParaRPr>
                </a:p>
              </p:txBody>
            </p:sp>
            <p:sp>
              <p:nvSpPr>
                <p:cNvPr id="51" name="Rectangle 41"/>
                <p:cNvSpPr>
                  <a:spLocks noChangeArrowheads="1"/>
                </p:cNvSpPr>
                <p:nvPr/>
              </p:nvSpPr>
              <p:spPr bwMode="auto">
                <a:xfrm>
                  <a:off x="305" y="1870"/>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3" name="Group 42"/>
              <p:cNvGrpSpPr>
                <a:grpSpLocks/>
              </p:cNvGrpSpPr>
              <p:nvPr/>
            </p:nvGrpSpPr>
            <p:grpSpPr bwMode="auto">
              <a:xfrm>
                <a:off x="0" y="2244"/>
                <a:ext cx="305" cy="374"/>
                <a:chOff x="0" y="2244"/>
                <a:chExt cx="305" cy="374"/>
              </a:xfrm>
            </p:grpSpPr>
            <p:sp>
              <p:nvSpPr>
                <p:cNvPr id="50221" name="Rectangle 43"/>
                <p:cNvSpPr>
                  <a:spLocks noChangeArrowheads="1"/>
                </p:cNvSpPr>
                <p:nvPr/>
              </p:nvSpPr>
              <p:spPr bwMode="auto">
                <a:xfrm>
                  <a:off x="0" y="2244"/>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36</a:t>
                  </a:r>
                  <a:endParaRPr lang="en-US" altLang="zh-CN" sz="2400" b="1">
                    <a:solidFill>
                      <a:srgbClr val="000066"/>
                    </a:solidFill>
                  </a:endParaRPr>
                </a:p>
              </p:txBody>
            </p:sp>
            <p:sp>
              <p:nvSpPr>
                <p:cNvPr id="49" name="Rectangle 44"/>
                <p:cNvSpPr>
                  <a:spLocks noChangeArrowheads="1"/>
                </p:cNvSpPr>
                <p:nvPr/>
              </p:nvSpPr>
              <p:spPr bwMode="auto">
                <a:xfrm>
                  <a:off x="0" y="2244"/>
                  <a:ext cx="305" cy="371"/>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4" name="Group 45"/>
              <p:cNvGrpSpPr>
                <a:grpSpLocks/>
              </p:cNvGrpSpPr>
              <p:nvPr/>
            </p:nvGrpSpPr>
            <p:grpSpPr bwMode="auto">
              <a:xfrm>
                <a:off x="305" y="2244"/>
                <a:ext cx="1721" cy="374"/>
                <a:chOff x="305" y="2244"/>
                <a:chExt cx="1721" cy="374"/>
              </a:xfrm>
            </p:grpSpPr>
            <p:sp>
              <p:nvSpPr>
                <p:cNvPr id="50219" name="Rectangle 46"/>
                <p:cNvSpPr>
                  <a:spLocks noChangeArrowheads="1"/>
                </p:cNvSpPr>
                <p:nvPr/>
              </p:nvSpPr>
              <p:spPr bwMode="auto">
                <a:xfrm>
                  <a:off x="305" y="2244"/>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ZH</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华中</a:t>
                  </a:r>
                  <a:endParaRPr lang="zh-CN" altLang="en-US" sz="2400" b="1">
                    <a:solidFill>
                      <a:srgbClr val="000066"/>
                    </a:solidFill>
                  </a:endParaRPr>
                </a:p>
              </p:txBody>
            </p:sp>
            <p:sp>
              <p:nvSpPr>
                <p:cNvPr id="47" name="Rectangle 47"/>
                <p:cNvSpPr>
                  <a:spLocks noChangeArrowheads="1"/>
                </p:cNvSpPr>
                <p:nvPr/>
              </p:nvSpPr>
              <p:spPr bwMode="auto">
                <a:xfrm>
                  <a:off x="305" y="2244"/>
                  <a:ext cx="1721" cy="371"/>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5" name="Group 48"/>
              <p:cNvGrpSpPr>
                <a:grpSpLocks/>
              </p:cNvGrpSpPr>
              <p:nvPr/>
            </p:nvGrpSpPr>
            <p:grpSpPr bwMode="auto">
              <a:xfrm>
                <a:off x="0" y="2618"/>
                <a:ext cx="305" cy="377"/>
                <a:chOff x="0" y="2618"/>
                <a:chExt cx="305" cy="377"/>
              </a:xfrm>
            </p:grpSpPr>
            <p:sp>
              <p:nvSpPr>
                <p:cNvPr id="50217" name="Rectangle 49"/>
                <p:cNvSpPr>
                  <a:spLocks noChangeArrowheads="1"/>
                </p:cNvSpPr>
                <p:nvPr/>
              </p:nvSpPr>
              <p:spPr bwMode="auto">
                <a:xfrm>
                  <a:off x="0" y="2618"/>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37</a:t>
                  </a:r>
                  <a:endParaRPr lang="en-US" altLang="zh-CN" sz="2400" b="1">
                    <a:solidFill>
                      <a:srgbClr val="000066"/>
                    </a:solidFill>
                  </a:endParaRPr>
                </a:p>
              </p:txBody>
            </p:sp>
            <p:sp>
              <p:nvSpPr>
                <p:cNvPr id="45" name="Rectangle 50"/>
                <p:cNvSpPr>
                  <a:spLocks noChangeArrowheads="1"/>
                </p:cNvSpPr>
                <p:nvPr/>
              </p:nvSpPr>
              <p:spPr bwMode="auto">
                <a:xfrm>
                  <a:off x="0" y="2618"/>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6" name="Group 51"/>
              <p:cNvGrpSpPr>
                <a:grpSpLocks/>
              </p:cNvGrpSpPr>
              <p:nvPr/>
            </p:nvGrpSpPr>
            <p:grpSpPr bwMode="auto">
              <a:xfrm>
                <a:off x="305" y="2618"/>
                <a:ext cx="1721" cy="377"/>
                <a:chOff x="305" y="2618"/>
                <a:chExt cx="1721" cy="377"/>
              </a:xfrm>
            </p:grpSpPr>
            <p:sp>
              <p:nvSpPr>
                <p:cNvPr id="50215" name="Rectangle 52"/>
                <p:cNvSpPr>
                  <a:spLocks noChangeArrowheads="1"/>
                </p:cNvSpPr>
                <p:nvPr/>
              </p:nvSpPr>
              <p:spPr bwMode="auto">
                <a:xfrm>
                  <a:off x="305" y="2618"/>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ZU</a:t>
                  </a:r>
                  <a:r>
                    <a:rPr lang="zh-CN" altLang="en-US" sz="2400" b="1">
                      <a:solidFill>
                        <a:srgbClr val="000066"/>
                      </a:solidFill>
                      <a:ea typeface="方正书宋简体"/>
                      <a:cs typeface="方正书宋简体"/>
                    </a:rPr>
                    <a:t>、</a:t>
                  </a:r>
                  <a:r>
                    <a:rPr lang="en-US" altLang="zh-CN" sz="2400" b="1">
                      <a:solidFill>
                        <a:srgbClr val="000066"/>
                      </a:solidFill>
                      <a:cs typeface="Times New Roman" pitchFamily="18" charset="0"/>
                    </a:rPr>
                    <a:t>ZP</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西南</a:t>
                  </a:r>
                  <a:endParaRPr lang="zh-CN" altLang="en-US" sz="2400" b="1">
                    <a:solidFill>
                      <a:srgbClr val="000066"/>
                    </a:solidFill>
                  </a:endParaRPr>
                </a:p>
              </p:txBody>
            </p:sp>
            <p:sp>
              <p:nvSpPr>
                <p:cNvPr id="43" name="Rectangle 53"/>
                <p:cNvSpPr>
                  <a:spLocks noChangeArrowheads="1"/>
                </p:cNvSpPr>
                <p:nvPr/>
              </p:nvSpPr>
              <p:spPr bwMode="auto">
                <a:xfrm>
                  <a:off x="305" y="2618"/>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7" name="Group 54"/>
              <p:cNvGrpSpPr>
                <a:grpSpLocks/>
              </p:cNvGrpSpPr>
              <p:nvPr/>
            </p:nvGrpSpPr>
            <p:grpSpPr bwMode="auto">
              <a:xfrm>
                <a:off x="0" y="2992"/>
                <a:ext cx="305" cy="377"/>
                <a:chOff x="0" y="2992"/>
                <a:chExt cx="305" cy="377"/>
              </a:xfrm>
            </p:grpSpPr>
            <p:sp>
              <p:nvSpPr>
                <p:cNvPr id="50213" name="Rectangle 55"/>
                <p:cNvSpPr>
                  <a:spLocks noChangeArrowheads="1"/>
                </p:cNvSpPr>
                <p:nvPr/>
              </p:nvSpPr>
              <p:spPr bwMode="auto">
                <a:xfrm>
                  <a:off x="0" y="2992"/>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38</a:t>
                  </a:r>
                  <a:endParaRPr lang="en-US" altLang="zh-CN" sz="2400" b="1">
                    <a:solidFill>
                      <a:srgbClr val="000066"/>
                    </a:solidFill>
                  </a:endParaRPr>
                </a:p>
              </p:txBody>
            </p:sp>
            <p:sp>
              <p:nvSpPr>
                <p:cNvPr id="41" name="Rectangle 56"/>
                <p:cNvSpPr>
                  <a:spLocks noChangeArrowheads="1"/>
                </p:cNvSpPr>
                <p:nvPr/>
              </p:nvSpPr>
              <p:spPr bwMode="auto">
                <a:xfrm>
                  <a:off x="0" y="2992"/>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8" name="Group 57"/>
              <p:cNvGrpSpPr>
                <a:grpSpLocks/>
              </p:cNvGrpSpPr>
              <p:nvPr/>
            </p:nvGrpSpPr>
            <p:grpSpPr bwMode="auto">
              <a:xfrm>
                <a:off x="305" y="2992"/>
                <a:ext cx="1721" cy="377"/>
                <a:chOff x="305" y="2992"/>
                <a:chExt cx="1721" cy="377"/>
              </a:xfrm>
            </p:grpSpPr>
            <p:sp>
              <p:nvSpPr>
                <p:cNvPr id="50211" name="Rectangle 58"/>
                <p:cNvSpPr>
                  <a:spLocks noChangeArrowheads="1"/>
                </p:cNvSpPr>
                <p:nvPr/>
              </p:nvSpPr>
              <p:spPr bwMode="auto">
                <a:xfrm>
                  <a:off x="305" y="2992"/>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ZL</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西北</a:t>
                  </a:r>
                  <a:endParaRPr lang="zh-CN" altLang="en-US" sz="2400" b="1">
                    <a:solidFill>
                      <a:srgbClr val="000066"/>
                    </a:solidFill>
                  </a:endParaRPr>
                </a:p>
              </p:txBody>
            </p:sp>
            <p:sp>
              <p:nvSpPr>
                <p:cNvPr id="39" name="Rectangle 59"/>
                <p:cNvSpPr>
                  <a:spLocks noChangeArrowheads="1"/>
                </p:cNvSpPr>
                <p:nvPr/>
              </p:nvSpPr>
              <p:spPr bwMode="auto">
                <a:xfrm>
                  <a:off x="305" y="2992"/>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199" name="Group 60"/>
              <p:cNvGrpSpPr>
                <a:grpSpLocks/>
              </p:cNvGrpSpPr>
              <p:nvPr/>
            </p:nvGrpSpPr>
            <p:grpSpPr bwMode="auto">
              <a:xfrm>
                <a:off x="0" y="3366"/>
                <a:ext cx="305" cy="374"/>
                <a:chOff x="0" y="3366"/>
                <a:chExt cx="305" cy="374"/>
              </a:xfrm>
            </p:grpSpPr>
            <p:sp>
              <p:nvSpPr>
                <p:cNvPr id="50209" name="Rectangle 61"/>
                <p:cNvSpPr>
                  <a:spLocks noChangeArrowheads="1"/>
                </p:cNvSpPr>
                <p:nvPr/>
              </p:nvSpPr>
              <p:spPr bwMode="auto">
                <a:xfrm>
                  <a:off x="0" y="3366"/>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39</a:t>
                  </a:r>
                  <a:endParaRPr lang="en-US" altLang="zh-CN" sz="2400" b="1">
                    <a:solidFill>
                      <a:srgbClr val="000066"/>
                    </a:solidFill>
                  </a:endParaRPr>
                </a:p>
              </p:txBody>
            </p:sp>
            <p:sp>
              <p:nvSpPr>
                <p:cNvPr id="37" name="Rectangle 62"/>
                <p:cNvSpPr>
                  <a:spLocks noChangeArrowheads="1"/>
                </p:cNvSpPr>
                <p:nvPr/>
              </p:nvSpPr>
              <p:spPr bwMode="auto">
                <a:xfrm>
                  <a:off x="0" y="3368"/>
                  <a:ext cx="305" cy="372"/>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200" name="Group 63"/>
              <p:cNvGrpSpPr>
                <a:grpSpLocks/>
              </p:cNvGrpSpPr>
              <p:nvPr/>
            </p:nvGrpSpPr>
            <p:grpSpPr bwMode="auto">
              <a:xfrm>
                <a:off x="305" y="3366"/>
                <a:ext cx="1721" cy="374"/>
                <a:chOff x="305" y="3366"/>
                <a:chExt cx="1721" cy="374"/>
              </a:xfrm>
            </p:grpSpPr>
            <p:sp>
              <p:nvSpPr>
                <p:cNvPr id="50207" name="Rectangle 64"/>
                <p:cNvSpPr>
                  <a:spLocks noChangeArrowheads="1"/>
                </p:cNvSpPr>
                <p:nvPr/>
              </p:nvSpPr>
              <p:spPr bwMode="auto">
                <a:xfrm>
                  <a:off x="305" y="3366"/>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ZY</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东北</a:t>
                  </a:r>
                  <a:endParaRPr lang="zh-CN" altLang="en-US" sz="2400" b="1">
                    <a:solidFill>
                      <a:srgbClr val="000066"/>
                    </a:solidFill>
                  </a:endParaRPr>
                </a:p>
              </p:txBody>
            </p:sp>
            <p:sp>
              <p:nvSpPr>
                <p:cNvPr id="35" name="Rectangle 65"/>
                <p:cNvSpPr>
                  <a:spLocks noChangeArrowheads="1"/>
                </p:cNvSpPr>
                <p:nvPr/>
              </p:nvSpPr>
              <p:spPr bwMode="auto">
                <a:xfrm>
                  <a:off x="305" y="3368"/>
                  <a:ext cx="1721" cy="372"/>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201" name="Group 66"/>
              <p:cNvGrpSpPr>
                <a:grpSpLocks/>
              </p:cNvGrpSpPr>
              <p:nvPr/>
            </p:nvGrpSpPr>
            <p:grpSpPr bwMode="auto">
              <a:xfrm>
                <a:off x="0" y="3740"/>
                <a:ext cx="305" cy="377"/>
                <a:chOff x="0" y="3740"/>
                <a:chExt cx="305" cy="377"/>
              </a:xfrm>
            </p:grpSpPr>
            <p:sp>
              <p:nvSpPr>
                <p:cNvPr id="50205" name="Rectangle 67"/>
                <p:cNvSpPr>
                  <a:spLocks noChangeArrowheads="1"/>
                </p:cNvSpPr>
                <p:nvPr/>
              </p:nvSpPr>
              <p:spPr bwMode="auto">
                <a:xfrm>
                  <a:off x="0" y="3740"/>
                  <a:ext cx="305"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40</a:t>
                  </a:r>
                  <a:endParaRPr lang="en-US" altLang="zh-CN" sz="2400" b="1">
                    <a:solidFill>
                      <a:srgbClr val="000066"/>
                    </a:solidFill>
                  </a:endParaRPr>
                </a:p>
              </p:txBody>
            </p:sp>
            <p:sp>
              <p:nvSpPr>
                <p:cNvPr id="33" name="Rectangle 68"/>
                <p:cNvSpPr>
                  <a:spLocks noChangeArrowheads="1"/>
                </p:cNvSpPr>
                <p:nvPr/>
              </p:nvSpPr>
              <p:spPr bwMode="auto">
                <a:xfrm>
                  <a:off x="0" y="3740"/>
                  <a:ext cx="305"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nvGrpSpPr>
              <p:cNvPr id="50202" name="Group 69"/>
              <p:cNvGrpSpPr>
                <a:grpSpLocks/>
              </p:cNvGrpSpPr>
              <p:nvPr/>
            </p:nvGrpSpPr>
            <p:grpSpPr bwMode="auto">
              <a:xfrm>
                <a:off x="305" y="3740"/>
                <a:ext cx="1721" cy="377"/>
                <a:chOff x="305" y="3740"/>
                <a:chExt cx="1721" cy="377"/>
              </a:xfrm>
            </p:grpSpPr>
            <p:sp>
              <p:nvSpPr>
                <p:cNvPr id="50203" name="Rectangle 70"/>
                <p:cNvSpPr>
                  <a:spLocks noChangeArrowheads="1"/>
                </p:cNvSpPr>
                <p:nvPr/>
              </p:nvSpPr>
              <p:spPr bwMode="auto">
                <a:xfrm>
                  <a:off x="305" y="3740"/>
                  <a:ext cx="1721" cy="374"/>
                </a:xfrm>
                <a:prstGeom prst="rect">
                  <a:avLst/>
                </a:prstGeom>
                <a:noFill/>
                <a:ln w="34925">
                  <a:solidFill>
                    <a:srgbClr val="000066"/>
                  </a:solidFill>
                  <a:miter lim="800000"/>
                  <a:headEnd type="none" w="sm" len="sm"/>
                  <a:tailEnd type="none" w="sm" len="sm"/>
                </a:ln>
              </p:spPr>
              <p:txBody>
                <a:bodyPr anchor="ctr"/>
                <a:lstStyle/>
                <a:p>
                  <a:pPr algn="ctr"/>
                  <a:r>
                    <a:rPr lang="en-US" altLang="zh-CN" sz="2400" b="1">
                      <a:solidFill>
                        <a:srgbClr val="000066"/>
                      </a:solidFill>
                      <a:cs typeface="Times New Roman" pitchFamily="18" charset="0"/>
                    </a:rPr>
                    <a:t>ZW</a:t>
                  </a:r>
                  <a:r>
                    <a:rPr lang="en-US" altLang="zh-CN" sz="2400" b="1">
                      <a:solidFill>
                        <a:srgbClr val="000066"/>
                      </a:solidFill>
                      <a:ea typeface="方正书宋简体"/>
                      <a:cs typeface="方正书宋简体"/>
                    </a:rPr>
                    <a:t>—</a:t>
                  </a:r>
                  <a:r>
                    <a:rPr lang="zh-CN" altLang="en-US" sz="2400" b="1">
                      <a:solidFill>
                        <a:srgbClr val="000066"/>
                      </a:solidFill>
                      <a:ea typeface="方正书宋简体"/>
                      <a:cs typeface="方正书宋简体"/>
                    </a:rPr>
                    <a:t>乌鲁木齐</a:t>
                  </a:r>
                  <a:endParaRPr lang="zh-CN" altLang="en-US" sz="2400" b="1">
                    <a:solidFill>
                      <a:srgbClr val="000066"/>
                    </a:solidFill>
                  </a:endParaRPr>
                </a:p>
              </p:txBody>
            </p:sp>
            <p:sp>
              <p:nvSpPr>
                <p:cNvPr id="31" name="Rectangle 71"/>
                <p:cNvSpPr>
                  <a:spLocks noChangeArrowheads="1"/>
                </p:cNvSpPr>
                <p:nvPr/>
              </p:nvSpPr>
              <p:spPr bwMode="auto">
                <a:xfrm>
                  <a:off x="305" y="3740"/>
                  <a:ext cx="1721" cy="377"/>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grpSp>
        <p:sp>
          <p:nvSpPr>
            <p:cNvPr id="7" name="Rectangle 72"/>
            <p:cNvSpPr>
              <a:spLocks noChangeArrowheads="1"/>
            </p:cNvSpPr>
            <p:nvPr/>
          </p:nvSpPr>
          <p:spPr bwMode="auto">
            <a:xfrm>
              <a:off x="-3" y="-3"/>
              <a:ext cx="2032" cy="4120"/>
            </a:xfrm>
            <a:prstGeom prst="rect">
              <a:avLst/>
            </a:prstGeom>
            <a:noFill/>
            <a:ln w="34925">
              <a:solidFill>
                <a:srgbClr val="000066"/>
              </a:solidFill>
              <a:miter lim="800000"/>
              <a:headEnd type="none" w="sm" len="sm"/>
              <a:tailEnd type="none" w="sm" len="sm"/>
            </a:ln>
          </p:spPr>
          <p:txBody>
            <a:bodyPr/>
            <a:lstStyle/>
            <a:p>
              <a:pPr>
                <a:defRPr/>
              </a:pPr>
              <a:endParaRPr lang="zh-CN" altLang="en-US">
                <a:solidFill>
                  <a:srgbClr val="000066"/>
                </a:solidFill>
                <a:effectLst>
                  <a:outerShdw blurRad="38100" dist="38100" dir="2700000" algn="tl">
                    <a:srgbClr val="FFFFFF"/>
                  </a:outerShdw>
                </a:effectLst>
              </a:endParaRPr>
            </a:p>
          </p:txBody>
        </p:sp>
      </p:grpSp>
    </p:spTree>
    <p:extLst>
      <p:ext uri="{BB962C8B-B14F-4D97-AF65-F5344CB8AC3E}">
        <p14:creationId xmlns:p14="http://schemas.microsoft.com/office/powerpoint/2010/main" val="1631145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内容占位符 1"/>
          <p:cNvSpPr>
            <a:spLocks noGrp="1"/>
          </p:cNvSpPr>
          <p:nvPr>
            <p:ph idx="1"/>
          </p:nvPr>
        </p:nvSpPr>
        <p:spPr>
          <a:xfrm>
            <a:off x="974863" y="2705928"/>
            <a:ext cx="8401050" cy="2363788"/>
          </a:xfrm>
        </p:spPr>
        <p:txBody>
          <a:bodyPr>
            <a:noAutofit/>
          </a:bodyPr>
          <a:lstStyle/>
          <a:p>
            <a:pPr>
              <a:lnSpc>
                <a:spcPts val="4000"/>
              </a:lnSpc>
              <a:buNone/>
            </a:pPr>
            <a:r>
              <a:rPr lang="en-US" altLang="zh-CN" sz="2400" dirty="0">
                <a:solidFill>
                  <a:schemeClr val="tx1"/>
                </a:solidFill>
                <a:latin typeface="Times New Roman" panose="02020603050405020304" pitchFamily="18" charset="0"/>
                <a:ea typeface="微软雅黑" pitchFamily="34" charset="-122"/>
              </a:rPr>
              <a:t>BBB </a:t>
            </a:r>
            <a:r>
              <a:rPr lang="zh-CN" altLang="en-US" sz="2400" dirty="0">
                <a:solidFill>
                  <a:schemeClr val="tx1"/>
                </a:solidFill>
                <a:latin typeface="Times New Roman" panose="02020603050405020304" pitchFamily="18" charset="0"/>
                <a:ea typeface="微软雅黑" pitchFamily="34" charset="-122"/>
              </a:rPr>
              <a:t>表示下列一种：</a:t>
            </a:r>
          </a:p>
          <a:p>
            <a:pPr>
              <a:lnSpc>
                <a:spcPts val="4000"/>
              </a:lnSpc>
              <a:buNone/>
            </a:pPr>
            <a:r>
              <a:rPr lang="en-US" altLang="zh-CN" sz="2400" dirty="0">
                <a:solidFill>
                  <a:schemeClr val="tx1"/>
                </a:solidFill>
                <a:latin typeface="Times New Roman" panose="02020603050405020304" pitchFamily="18" charset="0"/>
                <a:ea typeface="微软雅黑" pitchFamily="34" charset="-122"/>
              </a:rPr>
              <a:t>RRA</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RRB</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RRC… </a:t>
            </a:r>
            <a:r>
              <a:rPr lang="zh-CN" altLang="en-US" sz="2400" dirty="0">
                <a:solidFill>
                  <a:schemeClr val="tx1"/>
                </a:solidFill>
                <a:latin typeface="Times New Roman" panose="02020603050405020304" pitchFamily="18" charset="0"/>
                <a:ea typeface="微软雅黑" pitchFamily="34" charset="-122"/>
              </a:rPr>
              <a:t>）延迟电报；</a:t>
            </a:r>
          </a:p>
          <a:p>
            <a:pPr>
              <a:lnSpc>
                <a:spcPts val="4000"/>
              </a:lnSpc>
              <a:buNone/>
            </a:pPr>
            <a:r>
              <a:rPr lang="en-US" altLang="zh-CN" sz="2400" dirty="0">
                <a:solidFill>
                  <a:schemeClr val="tx1"/>
                </a:solidFill>
                <a:latin typeface="Times New Roman" panose="02020603050405020304" pitchFamily="18" charset="0"/>
                <a:ea typeface="微软雅黑" pitchFamily="34" charset="-122"/>
              </a:rPr>
              <a:t>CCA</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CCB</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CCC… </a:t>
            </a:r>
            <a:r>
              <a:rPr lang="zh-CN" altLang="en-US" sz="2400" dirty="0">
                <a:solidFill>
                  <a:schemeClr val="tx1"/>
                </a:solidFill>
                <a:latin typeface="Times New Roman" panose="02020603050405020304" pitchFamily="18" charset="0"/>
                <a:ea typeface="微软雅黑" pitchFamily="34" charset="-122"/>
              </a:rPr>
              <a:t>）更正电报；</a:t>
            </a:r>
          </a:p>
          <a:p>
            <a:pPr>
              <a:lnSpc>
                <a:spcPts val="4000"/>
              </a:lnSpc>
              <a:buNone/>
            </a:pPr>
            <a:r>
              <a:rPr lang="en-US" altLang="zh-CN" sz="2400" dirty="0">
                <a:solidFill>
                  <a:schemeClr val="tx1"/>
                </a:solidFill>
                <a:latin typeface="Times New Roman" panose="02020603050405020304" pitchFamily="18" charset="0"/>
                <a:ea typeface="微软雅黑" pitchFamily="34" charset="-122"/>
              </a:rPr>
              <a:t>AAA</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AAB</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AAC… </a:t>
            </a:r>
            <a:r>
              <a:rPr lang="zh-CN" altLang="en-US" sz="2400" dirty="0">
                <a:solidFill>
                  <a:schemeClr val="tx1"/>
                </a:solidFill>
                <a:latin typeface="Times New Roman" panose="02020603050405020304" pitchFamily="18" charset="0"/>
                <a:ea typeface="微软雅黑" pitchFamily="34" charset="-122"/>
              </a:rPr>
              <a:t>）订正电报</a:t>
            </a:r>
          </a:p>
        </p:txBody>
      </p:sp>
      <p:sp>
        <p:nvSpPr>
          <p:cNvPr id="4" name="Rectangle 2"/>
          <p:cNvSpPr>
            <a:spLocks noGrp="1" noChangeArrowheads="1"/>
          </p:cNvSpPr>
          <p:nvPr>
            <p:ph type="title"/>
          </p:nvPr>
        </p:nvSpPr>
        <p:spPr>
          <a:xfrm>
            <a:off x="179021" y="422254"/>
            <a:ext cx="10501550" cy="1071570"/>
          </a:xfrm>
        </p:spPr>
        <p:txBody>
          <a:bodyPr vert="horz" wrap="square" lIns="91440" tIns="45720" rIns="91440" bIns="45720" numCol="1" rtlCol="0" anchor="t" anchorCtr="0" compatLnSpc="1">
            <a:prstTxWarp prst="textNoShape">
              <a:avLst/>
            </a:prstTxWarp>
            <a:normAutofit/>
          </a:bodyPr>
          <a:lstStyle/>
          <a:p>
            <a:pPr eaLnBrk="1" hangingPunct="1">
              <a:defRPr/>
            </a:pPr>
            <a:r>
              <a:rPr lang="en-US" altLang="zh-CN" sz="2800" dirty="0">
                <a:solidFill>
                  <a:schemeClr val="tx1"/>
                </a:solidFill>
                <a:latin typeface="微软雅黑" pitchFamily="34" charset="-122"/>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YY</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GG</a:t>
            </a:r>
            <a:r>
              <a:rPr lang="zh-CN" altLang="en-US" sz="2400" dirty="0">
                <a:solidFill>
                  <a:schemeClr val="tx1"/>
                </a:solidFill>
                <a:latin typeface="Times New Roman" panose="02020603050405020304" pitchFamily="18" charset="0"/>
                <a:ea typeface="微软雅黑" pitchFamily="34" charset="-122"/>
              </a:rPr>
              <a:t>、</a:t>
            </a:r>
            <a:r>
              <a:rPr lang="en-US" altLang="zh-CN" sz="2400" dirty="0" err="1">
                <a:solidFill>
                  <a:schemeClr val="tx1"/>
                </a:solidFill>
                <a:latin typeface="Times New Roman" panose="02020603050405020304" pitchFamily="18" charset="0"/>
                <a:ea typeface="微软雅黑" pitchFamily="34" charset="-122"/>
              </a:rPr>
              <a:t>gg</a:t>
            </a:r>
            <a:r>
              <a:rPr lang="zh-CN" altLang="en-US" sz="2400" dirty="0">
                <a:solidFill>
                  <a:schemeClr val="tx1"/>
                </a:solidFill>
                <a:latin typeface="Times New Roman" panose="02020603050405020304" pitchFamily="18" charset="0"/>
                <a:ea typeface="微软雅黑" pitchFamily="34" charset="-122"/>
              </a:rPr>
              <a:t>表示统一规定的天气报告的日、时、分（世界时）</a:t>
            </a:r>
            <a:endParaRPr lang="zh-CN" altLang="en-US" sz="2800" dirty="0">
              <a:solidFill>
                <a:schemeClr val="tx1"/>
              </a:solidFill>
              <a:latin typeface="Times New Roman" panose="02020603050405020304" pitchFamily="18" charset="0"/>
              <a:ea typeface="微软雅黑" pitchFamily="34" charset="-122"/>
            </a:endParaRPr>
          </a:p>
        </p:txBody>
      </p:sp>
      <p:sp>
        <p:nvSpPr>
          <p:cNvPr id="51203" name="Rectangle 3"/>
          <p:cNvSpPr txBox="1">
            <a:spLocks noChangeArrowheads="1"/>
          </p:cNvSpPr>
          <p:nvPr/>
        </p:nvSpPr>
        <p:spPr bwMode="auto">
          <a:xfrm>
            <a:off x="730139" y="1151022"/>
            <a:ext cx="9399313" cy="2362200"/>
          </a:xfrm>
          <a:prstGeom prst="rect">
            <a:avLst/>
          </a:prstGeom>
          <a:noFill/>
          <a:ln w="9525">
            <a:noFill/>
            <a:miter lim="800000"/>
            <a:headEnd/>
            <a:tailEnd/>
          </a:ln>
        </p:spPr>
        <p:txBody>
          <a:bodyPr/>
          <a:lstStyle/>
          <a:p>
            <a:pPr>
              <a:lnSpc>
                <a:spcPct val="150000"/>
              </a:lnSpc>
              <a:spcBef>
                <a:spcPts val="400"/>
              </a:spcBef>
              <a:buClr>
                <a:schemeClr val="accent1"/>
              </a:buClr>
              <a:buSzPct val="68000"/>
            </a:pPr>
            <a:r>
              <a:rPr lang="en-US" altLang="zh-CN" sz="2400" dirty="0">
                <a:solidFill>
                  <a:srgbClr val="000066"/>
                </a:solidFill>
                <a:latin typeface="Times New Roman" panose="02020603050405020304" pitchFamily="18" charset="0"/>
                <a:ea typeface="微软雅黑" pitchFamily="34" charset="-122"/>
              </a:rPr>
              <a:t>“SACI35 ZGGG 250100”</a:t>
            </a:r>
            <a:r>
              <a:rPr lang="zh-CN" altLang="en-US" sz="2400" dirty="0">
                <a:solidFill>
                  <a:srgbClr val="000066"/>
                </a:solidFill>
                <a:latin typeface="Times New Roman" panose="02020603050405020304" pitchFamily="18" charset="0"/>
                <a:ea typeface="微软雅黑" pitchFamily="34" charset="-122"/>
              </a:rPr>
              <a:t>：</a:t>
            </a:r>
          </a:p>
          <a:p>
            <a:pPr>
              <a:lnSpc>
                <a:spcPct val="150000"/>
              </a:lnSpc>
              <a:spcBef>
                <a:spcPts val="400"/>
              </a:spcBef>
              <a:buClr>
                <a:schemeClr val="accent1"/>
              </a:buClr>
              <a:buSzPct val="68000"/>
            </a:pPr>
            <a:r>
              <a:rPr lang="zh-CN" altLang="en-US" sz="2400" dirty="0">
                <a:solidFill>
                  <a:srgbClr val="000066"/>
                </a:solidFill>
                <a:latin typeface="Times New Roman" panose="02020603050405020304" pitchFamily="18" charset="0"/>
                <a:ea typeface="微软雅黑" pitchFamily="34" charset="-122"/>
              </a:rPr>
              <a:t>“中国、华南区、广州、规定观测时间</a:t>
            </a:r>
            <a:r>
              <a:rPr lang="en-US" altLang="zh-CN" sz="2400" dirty="0">
                <a:solidFill>
                  <a:srgbClr val="000066"/>
                </a:solidFill>
                <a:latin typeface="Times New Roman" panose="02020603050405020304" pitchFamily="18" charset="0"/>
                <a:ea typeface="微软雅黑" pitchFamily="34" charset="-122"/>
              </a:rPr>
              <a:t>25</a:t>
            </a:r>
            <a:r>
              <a:rPr lang="zh-CN" altLang="en-US" sz="2400" dirty="0">
                <a:solidFill>
                  <a:srgbClr val="000066"/>
                </a:solidFill>
                <a:latin typeface="Times New Roman" panose="02020603050405020304" pitchFamily="18" charset="0"/>
                <a:ea typeface="微软雅黑" pitchFamily="34" charset="-122"/>
              </a:rPr>
              <a:t>日</a:t>
            </a:r>
            <a:r>
              <a:rPr lang="en-US" altLang="zh-CN" sz="2400" dirty="0">
                <a:solidFill>
                  <a:srgbClr val="000066"/>
                </a:solidFill>
                <a:latin typeface="Times New Roman" panose="02020603050405020304" pitchFamily="18" charset="0"/>
                <a:ea typeface="微软雅黑" pitchFamily="34" charset="-122"/>
              </a:rPr>
              <a:t>01</a:t>
            </a:r>
            <a:r>
              <a:rPr lang="zh-CN" altLang="en-US" sz="2400" dirty="0">
                <a:solidFill>
                  <a:srgbClr val="000066"/>
                </a:solidFill>
                <a:latin typeface="Times New Roman" panose="02020603050405020304" pitchFamily="18" charset="0"/>
                <a:ea typeface="微软雅黑" pitchFamily="34" charset="-122"/>
              </a:rPr>
              <a:t>时正（世界时）”。 </a:t>
            </a:r>
          </a:p>
        </p:txBody>
      </p:sp>
      <p:sp>
        <p:nvSpPr>
          <p:cNvPr id="51204" name="矩形 5"/>
          <p:cNvSpPr>
            <a:spLocks noChangeArrowheads="1"/>
          </p:cNvSpPr>
          <p:nvPr/>
        </p:nvSpPr>
        <p:spPr bwMode="auto">
          <a:xfrm>
            <a:off x="1146522" y="5349528"/>
            <a:ext cx="7786687" cy="1135054"/>
          </a:xfrm>
          <a:prstGeom prst="rect">
            <a:avLst/>
          </a:prstGeom>
          <a:noFill/>
          <a:ln w="9525">
            <a:noFill/>
            <a:miter lim="800000"/>
            <a:headEnd/>
            <a:tailEnd/>
          </a:ln>
        </p:spPr>
        <p:txBody>
          <a:bodyPr>
            <a:spAutoFit/>
          </a:bodyPr>
          <a:lstStyle/>
          <a:p>
            <a:pPr>
              <a:lnSpc>
                <a:spcPct val="150000"/>
              </a:lnSpc>
            </a:pPr>
            <a:r>
              <a:rPr lang="zh-CN" altLang="en-US" dirty="0"/>
              <a:t> </a:t>
            </a:r>
            <a:r>
              <a:rPr lang="zh-CN" altLang="en-US" sz="2400" dirty="0">
                <a:solidFill>
                  <a:srgbClr val="FF0000"/>
                </a:solidFill>
                <a:latin typeface="微软雅黑" pitchFamily="34" charset="-122"/>
                <a:ea typeface="微软雅黑" pitchFamily="34" charset="-122"/>
              </a:rPr>
              <a:t>“更正” 是指由于预报出错后的修正； </a:t>
            </a:r>
            <a:endParaRPr lang="en-US" altLang="zh-CN" sz="2400" dirty="0">
              <a:solidFill>
                <a:srgbClr val="FF0000"/>
              </a:solidFill>
              <a:latin typeface="微软雅黑" pitchFamily="34" charset="-122"/>
              <a:ea typeface="微软雅黑" pitchFamily="34" charset="-122"/>
            </a:endParaRPr>
          </a:p>
          <a:p>
            <a:pPr>
              <a:lnSpc>
                <a:spcPct val="150000"/>
              </a:lnSpc>
            </a:pPr>
            <a:r>
              <a:rPr lang="zh-CN" altLang="en-US" sz="2400" dirty="0">
                <a:solidFill>
                  <a:srgbClr val="FF0000"/>
                </a:solidFill>
                <a:latin typeface="微软雅黑" pitchFamily="34" charset="-122"/>
                <a:ea typeface="微软雅黑" pitchFamily="34" charset="-122"/>
              </a:rPr>
              <a:t>“订正” 是指由于预报发报时出错后的修正。</a:t>
            </a:r>
          </a:p>
        </p:txBody>
      </p:sp>
    </p:spTree>
    <p:extLst>
      <p:ext uri="{BB962C8B-B14F-4D97-AF65-F5344CB8AC3E}">
        <p14:creationId xmlns:p14="http://schemas.microsoft.com/office/powerpoint/2010/main" val="4203506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033A846-149A-430D-84F1-431B7DD34F90}"/>
              </a:ext>
            </a:extLst>
          </p:cNvPr>
          <p:cNvSpPr txBox="1"/>
          <p:nvPr/>
        </p:nvSpPr>
        <p:spPr>
          <a:xfrm>
            <a:off x="848139" y="556591"/>
            <a:ext cx="9011478" cy="2795958"/>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ZCZC  TYM025</a:t>
            </a:r>
          </a:p>
          <a:p>
            <a:pPr>
              <a:lnSpc>
                <a:spcPct val="150000"/>
              </a:lnSpc>
            </a:pPr>
            <a:r>
              <a:rPr lang="en-US" altLang="zh-CN" sz="2400">
                <a:latin typeface="Times New Roman" panose="02020603050405020304" pitchFamily="18" charset="0"/>
                <a:ea typeface="微软雅黑" panose="020B0503020204020204" pitchFamily="34" charset="-122"/>
              </a:rPr>
              <a:t>GG  ZUUUYMYX</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en-US" altLang="zh-CN" sz="2400" dirty="0">
                <a:latin typeface="Times New Roman" panose="02020603050405020304" pitchFamily="18" charset="0"/>
                <a:ea typeface="微软雅黑" panose="020B0503020204020204" pitchFamily="34" charset="-122"/>
              </a:rPr>
              <a:t>070758  ZUGHYMYX</a:t>
            </a:r>
          </a:p>
          <a:p>
            <a:pPr>
              <a:lnSpc>
                <a:spcPct val="150000"/>
              </a:lnSpc>
            </a:pPr>
            <a:r>
              <a:rPr lang="en-US" altLang="zh-CN" sz="2400" dirty="0">
                <a:latin typeface="Times New Roman" panose="02020603050405020304" pitchFamily="18" charset="0"/>
                <a:ea typeface="微软雅黑" panose="020B0503020204020204" pitchFamily="34" charset="-122"/>
              </a:rPr>
              <a:t>SACI37  ZUGH  070800</a:t>
            </a:r>
          </a:p>
          <a:p>
            <a:pPr>
              <a:lnSpc>
                <a:spcPct val="150000"/>
              </a:lnSpc>
            </a:pPr>
            <a:endParaRPr lang="zh-CN" altLang="en-US" sz="2400" dirty="0">
              <a:latin typeface="Times New Roman" panose="02020603050405020304" pitchFamily="18" charset="0"/>
              <a:ea typeface="微软雅黑" panose="020B0503020204020204" pitchFamily="34" charset="-122"/>
            </a:endParaRPr>
          </a:p>
        </p:txBody>
      </p:sp>
      <p:sp>
        <p:nvSpPr>
          <p:cNvPr id="5" name="文本框 4">
            <a:extLst>
              <a:ext uri="{FF2B5EF4-FFF2-40B4-BE49-F238E27FC236}">
                <a16:creationId xmlns:a16="http://schemas.microsoft.com/office/drawing/2014/main" id="{C55FD0E1-FD0C-4EA2-B06A-633A3D742A66}"/>
              </a:ext>
            </a:extLst>
          </p:cNvPr>
          <p:cNvSpPr txBox="1"/>
          <p:nvPr/>
        </p:nvSpPr>
        <p:spPr>
          <a:xfrm>
            <a:off x="728870" y="3352549"/>
            <a:ext cx="9607826" cy="1688860"/>
          </a:xfrm>
          <a:prstGeom prst="rect">
            <a:avLst/>
          </a:prstGeom>
          <a:noFill/>
        </p:spPr>
        <p:txBody>
          <a:bodyPr wrap="square" rtlCol="0">
            <a:spAutoFit/>
          </a:bodyPr>
          <a:lstStyle/>
          <a:p>
            <a:pPr indent="457200">
              <a:lnSpc>
                <a:spcPct val="150000"/>
              </a:lnSpc>
            </a:pPr>
            <a:r>
              <a:rPr lang="zh-CN" altLang="en-US" sz="2400" dirty="0">
                <a:latin typeface="Times New Roman" panose="02020603050405020304" pitchFamily="18" charset="0"/>
                <a:ea typeface="微软雅黑" panose="020B0503020204020204" pitchFamily="34" charset="-122"/>
              </a:rPr>
              <a:t>（报头）电报编号</a:t>
            </a:r>
            <a:r>
              <a:rPr lang="en-US" altLang="zh-CN" sz="2400" dirty="0">
                <a:latin typeface="Times New Roman" panose="02020603050405020304" pitchFamily="18" charset="0"/>
                <a:ea typeface="微软雅黑" panose="020B0503020204020204" pitchFamily="34" charset="-122"/>
              </a:rPr>
              <a:t>25</a:t>
            </a:r>
            <a:r>
              <a:rPr lang="zh-CN" altLang="en-US" sz="2400" dirty="0">
                <a:latin typeface="Times New Roman" panose="02020603050405020304" pitchFamily="18" charset="0"/>
                <a:ea typeface="微软雅黑" panose="020B0503020204020204" pitchFamily="34" charset="-122"/>
              </a:rPr>
              <a:t>，普通报，收报地址双流机场气象台，发报时间</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07</a:t>
            </a:r>
            <a:r>
              <a:rPr lang="zh-CN" altLang="en-US" sz="2400" dirty="0">
                <a:latin typeface="Times New Roman" panose="02020603050405020304" pitchFamily="18" charset="0"/>
                <a:ea typeface="微软雅黑" panose="020B0503020204020204" pitchFamily="34" charset="-122"/>
              </a:rPr>
              <a:t>时</a:t>
            </a:r>
            <a:r>
              <a:rPr lang="en-US" altLang="zh-CN" sz="2400" dirty="0">
                <a:latin typeface="Times New Roman" panose="02020603050405020304" pitchFamily="18" charset="0"/>
                <a:ea typeface="微软雅黑" panose="020B0503020204020204" pitchFamily="34" charset="-122"/>
              </a:rPr>
              <a:t>58</a:t>
            </a:r>
            <a:r>
              <a:rPr lang="zh-CN" altLang="en-US" sz="2400" dirty="0">
                <a:latin typeface="Times New Roman" panose="02020603050405020304" pitchFamily="18" charset="0"/>
                <a:ea typeface="微软雅黑" panose="020B0503020204020204" pitchFamily="34" charset="-122"/>
              </a:rPr>
              <a:t>分（世界时），发报地点广汉机场气象台。机场例行天气报告，中国，西南地区，广汉，规定观测时间</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08</a:t>
            </a:r>
            <a:r>
              <a:rPr lang="zh-CN" altLang="en-US" sz="2400" dirty="0">
                <a:latin typeface="Times New Roman" panose="02020603050405020304" pitchFamily="18" charset="0"/>
                <a:ea typeface="微软雅黑" panose="020B0503020204020204" pitchFamily="34" charset="-122"/>
              </a:rPr>
              <a:t>时</a:t>
            </a:r>
            <a:r>
              <a:rPr lang="en-US" altLang="zh-CN" sz="2400" dirty="0">
                <a:latin typeface="Times New Roman" panose="02020603050405020304" pitchFamily="18" charset="0"/>
                <a:ea typeface="微软雅黑" panose="020B0503020204020204" pitchFamily="34" charset="-122"/>
              </a:rPr>
              <a:t>00</a:t>
            </a:r>
            <a:r>
              <a:rPr lang="zh-CN" altLang="en-US" sz="2400" dirty="0">
                <a:latin typeface="Times New Roman" panose="02020603050405020304" pitchFamily="18" charset="0"/>
                <a:ea typeface="微软雅黑" panose="020B0503020204020204" pitchFamily="34" charset="-122"/>
              </a:rPr>
              <a:t>分。</a:t>
            </a:r>
          </a:p>
        </p:txBody>
      </p:sp>
    </p:spTree>
    <p:extLst>
      <p:ext uri="{BB962C8B-B14F-4D97-AF65-F5344CB8AC3E}">
        <p14:creationId xmlns:p14="http://schemas.microsoft.com/office/powerpoint/2010/main" val="351235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033A846-149A-430D-84F1-431B7DD34F90}"/>
              </a:ext>
            </a:extLst>
          </p:cNvPr>
          <p:cNvSpPr txBox="1"/>
          <p:nvPr/>
        </p:nvSpPr>
        <p:spPr>
          <a:xfrm>
            <a:off x="848139" y="556591"/>
            <a:ext cx="9011478" cy="2795958"/>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ZCZC  TYM001</a:t>
            </a:r>
          </a:p>
          <a:p>
            <a:pPr>
              <a:lnSpc>
                <a:spcPct val="150000"/>
              </a:lnSpc>
            </a:pPr>
            <a:r>
              <a:rPr lang="en-US" altLang="zh-CN" sz="2400" dirty="0">
                <a:latin typeface="Times New Roman" panose="02020603050405020304" pitchFamily="18" charset="0"/>
                <a:ea typeface="微软雅黑" panose="020B0503020204020204" pitchFamily="34" charset="-122"/>
              </a:rPr>
              <a:t>GG  ZUUUYMYX  ZPPPYMYX  ZGKLYMYX</a:t>
            </a:r>
          </a:p>
          <a:p>
            <a:pPr>
              <a:lnSpc>
                <a:spcPct val="150000"/>
              </a:lnSpc>
            </a:pPr>
            <a:r>
              <a:rPr lang="en-US" altLang="zh-CN" sz="2400" dirty="0">
                <a:latin typeface="Times New Roman" panose="02020603050405020304" pitchFamily="18" charset="0"/>
                <a:ea typeface="微软雅黑" panose="020B0503020204020204" pitchFamily="34" charset="-122"/>
              </a:rPr>
              <a:t>230355  ZUGHYMYX</a:t>
            </a:r>
          </a:p>
          <a:p>
            <a:pPr>
              <a:lnSpc>
                <a:spcPct val="150000"/>
              </a:lnSpc>
            </a:pPr>
            <a:r>
              <a:rPr lang="en-US" altLang="zh-CN" sz="2400" dirty="0">
                <a:latin typeface="Times New Roman" panose="02020603050405020304" pitchFamily="18" charset="0"/>
                <a:ea typeface="微软雅黑" panose="020B0503020204020204" pitchFamily="34" charset="-122"/>
              </a:rPr>
              <a:t>SACI37  ZUGH  230400</a:t>
            </a:r>
          </a:p>
          <a:p>
            <a:pPr>
              <a:lnSpc>
                <a:spcPct val="150000"/>
              </a:lnSpc>
            </a:pPr>
            <a:endParaRPr lang="zh-CN" altLang="en-US" sz="2400" dirty="0">
              <a:latin typeface="Times New Roman" panose="02020603050405020304" pitchFamily="18" charset="0"/>
              <a:ea typeface="微软雅黑" panose="020B0503020204020204" pitchFamily="34" charset="-122"/>
            </a:endParaRPr>
          </a:p>
        </p:txBody>
      </p:sp>
      <p:sp>
        <p:nvSpPr>
          <p:cNvPr id="5" name="文本框 4">
            <a:extLst>
              <a:ext uri="{FF2B5EF4-FFF2-40B4-BE49-F238E27FC236}">
                <a16:creationId xmlns:a16="http://schemas.microsoft.com/office/drawing/2014/main" id="{C55FD0E1-FD0C-4EA2-B06A-633A3D742A66}"/>
              </a:ext>
            </a:extLst>
          </p:cNvPr>
          <p:cNvSpPr txBox="1"/>
          <p:nvPr/>
        </p:nvSpPr>
        <p:spPr>
          <a:xfrm>
            <a:off x="728870" y="3352549"/>
            <a:ext cx="9607826" cy="2242858"/>
          </a:xfrm>
          <a:prstGeom prst="rect">
            <a:avLst/>
          </a:prstGeom>
          <a:noFill/>
        </p:spPr>
        <p:txBody>
          <a:bodyPr wrap="square" rtlCol="0">
            <a:spAutoFit/>
          </a:bodyPr>
          <a:lstStyle/>
          <a:p>
            <a:pPr indent="457200">
              <a:lnSpc>
                <a:spcPct val="150000"/>
              </a:lnSpc>
            </a:pPr>
            <a:r>
              <a:rPr lang="zh-CN" altLang="en-US" sz="2400" dirty="0">
                <a:latin typeface="Times New Roman" panose="02020603050405020304" pitchFamily="18" charset="0"/>
                <a:ea typeface="微软雅黑" panose="020B0503020204020204" pitchFamily="34" charset="-122"/>
              </a:rPr>
              <a:t>（报头）电报编号</a:t>
            </a:r>
            <a:r>
              <a:rPr lang="en-US" altLang="zh-CN" sz="2400" dirty="0">
                <a:latin typeface="Times New Roman" panose="02020603050405020304" pitchFamily="18" charset="0"/>
                <a:ea typeface="微软雅黑" panose="020B0503020204020204" pitchFamily="34" charset="-122"/>
              </a:rPr>
              <a:t>01</a:t>
            </a:r>
            <a:r>
              <a:rPr lang="zh-CN" altLang="en-US" sz="2400" dirty="0">
                <a:latin typeface="Times New Roman" panose="02020603050405020304" pitchFamily="18" charset="0"/>
                <a:ea typeface="微软雅黑" panose="020B0503020204020204" pitchFamily="34" charset="-122"/>
              </a:rPr>
              <a:t>，普通报，收报地址双流机场、昆明机场和桂林机场气象台，发报时间</a:t>
            </a:r>
            <a:r>
              <a:rPr lang="en-US" altLang="zh-CN" sz="2400" dirty="0">
                <a:latin typeface="Times New Roman" panose="02020603050405020304" pitchFamily="18" charset="0"/>
                <a:ea typeface="微软雅黑" panose="020B0503020204020204" pitchFamily="34" charset="-122"/>
              </a:rPr>
              <a:t>23</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03</a:t>
            </a:r>
            <a:r>
              <a:rPr lang="zh-CN" altLang="en-US" sz="2400" dirty="0">
                <a:latin typeface="Times New Roman" panose="02020603050405020304" pitchFamily="18" charset="0"/>
                <a:ea typeface="微软雅黑" panose="020B0503020204020204" pitchFamily="34" charset="-122"/>
              </a:rPr>
              <a:t>时</a:t>
            </a:r>
            <a:r>
              <a:rPr lang="en-US" altLang="zh-CN" sz="2400" dirty="0">
                <a:latin typeface="Times New Roman" panose="02020603050405020304" pitchFamily="18" charset="0"/>
                <a:ea typeface="微软雅黑" panose="020B0503020204020204" pitchFamily="34" charset="-122"/>
              </a:rPr>
              <a:t>55</a:t>
            </a:r>
            <a:r>
              <a:rPr lang="zh-CN" altLang="en-US" sz="2400" dirty="0">
                <a:latin typeface="Times New Roman" panose="02020603050405020304" pitchFamily="18" charset="0"/>
                <a:ea typeface="微软雅黑" panose="020B0503020204020204" pitchFamily="34" charset="-122"/>
              </a:rPr>
              <a:t>分（世界时），发报地址为广汉机场气象台，日常航空天气报告，中国西南地区，广汉，规定观测时间</a:t>
            </a:r>
            <a:r>
              <a:rPr lang="en-US" altLang="zh-CN" sz="2400" dirty="0">
                <a:latin typeface="Times New Roman" panose="02020603050405020304" pitchFamily="18" charset="0"/>
                <a:ea typeface="微软雅黑" panose="020B0503020204020204" pitchFamily="34" charset="-122"/>
              </a:rPr>
              <a:t>23</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04</a:t>
            </a:r>
            <a:r>
              <a:rPr lang="zh-CN" altLang="en-US" sz="2400" dirty="0">
                <a:latin typeface="Times New Roman" panose="02020603050405020304" pitchFamily="18" charset="0"/>
                <a:ea typeface="微软雅黑" panose="020B0503020204020204" pitchFamily="34" charset="-122"/>
              </a:rPr>
              <a:t>时。</a:t>
            </a:r>
          </a:p>
        </p:txBody>
      </p:sp>
    </p:spTree>
    <p:extLst>
      <p:ext uri="{BB962C8B-B14F-4D97-AF65-F5344CB8AC3E}">
        <p14:creationId xmlns:p14="http://schemas.microsoft.com/office/powerpoint/2010/main" val="126749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p:cNvSpPr>
          <p:nvPr>
            <p:ph type="title" idx="4294967295"/>
          </p:nvPr>
        </p:nvSpPr>
        <p:spPr bwMode="auto">
          <a:xfrm>
            <a:off x="311910" y="99529"/>
            <a:ext cx="2305050" cy="576262"/>
          </a:xfrm>
        </p:spPr>
        <p:txBody>
          <a:bodyPr vert="horz" wrap="square" lIns="91440" tIns="45720" rIns="91440" bIns="45720" numCol="1" rtlCol="0" anchor="t" anchorCtr="0" compatLnSpc="1">
            <a:prstTxWarp prst="textNoShape">
              <a:avLst/>
            </a:prstTxWarp>
            <a:normAutofit fontScale="90000"/>
          </a:bodyPr>
          <a:lstStyle/>
          <a:p>
            <a:pPr>
              <a:defRPr/>
            </a:pPr>
            <a:r>
              <a:rPr lang="zh-CN" altLang="en-US" sz="3200" dirty="0">
                <a:solidFill>
                  <a:schemeClr val="tx1"/>
                </a:solidFill>
                <a:ea typeface="微软雅黑" pitchFamily="34" charset="-122"/>
              </a:rPr>
              <a:t>电报的正文</a:t>
            </a:r>
          </a:p>
        </p:txBody>
      </p:sp>
      <p:sp>
        <p:nvSpPr>
          <p:cNvPr id="52226" name="Rectangle 3"/>
          <p:cNvSpPr>
            <a:spLocks noGrp="1"/>
          </p:cNvSpPr>
          <p:nvPr>
            <p:ph type="body" idx="4294967295"/>
          </p:nvPr>
        </p:nvSpPr>
        <p:spPr>
          <a:xfrm>
            <a:off x="1703389" y="765176"/>
            <a:ext cx="8569325" cy="6092825"/>
          </a:xfrm>
        </p:spPr>
        <p:txBody>
          <a:bodyPr>
            <a:normAutofit/>
          </a:bodyPr>
          <a:lstStyle/>
          <a:p>
            <a:pPr marL="0" indent="0">
              <a:buNone/>
            </a:pPr>
            <a:r>
              <a:rPr lang="zh-CN" altLang="en-US" sz="2400" dirty="0">
                <a:solidFill>
                  <a:schemeClr val="tx1"/>
                </a:solidFill>
                <a:ea typeface="微软雅黑" pitchFamily="34" charset="-122"/>
              </a:rPr>
              <a:t>一、机场例行天气报告（机场特殊天气报告）</a:t>
            </a:r>
          </a:p>
        </p:txBody>
      </p:sp>
      <p:sp>
        <p:nvSpPr>
          <p:cNvPr id="52227" name="Rectangle 3"/>
          <p:cNvSpPr>
            <a:spLocks noChangeArrowheads="1"/>
          </p:cNvSpPr>
          <p:nvPr/>
        </p:nvSpPr>
        <p:spPr bwMode="auto">
          <a:xfrm>
            <a:off x="861391" y="1268414"/>
            <a:ext cx="9555785" cy="5400675"/>
          </a:xfrm>
          <a:prstGeom prst="rect">
            <a:avLst/>
          </a:prstGeom>
          <a:noFill/>
          <a:ln w="9525">
            <a:noFill/>
            <a:miter lim="800000"/>
            <a:headEnd/>
            <a:tailEnd/>
          </a:ln>
        </p:spPr>
        <p:txBody>
          <a:bodyPr/>
          <a:lstStyle/>
          <a:p>
            <a:pPr eaLnBrk="0" hangingPunct="0">
              <a:lnSpc>
                <a:spcPct val="150000"/>
              </a:lnSpc>
              <a:spcBef>
                <a:spcPts val="400"/>
              </a:spcBef>
              <a:buClr>
                <a:schemeClr val="accent1"/>
              </a:buClr>
              <a:buSzPct val="68000"/>
            </a:pPr>
            <a:r>
              <a:rPr lang="en-US" altLang="zh-CN" sz="2800" dirty="0">
                <a:latin typeface="微软雅黑" pitchFamily="34" charset="-122"/>
                <a:ea typeface="微软雅黑" pitchFamily="34" charset="-122"/>
              </a:rPr>
              <a:t>       </a:t>
            </a:r>
            <a:r>
              <a:rPr lang="en-US" altLang="zh-CN" sz="2400" dirty="0">
                <a:latin typeface="Times New Roman" panose="02020603050405020304" pitchFamily="18" charset="0"/>
                <a:ea typeface="微软雅黑" pitchFamily="34" charset="-122"/>
              </a:rPr>
              <a:t>METAR </a:t>
            </a:r>
            <a:r>
              <a:rPr lang="zh-CN" altLang="en-US" sz="2400" dirty="0">
                <a:latin typeface="Times New Roman" panose="02020603050405020304" pitchFamily="18" charset="0"/>
                <a:ea typeface="微软雅黑" pitchFamily="34" charset="-122"/>
              </a:rPr>
              <a:t>是</a:t>
            </a:r>
            <a:r>
              <a:rPr lang="en-US" altLang="zh-CN" sz="2400" dirty="0">
                <a:latin typeface="Times New Roman" panose="02020603050405020304" pitchFamily="18" charset="0"/>
                <a:ea typeface="微软雅黑" pitchFamily="34" charset="-122"/>
              </a:rPr>
              <a:t>Meteorological Terminal Aviation Routine Weather Report </a:t>
            </a:r>
            <a:r>
              <a:rPr lang="zh-CN" altLang="en-US" sz="2400" dirty="0">
                <a:latin typeface="Times New Roman" panose="02020603050405020304" pitchFamily="18" charset="0"/>
                <a:ea typeface="微软雅黑" pitchFamily="34" charset="-122"/>
              </a:rPr>
              <a:t>（航空例行天气报告）的缩写。</a:t>
            </a:r>
          </a:p>
          <a:p>
            <a:pPr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       航空例行天气报告</a:t>
            </a:r>
            <a:r>
              <a:rPr lang="en-US" altLang="zh-CN" sz="2400" dirty="0">
                <a:latin typeface="Times New Roman" panose="02020603050405020304" pitchFamily="18" charset="0"/>
                <a:ea typeface="微软雅黑" pitchFamily="34" charset="-122"/>
              </a:rPr>
              <a:t>METAR</a:t>
            </a:r>
            <a:r>
              <a:rPr lang="zh-CN" altLang="en-US" sz="2400" dirty="0">
                <a:latin typeface="Times New Roman" panose="02020603050405020304" pitchFamily="18" charset="0"/>
                <a:ea typeface="微软雅黑" pitchFamily="34" charset="-122"/>
              </a:rPr>
              <a:t>是以标准的国际格式报告的当前地表天气观测资料。虽然</a:t>
            </a:r>
            <a:r>
              <a:rPr lang="en-US" altLang="zh-CN" sz="2400" dirty="0">
                <a:latin typeface="Times New Roman" panose="02020603050405020304" pitchFamily="18" charset="0"/>
                <a:ea typeface="微软雅黑" pitchFamily="34" charset="-122"/>
              </a:rPr>
              <a:t>METAR</a:t>
            </a:r>
            <a:r>
              <a:rPr lang="zh-CN" altLang="en-US" sz="2400" dirty="0">
                <a:latin typeface="Times New Roman" panose="02020603050405020304" pitchFamily="18" charset="0"/>
                <a:ea typeface="微软雅黑" pitchFamily="34" charset="-122"/>
              </a:rPr>
              <a:t>代码被全球广泛采纳，但是也允许每个国家对代码做出修改</a:t>
            </a:r>
          </a:p>
          <a:p>
            <a:pPr eaLnBrk="0" hangingPunct="0">
              <a:lnSpc>
                <a:spcPct val="150000"/>
              </a:lnSpc>
              <a:spcBef>
                <a:spcPts val="400"/>
              </a:spcBef>
              <a:buClr>
                <a:schemeClr val="accent1"/>
              </a:buClr>
              <a:buSzPct val="68000"/>
            </a:pPr>
            <a:r>
              <a:rPr lang="zh-CN" altLang="en-US" sz="2400" dirty="0">
                <a:latin typeface="Times New Roman" panose="02020603050405020304" pitchFamily="18" charset="0"/>
                <a:ea typeface="微软雅黑" pitchFamily="34" charset="-122"/>
              </a:rPr>
              <a:t>       通常地，这些差别是很小的，但是必须适应本地的规程或特殊度量单位。</a:t>
            </a:r>
          </a:p>
          <a:p>
            <a:pPr eaLnBrk="0" hangingPunct="0">
              <a:lnSpc>
                <a:spcPct val="120000"/>
              </a:lnSpc>
              <a:spcBef>
                <a:spcPts val="400"/>
              </a:spcBef>
              <a:buClr>
                <a:schemeClr val="accent1"/>
              </a:buClr>
              <a:buSzPct val="68000"/>
            </a:pPr>
            <a:r>
              <a:rPr lang="zh-CN" altLang="en-US" sz="2800" dirty="0">
                <a:latin typeface="微软雅黑" pitchFamily="34" charset="-122"/>
                <a:ea typeface="微软雅黑" pitchFamily="34" charset="-122"/>
              </a:rPr>
              <a:t>       </a:t>
            </a:r>
            <a:r>
              <a:rPr lang="zh-CN" altLang="en-US" sz="2800" b="1" dirty="0">
                <a:solidFill>
                  <a:srgbClr val="FF0000"/>
                </a:solidFill>
                <a:latin typeface="微软雅黑" pitchFamily="34" charset="-122"/>
                <a:ea typeface="微软雅黑" pitchFamily="34" charset="-122"/>
              </a:rPr>
              <a:t>一份典型的</a:t>
            </a:r>
            <a:r>
              <a:rPr lang="en-US" altLang="zh-CN" sz="2800" b="1" dirty="0">
                <a:solidFill>
                  <a:srgbClr val="FF0000"/>
                </a:solidFill>
                <a:latin typeface="微软雅黑" pitchFamily="34" charset="-122"/>
                <a:ea typeface="微软雅黑" pitchFamily="34" charset="-122"/>
              </a:rPr>
              <a:t>METAR</a:t>
            </a:r>
            <a:r>
              <a:rPr lang="zh-CN" altLang="en-US" sz="2800" b="1" dirty="0">
                <a:solidFill>
                  <a:srgbClr val="FF0000"/>
                </a:solidFill>
                <a:latin typeface="微软雅黑" pitchFamily="34" charset="-122"/>
                <a:ea typeface="微软雅黑" pitchFamily="34" charset="-122"/>
              </a:rPr>
              <a:t>报告按顺序包含下列信息：</a:t>
            </a:r>
          </a:p>
        </p:txBody>
      </p:sp>
    </p:spTree>
    <p:extLst>
      <p:ext uri="{BB962C8B-B14F-4D97-AF65-F5344CB8AC3E}">
        <p14:creationId xmlns:p14="http://schemas.microsoft.com/office/powerpoint/2010/main" val="3619788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p:cNvSpPr>
          <p:nvPr>
            <p:ph type="body" idx="4294967295"/>
          </p:nvPr>
        </p:nvSpPr>
        <p:spPr>
          <a:xfrm>
            <a:off x="914401" y="260351"/>
            <a:ext cx="10270434" cy="6597649"/>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第一组：</a:t>
            </a:r>
            <a:r>
              <a:rPr lang="en-US" altLang="zh-CN" sz="2400" dirty="0">
                <a:solidFill>
                  <a:schemeClr val="tx1"/>
                </a:solidFill>
                <a:latin typeface="Times New Roman" panose="02020603050405020304" pitchFamily="18" charset="0"/>
                <a:ea typeface="微软雅黑" panose="020B0503020204020204" pitchFamily="34" charset="-122"/>
              </a:rPr>
              <a:t>METAR</a:t>
            </a:r>
            <a:r>
              <a:rPr lang="zh-CN" altLang="en-US" sz="2400" dirty="0">
                <a:solidFill>
                  <a:schemeClr val="tx1"/>
                </a:solidFill>
                <a:latin typeface="Times New Roman" panose="02020603050405020304" pitchFamily="18" charset="0"/>
                <a:ea typeface="微软雅黑" panose="020B0503020204020204" pitchFamily="34" charset="-122"/>
              </a:rPr>
              <a:t>或</a:t>
            </a:r>
            <a:r>
              <a:rPr lang="en-US" altLang="zh-CN" sz="2400" dirty="0">
                <a:solidFill>
                  <a:schemeClr val="tx1"/>
                </a:solidFill>
                <a:latin typeface="Times New Roman" panose="02020603050405020304" pitchFamily="18" charset="0"/>
                <a:ea typeface="微软雅黑" panose="020B0503020204020204" pitchFamily="34" charset="-122"/>
              </a:rPr>
              <a:t>SPECI    </a:t>
            </a:r>
            <a:r>
              <a:rPr lang="en-US" altLang="en-US" sz="2400" dirty="0" err="1">
                <a:solidFill>
                  <a:schemeClr val="tx1"/>
                </a:solidFill>
                <a:latin typeface="Times New Roman" panose="02020603050405020304" pitchFamily="18" charset="0"/>
                <a:ea typeface="微软雅黑" panose="020B0503020204020204" pitchFamily="34" charset="-122"/>
              </a:rPr>
              <a:t>报告类型</a:t>
            </a:r>
            <a:endParaRPr lang="en-US" altLang="zh-CN" sz="2400" dirty="0">
              <a:solidFill>
                <a:schemeClr val="tx1"/>
              </a:solidFill>
              <a:latin typeface="Times New Roman" panose="02020603050405020304" pitchFamily="18" charset="0"/>
              <a:ea typeface="微软雅黑" panose="020B0503020204020204" pitchFamily="34" charset="-122"/>
            </a:endParaRPr>
          </a:p>
          <a:p>
            <a:pPr marL="0" indent="0">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METAR:</a:t>
            </a:r>
            <a:r>
              <a:rPr lang="zh-CN" altLang="en-US" sz="2400" dirty="0">
                <a:solidFill>
                  <a:schemeClr val="tx1"/>
                </a:solidFill>
                <a:latin typeface="Times New Roman" panose="02020603050405020304" pitchFamily="18" charset="0"/>
                <a:ea typeface="微软雅黑" panose="020B0503020204020204" pitchFamily="34" charset="-122"/>
              </a:rPr>
              <a:t>机场日常航空天气报告</a:t>
            </a:r>
          </a:p>
          <a:p>
            <a:pPr marL="0" indent="0">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SPECI :</a:t>
            </a:r>
            <a:r>
              <a:rPr lang="zh-CN" altLang="en-US" sz="2400" dirty="0">
                <a:solidFill>
                  <a:schemeClr val="tx1"/>
                </a:solidFill>
                <a:latin typeface="Times New Roman" panose="02020603050405020304" pitchFamily="18" charset="0"/>
                <a:ea typeface="微软雅黑" panose="020B0503020204020204" pitchFamily="34" charset="-122"/>
              </a:rPr>
              <a:t>机场特殊天气报告</a:t>
            </a:r>
          </a:p>
          <a:p>
            <a:pPr marL="0" indent="0">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METAR</a:t>
            </a:r>
            <a:r>
              <a:rPr lang="zh-CN" altLang="en-US" sz="2400" dirty="0">
                <a:solidFill>
                  <a:schemeClr val="tx1"/>
                </a:solidFill>
                <a:latin typeface="Times New Roman" panose="02020603050405020304" pitchFamily="18" charset="0"/>
                <a:ea typeface="微软雅黑" panose="020B0503020204020204" pitchFamily="34" charset="-122"/>
              </a:rPr>
              <a:t>（</a:t>
            </a:r>
            <a:r>
              <a:rPr lang="en-US" altLang="zh-CN" sz="2400" dirty="0">
                <a:solidFill>
                  <a:schemeClr val="tx1"/>
                </a:solidFill>
                <a:latin typeface="Times New Roman" panose="02020603050405020304" pitchFamily="18" charset="0"/>
                <a:ea typeface="微软雅黑" panose="020B0503020204020204" pitchFamily="34" charset="-122"/>
              </a:rPr>
              <a:t>SPECI</a:t>
            </a:r>
            <a:r>
              <a:rPr lang="zh-CN" altLang="en-US" sz="2400" dirty="0">
                <a:solidFill>
                  <a:schemeClr val="tx1"/>
                </a:solidFill>
                <a:latin typeface="Times New Roman" panose="02020603050405020304" pitchFamily="18" charset="0"/>
                <a:ea typeface="微软雅黑" panose="020B0503020204020204" pitchFamily="34" charset="-122"/>
              </a:rPr>
              <a:t>）</a:t>
            </a:r>
            <a:r>
              <a:rPr lang="en-US" altLang="zh-CN" sz="2400" dirty="0">
                <a:solidFill>
                  <a:schemeClr val="tx1"/>
                </a:solidFill>
                <a:latin typeface="Times New Roman" panose="02020603050405020304" pitchFamily="18" charset="0"/>
                <a:ea typeface="微软雅黑" panose="020B0503020204020204" pitchFamily="34" charset="-122"/>
              </a:rPr>
              <a:t>COR    </a:t>
            </a:r>
            <a:r>
              <a:rPr lang="zh-CN" altLang="en-US" sz="2400" dirty="0">
                <a:solidFill>
                  <a:schemeClr val="tx1"/>
                </a:solidFill>
                <a:latin typeface="Times New Roman" panose="02020603050405020304" pitchFamily="18" charset="0"/>
                <a:ea typeface="微软雅黑" panose="020B0503020204020204" pitchFamily="34" charset="-122"/>
              </a:rPr>
              <a:t>更正报</a:t>
            </a:r>
          </a:p>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第二组：</a:t>
            </a:r>
            <a:r>
              <a:rPr lang="en-US" altLang="zh-CN" sz="2400" dirty="0">
                <a:solidFill>
                  <a:schemeClr val="tx1"/>
                </a:solidFill>
                <a:latin typeface="Times New Roman" panose="02020603050405020304" pitchFamily="18" charset="0"/>
                <a:ea typeface="微软雅黑" panose="020B0503020204020204" pitchFamily="34" charset="-122"/>
              </a:rPr>
              <a:t>CCCC   </a:t>
            </a:r>
            <a:r>
              <a:rPr lang="zh-CN" altLang="en-US" sz="2400" dirty="0">
                <a:solidFill>
                  <a:schemeClr val="tx1"/>
                </a:solidFill>
                <a:latin typeface="Times New Roman" panose="02020603050405020304" pitchFamily="18" charset="0"/>
                <a:ea typeface="微软雅黑" panose="020B0503020204020204" pitchFamily="34" charset="-122"/>
              </a:rPr>
              <a:t>站台识别码</a:t>
            </a:r>
          </a:p>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       每一个站台使用四字母代码来识别的，代码由国际民航组织</a:t>
            </a:r>
            <a:r>
              <a:rPr lang="en-US" altLang="zh-CN" sz="2400" dirty="0">
                <a:solidFill>
                  <a:schemeClr val="tx1"/>
                </a:solidFill>
                <a:latin typeface="Times New Roman" panose="02020603050405020304" pitchFamily="18" charset="0"/>
                <a:ea typeface="微软雅黑" panose="020B0503020204020204" pitchFamily="34" charset="-122"/>
              </a:rPr>
              <a:t>(ICAO)</a:t>
            </a:r>
            <a:r>
              <a:rPr lang="zh-CN" altLang="en-US" sz="2400" dirty="0">
                <a:solidFill>
                  <a:schemeClr val="tx1"/>
                </a:solidFill>
                <a:latin typeface="Times New Roman" panose="02020603050405020304" pitchFamily="18" charset="0"/>
                <a:ea typeface="微软雅黑" panose="020B0503020204020204" pitchFamily="34" charset="-122"/>
              </a:rPr>
              <a:t>确定。</a:t>
            </a:r>
          </a:p>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首都机场</a:t>
            </a:r>
            <a:r>
              <a:rPr lang="en-US" altLang="zh-CN" sz="2400" dirty="0">
                <a:solidFill>
                  <a:schemeClr val="tx1"/>
                </a:solidFill>
                <a:latin typeface="Times New Roman" panose="02020603050405020304" pitchFamily="18" charset="0"/>
                <a:ea typeface="微软雅黑" panose="020B0503020204020204" pitchFamily="34" charset="-122"/>
              </a:rPr>
              <a:t>:ZBAA   </a:t>
            </a:r>
            <a:r>
              <a:rPr lang="zh-CN" altLang="en-US" sz="2400" dirty="0">
                <a:solidFill>
                  <a:schemeClr val="tx1"/>
                </a:solidFill>
                <a:latin typeface="Times New Roman" panose="02020603050405020304" pitchFamily="18" charset="0"/>
                <a:ea typeface="微软雅黑" panose="020B0503020204020204" pitchFamily="34" charset="-122"/>
              </a:rPr>
              <a:t>杭州笕桥</a:t>
            </a:r>
            <a:r>
              <a:rPr lang="en-US" altLang="zh-CN" sz="2400" dirty="0">
                <a:solidFill>
                  <a:schemeClr val="tx1"/>
                </a:solidFill>
                <a:latin typeface="Times New Roman" panose="02020603050405020304" pitchFamily="18" charset="0"/>
                <a:ea typeface="微软雅黑" panose="020B0503020204020204" pitchFamily="34" charset="-122"/>
              </a:rPr>
              <a:t>: ZSHC  </a:t>
            </a:r>
            <a:r>
              <a:rPr lang="zh-CN" altLang="en-US" sz="2400" dirty="0">
                <a:solidFill>
                  <a:schemeClr val="tx1"/>
                </a:solidFill>
                <a:latin typeface="Times New Roman" panose="02020603050405020304" pitchFamily="18" charset="0"/>
                <a:ea typeface="微软雅黑" panose="020B0503020204020204" pitchFamily="34" charset="-122"/>
              </a:rPr>
              <a:t>广州白云</a:t>
            </a:r>
            <a:r>
              <a:rPr lang="en-US" altLang="zh-CN" sz="2400" dirty="0">
                <a:solidFill>
                  <a:schemeClr val="tx1"/>
                </a:solidFill>
                <a:latin typeface="Times New Roman" panose="02020603050405020304" pitchFamily="18" charset="0"/>
                <a:ea typeface="微软雅黑" panose="020B0503020204020204" pitchFamily="34" charset="-122"/>
              </a:rPr>
              <a:t>:ZGGG  </a:t>
            </a:r>
            <a:r>
              <a:rPr lang="zh-CN" altLang="en-US" sz="2400" dirty="0">
                <a:solidFill>
                  <a:schemeClr val="tx1"/>
                </a:solidFill>
                <a:latin typeface="Times New Roman" panose="02020603050405020304" pitchFamily="18" charset="0"/>
                <a:ea typeface="微软雅黑" panose="020B0503020204020204" pitchFamily="34" charset="-122"/>
              </a:rPr>
              <a:t>上海虹桥</a:t>
            </a:r>
            <a:r>
              <a:rPr lang="en-US" altLang="zh-CN" sz="2400" dirty="0">
                <a:solidFill>
                  <a:schemeClr val="tx1"/>
                </a:solidFill>
                <a:latin typeface="Times New Roman" panose="02020603050405020304" pitchFamily="18" charset="0"/>
                <a:ea typeface="微软雅黑" panose="020B0503020204020204" pitchFamily="34" charset="-122"/>
              </a:rPr>
              <a:t>: ZSSS   </a:t>
            </a:r>
          </a:p>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拉萨贡嘎</a:t>
            </a:r>
            <a:r>
              <a:rPr lang="en-US" altLang="zh-CN" sz="2400" dirty="0">
                <a:solidFill>
                  <a:schemeClr val="tx1"/>
                </a:solidFill>
                <a:latin typeface="Times New Roman" panose="02020603050405020304" pitchFamily="18" charset="0"/>
                <a:ea typeface="微软雅黑" panose="020B0503020204020204" pitchFamily="34" charset="-122"/>
              </a:rPr>
              <a:t>: ZULS   </a:t>
            </a:r>
            <a:r>
              <a:rPr lang="zh-CN" altLang="en-US" sz="2400" dirty="0">
                <a:solidFill>
                  <a:schemeClr val="tx1"/>
                </a:solidFill>
                <a:latin typeface="Times New Roman" panose="02020603050405020304" pitchFamily="18" charset="0"/>
                <a:ea typeface="微软雅黑" panose="020B0503020204020204" pitchFamily="34" charset="-122"/>
              </a:rPr>
              <a:t>成都双流</a:t>
            </a:r>
            <a:r>
              <a:rPr lang="en-US" altLang="zh-CN" sz="2400" dirty="0">
                <a:solidFill>
                  <a:schemeClr val="tx1"/>
                </a:solidFill>
                <a:latin typeface="Times New Roman" panose="02020603050405020304" pitchFamily="18" charset="0"/>
                <a:ea typeface="微软雅黑" panose="020B0503020204020204" pitchFamily="34" charset="-122"/>
              </a:rPr>
              <a:t>:ZUUU </a:t>
            </a:r>
            <a:r>
              <a:rPr lang="zh-CN" altLang="en-US" sz="2400" dirty="0">
                <a:solidFill>
                  <a:schemeClr val="tx1"/>
                </a:solidFill>
                <a:latin typeface="Times New Roman" panose="02020603050405020304" pitchFamily="18" charset="0"/>
                <a:ea typeface="微软雅黑" panose="020B0503020204020204" pitchFamily="34" charset="-122"/>
              </a:rPr>
              <a:t> 深圳</a:t>
            </a:r>
            <a:r>
              <a:rPr lang="en-US" altLang="zh-CN" sz="2400" dirty="0">
                <a:solidFill>
                  <a:schemeClr val="tx1"/>
                </a:solidFill>
                <a:latin typeface="Times New Roman" panose="02020603050405020304" pitchFamily="18" charset="0"/>
                <a:ea typeface="微软雅黑" panose="020B0503020204020204" pitchFamily="34" charset="-122"/>
              </a:rPr>
              <a:t>:ZGSZ</a:t>
            </a:r>
          </a:p>
        </p:txBody>
      </p:sp>
    </p:spTree>
    <p:extLst>
      <p:ext uri="{BB962C8B-B14F-4D97-AF65-F5344CB8AC3E}">
        <p14:creationId xmlns:p14="http://schemas.microsoft.com/office/powerpoint/2010/main" val="2880888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p:cNvSpPr>
            <a:spLocks noGrp="1" noChangeArrowheads="1"/>
          </p:cNvSpPr>
          <p:nvPr>
            <p:ph type="body" idx="4294967295"/>
          </p:nvPr>
        </p:nvSpPr>
        <p:spPr>
          <a:xfrm>
            <a:off x="318052" y="269876"/>
            <a:ext cx="12152244" cy="6524625"/>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第三组  （</a:t>
            </a:r>
            <a:r>
              <a:rPr lang="en-US" altLang="zh-CN" sz="2400" dirty="0" err="1">
                <a:solidFill>
                  <a:schemeClr val="tx1"/>
                </a:solidFill>
                <a:latin typeface="Times New Roman" panose="02020603050405020304" pitchFamily="18" charset="0"/>
                <a:ea typeface="微软雅黑" pitchFamily="34" charset="-122"/>
              </a:rPr>
              <a:t>YYGGggZ</a:t>
            </a:r>
            <a:r>
              <a:rPr lang="zh-CN" altLang="en-US" sz="2400" dirty="0">
                <a:solidFill>
                  <a:schemeClr val="tx1"/>
                </a:solidFill>
                <a:latin typeface="Times New Roman" panose="02020603050405020304" pitchFamily="18" charset="0"/>
                <a:ea typeface="微软雅黑" pitchFamily="34" charset="-122"/>
              </a:rPr>
              <a:t>）  报告日期和时间</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日期和时间以一组</a:t>
            </a:r>
            <a:r>
              <a:rPr lang="en-US" altLang="zh-CN" sz="2400" dirty="0">
                <a:solidFill>
                  <a:schemeClr val="tx1"/>
                </a:solidFill>
                <a:latin typeface="Times New Roman" panose="02020603050405020304" pitchFamily="18" charset="0"/>
                <a:ea typeface="微软雅黑" pitchFamily="34" charset="-122"/>
              </a:rPr>
              <a:t>6</a:t>
            </a:r>
            <a:r>
              <a:rPr lang="zh-CN" altLang="en-US" sz="2400" dirty="0">
                <a:solidFill>
                  <a:schemeClr val="tx1"/>
                </a:solidFill>
                <a:latin typeface="Times New Roman" panose="02020603050405020304" pitchFamily="18" charset="0"/>
                <a:ea typeface="微软雅黑" pitchFamily="34" charset="-122"/>
              </a:rPr>
              <a:t>位数字表示：</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前两位数字表示日期</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后</a:t>
            </a:r>
            <a:r>
              <a:rPr lang="en-US" altLang="zh-CN" sz="2400" dirty="0">
                <a:solidFill>
                  <a:schemeClr val="tx1"/>
                </a:solidFill>
                <a:latin typeface="Times New Roman" panose="02020603050405020304" pitchFamily="18" charset="0"/>
                <a:ea typeface="微软雅黑" pitchFamily="34" charset="-122"/>
              </a:rPr>
              <a:t>4</a:t>
            </a:r>
            <a:r>
              <a:rPr lang="zh-CN" altLang="en-US" sz="2400" dirty="0">
                <a:solidFill>
                  <a:schemeClr val="tx1"/>
                </a:solidFill>
                <a:latin typeface="Times New Roman" panose="02020603050405020304" pitchFamily="18" charset="0"/>
                <a:ea typeface="微软雅黑" pitchFamily="34" charset="-122"/>
              </a:rPr>
              <a:t>位数字是</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的时间，它总是以世界协调时</a:t>
            </a:r>
            <a:r>
              <a:rPr lang="en-US" altLang="zh-CN" sz="2400" dirty="0">
                <a:solidFill>
                  <a:schemeClr val="tx1"/>
                </a:solidFill>
                <a:latin typeface="Times New Roman" panose="02020603050405020304" pitchFamily="18" charset="0"/>
                <a:ea typeface="微软雅黑" pitchFamily="34" charset="-122"/>
              </a:rPr>
              <a:t>(UTC)</a:t>
            </a:r>
            <a:r>
              <a:rPr lang="zh-CN" altLang="en-US" sz="2400" dirty="0">
                <a:solidFill>
                  <a:schemeClr val="tx1"/>
                </a:solidFill>
                <a:latin typeface="Times New Roman" panose="02020603050405020304" pitchFamily="18" charset="0"/>
                <a:ea typeface="微软雅黑" pitchFamily="34" charset="-122"/>
              </a:rPr>
              <a:t>给出。附加在时间末尾的字母”</a:t>
            </a:r>
            <a:r>
              <a:rPr lang="en-US" altLang="zh-CN" sz="2400" dirty="0">
                <a:solidFill>
                  <a:schemeClr val="tx1"/>
                </a:solidFill>
                <a:latin typeface="Times New Roman" panose="02020603050405020304" pitchFamily="18" charset="0"/>
                <a:ea typeface="微软雅黑" pitchFamily="34" charset="-122"/>
              </a:rPr>
              <a:t>Z”</a:t>
            </a:r>
            <a:r>
              <a:rPr lang="zh-CN" altLang="en-US" sz="2400" dirty="0">
                <a:solidFill>
                  <a:schemeClr val="tx1"/>
                </a:solidFill>
                <a:latin typeface="Times New Roman" panose="02020603050405020304" pitchFamily="18" charset="0"/>
                <a:ea typeface="微软雅黑" pitchFamily="34" charset="-122"/>
              </a:rPr>
              <a:t>表示时间是以”祖鲁”时间</a:t>
            </a:r>
            <a:r>
              <a:rPr lang="en-US" altLang="zh-CN" sz="2400" dirty="0">
                <a:solidFill>
                  <a:schemeClr val="tx1"/>
                </a:solidFill>
                <a:latin typeface="Times New Roman" panose="02020603050405020304" pitchFamily="18" charset="0"/>
                <a:ea typeface="微软雅黑" pitchFamily="34" charset="-122"/>
              </a:rPr>
              <a:t>(UTC)</a:t>
            </a:r>
            <a:r>
              <a:rPr lang="zh-CN" altLang="en-US" sz="2400" dirty="0">
                <a:solidFill>
                  <a:schemeClr val="tx1"/>
                </a:solidFill>
                <a:latin typeface="Times New Roman" panose="02020603050405020304" pitchFamily="18" charset="0"/>
                <a:ea typeface="微软雅黑" pitchFamily="34" charset="-122"/>
              </a:rPr>
              <a:t>给出的，而不是本地时间。（祖鲁是航空英文</a:t>
            </a:r>
            <a:r>
              <a:rPr lang="en-US" altLang="zh-CN" sz="2400" dirty="0">
                <a:solidFill>
                  <a:schemeClr val="tx1"/>
                </a:solidFill>
                <a:latin typeface="Times New Roman" panose="02020603050405020304" pitchFamily="18" charset="0"/>
                <a:ea typeface="微软雅黑" pitchFamily="34" charset="-122"/>
              </a:rPr>
              <a:t>Z</a:t>
            </a:r>
            <a:r>
              <a:rPr lang="zh-CN" altLang="en-US" sz="2400" dirty="0">
                <a:solidFill>
                  <a:schemeClr val="tx1"/>
                </a:solidFill>
                <a:latin typeface="Times New Roman" panose="02020603050405020304" pitchFamily="18" charset="0"/>
                <a:ea typeface="微软雅黑" pitchFamily="34" charset="-122"/>
              </a:rPr>
              <a:t>的读音</a:t>
            </a:r>
            <a:r>
              <a:rPr lang="en-US" altLang="zh-CN" sz="2400" dirty="0">
                <a:solidFill>
                  <a:schemeClr val="tx1"/>
                </a:solidFill>
                <a:latin typeface="Times New Roman" panose="02020603050405020304" pitchFamily="18" charset="0"/>
                <a:ea typeface="微软雅黑" pitchFamily="34" charset="-122"/>
              </a:rPr>
              <a:t>(Zulu)</a:t>
            </a:r>
            <a:r>
              <a:rPr lang="zh-CN" altLang="en-US" sz="2400" dirty="0">
                <a:solidFill>
                  <a:schemeClr val="tx1"/>
                </a:solidFill>
                <a:latin typeface="Times New Roman" panose="02020603050405020304" pitchFamily="18" charset="0"/>
                <a:ea typeface="微软雅黑" pitchFamily="34" charset="-122"/>
              </a:rPr>
              <a:t>，在航空和军事上</a:t>
            </a:r>
            <a:r>
              <a:rPr lang="en-US" altLang="zh-CN" sz="2400" dirty="0">
                <a:solidFill>
                  <a:schemeClr val="tx1"/>
                </a:solidFill>
                <a:latin typeface="Times New Roman" panose="02020603050405020304" pitchFamily="18" charset="0"/>
                <a:ea typeface="微软雅黑" pitchFamily="34" charset="-122"/>
              </a:rPr>
              <a:t>Z</a:t>
            </a:r>
            <a:r>
              <a:rPr lang="zh-CN" altLang="en-US" sz="2400" dirty="0">
                <a:solidFill>
                  <a:schemeClr val="tx1"/>
                </a:solidFill>
                <a:latin typeface="Times New Roman" panose="02020603050405020304" pitchFamily="18" charset="0"/>
                <a:ea typeface="微软雅黑" pitchFamily="34" charset="-122"/>
              </a:rPr>
              <a:t>时区和民用的</a:t>
            </a:r>
            <a:r>
              <a:rPr lang="en-US" altLang="zh-CN" sz="2400" dirty="0">
                <a:solidFill>
                  <a:schemeClr val="tx1"/>
                </a:solidFill>
                <a:latin typeface="Times New Roman" panose="02020603050405020304" pitchFamily="18" charset="0"/>
                <a:ea typeface="微软雅黑" pitchFamily="34" charset="-122"/>
              </a:rPr>
              <a:t>UTC</a:t>
            </a:r>
            <a:r>
              <a:rPr lang="zh-CN" altLang="en-US" sz="2400" dirty="0">
                <a:solidFill>
                  <a:schemeClr val="tx1"/>
                </a:solidFill>
                <a:latin typeface="Times New Roman" panose="02020603050405020304" pitchFamily="18" charset="0"/>
                <a:ea typeface="微软雅黑" pitchFamily="34" charset="-122"/>
              </a:rPr>
              <a:t>对应）。</a:t>
            </a:r>
            <a:r>
              <a:rPr lang="en-US" altLang="zh-CN" sz="2400" dirty="0">
                <a:solidFill>
                  <a:schemeClr val="tx1"/>
                </a:solidFill>
                <a:latin typeface="Times New Roman" panose="02020603050405020304" pitchFamily="18" charset="0"/>
                <a:ea typeface="微软雅黑" pitchFamily="34" charset="-122"/>
              </a:rPr>
              <a:t>Z”</a:t>
            </a:r>
            <a:r>
              <a:rPr lang="zh-CN" altLang="en-US" sz="2400" dirty="0">
                <a:solidFill>
                  <a:schemeClr val="tx1"/>
                </a:solidFill>
                <a:latin typeface="Times New Roman" panose="02020603050405020304" pitchFamily="18" charset="0"/>
                <a:ea typeface="微软雅黑" pitchFamily="34" charset="-122"/>
              </a:rPr>
              <a:t>是世界时的指示码</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以北京时为准，向东加，往西减</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北京为东</a:t>
            </a:r>
            <a:r>
              <a:rPr lang="en-US" altLang="zh-CN" sz="2400" dirty="0">
                <a:solidFill>
                  <a:schemeClr val="tx1"/>
                </a:solidFill>
                <a:latin typeface="Times New Roman" panose="02020603050405020304" pitchFamily="18" charset="0"/>
                <a:ea typeface="微软雅黑" pitchFamily="34" charset="-122"/>
              </a:rPr>
              <a:t>8</a:t>
            </a:r>
            <a:r>
              <a:rPr lang="zh-CN" altLang="en-US" sz="2400" dirty="0">
                <a:solidFill>
                  <a:schemeClr val="tx1"/>
                </a:solidFill>
                <a:latin typeface="Times New Roman" panose="02020603050405020304" pitchFamily="18" charset="0"/>
                <a:ea typeface="微软雅黑" pitchFamily="34" charset="-122"/>
              </a:rPr>
              <a:t>区，零时区在西面，知道北京时，求世界时，应减： </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世界时</a:t>
            </a:r>
            <a:r>
              <a:rPr lang="en-US" altLang="zh-CN" sz="2400" dirty="0">
                <a:solidFill>
                  <a:schemeClr val="tx1"/>
                </a:solidFill>
                <a:latin typeface="Times New Roman" panose="02020603050405020304" pitchFamily="18" charset="0"/>
                <a:ea typeface="微软雅黑" pitchFamily="34" charset="-122"/>
              </a:rPr>
              <a:t>z</a:t>
            </a:r>
            <a:r>
              <a:rPr lang="zh-CN"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北京时－</a:t>
            </a:r>
            <a:r>
              <a:rPr lang="en-US" altLang="zh-CN" sz="2400" dirty="0">
                <a:solidFill>
                  <a:schemeClr val="tx1"/>
                </a:solidFill>
                <a:latin typeface="Times New Roman" panose="02020603050405020304" pitchFamily="18" charset="0"/>
                <a:ea typeface="微软雅黑" pitchFamily="34" charset="-122"/>
              </a:rPr>
              <a:t>8    </a:t>
            </a:r>
            <a:r>
              <a:rPr lang="zh-CN" altLang="en-US" sz="2400" dirty="0">
                <a:solidFill>
                  <a:schemeClr val="tx1"/>
                </a:solidFill>
                <a:latin typeface="Times New Roman" panose="02020603050405020304" pitchFamily="18" charset="0"/>
                <a:ea typeface="微软雅黑" pitchFamily="34" charset="-122"/>
              </a:rPr>
              <a:t>北京时＝</a:t>
            </a:r>
            <a:r>
              <a:rPr lang="en-US" altLang="zh-CN" sz="2400" dirty="0">
                <a:solidFill>
                  <a:schemeClr val="tx1"/>
                </a:solidFill>
                <a:latin typeface="Times New Roman" panose="02020603050405020304" pitchFamily="18" charset="0"/>
                <a:ea typeface="微软雅黑" pitchFamily="34" charset="-122"/>
              </a:rPr>
              <a:t>Z </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8</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例子：</a:t>
            </a:r>
            <a:r>
              <a:rPr lang="en-US" altLang="zh-CN" sz="2400" dirty="0">
                <a:solidFill>
                  <a:schemeClr val="tx1"/>
                </a:solidFill>
                <a:latin typeface="Times New Roman" panose="02020603050405020304" pitchFamily="18" charset="0"/>
                <a:ea typeface="微软雅黑" pitchFamily="34" charset="-122"/>
              </a:rPr>
              <a:t>161700Z </a:t>
            </a:r>
          </a:p>
        </p:txBody>
      </p:sp>
    </p:spTree>
    <p:extLst>
      <p:ext uri="{BB962C8B-B14F-4D97-AF65-F5344CB8AC3E}">
        <p14:creationId xmlns:p14="http://schemas.microsoft.com/office/powerpoint/2010/main" val="54534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p:cNvSpPr>
          <p:nvPr>
            <p:ph type="body" idx="1"/>
          </p:nvPr>
        </p:nvSpPr>
        <p:spPr>
          <a:xfrm>
            <a:off x="0" y="188914"/>
            <a:ext cx="10787270" cy="2663825"/>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第四组 （</a:t>
            </a:r>
            <a:r>
              <a:rPr lang="en-US" altLang="zh-CN" sz="2400" dirty="0">
                <a:solidFill>
                  <a:schemeClr val="tx1"/>
                </a:solidFill>
                <a:latin typeface="Times New Roman" panose="02020603050405020304" pitchFamily="18" charset="0"/>
                <a:ea typeface="微软雅黑" pitchFamily="34" charset="-122"/>
              </a:rPr>
              <a:t>AUTO</a:t>
            </a:r>
            <a:r>
              <a:rPr lang="zh-CN" altLang="en-US" sz="2400" dirty="0">
                <a:solidFill>
                  <a:schemeClr val="tx1"/>
                </a:solidFill>
                <a:latin typeface="Times New Roman" panose="02020603050405020304" pitchFamily="18" charset="0"/>
                <a:ea typeface="微软雅黑" pitchFamily="34" charset="-122"/>
              </a:rPr>
              <a:t>）组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如果在报告中列出了”</a:t>
            </a:r>
            <a:r>
              <a:rPr lang="en-US" altLang="zh-CN" sz="2400" dirty="0">
                <a:solidFill>
                  <a:schemeClr val="tx1"/>
                </a:solidFill>
                <a:latin typeface="Times New Roman" panose="02020603050405020304" pitchFamily="18" charset="0"/>
                <a:ea typeface="微软雅黑" pitchFamily="34" charset="-122"/>
              </a:rPr>
              <a:t>AUTO”</a:t>
            </a:r>
            <a:r>
              <a:rPr lang="zh-CN" altLang="en-US" sz="2400" dirty="0">
                <a:solidFill>
                  <a:schemeClr val="tx1"/>
                </a:solidFill>
                <a:latin typeface="Times New Roman" panose="02020603050405020304" pitchFamily="18" charset="0"/>
                <a:ea typeface="微软雅黑" pitchFamily="34" charset="-122"/>
              </a:rPr>
              <a:t>符号，报告就来自于自动化观测系统。</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由自动化观测系统自动生成的报告只在机场的非运行时间内使用，这些报告应以“</a:t>
            </a:r>
            <a:r>
              <a:rPr lang="en-US" altLang="zh-CN" sz="2400" dirty="0">
                <a:solidFill>
                  <a:schemeClr val="tx1"/>
                </a:solidFill>
                <a:latin typeface="Times New Roman" panose="02020603050405020304" pitchFamily="18" charset="0"/>
                <a:ea typeface="微软雅黑" pitchFamily="34" charset="-122"/>
              </a:rPr>
              <a:t>AUTO”</a:t>
            </a:r>
            <a:r>
              <a:rPr lang="zh-CN" altLang="en-US" sz="2400" dirty="0">
                <a:solidFill>
                  <a:schemeClr val="tx1"/>
                </a:solidFill>
                <a:latin typeface="Times New Roman" panose="02020603050405020304" pitchFamily="18" charset="0"/>
                <a:ea typeface="微软雅黑" pitchFamily="34" charset="-122"/>
              </a:rPr>
              <a:t>标识。</a:t>
            </a:r>
          </a:p>
        </p:txBody>
      </p:sp>
      <p:pic>
        <p:nvPicPr>
          <p:cNvPr id="55298" name="Picture 4" descr="0934454886"/>
          <p:cNvPicPr>
            <a:picLocks noChangeAspect="1" noChangeArrowheads="1"/>
          </p:cNvPicPr>
          <p:nvPr/>
        </p:nvPicPr>
        <p:blipFill>
          <a:blip r:embed="rId2"/>
          <a:srcRect/>
          <a:stretch>
            <a:fillRect/>
          </a:stretch>
        </p:blipFill>
        <p:spPr bwMode="auto">
          <a:xfrm>
            <a:off x="3215481" y="2874961"/>
            <a:ext cx="5761037" cy="3794125"/>
          </a:xfrm>
          <a:prstGeom prst="rect">
            <a:avLst/>
          </a:prstGeom>
          <a:noFill/>
          <a:ln w="9525">
            <a:noFill/>
            <a:miter lim="800000"/>
            <a:headEnd/>
            <a:tailEnd/>
          </a:ln>
        </p:spPr>
      </p:pic>
    </p:spTree>
    <p:extLst>
      <p:ext uri="{BB962C8B-B14F-4D97-AF65-F5344CB8AC3E}">
        <p14:creationId xmlns:p14="http://schemas.microsoft.com/office/powerpoint/2010/main" val="39728493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ChangeArrowheads="1"/>
          </p:cNvSpPr>
          <p:nvPr/>
        </p:nvSpPr>
        <p:spPr bwMode="auto">
          <a:xfrm>
            <a:off x="1703388" y="981076"/>
            <a:ext cx="1008062" cy="360363"/>
          </a:xfrm>
          <a:prstGeom prst="rect">
            <a:avLst/>
          </a:prstGeom>
          <a:solidFill>
            <a:schemeClr val="bg1"/>
          </a:solidFill>
          <a:ln w="9525">
            <a:solidFill>
              <a:srgbClr val="FF0000"/>
            </a:solidFill>
            <a:miter lim="800000"/>
            <a:headEnd/>
            <a:tailEnd/>
          </a:ln>
        </p:spPr>
        <p:txBody>
          <a:bodyPr wrap="none" anchor="ctr"/>
          <a:lstStyle/>
          <a:p>
            <a:endParaRPr lang="zh-CN" altLang="en-US"/>
          </a:p>
        </p:txBody>
      </p:sp>
      <p:sp>
        <p:nvSpPr>
          <p:cNvPr id="56322" name="Rectangle 3"/>
          <p:cNvSpPr>
            <a:spLocks noGrp="1" noChangeArrowheads="1"/>
          </p:cNvSpPr>
          <p:nvPr>
            <p:ph type="body" idx="4294967295"/>
          </p:nvPr>
        </p:nvSpPr>
        <p:spPr>
          <a:xfrm>
            <a:off x="1677989" y="260351"/>
            <a:ext cx="8713787" cy="5994675"/>
          </a:xfrm>
        </p:spPr>
        <p:txBody>
          <a:bodyPr>
            <a:normAutofit fontScale="92500" lnSpcReduction="20000"/>
          </a:bodyPr>
          <a:lstStyle/>
          <a:p>
            <a:pPr marL="0" indent="0">
              <a:lnSpc>
                <a:spcPct val="160000"/>
              </a:lnSpc>
              <a:buNone/>
            </a:pPr>
            <a:r>
              <a:rPr lang="zh-CN" altLang="en-US" sz="2800" dirty="0">
                <a:solidFill>
                  <a:schemeClr val="tx1"/>
                </a:solidFill>
                <a:latin typeface="Times New Roman" panose="02020603050405020304" pitchFamily="18" charset="0"/>
                <a:ea typeface="微软雅黑" pitchFamily="34" charset="-122"/>
              </a:rPr>
              <a:t>第五组 风向风速</a:t>
            </a:r>
          </a:p>
          <a:p>
            <a:pPr marL="0" indent="0">
              <a:lnSpc>
                <a:spcPct val="160000"/>
              </a:lnSpc>
              <a:buNone/>
            </a:pPr>
            <a:r>
              <a:rPr lang="en-US" altLang="zh-CN" sz="2800" dirty="0" err="1">
                <a:solidFill>
                  <a:schemeClr val="tx1"/>
                </a:solidFill>
                <a:latin typeface="Times New Roman" panose="02020603050405020304" pitchFamily="18" charset="0"/>
                <a:ea typeface="微软雅黑" pitchFamily="34" charset="-122"/>
              </a:rPr>
              <a:t>dddffGf</a:t>
            </a:r>
            <a:r>
              <a:rPr lang="en-US" altLang="zh-CN" sz="2800" baseline="-25000" dirty="0" err="1">
                <a:solidFill>
                  <a:schemeClr val="tx1"/>
                </a:solidFill>
                <a:latin typeface="Times New Roman" panose="02020603050405020304" pitchFamily="18" charset="0"/>
                <a:ea typeface="微软雅黑" pitchFamily="34" charset="-122"/>
              </a:rPr>
              <a:t>m</a:t>
            </a:r>
            <a:r>
              <a:rPr lang="en-US" altLang="zh-CN" sz="2800" dirty="0" err="1">
                <a:solidFill>
                  <a:schemeClr val="tx1"/>
                </a:solidFill>
                <a:latin typeface="Times New Roman" panose="02020603050405020304" pitchFamily="18" charset="0"/>
                <a:ea typeface="微软雅黑" pitchFamily="34" charset="-122"/>
              </a:rPr>
              <a:t>f</a:t>
            </a:r>
            <a:r>
              <a:rPr lang="en-US" altLang="zh-CN" sz="2800" baseline="-25000" dirty="0" err="1">
                <a:solidFill>
                  <a:schemeClr val="tx1"/>
                </a:solidFill>
                <a:latin typeface="Times New Roman" panose="02020603050405020304" pitchFamily="18" charset="0"/>
                <a:ea typeface="微软雅黑" pitchFamily="34" charset="-122"/>
              </a:rPr>
              <a:t>m</a:t>
            </a:r>
            <a:r>
              <a:rPr lang="en-US" altLang="zh-CN" sz="2800" dirty="0">
                <a:solidFill>
                  <a:schemeClr val="tx1"/>
                </a:solidFill>
                <a:latin typeface="Times New Roman" panose="02020603050405020304" pitchFamily="18" charset="0"/>
                <a:ea typeface="微软雅黑" pitchFamily="34" charset="-122"/>
              </a:rPr>
              <a:t>  MPS  </a:t>
            </a:r>
            <a:r>
              <a:rPr lang="en-US" altLang="zh-CN" sz="2800" dirty="0" err="1">
                <a:solidFill>
                  <a:schemeClr val="tx1"/>
                </a:solidFill>
                <a:latin typeface="Times New Roman" panose="02020603050405020304" pitchFamily="18" charset="0"/>
                <a:ea typeface="微软雅黑" pitchFamily="34" charset="-122"/>
              </a:rPr>
              <a:t>d</a:t>
            </a:r>
            <a:r>
              <a:rPr lang="en-US" altLang="zh-CN" sz="2800" baseline="-25000" dirty="0" err="1">
                <a:solidFill>
                  <a:schemeClr val="tx1"/>
                </a:solidFill>
                <a:latin typeface="Times New Roman" panose="02020603050405020304" pitchFamily="18" charset="0"/>
                <a:ea typeface="微软雅黑" pitchFamily="34" charset="-122"/>
              </a:rPr>
              <a:t>n</a:t>
            </a:r>
            <a:r>
              <a:rPr lang="en-US" altLang="zh-CN" sz="2800" dirty="0" err="1">
                <a:solidFill>
                  <a:schemeClr val="tx1"/>
                </a:solidFill>
                <a:latin typeface="Times New Roman" panose="02020603050405020304" pitchFamily="18" charset="0"/>
                <a:ea typeface="微软雅黑" pitchFamily="34" charset="-122"/>
              </a:rPr>
              <a:t>d</a:t>
            </a:r>
            <a:r>
              <a:rPr lang="en-US" altLang="zh-CN" sz="2800" baseline="-25000" dirty="0" err="1">
                <a:solidFill>
                  <a:schemeClr val="tx1"/>
                </a:solidFill>
                <a:latin typeface="Times New Roman" panose="02020603050405020304" pitchFamily="18" charset="0"/>
                <a:ea typeface="微软雅黑" pitchFamily="34" charset="-122"/>
              </a:rPr>
              <a:t>n</a:t>
            </a:r>
            <a:r>
              <a:rPr lang="en-US" altLang="zh-CN" sz="2800" dirty="0" err="1">
                <a:solidFill>
                  <a:schemeClr val="tx1"/>
                </a:solidFill>
                <a:latin typeface="Times New Roman" panose="02020603050405020304" pitchFamily="18" charset="0"/>
                <a:ea typeface="微软雅黑" pitchFamily="34" charset="-122"/>
              </a:rPr>
              <a:t>d</a:t>
            </a:r>
            <a:r>
              <a:rPr lang="en-US" altLang="zh-CN" sz="2800" baseline="-25000" dirty="0" err="1">
                <a:solidFill>
                  <a:schemeClr val="tx1"/>
                </a:solidFill>
                <a:latin typeface="Times New Roman" panose="02020603050405020304" pitchFamily="18" charset="0"/>
                <a:ea typeface="微软雅黑" pitchFamily="34" charset="-122"/>
              </a:rPr>
              <a:t>n</a:t>
            </a:r>
            <a:r>
              <a:rPr lang="en-US" altLang="zh-CN" sz="2800" dirty="0" err="1">
                <a:solidFill>
                  <a:schemeClr val="tx1"/>
                </a:solidFill>
                <a:latin typeface="Times New Roman" panose="02020603050405020304" pitchFamily="18" charset="0"/>
                <a:ea typeface="微软雅黑" pitchFamily="34" charset="-122"/>
              </a:rPr>
              <a:t>Vd</a:t>
            </a:r>
            <a:r>
              <a:rPr lang="en-US" altLang="zh-CN" sz="2800" baseline="-25000" dirty="0" err="1">
                <a:solidFill>
                  <a:schemeClr val="tx1"/>
                </a:solidFill>
                <a:latin typeface="Times New Roman" panose="02020603050405020304" pitchFamily="18" charset="0"/>
                <a:ea typeface="微软雅黑" pitchFamily="34" charset="-122"/>
              </a:rPr>
              <a:t>x</a:t>
            </a:r>
            <a:r>
              <a:rPr lang="en-US" altLang="zh-CN" sz="2800" dirty="0" err="1">
                <a:solidFill>
                  <a:schemeClr val="tx1"/>
                </a:solidFill>
                <a:latin typeface="Times New Roman" panose="02020603050405020304" pitchFamily="18" charset="0"/>
                <a:ea typeface="微软雅黑" pitchFamily="34" charset="-122"/>
              </a:rPr>
              <a:t>d</a:t>
            </a:r>
            <a:r>
              <a:rPr lang="en-US" altLang="zh-CN" sz="2800" baseline="-25000" dirty="0" err="1">
                <a:solidFill>
                  <a:schemeClr val="tx1"/>
                </a:solidFill>
                <a:latin typeface="Times New Roman" panose="02020603050405020304" pitchFamily="18" charset="0"/>
                <a:ea typeface="微软雅黑" pitchFamily="34" charset="-122"/>
              </a:rPr>
              <a:t>x</a:t>
            </a:r>
            <a:r>
              <a:rPr lang="en-US" altLang="zh-CN" sz="2800" dirty="0" err="1">
                <a:solidFill>
                  <a:schemeClr val="tx1"/>
                </a:solidFill>
                <a:latin typeface="Times New Roman" panose="02020603050405020304" pitchFamily="18" charset="0"/>
                <a:ea typeface="微软雅黑" pitchFamily="34" charset="-122"/>
              </a:rPr>
              <a:t>d</a:t>
            </a:r>
            <a:r>
              <a:rPr lang="en-US" altLang="zh-CN" sz="2800" baseline="-25000" dirty="0" err="1">
                <a:solidFill>
                  <a:schemeClr val="tx1"/>
                </a:solidFill>
                <a:latin typeface="Times New Roman" panose="02020603050405020304" pitchFamily="18" charset="0"/>
                <a:ea typeface="微软雅黑" pitchFamily="34" charset="-122"/>
              </a:rPr>
              <a:t>x</a:t>
            </a:r>
            <a:endParaRPr lang="zh-CN" altLang="en-US" sz="2800" baseline="-25000" dirty="0">
              <a:solidFill>
                <a:schemeClr val="tx1"/>
              </a:solidFill>
              <a:latin typeface="Times New Roman" panose="02020603050405020304" pitchFamily="18" charset="0"/>
              <a:ea typeface="微软雅黑" pitchFamily="34" charset="-122"/>
            </a:endParaRPr>
          </a:p>
          <a:p>
            <a:pPr marL="0" indent="0">
              <a:lnSpc>
                <a:spcPct val="160000"/>
              </a:lnSpc>
              <a:buNone/>
            </a:pPr>
            <a:r>
              <a:rPr lang="zh-CN" altLang="en-US" sz="2800" dirty="0">
                <a:solidFill>
                  <a:schemeClr val="tx1"/>
                </a:solidFill>
                <a:latin typeface="Times New Roman" panose="02020603050405020304" pitchFamily="18" charset="0"/>
                <a:ea typeface="微软雅黑" pitchFamily="34" charset="-122"/>
              </a:rPr>
              <a:t>     </a:t>
            </a:r>
            <a:r>
              <a:rPr lang="en-US" altLang="zh-CN" sz="2800" dirty="0" err="1">
                <a:solidFill>
                  <a:schemeClr val="tx1"/>
                </a:solidFill>
                <a:latin typeface="Times New Roman" panose="02020603050405020304" pitchFamily="18" charset="0"/>
                <a:ea typeface="微软雅黑" pitchFamily="34" charset="-122"/>
              </a:rPr>
              <a:t>dddff</a:t>
            </a:r>
            <a:r>
              <a:rPr lang="zh-CN" altLang="en-US" sz="2800" dirty="0">
                <a:solidFill>
                  <a:schemeClr val="tx1"/>
                </a:solidFill>
                <a:latin typeface="Times New Roman" panose="02020603050405020304" pitchFamily="18" charset="0"/>
                <a:ea typeface="微软雅黑" pitchFamily="34" charset="-122"/>
              </a:rPr>
              <a:t>为观测前</a:t>
            </a:r>
            <a:r>
              <a:rPr lang="en-US" altLang="zh-CN" sz="2800" dirty="0">
                <a:solidFill>
                  <a:schemeClr val="tx1"/>
                </a:solidFill>
                <a:latin typeface="Times New Roman" panose="02020603050405020304" pitchFamily="18" charset="0"/>
                <a:ea typeface="微软雅黑" pitchFamily="34" charset="-122"/>
              </a:rPr>
              <a:t>10</a:t>
            </a:r>
            <a:r>
              <a:rPr lang="zh-CN" altLang="en-US" sz="2800" dirty="0">
                <a:solidFill>
                  <a:schemeClr val="tx1"/>
                </a:solidFill>
                <a:latin typeface="Times New Roman" panose="02020603050405020304" pitchFamily="18" charset="0"/>
                <a:ea typeface="微软雅黑" pitchFamily="34" charset="-122"/>
              </a:rPr>
              <a:t>分钟内的平均风向</a:t>
            </a:r>
            <a:r>
              <a:rPr lang="en-US" altLang="zh-CN" sz="2800" dirty="0">
                <a:solidFill>
                  <a:schemeClr val="tx1"/>
                </a:solidFill>
                <a:latin typeface="Times New Roman" panose="02020603050405020304" pitchFamily="18" charset="0"/>
                <a:ea typeface="微软雅黑" pitchFamily="34" charset="-122"/>
              </a:rPr>
              <a:t>(</a:t>
            </a:r>
            <a:r>
              <a:rPr lang="zh-CN" altLang="en-US" sz="2800" dirty="0">
                <a:solidFill>
                  <a:schemeClr val="tx1"/>
                </a:solidFill>
                <a:latin typeface="Times New Roman" panose="02020603050405020304" pitchFamily="18" charset="0"/>
                <a:ea typeface="微软雅黑" pitchFamily="34" charset="-122"/>
              </a:rPr>
              <a:t>以</a:t>
            </a:r>
            <a:r>
              <a:rPr lang="en-US" altLang="zh-CN" sz="2800" dirty="0">
                <a:solidFill>
                  <a:schemeClr val="tx1"/>
                </a:solidFill>
                <a:latin typeface="Times New Roman" panose="02020603050405020304" pitchFamily="18" charset="0"/>
                <a:ea typeface="微软雅黑" pitchFamily="34" charset="-122"/>
              </a:rPr>
              <a:t>10°</a:t>
            </a:r>
            <a:r>
              <a:rPr lang="zh-CN" altLang="en-US" sz="2800" dirty="0">
                <a:solidFill>
                  <a:schemeClr val="tx1"/>
                </a:solidFill>
                <a:latin typeface="Times New Roman" panose="02020603050405020304" pitchFamily="18" charset="0"/>
                <a:ea typeface="微软雅黑" pitchFamily="34" charset="-122"/>
              </a:rPr>
              <a:t>为单位</a:t>
            </a:r>
            <a:r>
              <a:rPr lang="en-US" altLang="zh-CN" sz="2800" dirty="0">
                <a:solidFill>
                  <a:schemeClr val="tx1"/>
                </a:solidFill>
                <a:latin typeface="Times New Roman" panose="02020603050405020304" pitchFamily="18" charset="0"/>
                <a:ea typeface="微软雅黑" pitchFamily="34" charset="-122"/>
              </a:rPr>
              <a:t>)</a:t>
            </a:r>
            <a:r>
              <a:rPr lang="zh-CN" altLang="en-US" sz="2800" dirty="0">
                <a:solidFill>
                  <a:schemeClr val="tx1"/>
                </a:solidFill>
                <a:latin typeface="Times New Roman" panose="02020603050405020304" pitchFamily="18" charset="0"/>
                <a:ea typeface="微软雅黑" pitchFamily="34" charset="-122"/>
              </a:rPr>
              <a:t>和风速；</a:t>
            </a:r>
          </a:p>
          <a:p>
            <a:pPr marL="0" indent="0">
              <a:lnSpc>
                <a:spcPct val="160000"/>
              </a:lnSpc>
              <a:buNone/>
            </a:pPr>
            <a:r>
              <a:rPr lang="zh-CN" altLang="en-US" sz="2800" dirty="0">
                <a:solidFill>
                  <a:schemeClr val="tx1"/>
                </a:solidFill>
                <a:latin typeface="Times New Roman" panose="02020603050405020304" pitchFamily="18" charset="0"/>
                <a:ea typeface="微软雅黑" pitchFamily="34" charset="-122"/>
              </a:rPr>
              <a:t>     </a:t>
            </a:r>
            <a:r>
              <a:rPr lang="en-US" altLang="zh-CN" sz="2800" dirty="0">
                <a:solidFill>
                  <a:schemeClr val="tx1"/>
                </a:solidFill>
                <a:latin typeface="Times New Roman" panose="02020603050405020304" pitchFamily="18" charset="0"/>
                <a:ea typeface="微软雅黑" pitchFamily="34" charset="-122"/>
              </a:rPr>
              <a:t>G</a:t>
            </a:r>
            <a:r>
              <a:rPr lang="zh-CN" altLang="en-US" sz="2800" dirty="0">
                <a:solidFill>
                  <a:schemeClr val="tx1"/>
                </a:solidFill>
                <a:latin typeface="Times New Roman" panose="02020603050405020304" pitchFamily="18" charset="0"/>
                <a:ea typeface="微软雅黑" pitchFamily="34" charset="-122"/>
              </a:rPr>
              <a:t>为阵风指示码，无阵风略去，</a:t>
            </a:r>
          </a:p>
          <a:p>
            <a:pPr marL="0" indent="0">
              <a:lnSpc>
                <a:spcPct val="160000"/>
              </a:lnSpc>
              <a:buNone/>
            </a:pPr>
            <a:r>
              <a:rPr lang="en-US" altLang="zh-CN" sz="2800" dirty="0">
                <a:solidFill>
                  <a:schemeClr val="tx1"/>
                </a:solidFill>
                <a:latin typeface="Times New Roman" panose="02020603050405020304" pitchFamily="18" charset="0"/>
                <a:ea typeface="微软雅黑" pitchFamily="34" charset="-122"/>
              </a:rPr>
              <a:t>     </a:t>
            </a:r>
            <a:r>
              <a:rPr lang="en-US" altLang="zh-CN" sz="2800" dirty="0" err="1">
                <a:solidFill>
                  <a:schemeClr val="tx1"/>
                </a:solidFill>
                <a:latin typeface="Times New Roman" panose="02020603050405020304" pitchFamily="18" charset="0"/>
                <a:ea typeface="微软雅黑" pitchFamily="34" charset="-122"/>
              </a:rPr>
              <a:t>f</a:t>
            </a:r>
            <a:r>
              <a:rPr lang="en-US" altLang="zh-CN" sz="2800" baseline="-25000" dirty="0" err="1">
                <a:solidFill>
                  <a:schemeClr val="tx1"/>
                </a:solidFill>
                <a:latin typeface="Times New Roman" panose="02020603050405020304" pitchFamily="18" charset="0"/>
                <a:ea typeface="微软雅黑" pitchFamily="34" charset="-122"/>
              </a:rPr>
              <a:t>m</a:t>
            </a:r>
            <a:r>
              <a:rPr lang="en-US" altLang="zh-CN" sz="2800" dirty="0" err="1">
                <a:solidFill>
                  <a:schemeClr val="tx1"/>
                </a:solidFill>
                <a:latin typeface="Times New Roman" panose="02020603050405020304" pitchFamily="18" charset="0"/>
                <a:ea typeface="微软雅黑" pitchFamily="34" charset="-122"/>
              </a:rPr>
              <a:t>f</a:t>
            </a:r>
            <a:r>
              <a:rPr lang="en-US" altLang="zh-CN" sz="2800" baseline="-25000" dirty="0" err="1">
                <a:solidFill>
                  <a:schemeClr val="tx1"/>
                </a:solidFill>
                <a:latin typeface="Times New Roman" panose="02020603050405020304" pitchFamily="18" charset="0"/>
                <a:ea typeface="微软雅黑" pitchFamily="34" charset="-122"/>
              </a:rPr>
              <a:t>m</a:t>
            </a:r>
            <a:r>
              <a:rPr lang="zh-CN" altLang="en-US" sz="2800" dirty="0">
                <a:solidFill>
                  <a:schemeClr val="tx1"/>
                </a:solidFill>
                <a:latin typeface="Times New Roman" panose="02020603050405020304" pitchFamily="18" charset="0"/>
                <a:ea typeface="微软雅黑" pitchFamily="34" charset="-122"/>
              </a:rPr>
              <a:t>为维持</a:t>
            </a:r>
            <a:r>
              <a:rPr lang="en-US" altLang="zh-CN" sz="2800" dirty="0">
                <a:solidFill>
                  <a:schemeClr val="tx1"/>
                </a:solidFill>
                <a:latin typeface="Times New Roman" panose="02020603050405020304" pitchFamily="18" charset="0"/>
                <a:ea typeface="微软雅黑" pitchFamily="34" charset="-122"/>
              </a:rPr>
              <a:t>3</a:t>
            </a:r>
            <a:r>
              <a:rPr lang="zh-CN" altLang="en-US" sz="2800" dirty="0">
                <a:solidFill>
                  <a:schemeClr val="tx1"/>
                </a:solidFill>
                <a:latin typeface="Times New Roman" panose="02020603050405020304" pitchFamily="18" charset="0"/>
                <a:ea typeface="微软雅黑" pitchFamily="34" charset="-122"/>
              </a:rPr>
              <a:t>秒以上平均风速大于</a:t>
            </a:r>
            <a:r>
              <a:rPr lang="en-US" altLang="zh-CN" sz="2800" dirty="0">
                <a:solidFill>
                  <a:schemeClr val="tx1"/>
                </a:solidFill>
                <a:latin typeface="Times New Roman" panose="02020603050405020304" pitchFamily="18" charset="0"/>
                <a:ea typeface="微软雅黑" pitchFamily="34" charset="-122"/>
              </a:rPr>
              <a:t>5</a:t>
            </a:r>
            <a:r>
              <a:rPr lang="zh-CN" altLang="en-US" sz="2800" dirty="0">
                <a:solidFill>
                  <a:schemeClr val="tx1"/>
                </a:solidFill>
                <a:latin typeface="Times New Roman" panose="02020603050405020304" pitchFamily="18" charset="0"/>
                <a:ea typeface="微软雅黑" pitchFamily="34" charset="-122"/>
              </a:rPr>
              <a:t>米秒的阵风</a:t>
            </a:r>
          </a:p>
          <a:p>
            <a:pPr marL="0" indent="0">
              <a:lnSpc>
                <a:spcPct val="160000"/>
              </a:lnSpc>
              <a:buNone/>
            </a:pPr>
            <a:r>
              <a:rPr lang="en-US" altLang="zh-CN" sz="2800" dirty="0">
                <a:solidFill>
                  <a:schemeClr val="tx1"/>
                </a:solidFill>
                <a:latin typeface="Times New Roman" panose="02020603050405020304" pitchFamily="18" charset="0"/>
                <a:ea typeface="微软雅黑" pitchFamily="34" charset="-122"/>
              </a:rPr>
              <a:t>    MPS</a:t>
            </a:r>
            <a:r>
              <a:rPr lang="zh-CN" altLang="en-US" sz="2800" dirty="0">
                <a:solidFill>
                  <a:schemeClr val="tx1"/>
                </a:solidFill>
                <a:latin typeface="Times New Roman" panose="02020603050405020304" pitchFamily="18" charset="0"/>
                <a:ea typeface="微软雅黑" pitchFamily="34" charset="-122"/>
              </a:rPr>
              <a:t>：风速的单位</a:t>
            </a:r>
            <a:r>
              <a:rPr lang="en-US" altLang="zh-CN" sz="2800" dirty="0">
                <a:solidFill>
                  <a:schemeClr val="tx1"/>
                </a:solidFill>
                <a:latin typeface="Times New Roman" panose="02020603050405020304" pitchFamily="18" charset="0"/>
                <a:ea typeface="微软雅黑" pitchFamily="34" charset="-122"/>
              </a:rPr>
              <a:t>m/s  meter per second</a:t>
            </a:r>
          </a:p>
          <a:p>
            <a:pPr marL="0" indent="0">
              <a:lnSpc>
                <a:spcPct val="160000"/>
              </a:lnSpc>
              <a:buNone/>
            </a:pPr>
            <a:r>
              <a:rPr lang="en-US" altLang="zh-CN" sz="2800" dirty="0">
                <a:solidFill>
                  <a:schemeClr val="tx1"/>
                </a:solidFill>
                <a:latin typeface="Times New Roman" panose="02020603050405020304" pitchFamily="18" charset="0"/>
                <a:ea typeface="微软雅黑" pitchFamily="34" charset="-122"/>
              </a:rPr>
              <a:t>    KT: </a:t>
            </a:r>
            <a:r>
              <a:rPr lang="zh-CN" altLang="en-US" sz="2800" dirty="0">
                <a:solidFill>
                  <a:schemeClr val="tx1"/>
                </a:solidFill>
                <a:latin typeface="Times New Roman" panose="02020603050405020304" pitchFamily="18" charset="0"/>
                <a:ea typeface="微软雅黑" pitchFamily="34" charset="-122"/>
              </a:rPr>
              <a:t>海里</a:t>
            </a:r>
            <a:r>
              <a:rPr lang="en-US" altLang="zh-CN" sz="2800" dirty="0">
                <a:solidFill>
                  <a:schemeClr val="tx1"/>
                </a:solidFill>
                <a:latin typeface="Times New Roman" panose="02020603050405020304" pitchFamily="18" charset="0"/>
                <a:ea typeface="微软雅黑" pitchFamily="34" charset="-122"/>
              </a:rPr>
              <a:t>/</a:t>
            </a:r>
            <a:r>
              <a:rPr lang="zh-CN" altLang="en-US" sz="2800" dirty="0">
                <a:solidFill>
                  <a:schemeClr val="tx1"/>
                </a:solidFill>
                <a:latin typeface="Times New Roman" panose="02020603050405020304" pitchFamily="18" charset="0"/>
                <a:ea typeface="微软雅黑" pitchFamily="34" charset="-122"/>
              </a:rPr>
              <a:t>小时      </a:t>
            </a:r>
            <a:r>
              <a:rPr lang="en-US" altLang="zh-CN" sz="2800" dirty="0">
                <a:solidFill>
                  <a:schemeClr val="tx1"/>
                </a:solidFill>
                <a:latin typeface="Times New Roman" panose="02020603050405020304" pitchFamily="18" charset="0"/>
                <a:ea typeface="微软雅黑" pitchFamily="34" charset="-122"/>
              </a:rPr>
              <a:t>KMH  </a:t>
            </a:r>
            <a:r>
              <a:rPr lang="zh-CN" altLang="en-US" sz="2800" dirty="0">
                <a:solidFill>
                  <a:schemeClr val="tx1"/>
                </a:solidFill>
                <a:latin typeface="Times New Roman" panose="02020603050405020304" pitchFamily="18" charset="0"/>
                <a:ea typeface="微软雅黑" pitchFamily="34" charset="-122"/>
              </a:rPr>
              <a:t>公里</a:t>
            </a:r>
            <a:r>
              <a:rPr lang="en-US" altLang="zh-CN" sz="2800" dirty="0">
                <a:solidFill>
                  <a:schemeClr val="tx1"/>
                </a:solidFill>
                <a:latin typeface="Times New Roman" panose="02020603050405020304" pitchFamily="18" charset="0"/>
                <a:ea typeface="微软雅黑" pitchFamily="34" charset="-122"/>
              </a:rPr>
              <a:t>/</a:t>
            </a:r>
            <a:r>
              <a:rPr lang="zh-CN" altLang="en-US" sz="2800" dirty="0">
                <a:solidFill>
                  <a:schemeClr val="tx1"/>
                </a:solidFill>
                <a:latin typeface="Times New Roman" panose="02020603050405020304" pitchFamily="18" charset="0"/>
                <a:ea typeface="微软雅黑" pitchFamily="34" charset="-122"/>
              </a:rPr>
              <a:t>小时 </a:t>
            </a:r>
          </a:p>
          <a:p>
            <a:pPr marL="0" indent="0">
              <a:lnSpc>
                <a:spcPct val="160000"/>
              </a:lnSpc>
              <a:buNone/>
            </a:pPr>
            <a:r>
              <a:rPr lang="zh-CN" altLang="en-US" sz="2800" dirty="0">
                <a:solidFill>
                  <a:schemeClr val="tx1"/>
                </a:solidFill>
                <a:latin typeface="Times New Roman" panose="02020603050405020304" pitchFamily="18" charset="0"/>
                <a:ea typeface="微软雅黑" pitchFamily="34" charset="-122"/>
              </a:rPr>
              <a:t>例如：</a:t>
            </a:r>
            <a:r>
              <a:rPr lang="en-US" altLang="zh-CN" sz="2800" dirty="0">
                <a:solidFill>
                  <a:schemeClr val="tx1"/>
                </a:solidFill>
                <a:latin typeface="Times New Roman" panose="02020603050405020304" pitchFamily="18" charset="0"/>
                <a:ea typeface="微软雅黑" pitchFamily="34" charset="-122"/>
              </a:rPr>
              <a:t>34006G12MPS   </a:t>
            </a:r>
          </a:p>
          <a:p>
            <a:pPr marL="0" indent="0">
              <a:lnSpc>
                <a:spcPct val="120000"/>
              </a:lnSpc>
              <a:buNone/>
            </a:pPr>
            <a:r>
              <a:rPr lang="zh-CN" altLang="en-US" sz="2800" dirty="0">
                <a:latin typeface="微软雅黑" pitchFamily="34" charset="-122"/>
                <a:ea typeface="微软雅黑" pitchFamily="34" charset="-122"/>
              </a:rPr>
              <a:t>     </a:t>
            </a:r>
            <a:endParaRPr lang="en-US" altLang="zh-CN" sz="2800" dirty="0">
              <a:latin typeface="微软雅黑" pitchFamily="34" charset="-122"/>
              <a:ea typeface="微软雅黑" pitchFamily="34" charset="-122"/>
            </a:endParaRPr>
          </a:p>
        </p:txBody>
      </p:sp>
      <p:sp>
        <p:nvSpPr>
          <p:cNvPr id="58372" name="Rectangle 4"/>
          <p:cNvSpPr>
            <a:spLocks noChangeArrowheads="1"/>
          </p:cNvSpPr>
          <p:nvPr/>
        </p:nvSpPr>
        <p:spPr bwMode="auto">
          <a:xfrm>
            <a:off x="2547247" y="5735914"/>
            <a:ext cx="6551612" cy="519112"/>
          </a:xfrm>
          <a:prstGeom prst="rect">
            <a:avLst/>
          </a:prstGeom>
          <a:noFill/>
          <a:ln w="9525">
            <a:noFill/>
            <a:miter lim="800000"/>
            <a:headEnd/>
            <a:tailEnd/>
          </a:ln>
        </p:spPr>
        <p:txBody>
          <a:bodyPr>
            <a:spAutoFit/>
          </a:bodyPr>
          <a:lstStyle/>
          <a:p>
            <a:r>
              <a:rPr lang="zh-CN" altLang="en-US" sz="2800" b="1" dirty="0">
                <a:solidFill>
                  <a:srgbClr val="FF0000"/>
                </a:solidFill>
                <a:latin typeface="微软雅黑" pitchFamily="34" charset="-122"/>
                <a:ea typeface="微软雅黑" pitchFamily="34" charset="-122"/>
              </a:rPr>
              <a:t>风向</a:t>
            </a:r>
            <a:r>
              <a:rPr lang="en-US" altLang="zh-CN" sz="2800" b="1" dirty="0">
                <a:solidFill>
                  <a:srgbClr val="FF0000"/>
                </a:solidFill>
                <a:latin typeface="微软雅黑" pitchFamily="34" charset="-122"/>
                <a:ea typeface="微软雅黑" pitchFamily="34" charset="-122"/>
              </a:rPr>
              <a:t>340°</a:t>
            </a:r>
            <a:r>
              <a:rPr lang="zh-CN" altLang="en-US" sz="2800" b="1" dirty="0">
                <a:solidFill>
                  <a:srgbClr val="FF0000"/>
                </a:solidFill>
                <a:latin typeface="微软雅黑" pitchFamily="34" charset="-122"/>
                <a:ea typeface="微软雅黑" pitchFamily="34" charset="-122"/>
              </a:rPr>
              <a:t>，风速</a:t>
            </a:r>
            <a:r>
              <a:rPr lang="en-US" altLang="zh-CN" sz="2800" b="1" dirty="0">
                <a:solidFill>
                  <a:srgbClr val="FF0000"/>
                </a:solidFill>
                <a:latin typeface="微软雅黑" pitchFamily="34" charset="-122"/>
                <a:ea typeface="微软雅黑" pitchFamily="34" charset="-122"/>
              </a:rPr>
              <a:t>6m/s</a:t>
            </a:r>
            <a:r>
              <a:rPr lang="zh-CN" altLang="en-US" sz="2800" b="1" dirty="0">
                <a:solidFill>
                  <a:srgbClr val="FF0000"/>
                </a:solidFill>
                <a:latin typeface="微软雅黑" pitchFamily="34" charset="-122"/>
                <a:ea typeface="微软雅黑" pitchFamily="34" charset="-122"/>
              </a:rPr>
              <a:t>，阵风</a:t>
            </a:r>
            <a:r>
              <a:rPr lang="en-US" altLang="zh-CN" sz="2800" b="1" dirty="0">
                <a:solidFill>
                  <a:srgbClr val="FF0000"/>
                </a:solidFill>
                <a:latin typeface="微软雅黑" pitchFamily="34" charset="-122"/>
                <a:ea typeface="微软雅黑" pitchFamily="34" charset="-122"/>
              </a:rPr>
              <a:t>12m/s</a:t>
            </a:r>
          </a:p>
        </p:txBody>
      </p:sp>
    </p:spTree>
    <p:extLst>
      <p:ext uri="{BB962C8B-B14F-4D97-AF65-F5344CB8AC3E}">
        <p14:creationId xmlns:p14="http://schemas.microsoft.com/office/powerpoint/2010/main" val="212192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blinds(horizontal)">
                                      <p:cBhvr>
                                        <p:cTn id="7"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p:cNvSpPr>
            <a:spLocks noGrp="1"/>
          </p:cNvSpPr>
          <p:nvPr>
            <p:ph type="body" idx="1"/>
          </p:nvPr>
        </p:nvSpPr>
        <p:spPr>
          <a:xfrm>
            <a:off x="477837" y="121341"/>
            <a:ext cx="10004633" cy="5457824"/>
          </a:xfrm>
        </p:spPr>
        <p:txBody>
          <a:bodyPr>
            <a:normAutofit/>
          </a:bodyPr>
          <a:lstStyle/>
          <a:p>
            <a:pPr marL="0" indent="0" algn="just">
              <a:lnSpc>
                <a:spcPct val="150000"/>
              </a:lnSpc>
              <a:buNone/>
            </a:pPr>
            <a:r>
              <a:rPr lang="en-US" altLang="zh-CN" sz="2400" dirty="0">
                <a:solidFill>
                  <a:schemeClr val="tx1"/>
                </a:solidFill>
                <a:latin typeface="Times New Roman" panose="02020603050405020304" pitchFamily="18" charset="0"/>
                <a:ea typeface="微软雅黑" pitchFamily="34" charset="-122"/>
                <a:cs typeface="Times New Roman" pitchFamily="18" charset="0"/>
              </a:rPr>
              <a:t>(1)</a:t>
            </a:r>
            <a:r>
              <a:rPr lang="zh-CN" altLang="en-US" sz="2400" dirty="0">
                <a:solidFill>
                  <a:schemeClr val="tx1"/>
                </a:solidFill>
                <a:latin typeface="Times New Roman" panose="02020603050405020304" pitchFamily="18" charset="0"/>
                <a:ea typeface="微软雅黑" pitchFamily="34" charset="-122"/>
                <a:cs typeface="Times New Roman" pitchFamily="18" charset="0"/>
              </a:rPr>
              <a:t>电码“</a:t>
            </a:r>
            <a:r>
              <a:rPr lang="en-US" altLang="zh-CN" sz="2400" dirty="0">
                <a:solidFill>
                  <a:schemeClr val="accent5"/>
                </a:solidFill>
                <a:latin typeface="Times New Roman" panose="02020603050405020304" pitchFamily="18" charset="0"/>
                <a:ea typeface="微软雅黑" pitchFamily="34" charset="-122"/>
                <a:cs typeface="Times New Roman" pitchFamily="18" charset="0"/>
              </a:rPr>
              <a:t>00000MPS</a:t>
            </a:r>
            <a:r>
              <a:rPr lang="en-US" altLang="zh-CN" sz="2400" dirty="0">
                <a:solidFill>
                  <a:schemeClr val="tx1"/>
                </a:solidFill>
                <a:latin typeface="Times New Roman" panose="02020603050405020304" pitchFamily="18" charset="0"/>
                <a:ea typeface="微软雅黑" pitchFamily="34" charset="-122"/>
                <a:cs typeface="Times New Roman" pitchFamily="18" charset="0"/>
              </a:rPr>
              <a:t>”</a:t>
            </a:r>
            <a:r>
              <a:rPr lang="zh-CN" altLang="en-US" sz="2400" dirty="0">
                <a:solidFill>
                  <a:schemeClr val="tx1"/>
                </a:solidFill>
                <a:latin typeface="Times New Roman" panose="02020603050405020304" pitchFamily="18" charset="0"/>
                <a:ea typeface="微软雅黑" pitchFamily="34" charset="-122"/>
                <a:cs typeface="Times New Roman" pitchFamily="18" charset="0"/>
              </a:rPr>
              <a:t>表示静风（风速＜</a:t>
            </a:r>
            <a:r>
              <a:rPr lang="en-US" altLang="zh-CN" sz="2400" dirty="0">
                <a:solidFill>
                  <a:schemeClr val="tx1"/>
                </a:solidFill>
                <a:latin typeface="Times New Roman" panose="02020603050405020304" pitchFamily="18" charset="0"/>
                <a:ea typeface="微软雅黑" pitchFamily="34" charset="-122"/>
                <a:cs typeface="Times New Roman" pitchFamily="18" charset="0"/>
              </a:rPr>
              <a:t>0.5m/s</a:t>
            </a:r>
            <a:r>
              <a:rPr lang="zh-CN" altLang="en-US" sz="2400" dirty="0">
                <a:solidFill>
                  <a:schemeClr val="tx1"/>
                </a:solidFill>
                <a:latin typeface="Times New Roman" panose="02020603050405020304" pitchFamily="18" charset="0"/>
                <a:ea typeface="微软雅黑" pitchFamily="34" charset="-122"/>
                <a:cs typeface="Times New Roman" pitchFamily="18" charset="0"/>
              </a:rPr>
              <a:t>）</a:t>
            </a:r>
          </a:p>
          <a:p>
            <a:pPr marL="0" indent="0" algn="just">
              <a:lnSpc>
                <a:spcPct val="150000"/>
              </a:lnSpc>
              <a:buNone/>
            </a:pPr>
            <a:r>
              <a:rPr lang="en-US" altLang="zh-CN" sz="2400" dirty="0">
                <a:solidFill>
                  <a:schemeClr val="tx1"/>
                </a:solidFill>
                <a:latin typeface="Times New Roman" panose="02020603050405020304" pitchFamily="18" charset="0"/>
                <a:ea typeface="微软雅黑" pitchFamily="34" charset="-122"/>
                <a:cs typeface="Times New Roman" pitchFamily="18" charset="0"/>
              </a:rPr>
              <a:t>(2)</a:t>
            </a:r>
            <a:r>
              <a:rPr lang="zh-CN" altLang="en-US" sz="2400" dirty="0">
                <a:solidFill>
                  <a:schemeClr val="tx1"/>
                </a:solidFill>
                <a:latin typeface="Times New Roman" panose="02020603050405020304" pitchFamily="18" charset="0"/>
                <a:ea typeface="微软雅黑" pitchFamily="34" charset="-122"/>
                <a:cs typeface="Times New Roman" pitchFamily="18" charset="0"/>
              </a:rPr>
              <a:t>电码“</a:t>
            </a:r>
            <a:r>
              <a:rPr lang="en-US" altLang="zh-CN" sz="2400" dirty="0">
                <a:solidFill>
                  <a:schemeClr val="accent5"/>
                </a:solidFill>
                <a:latin typeface="Times New Roman" panose="02020603050405020304" pitchFamily="18" charset="0"/>
                <a:ea typeface="微软雅黑" pitchFamily="34" charset="-122"/>
                <a:cs typeface="Times New Roman" pitchFamily="18" charset="0"/>
              </a:rPr>
              <a:t>P49MPS</a:t>
            </a:r>
            <a:r>
              <a:rPr lang="en-US" altLang="zh-CN" sz="2400" dirty="0">
                <a:solidFill>
                  <a:schemeClr val="tx1"/>
                </a:solidFill>
                <a:latin typeface="Times New Roman" panose="02020603050405020304" pitchFamily="18" charset="0"/>
                <a:ea typeface="微软雅黑" pitchFamily="34" charset="-122"/>
                <a:cs typeface="Times New Roman" pitchFamily="18" charset="0"/>
              </a:rPr>
              <a:t>”</a:t>
            </a:r>
            <a:r>
              <a:rPr lang="zh-CN" altLang="en-US" sz="2400" dirty="0">
                <a:solidFill>
                  <a:schemeClr val="tx1"/>
                </a:solidFill>
                <a:latin typeface="Times New Roman" panose="02020603050405020304" pitchFamily="18" charset="0"/>
                <a:ea typeface="微软雅黑" pitchFamily="34" charset="-122"/>
                <a:cs typeface="Times New Roman" pitchFamily="18" charset="0"/>
              </a:rPr>
              <a:t>表示风速≥</a:t>
            </a:r>
            <a:r>
              <a:rPr lang="en-US" altLang="zh-CN" sz="2400" dirty="0">
                <a:solidFill>
                  <a:schemeClr val="tx1"/>
                </a:solidFill>
                <a:latin typeface="Times New Roman" panose="02020603050405020304" pitchFamily="18" charset="0"/>
                <a:ea typeface="微软雅黑" pitchFamily="34" charset="-122"/>
                <a:cs typeface="Times New Roman" pitchFamily="18" charset="0"/>
              </a:rPr>
              <a:t>50m/s</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cs typeface="Times New Roman" pitchFamily="18" charset="0"/>
              </a:rPr>
              <a:t>(3)</a:t>
            </a:r>
            <a:r>
              <a:rPr lang="zh-CN" altLang="en-US" sz="2400" dirty="0">
                <a:solidFill>
                  <a:schemeClr val="tx1"/>
                </a:solidFill>
                <a:latin typeface="Times New Roman" panose="02020603050405020304" pitchFamily="18" charset="0"/>
                <a:ea typeface="微软雅黑" pitchFamily="34" charset="-122"/>
                <a:cs typeface="Times New Roman" pitchFamily="18" charset="0"/>
              </a:rPr>
              <a:t>电码“</a:t>
            </a:r>
            <a:r>
              <a:rPr lang="en-US" altLang="zh-CN" sz="2400" dirty="0">
                <a:solidFill>
                  <a:schemeClr val="accent5"/>
                </a:solidFill>
                <a:latin typeface="Times New Roman" panose="02020603050405020304" pitchFamily="18" charset="0"/>
                <a:ea typeface="微软雅黑" pitchFamily="34" charset="-122"/>
                <a:cs typeface="Times New Roman" pitchFamily="18" charset="0"/>
              </a:rPr>
              <a:t>VRB</a:t>
            </a:r>
            <a:r>
              <a:rPr lang="en-US" altLang="zh-CN" sz="2400" dirty="0">
                <a:solidFill>
                  <a:schemeClr val="tx1"/>
                </a:solidFill>
                <a:latin typeface="Times New Roman" panose="02020603050405020304" pitchFamily="18" charset="0"/>
                <a:ea typeface="微软雅黑" pitchFamily="34" charset="-122"/>
                <a:cs typeface="Times New Roman" pitchFamily="18" charset="0"/>
              </a:rPr>
              <a:t>”</a:t>
            </a:r>
            <a:r>
              <a:rPr lang="zh-CN" altLang="en-US" sz="2400" dirty="0">
                <a:solidFill>
                  <a:schemeClr val="tx1"/>
                </a:solidFill>
                <a:latin typeface="Times New Roman" panose="02020603050405020304" pitchFamily="18" charset="0"/>
                <a:ea typeface="微软雅黑" pitchFamily="34" charset="-122"/>
                <a:cs typeface="Times New Roman" pitchFamily="18" charset="0"/>
              </a:rPr>
              <a:t>表示风向多变：当风向多变，平均风速小于</a:t>
            </a:r>
            <a:r>
              <a:rPr lang="en-US" altLang="zh-CN" sz="2400" dirty="0">
                <a:solidFill>
                  <a:schemeClr val="tx1"/>
                </a:solidFill>
                <a:latin typeface="Times New Roman" panose="02020603050405020304" pitchFamily="18" charset="0"/>
                <a:ea typeface="微软雅黑" pitchFamily="34" charset="-122"/>
                <a:cs typeface="Times New Roman" pitchFamily="18" charset="0"/>
              </a:rPr>
              <a:t>2</a:t>
            </a:r>
            <a:r>
              <a:rPr lang="zh-CN" altLang="en-US" sz="2400" dirty="0">
                <a:solidFill>
                  <a:schemeClr val="tx1"/>
                </a:solidFill>
                <a:latin typeface="Times New Roman" panose="02020603050405020304" pitchFamily="18" charset="0"/>
                <a:ea typeface="微软雅黑" pitchFamily="34" charset="-122"/>
                <a:cs typeface="Times New Roman" pitchFamily="18" charset="0"/>
              </a:rPr>
              <a:t>米秒，</a:t>
            </a:r>
            <a:r>
              <a:rPr lang="en-US" altLang="zh-CN" sz="2400" dirty="0" err="1">
                <a:solidFill>
                  <a:schemeClr val="tx1"/>
                </a:solidFill>
                <a:latin typeface="Times New Roman" panose="02020603050405020304" pitchFamily="18" charset="0"/>
                <a:ea typeface="微软雅黑" pitchFamily="34" charset="-122"/>
                <a:cs typeface="Times New Roman" pitchFamily="18" charset="0"/>
              </a:rPr>
              <a:t>ddd</a:t>
            </a:r>
            <a:r>
              <a:rPr lang="zh-CN" altLang="en-US" sz="2400" dirty="0">
                <a:solidFill>
                  <a:schemeClr val="tx1"/>
                </a:solidFill>
                <a:latin typeface="Times New Roman" panose="02020603050405020304" pitchFamily="18" charset="0"/>
                <a:ea typeface="微软雅黑" pitchFamily="34" charset="-122"/>
                <a:cs typeface="Times New Roman" pitchFamily="18" charset="0"/>
              </a:rPr>
              <a:t>必须编报成</a:t>
            </a:r>
            <a:r>
              <a:rPr lang="en-US" altLang="zh-CN" sz="2400" dirty="0">
                <a:solidFill>
                  <a:schemeClr val="tx1"/>
                </a:solidFill>
                <a:latin typeface="Times New Roman" panose="02020603050405020304" pitchFamily="18" charset="0"/>
                <a:ea typeface="微软雅黑" pitchFamily="34" charset="-122"/>
                <a:cs typeface="Times New Roman" pitchFamily="18" charset="0"/>
              </a:rPr>
              <a:t>VRB</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cs typeface="Times New Roman" pitchFamily="18" charset="0"/>
              </a:rPr>
              <a:t>       ①过去</a:t>
            </a:r>
            <a:r>
              <a:rPr lang="en-US" altLang="zh-CN" sz="2400" dirty="0">
                <a:solidFill>
                  <a:schemeClr val="tx1"/>
                </a:solidFill>
                <a:latin typeface="Times New Roman" panose="02020603050405020304" pitchFamily="18" charset="0"/>
                <a:ea typeface="微软雅黑" pitchFamily="34" charset="-122"/>
                <a:cs typeface="Times New Roman" pitchFamily="18" charset="0"/>
              </a:rPr>
              <a:t>10min</a:t>
            </a:r>
            <a:r>
              <a:rPr lang="zh-CN" altLang="en-US" sz="2400" dirty="0">
                <a:solidFill>
                  <a:schemeClr val="tx1"/>
                </a:solidFill>
                <a:latin typeface="Times New Roman" panose="02020603050405020304" pitchFamily="18" charset="0"/>
                <a:ea typeface="微软雅黑" pitchFamily="34" charset="-122"/>
                <a:cs typeface="Times New Roman" pitchFamily="18" charset="0"/>
              </a:rPr>
              <a:t>之内平均风向变化大于或等于</a:t>
            </a:r>
            <a:r>
              <a:rPr lang="en-US" altLang="zh-CN" sz="2400" dirty="0">
                <a:solidFill>
                  <a:schemeClr val="tx1"/>
                </a:solidFill>
                <a:latin typeface="Times New Roman" panose="02020603050405020304" pitchFamily="18" charset="0"/>
                <a:ea typeface="微软雅黑" pitchFamily="34" charset="-122"/>
                <a:cs typeface="Times New Roman" pitchFamily="18" charset="0"/>
              </a:rPr>
              <a:t>60°</a:t>
            </a:r>
            <a:r>
              <a:rPr lang="zh-CN" altLang="en-US" sz="2400" dirty="0">
                <a:solidFill>
                  <a:schemeClr val="tx1"/>
                </a:solidFill>
                <a:latin typeface="Times New Roman" panose="02020603050405020304" pitchFamily="18" charset="0"/>
                <a:ea typeface="微软雅黑" pitchFamily="34" charset="-122"/>
                <a:cs typeface="Times New Roman" pitchFamily="18" charset="0"/>
              </a:rPr>
              <a:t>且小于</a:t>
            </a:r>
            <a:r>
              <a:rPr lang="en-US" altLang="zh-CN" sz="2400" dirty="0">
                <a:solidFill>
                  <a:schemeClr val="tx1"/>
                </a:solidFill>
                <a:latin typeface="Times New Roman" panose="02020603050405020304" pitchFamily="18" charset="0"/>
                <a:ea typeface="微软雅黑" pitchFamily="34" charset="-122"/>
                <a:cs typeface="Times New Roman" pitchFamily="18" charset="0"/>
              </a:rPr>
              <a:t>180°</a:t>
            </a:r>
            <a:r>
              <a:rPr lang="zh-CN" altLang="en-US" sz="2400" dirty="0">
                <a:solidFill>
                  <a:schemeClr val="tx1"/>
                </a:solidFill>
                <a:latin typeface="Times New Roman" panose="02020603050405020304" pitchFamily="18" charset="0"/>
                <a:ea typeface="微软雅黑" pitchFamily="34" charset="-122"/>
                <a:cs typeface="Times New Roman" pitchFamily="18" charset="0"/>
              </a:rPr>
              <a:t>，平均风速＜</a:t>
            </a:r>
            <a:r>
              <a:rPr lang="en-US" altLang="zh-CN" sz="2400" dirty="0">
                <a:solidFill>
                  <a:schemeClr val="tx1"/>
                </a:solidFill>
                <a:latin typeface="Times New Roman" panose="02020603050405020304" pitchFamily="18" charset="0"/>
                <a:ea typeface="微软雅黑" pitchFamily="34" charset="-122"/>
                <a:cs typeface="Times New Roman" pitchFamily="18" charset="0"/>
              </a:rPr>
              <a:t>2m/s</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cs typeface="Times New Roman" pitchFamily="18" charset="0"/>
              </a:rPr>
              <a:t>       ②过去</a:t>
            </a:r>
            <a:r>
              <a:rPr lang="en-US" altLang="zh-CN" sz="2400" dirty="0">
                <a:solidFill>
                  <a:schemeClr val="tx1"/>
                </a:solidFill>
                <a:latin typeface="Times New Roman" panose="02020603050405020304" pitchFamily="18" charset="0"/>
                <a:ea typeface="微软雅黑" pitchFamily="34" charset="-122"/>
                <a:cs typeface="Times New Roman" pitchFamily="18" charset="0"/>
              </a:rPr>
              <a:t>10min</a:t>
            </a:r>
            <a:r>
              <a:rPr lang="zh-CN" altLang="en-US" sz="2400" dirty="0">
                <a:solidFill>
                  <a:schemeClr val="tx1"/>
                </a:solidFill>
                <a:latin typeface="Times New Roman" panose="02020603050405020304" pitchFamily="18" charset="0"/>
                <a:ea typeface="微软雅黑" pitchFamily="34" charset="-122"/>
                <a:cs typeface="Times New Roman" pitchFamily="18" charset="0"/>
              </a:rPr>
              <a:t>之内</a:t>
            </a:r>
            <a:r>
              <a:rPr lang="en-US" altLang="zh-CN" sz="2400" dirty="0">
                <a:solidFill>
                  <a:schemeClr val="tx1"/>
                </a:solidFill>
                <a:latin typeface="Times New Roman" panose="02020603050405020304" pitchFamily="18" charset="0"/>
                <a:ea typeface="微软雅黑" pitchFamily="34" charset="-122"/>
                <a:cs typeface="Times New Roman" pitchFamily="18" charset="0"/>
              </a:rPr>
              <a:t>,</a:t>
            </a:r>
            <a:r>
              <a:rPr lang="zh-CN" altLang="en-US" sz="2400" dirty="0">
                <a:solidFill>
                  <a:schemeClr val="tx1"/>
                </a:solidFill>
                <a:latin typeface="Times New Roman" panose="02020603050405020304" pitchFamily="18" charset="0"/>
                <a:ea typeface="微软雅黑" pitchFamily="34" charset="-122"/>
                <a:cs typeface="Times New Roman" pitchFamily="18" charset="0"/>
              </a:rPr>
              <a:t>平均风向变化≥</a:t>
            </a:r>
            <a:r>
              <a:rPr lang="en-US" altLang="zh-CN" sz="2400" dirty="0">
                <a:solidFill>
                  <a:schemeClr val="tx1"/>
                </a:solidFill>
                <a:latin typeface="Times New Roman" panose="02020603050405020304" pitchFamily="18" charset="0"/>
                <a:ea typeface="微软雅黑" pitchFamily="34" charset="-122"/>
                <a:cs typeface="Times New Roman" pitchFamily="18" charset="0"/>
              </a:rPr>
              <a:t>180°</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cs typeface="Times New Roman" pitchFamily="18" charset="0"/>
              </a:rPr>
              <a:t>例如：</a:t>
            </a:r>
            <a:r>
              <a:rPr lang="en-US" altLang="zh-CN" sz="2400" dirty="0">
                <a:solidFill>
                  <a:schemeClr val="tx1"/>
                </a:solidFill>
                <a:latin typeface="Times New Roman" panose="02020603050405020304" pitchFamily="18" charset="0"/>
                <a:ea typeface="微软雅黑" pitchFamily="34" charset="-122"/>
                <a:cs typeface="Times New Roman" pitchFamily="18" charset="0"/>
              </a:rPr>
              <a:t>VRB01MPS</a:t>
            </a:r>
            <a:endParaRPr lang="zh-CN" altLang="en-US" sz="2400" dirty="0">
              <a:solidFill>
                <a:schemeClr val="tx1"/>
              </a:solidFill>
              <a:latin typeface="Times New Roman" panose="02020603050405020304" pitchFamily="18" charset="0"/>
              <a:ea typeface="微软雅黑" pitchFamily="34" charset="-122"/>
              <a:cs typeface="Times New Roman" pitchFamily="18" charset="0"/>
            </a:endParaRPr>
          </a:p>
        </p:txBody>
      </p:sp>
      <p:sp>
        <p:nvSpPr>
          <p:cNvPr id="99332" name="Rectangle 4"/>
          <p:cNvSpPr>
            <a:spLocks noChangeArrowheads="1"/>
          </p:cNvSpPr>
          <p:nvPr/>
        </p:nvSpPr>
        <p:spPr bwMode="auto">
          <a:xfrm>
            <a:off x="1542705" y="5372446"/>
            <a:ext cx="6551612" cy="519112"/>
          </a:xfrm>
          <a:prstGeom prst="rect">
            <a:avLst/>
          </a:prstGeom>
          <a:noFill/>
          <a:ln w="9525">
            <a:noFill/>
            <a:miter lim="800000"/>
            <a:headEnd/>
            <a:tailEnd/>
          </a:ln>
        </p:spPr>
        <p:txBody>
          <a:bodyPr>
            <a:spAutoFit/>
          </a:bodyPr>
          <a:lstStyle/>
          <a:p>
            <a:r>
              <a:rPr lang="zh-CN" altLang="en-US" sz="2800" b="1" dirty="0">
                <a:solidFill>
                  <a:srgbClr val="FF0000"/>
                </a:solidFill>
                <a:latin typeface="微软雅黑" pitchFamily="34" charset="-122"/>
                <a:ea typeface="微软雅黑" pitchFamily="34" charset="-122"/>
              </a:rPr>
              <a:t>风向不定，平均风速</a:t>
            </a:r>
            <a:r>
              <a:rPr lang="en-US" altLang="zh-CN" sz="2800" b="1" dirty="0">
                <a:solidFill>
                  <a:srgbClr val="FF0000"/>
                </a:solidFill>
                <a:latin typeface="微软雅黑" pitchFamily="34" charset="-122"/>
                <a:ea typeface="微软雅黑" pitchFamily="34" charset="-122"/>
              </a:rPr>
              <a:t>1m/s</a:t>
            </a:r>
          </a:p>
        </p:txBody>
      </p:sp>
    </p:spTree>
    <p:extLst>
      <p:ext uri="{BB962C8B-B14F-4D97-AF65-F5344CB8AC3E}">
        <p14:creationId xmlns:p14="http://schemas.microsoft.com/office/powerpoint/2010/main" val="12788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blinds(horizontal)">
                                      <p:cBhvr>
                                        <p:cTn id="7" dur="500"/>
                                        <p:tgtEl>
                                          <p:spTgt spid="99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p:cNvSpPr>
          <p:nvPr>
            <p:ph type="body" idx="1"/>
          </p:nvPr>
        </p:nvSpPr>
        <p:spPr>
          <a:xfrm>
            <a:off x="821635" y="476251"/>
            <a:ext cx="9327253" cy="3247610"/>
          </a:xfrm>
        </p:spPr>
        <p:txBody>
          <a:bodyPr>
            <a:normAutofit/>
          </a:bodyPr>
          <a:lstStyle/>
          <a:p>
            <a:pPr marL="0" indent="0">
              <a:lnSpc>
                <a:spcPct val="200000"/>
              </a:lnSpc>
              <a:buNone/>
            </a:pPr>
            <a:r>
              <a:rPr lang="zh-CN" altLang="en-US" sz="2800" dirty="0">
                <a:latin typeface="微软雅黑" pitchFamily="34" charset="-122"/>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    在风向变化不定，风速大于</a:t>
            </a: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米秒且风向变化大于</a:t>
            </a:r>
            <a:r>
              <a:rPr lang="en-US" altLang="zh-CN" sz="2400" dirty="0">
                <a:solidFill>
                  <a:schemeClr val="tx1"/>
                </a:solidFill>
                <a:latin typeface="Times New Roman" panose="02020603050405020304" pitchFamily="18" charset="0"/>
                <a:ea typeface="微软雅黑" pitchFamily="34" charset="-122"/>
              </a:rPr>
              <a:t>60</a:t>
            </a:r>
            <a:r>
              <a:rPr lang="zh-CN" altLang="en-US" sz="2400" dirty="0">
                <a:solidFill>
                  <a:schemeClr val="tx1"/>
                </a:solidFill>
                <a:latin typeface="Times New Roman" panose="02020603050405020304" pitchFamily="18" charset="0"/>
                <a:ea typeface="微软雅黑" pitchFamily="34" charset="-122"/>
              </a:rPr>
              <a:t>度时，</a:t>
            </a:r>
            <a:r>
              <a:rPr lang="en-US" altLang="zh-CN" sz="2400" dirty="0" err="1">
                <a:solidFill>
                  <a:schemeClr val="tx1"/>
                </a:solidFill>
                <a:latin typeface="Times New Roman" panose="02020603050405020304" pitchFamily="18" charset="0"/>
                <a:ea typeface="微软雅黑" pitchFamily="34" charset="-122"/>
              </a:rPr>
              <a:t>dddvddd</a:t>
            </a:r>
            <a:r>
              <a:rPr lang="zh-CN" altLang="en-US" sz="2400" dirty="0">
                <a:solidFill>
                  <a:schemeClr val="tx1"/>
                </a:solidFill>
                <a:latin typeface="Times New Roman" panose="02020603050405020304" pitchFamily="18" charset="0"/>
                <a:ea typeface="微软雅黑" pitchFamily="34" charset="-122"/>
              </a:rPr>
              <a:t>组用来表示风向变化范围的两个边界值（按顺时针方向）</a:t>
            </a:r>
          </a:p>
          <a:p>
            <a:pPr marL="0" indent="0">
              <a:lnSpc>
                <a:spcPct val="200000"/>
              </a:lnSpc>
              <a:buNone/>
            </a:pPr>
            <a:r>
              <a:rPr lang="zh-CN" altLang="en-US" sz="2400" dirty="0">
                <a:solidFill>
                  <a:schemeClr val="tx1"/>
                </a:solidFill>
                <a:latin typeface="Times New Roman" panose="02020603050405020304" pitchFamily="18" charset="0"/>
                <a:ea typeface="微软雅黑" pitchFamily="34" charset="-122"/>
              </a:rPr>
              <a:t>例如：</a:t>
            </a:r>
            <a:r>
              <a:rPr lang="en-US" altLang="zh-CN" sz="2400" dirty="0">
                <a:solidFill>
                  <a:schemeClr val="tx1"/>
                </a:solidFill>
                <a:latin typeface="Times New Roman" panose="02020603050405020304" pitchFamily="18" charset="0"/>
                <a:ea typeface="微软雅黑" pitchFamily="34" charset="-122"/>
              </a:rPr>
              <a:t>VRB04MPS350V080</a:t>
            </a:r>
          </a:p>
          <a:p>
            <a:pPr marL="0" indent="0"/>
            <a:endParaRPr lang="zh-CN" altLang="en-US" sz="2800" dirty="0"/>
          </a:p>
        </p:txBody>
      </p:sp>
      <p:sp>
        <p:nvSpPr>
          <p:cNvPr id="100358" name="Rectangle 6"/>
          <p:cNvSpPr>
            <a:spLocks noChangeArrowheads="1"/>
          </p:cNvSpPr>
          <p:nvPr/>
        </p:nvSpPr>
        <p:spPr bwMode="auto">
          <a:xfrm>
            <a:off x="821635" y="3156878"/>
            <a:ext cx="9004346" cy="1133965"/>
          </a:xfrm>
          <a:prstGeom prst="rect">
            <a:avLst/>
          </a:prstGeom>
          <a:noFill/>
          <a:ln w="9525">
            <a:noFill/>
            <a:miter lim="800000"/>
            <a:headEnd/>
            <a:tailEnd/>
          </a:ln>
        </p:spPr>
        <p:txBody>
          <a:bodyPr wrap="square">
            <a:spAutoFit/>
          </a:bodyPr>
          <a:lstStyle/>
          <a:p>
            <a:pPr eaLnBrk="0" hangingPunct="0">
              <a:lnSpc>
                <a:spcPct val="120000"/>
              </a:lnSpc>
              <a:spcBef>
                <a:spcPts val="400"/>
              </a:spcBef>
              <a:buClr>
                <a:schemeClr val="accent1"/>
              </a:buClr>
              <a:buSzPct val="68000"/>
            </a:pPr>
            <a:r>
              <a:rPr lang="zh-CN" altLang="en-US" sz="2800" dirty="0">
                <a:solidFill>
                  <a:srgbClr val="FF0000"/>
                </a:solidFill>
              </a:rPr>
              <a:t>       </a:t>
            </a:r>
            <a:r>
              <a:rPr lang="zh-CN" altLang="en-US" sz="2800" b="1" dirty="0">
                <a:solidFill>
                  <a:srgbClr val="FF0000"/>
                </a:solidFill>
                <a:latin typeface="微软雅黑" pitchFamily="34" charset="-122"/>
                <a:ea typeface="微软雅黑" pitchFamily="34" charset="-122"/>
              </a:rPr>
              <a:t>风向变化不定，风速</a:t>
            </a:r>
            <a:r>
              <a:rPr lang="en-US" altLang="zh-CN" sz="2800" b="1" dirty="0">
                <a:solidFill>
                  <a:srgbClr val="FF0000"/>
                </a:solidFill>
                <a:latin typeface="微软雅黑" pitchFamily="34" charset="-122"/>
                <a:ea typeface="微软雅黑" pitchFamily="34" charset="-122"/>
              </a:rPr>
              <a:t>4m/s</a:t>
            </a:r>
            <a:r>
              <a:rPr lang="zh-CN" altLang="en-US" sz="2800" b="1" dirty="0">
                <a:solidFill>
                  <a:srgbClr val="FF0000"/>
                </a:solidFill>
                <a:latin typeface="微软雅黑" pitchFamily="34" charset="-122"/>
                <a:ea typeface="微软雅黑" pitchFamily="34" charset="-122"/>
              </a:rPr>
              <a:t>，风向在</a:t>
            </a:r>
            <a:r>
              <a:rPr lang="en-US" altLang="zh-CN" sz="2800" b="1" dirty="0">
                <a:solidFill>
                  <a:srgbClr val="FF0000"/>
                </a:solidFill>
                <a:latin typeface="微软雅黑" pitchFamily="34" charset="-122"/>
                <a:ea typeface="微软雅黑" pitchFamily="34" charset="-122"/>
              </a:rPr>
              <a:t>350—80</a:t>
            </a:r>
            <a:r>
              <a:rPr lang="zh-CN" altLang="en-US" sz="2800" b="1" dirty="0">
                <a:solidFill>
                  <a:srgbClr val="FF0000"/>
                </a:solidFill>
                <a:latin typeface="微软雅黑" pitchFamily="34" charset="-122"/>
                <a:ea typeface="微软雅黑" pitchFamily="34" charset="-122"/>
              </a:rPr>
              <a:t>度</a:t>
            </a:r>
          </a:p>
          <a:p>
            <a:pPr eaLnBrk="0" hangingPunct="0">
              <a:lnSpc>
                <a:spcPct val="120000"/>
              </a:lnSpc>
              <a:spcBef>
                <a:spcPts val="400"/>
              </a:spcBef>
              <a:buClr>
                <a:schemeClr val="accent1"/>
              </a:buClr>
              <a:buSzPct val="68000"/>
            </a:pPr>
            <a:r>
              <a:rPr lang="zh-CN" altLang="en-US" sz="2800" b="1" dirty="0">
                <a:solidFill>
                  <a:srgbClr val="FF0000"/>
                </a:solidFill>
                <a:latin typeface="微软雅黑" pitchFamily="34" charset="-122"/>
                <a:ea typeface="微软雅黑" pitchFamily="34" charset="-122"/>
              </a:rPr>
              <a:t>范围内摆动</a:t>
            </a:r>
          </a:p>
        </p:txBody>
      </p:sp>
    </p:spTree>
    <p:extLst>
      <p:ext uri="{BB962C8B-B14F-4D97-AF65-F5344CB8AC3E}">
        <p14:creationId xmlns:p14="http://schemas.microsoft.com/office/powerpoint/2010/main" val="33914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transition="in" filter="blinds(horizontal)">
                                      <p:cBhvr>
                                        <p:cTn id="7" dur="5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p:cNvSpPr>
            <a:spLocks noGrp="1" noChangeArrowheads="1"/>
          </p:cNvSpPr>
          <p:nvPr>
            <p:ph type="body" idx="4294967295"/>
          </p:nvPr>
        </p:nvSpPr>
        <p:spPr>
          <a:xfrm>
            <a:off x="225287" y="0"/>
            <a:ext cx="11396870" cy="6669088"/>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第六组  能见度 </a:t>
            </a:r>
            <a:r>
              <a:rPr lang="en-US" altLang="zh-CN" sz="2400" dirty="0">
                <a:solidFill>
                  <a:schemeClr val="tx1"/>
                </a:solidFill>
                <a:latin typeface="Times New Roman" panose="02020603050405020304" pitchFamily="18" charset="0"/>
                <a:ea typeface="微软雅黑" pitchFamily="34" charset="-122"/>
              </a:rPr>
              <a:t>VVVV</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“VVVV”</a:t>
            </a:r>
            <a:r>
              <a:rPr lang="zh-CN" altLang="en-US" sz="2400" dirty="0">
                <a:solidFill>
                  <a:schemeClr val="tx1"/>
                </a:solidFill>
                <a:latin typeface="Times New Roman" panose="02020603050405020304" pitchFamily="18" charset="0"/>
                <a:ea typeface="微软雅黑" pitchFamily="34" charset="-122"/>
              </a:rPr>
              <a:t>为能见度值，一般指主导能见度。</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）当主导能见度≥本场最低标准，而跑道能见度≤本场最低标准时，则用跑道能见度编报。</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）当水平能见度在各方向不同时，以最小能见度编报：最小能见度</a:t>
            </a:r>
            <a:r>
              <a:rPr lang="en-US" altLang="zh-CN" sz="2400" dirty="0">
                <a:solidFill>
                  <a:schemeClr val="tx1"/>
                </a:solidFill>
                <a:latin typeface="Times New Roman" panose="02020603050405020304" pitchFamily="18" charset="0"/>
                <a:ea typeface="微软雅黑" pitchFamily="34" charset="-122"/>
              </a:rPr>
              <a:t>+</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v</a:t>
            </a:r>
            <a:r>
              <a:rPr lang="en-US" altLang="zh-CN" sz="2400" baseline="-250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最小加相对方向</a:t>
            </a:r>
            <a:r>
              <a:rPr lang="en-US" altLang="zh-CN" sz="2400" dirty="0">
                <a:solidFill>
                  <a:schemeClr val="tx1"/>
                </a:solidFill>
                <a:latin typeface="Times New Roman" panose="02020603050405020304" pitchFamily="18" charset="0"/>
                <a:ea typeface="微软雅黑" pitchFamily="34" charset="-122"/>
              </a:rPr>
              <a:t>) </a:t>
            </a:r>
            <a:r>
              <a:rPr lang="zh-CN" altLang="en-US" sz="2400" baseline="-250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v</a:t>
            </a:r>
            <a:r>
              <a:rPr lang="zh-CN" altLang="en-US" sz="2400" dirty="0">
                <a:solidFill>
                  <a:schemeClr val="tx1"/>
                </a:solidFill>
                <a:latin typeface="Times New Roman" panose="02020603050405020304" pitchFamily="18" charset="0"/>
                <a:ea typeface="微软雅黑" pitchFamily="34" charset="-122"/>
              </a:rPr>
              <a:t>表示最小能见度相对于气象台的方向，可用</a:t>
            </a:r>
            <a:r>
              <a:rPr lang="en-US" altLang="zh-CN" sz="2400" dirty="0">
                <a:solidFill>
                  <a:schemeClr val="tx1"/>
                </a:solidFill>
                <a:latin typeface="Times New Roman" panose="02020603050405020304" pitchFamily="18" charset="0"/>
                <a:ea typeface="微软雅黑" pitchFamily="34" charset="-122"/>
              </a:rPr>
              <a:t>N</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NW</a:t>
            </a:r>
            <a:r>
              <a:rPr lang="zh-CN" altLang="en-US" sz="2400" dirty="0">
                <a:solidFill>
                  <a:schemeClr val="tx1"/>
                </a:solidFill>
                <a:latin typeface="Times New Roman" panose="02020603050405020304" pitchFamily="18" charset="0"/>
                <a:ea typeface="微软雅黑" pitchFamily="34" charset="-122"/>
              </a:rPr>
              <a:t>表示方向。 </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）当最小能见度＜</a:t>
            </a:r>
            <a:r>
              <a:rPr lang="en-US" altLang="zh-CN" sz="2400" dirty="0">
                <a:solidFill>
                  <a:schemeClr val="tx1"/>
                </a:solidFill>
                <a:latin typeface="Times New Roman" panose="02020603050405020304" pitchFamily="18" charset="0"/>
                <a:ea typeface="微软雅黑" pitchFamily="34" charset="-122"/>
              </a:rPr>
              <a:t>1500m</a:t>
            </a:r>
            <a:r>
              <a:rPr lang="zh-CN" altLang="en-US" sz="2400" dirty="0">
                <a:solidFill>
                  <a:schemeClr val="tx1"/>
                </a:solidFill>
                <a:latin typeface="Times New Roman" panose="02020603050405020304" pitchFamily="18" charset="0"/>
                <a:ea typeface="微软雅黑" pitchFamily="34" charset="-122"/>
              </a:rPr>
              <a:t>，而其他方向＞</a:t>
            </a:r>
            <a:r>
              <a:rPr lang="en-US" altLang="zh-CN" sz="2400" dirty="0">
                <a:solidFill>
                  <a:schemeClr val="tx1"/>
                </a:solidFill>
                <a:latin typeface="Times New Roman" panose="02020603050405020304" pitchFamily="18" charset="0"/>
                <a:ea typeface="微软雅黑" pitchFamily="34" charset="-122"/>
              </a:rPr>
              <a:t>5000m</a:t>
            </a:r>
            <a:r>
              <a:rPr lang="zh-CN" altLang="en-US" sz="2400" dirty="0">
                <a:solidFill>
                  <a:schemeClr val="tx1"/>
                </a:solidFill>
                <a:latin typeface="Times New Roman" panose="02020603050405020304" pitchFamily="18" charset="0"/>
                <a:ea typeface="微软雅黑" pitchFamily="34" charset="-122"/>
              </a:rPr>
              <a:t>时，在</a:t>
            </a:r>
            <a:r>
              <a:rPr lang="en-US" altLang="zh-CN" sz="2400" dirty="0">
                <a:solidFill>
                  <a:schemeClr val="tx1"/>
                </a:solidFill>
                <a:latin typeface="Times New Roman" panose="02020603050405020304" pitchFamily="18" charset="0"/>
                <a:ea typeface="微软雅黑" pitchFamily="34" charset="-122"/>
              </a:rPr>
              <a:t>VVVV </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v</a:t>
            </a:r>
            <a:r>
              <a:rPr lang="zh-CN" altLang="en-US" sz="2400" baseline="-25000" dirty="0">
                <a:solidFill>
                  <a:schemeClr val="tx1"/>
                </a:solidFill>
                <a:latin typeface="Times New Roman" panose="02020603050405020304" pitchFamily="18" charset="0"/>
                <a:ea typeface="微软雅黑" pitchFamily="34" charset="-122"/>
              </a:rPr>
              <a:t>之后</a:t>
            </a:r>
            <a:r>
              <a:rPr lang="zh-CN" altLang="en-US" sz="2400" dirty="0">
                <a:solidFill>
                  <a:schemeClr val="tx1"/>
                </a:solidFill>
                <a:latin typeface="Times New Roman" panose="02020603050405020304" pitchFamily="18" charset="0"/>
                <a:ea typeface="微软雅黑" pitchFamily="34" charset="-122"/>
              </a:rPr>
              <a:t>再加一组</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baseline="-250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v</a:t>
            </a:r>
            <a:endParaRPr lang="en-US" altLang="zh-CN" sz="2400" baseline="-250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x</a:t>
            </a:r>
            <a:r>
              <a:rPr lang="zh-CN" altLang="en-US" sz="2400" dirty="0">
                <a:solidFill>
                  <a:schemeClr val="tx1"/>
                </a:solidFill>
                <a:latin typeface="Times New Roman" panose="02020603050405020304" pitchFamily="18" charset="0"/>
                <a:ea typeface="微软雅黑" pitchFamily="34" charset="-122"/>
              </a:rPr>
              <a:t>表示最大能见度， </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v</a:t>
            </a:r>
            <a:r>
              <a:rPr lang="zh-CN" altLang="en-US" sz="2400" dirty="0">
                <a:solidFill>
                  <a:schemeClr val="tx1"/>
                </a:solidFill>
                <a:latin typeface="Times New Roman" panose="02020603050405020304" pitchFamily="18" charset="0"/>
                <a:ea typeface="微软雅黑" pitchFamily="34" charset="-122"/>
              </a:rPr>
              <a:t>表示其他方向</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特例：编报为“</a:t>
            </a:r>
            <a:r>
              <a:rPr lang="en-US" altLang="zh-CN" sz="2400" dirty="0">
                <a:solidFill>
                  <a:schemeClr val="tx1"/>
                </a:solidFill>
                <a:latin typeface="Times New Roman" panose="02020603050405020304" pitchFamily="18" charset="0"/>
                <a:ea typeface="微软雅黑" pitchFamily="34" charset="-122"/>
              </a:rPr>
              <a:t>0000”</a:t>
            </a: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50m</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9999”≥10km</a:t>
            </a:r>
          </a:p>
        </p:txBody>
      </p:sp>
    </p:spTree>
    <p:extLst>
      <p:ext uri="{BB962C8B-B14F-4D97-AF65-F5344CB8AC3E}">
        <p14:creationId xmlns:p14="http://schemas.microsoft.com/office/powerpoint/2010/main" val="1962635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3"/>
          <p:cNvSpPr>
            <a:spLocks noGrp="1" noChangeArrowheads="1"/>
          </p:cNvSpPr>
          <p:nvPr>
            <p:ph type="body" idx="4294967295"/>
          </p:nvPr>
        </p:nvSpPr>
        <p:spPr>
          <a:xfrm>
            <a:off x="212035" y="178215"/>
            <a:ext cx="11582399" cy="6308724"/>
          </a:xfrm>
        </p:spPr>
        <p:txBody>
          <a:bodyPr>
            <a:normAutofit lnSpcReduction="10000"/>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第七组：跑道视程组</a:t>
            </a:r>
          </a:p>
          <a:p>
            <a:pPr marL="0" indent="0">
              <a:lnSpc>
                <a:spcPct val="150000"/>
              </a:lnSpc>
              <a:buNone/>
            </a:pPr>
            <a:r>
              <a:rPr lang="en-US" altLang="zh-CN" sz="2400" dirty="0" err="1">
                <a:solidFill>
                  <a:schemeClr val="tx1"/>
                </a:solidFill>
                <a:latin typeface="Times New Roman" panose="02020603050405020304" pitchFamily="18" charset="0"/>
                <a:ea typeface="微软雅黑" pitchFamily="34" charset="-122"/>
              </a:rPr>
              <a:t>RD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 </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i</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RD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i</a:t>
            </a:r>
            <a:endParaRPr lang="zh-CN" altLang="en-US"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zh-CN" altLang="en-US" sz="2400" b="1" dirty="0">
                <a:solidFill>
                  <a:schemeClr val="tx1"/>
                </a:solidFill>
                <a:latin typeface="Times New Roman" panose="02020603050405020304" pitchFamily="18" charset="0"/>
                <a:ea typeface="微软雅黑" pitchFamily="34" charset="-122"/>
              </a:rPr>
              <a:t>只有当有效能见度小于本场最低标准时才报此组</a:t>
            </a:r>
            <a:endParaRPr lang="zh-CN" altLang="en-US"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(1) </a:t>
            </a:r>
            <a:r>
              <a:rPr lang="en-US" altLang="zh-CN" sz="2400" dirty="0" err="1">
                <a:solidFill>
                  <a:schemeClr val="tx1"/>
                </a:solidFill>
                <a:latin typeface="Times New Roman" panose="02020603050405020304" pitchFamily="18" charset="0"/>
                <a:ea typeface="微软雅黑" pitchFamily="34" charset="-122"/>
              </a:rPr>
              <a:t>RD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zh-CN" altLang="en-US"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R</a:t>
            </a:r>
            <a:r>
              <a:rPr lang="zh-CN" altLang="en-US" sz="2400" dirty="0">
                <a:solidFill>
                  <a:schemeClr val="tx1"/>
                </a:solidFill>
                <a:latin typeface="Times New Roman" panose="02020603050405020304" pitchFamily="18" charset="0"/>
                <a:ea typeface="微软雅黑" pitchFamily="34" charset="-122"/>
              </a:rPr>
              <a:t>是跑道视程指示码，</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zh-CN" altLang="en-US" sz="2400" dirty="0">
                <a:solidFill>
                  <a:schemeClr val="tx1"/>
                </a:solidFill>
                <a:latin typeface="Times New Roman" panose="02020603050405020304" pitchFamily="18" charset="0"/>
                <a:ea typeface="微软雅黑" pitchFamily="34" charset="-122"/>
              </a:rPr>
              <a:t>是跑道的方位编号，平行跑道要加</a:t>
            </a:r>
            <a:r>
              <a:rPr lang="en-US" altLang="zh-CN" sz="2400" dirty="0">
                <a:solidFill>
                  <a:schemeClr val="tx1"/>
                </a:solidFill>
                <a:latin typeface="Times New Roman" panose="02020603050405020304" pitchFamily="18" charset="0"/>
                <a:ea typeface="微软雅黑" pitchFamily="34" charset="-122"/>
              </a:rPr>
              <a:t>L</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C</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R</a:t>
            </a:r>
            <a:r>
              <a:rPr lang="zh-CN" altLang="en-US" sz="2400" dirty="0">
                <a:solidFill>
                  <a:schemeClr val="tx1"/>
                </a:solidFill>
                <a:latin typeface="Times New Roman" panose="02020603050405020304" pitchFamily="18" charset="0"/>
                <a:ea typeface="微软雅黑" pitchFamily="34" charset="-122"/>
              </a:rPr>
              <a:t>表示左、中、右</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例如：“</a:t>
            </a:r>
            <a:r>
              <a:rPr lang="en-US" altLang="zh-CN" sz="2400" dirty="0">
                <a:solidFill>
                  <a:schemeClr val="tx1"/>
                </a:solidFill>
                <a:latin typeface="Times New Roman" panose="02020603050405020304" pitchFamily="18" charset="0"/>
                <a:ea typeface="微软雅黑" pitchFamily="34" charset="-122"/>
              </a:rPr>
              <a:t>R12L”</a:t>
            </a:r>
            <a:r>
              <a:rPr lang="zh-CN" altLang="en-US" sz="2400" dirty="0">
                <a:solidFill>
                  <a:schemeClr val="tx1"/>
                </a:solidFill>
                <a:latin typeface="Times New Roman" panose="02020603050405020304" pitchFamily="18" charset="0"/>
                <a:ea typeface="微软雅黑" pitchFamily="34" charset="-122"/>
              </a:rPr>
              <a:t>表示“</a:t>
            </a:r>
            <a:r>
              <a:rPr lang="en-US" altLang="zh-CN" sz="2400" dirty="0">
                <a:solidFill>
                  <a:schemeClr val="tx1"/>
                </a:solidFill>
                <a:latin typeface="Times New Roman" panose="02020603050405020304" pitchFamily="18" charset="0"/>
                <a:ea typeface="微软雅黑" pitchFamily="34" charset="-122"/>
              </a:rPr>
              <a:t>12</a:t>
            </a:r>
            <a:r>
              <a:rPr lang="zh-CN" altLang="en-US" sz="2400" dirty="0">
                <a:solidFill>
                  <a:schemeClr val="tx1"/>
                </a:solidFill>
                <a:latin typeface="Times New Roman" panose="02020603050405020304" pitchFamily="18" charset="0"/>
                <a:ea typeface="微软雅黑" pitchFamily="34" charset="-122"/>
              </a:rPr>
              <a:t>号左跑道”</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(2) </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zh-CN" altLang="en-US" sz="2400" dirty="0">
                <a:solidFill>
                  <a:schemeClr val="tx1"/>
                </a:solidFill>
                <a:latin typeface="Times New Roman" panose="02020603050405020304" pitchFamily="18" charset="0"/>
                <a:ea typeface="微软雅黑" pitchFamily="34" charset="-122"/>
              </a:rPr>
              <a:t>观测前</a:t>
            </a:r>
            <a:r>
              <a:rPr lang="en-US" altLang="zh-CN" sz="2400" dirty="0">
                <a:solidFill>
                  <a:schemeClr val="tx1"/>
                </a:solidFill>
                <a:latin typeface="Times New Roman" panose="02020603050405020304" pitchFamily="18" charset="0"/>
                <a:ea typeface="微软雅黑" pitchFamily="34" charset="-122"/>
              </a:rPr>
              <a:t>10</a:t>
            </a:r>
            <a:r>
              <a:rPr lang="zh-CN" altLang="en-US" sz="2400" dirty="0">
                <a:solidFill>
                  <a:schemeClr val="tx1"/>
                </a:solidFill>
                <a:latin typeface="Times New Roman" panose="02020603050405020304" pitchFamily="18" charset="0"/>
                <a:ea typeface="微软雅黑" pitchFamily="34" charset="-122"/>
              </a:rPr>
              <a:t>分钟内的平均跑道视程（</a:t>
            </a:r>
            <a:r>
              <a:rPr lang="en-US" altLang="zh-CN" sz="2400" dirty="0">
                <a:solidFill>
                  <a:schemeClr val="tx1"/>
                </a:solidFill>
                <a:latin typeface="Times New Roman" panose="02020603050405020304" pitchFamily="18" charset="0"/>
                <a:ea typeface="微软雅黑" pitchFamily="34" charset="-122"/>
              </a:rPr>
              <a:t>m</a:t>
            </a:r>
            <a:r>
              <a:rPr lang="zh-CN" altLang="en-US"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(3)</a:t>
            </a:r>
            <a:r>
              <a:rPr lang="en-US" altLang="zh-CN" sz="2400" dirty="0" err="1">
                <a:solidFill>
                  <a:schemeClr val="tx1"/>
                </a:solidFill>
                <a:latin typeface="Times New Roman" panose="02020603050405020304" pitchFamily="18" charset="0"/>
                <a:ea typeface="微软雅黑" pitchFamily="34" charset="-122"/>
              </a:rPr>
              <a:t>i</a:t>
            </a:r>
            <a:r>
              <a:rPr lang="zh-CN" altLang="en-US" sz="2400" dirty="0">
                <a:solidFill>
                  <a:schemeClr val="tx1"/>
                </a:solidFill>
                <a:latin typeface="Times New Roman" panose="02020603050405020304" pitchFamily="18" charset="0"/>
                <a:ea typeface="微软雅黑" pitchFamily="34" charset="-122"/>
              </a:rPr>
              <a:t>是观测前</a:t>
            </a:r>
            <a:r>
              <a:rPr lang="en-US" altLang="zh-CN" sz="2400" dirty="0">
                <a:solidFill>
                  <a:schemeClr val="tx1"/>
                </a:solidFill>
                <a:latin typeface="Times New Roman" panose="02020603050405020304" pitchFamily="18" charset="0"/>
                <a:ea typeface="微软雅黑" pitchFamily="34" charset="-122"/>
              </a:rPr>
              <a:t>10</a:t>
            </a:r>
            <a:r>
              <a:rPr lang="zh-CN" altLang="en-US" sz="2400" dirty="0">
                <a:solidFill>
                  <a:schemeClr val="tx1"/>
                </a:solidFill>
                <a:latin typeface="Times New Roman" panose="02020603050405020304" pitchFamily="18" charset="0"/>
                <a:ea typeface="微软雅黑" pitchFamily="34" charset="-122"/>
              </a:rPr>
              <a:t>分钟内，前后</a:t>
            </a:r>
            <a:r>
              <a:rPr lang="en-US" altLang="zh-CN" sz="2400" dirty="0">
                <a:solidFill>
                  <a:schemeClr val="tx1"/>
                </a:solidFill>
                <a:latin typeface="Times New Roman" panose="02020603050405020304" pitchFamily="18" charset="0"/>
                <a:ea typeface="微软雅黑" pitchFamily="34" charset="-122"/>
              </a:rPr>
              <a:t>5</a:t>
            </a:r>
            <a:r>
              <a:rPr lang="zh-CN" altLang="en-US" sz="2400" dirty="0">
                <a:solidFill>
                  <a:schemeClr val="tx1"/>
                </a:solidFill>
                <a:latin typeface="Times New Roman" panose="02020603050405020304" pitchFamily="18" charset="0"/>
                <a:ea typeface="微软雅黑" pitchFamily="34" charset="-122"/>
              </a:rPr>
              <a:t>分钟跑道视程的变化情</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况，在平均差值≥</a:t>
            </a:r>
            <a:r>
              <a:rPr lang="en-US" altLang="zh-CN" sz="2400" dirty="0">
                <a:solidFill>
                  <a:schemeClr val="tx1"/>
                </a:solidFill>
                <a:latin typeface="Times New Roman" panose="02020603050405020304" pitchFamily="18" charset="0"/>
                <a:ea typeface="微软雅黑" pitchFamily="34" charset="-122"/>
              </a:rPr>
              <a:t>100m</a:t>
            </a:r>
            <a:r>
              <a:rPr lang="zh-CN" altLang="en-US" sz="2400" dirty="0">
                <a:solidFill>
                  <a:schemeClr val="tx1"/>
                </a:solidFill>
                <a:latin typeface="Times New Roman" panose="02020603050405020304" pitchFamily="18" charset="0"/>
                <a:ea typeface="微软雅黑" pitchFamily="34" charset="-122"/>
              </a:rPr>
              <a:t>时使用此组电码。</a:t>
            </a:r>
          </a:p>
        </p:txBody>
      </p:sp>
    </p:spTree>
    <p:extLst>
      <p:ext uri="{BB962C8B-B14F-4D97-AF65-F5344CB8AC3E}">
        <p14:creationId xmlns:p14="http://schemas.microsoft.com/office/powerpoint/2010/main" val="12727686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a:spLocks noGrp="1"/>
          </p:cNvSpPr>
          <p:nvPr>
            <p:ph type="body" idx="1"/>
          </p:nvPr>
        </p:nvSpPr>
        <p:spPr>
          <a:xfrm>
            <a:off x="637578" y="424555"/>
            <a:ext cx="10003918" cy="5591932"/>
          </a:xfrm>
        </p:spPr>
        <p:txBody>
          <a:bodyPr>
            <a:normAutofit/>
          </a:bodyPr>
          <a:lstStyle/>
          <a:p>
            <a:pPr>
              <a:lnSpc>
                <a:spcPct val="160000"/>
              </a:lnSpc>
            </a:pPr>
            <a:r>
              <a:rPr lang="en-US" altLang="zh-CN" sz="2400" dirty="0">
                <a:solidFill>
                  <a:schemeClr val="tx1"/>
                </a:solidFill>
                <a:latin typeface="Times New Roman" panose="02020603050405020304" pitchFamily="18" charset="0"/>
                <a:ea typeface="微软雅黑" pitchFamily="34" charset="-122"/>
              </a:rPr>
              <a:t>U</a:t>
            </a:r>
            <a:r>
              <a:rPr lang="zh-CN" altLang="en-US" sz="2400" dirty="0">
                <a:solidFill>
                  <a:schemeClr val="tx1"/>
                </a:solidFill>
                <a:latin typeface="Times New Roman" panose="02020603050405020304" pitchFamily="18" charset="0"/>
                <a:ea typeface="微软雅黑" pitchFamily="34" charset="-122"/>
              </a:rPr>
              <a:t>表示观测时跑道视程有明显上升的趋势</a:t>
            </a:r>
          </a:p>
          <a:p>
            <a:pPr>
              <a:lnSpc>
                <a:spcPct val="160000"/>
              </a:lnSpc>
            </a:pPr>
            <a:r>
              <a:rPr lang="en-US" altLang="zh-CN" sz="2400" dirty="0">
                <a:solidFill>
                  <a:schemeClr val="tx1"/>
                </a:solidFill>
                <a:latin typeface="Times New Roman" panose="02020603050405020304" pitchFamily="18" charset="0"/>
                <a:ea typeface="微软雅黑" pitchFamily="34" charset="-122"/>
              </a:rPr>
              <a:t>D</a:t>
            </a:r>
            <a:r>
              <a:rPr lang="zh-CN" altLang="en-US" sz="2400" dirty="0">
                <a:solidFill>
                  <a:schemeClr val="tx1"/>
                </a:solidFill>
                <a:latin typeface="Times New Roman" panose="02020603050405020304" pitchFamily="18" charset="0"/>
                <a:ea typeface="微软雅黑" pitchFamily="34" charset="-122"/>
              </a:rPr>
              <a:t>表示观测时跑道视程有明显下降的趋势</a:t>
            </a:r>
          </a:p>
          <a:p>
            <a:pPr>
              <a:lnSpc>
                <a:spcPct val="160000"/>
              </a:lnSpc>
            </a:pPr>
            <a:r>
              <a:rPr lang="en-US" altLang="zh-CN" sz="2400" dirty="0">
                <a:solidFill>
                  <a:schemeClr val="tx1"/>
                </a:solidFill>
                <a:latin typeface="Times New Roman" panose="02020603050405020304" pitchFamily="18" charset="0"/>
                <a:ea typeface="微软雅黑" pitchFamily="34" charset="-122"/>
              </a:rPr>
              <a:t>N</a:t>
            </a:r>
            <a:r>
              <a:rPr lang="zh-CN" altLang="en-US" sz="2400" dirty="0">
                <a:solidFill>
                  <a:schemeClr val="tx1"/>
                </a:solidFill>
                <a:latin typeface="Times New Roman" panose="02020603050405020304" pitchFamily="18" charset="0"/>
                <a:ea typeface="微软雅黑" pitchFamily="34" charset="-122"/>
              </a:rPr>
              <a:t>表示观测时跑道视程没有明显变化。</a:t>
            </a:r>
          </a:p>
          <a:p>
            <a:pPr>
              <a:lnSpc>
                <a:spcPct val="160000"/>
              </a:lnSpc>
              <a:buFontTx/>
              <a:buNone/>
            </a:pPr>
            <a:r>
              <a:rPr lang="zh-CN" altLang="en-US" sz="2400" dirty="0">
                <a:solidFill>
                  <a:schemeClr val="tx1"/>
                </a:solidFill>
                <a:latin typeface="Times New Roman" panose="02020603050405020304" pitchFamily="18" charset="0"/>
                <a:ea typeface="微软雅黑" pitchFamily="34" charset="-122"/>
              </a:rPr>
              <a:t>例：</a:t>
            </a:r>
            <a:r>
              <a:rPr lang="en-US" altLang="zh-CN" sz="2400" dirty="0">
                <a:solidFill>
                  <a:schemeClr val="tx1"/>
                </a:solidFill>
                <a:latin typeface="Times New Roman" panose="02020603050405020304" pitchFamily="18" charset="0"/>
                <a:ea typeface="微软雅黑" pitchFamily="34" charset="-122"/>
              </a:rPr>
              <a:t>R14NVVVi</a:t>
            </a:r>
            <a:r>
              <a:rPr lang="zh-CN" altLang="en-US" sz="2400" dirty="0">
                <a:solidFill>
                  <a:schemeClr val="tx1"/>
                </a:solidFill>
                <a:latin typeface="Times New Roman" panose="02020603050405020304" pitchFamily="18" charset="0"/>
                <a:ea typeface="微软雅黑" pitchFamily="34" charset="-122"/>
              </a:rPr>
              <a:t>表示：中</a:t>
            </a:r>
            <a:r>
              <a:rPr lang="en-US" altLang="zh-CN" sz="2400" dirty="0">
                <a:solidFill>
                  <a:schemeClr val="tx1"/>
                </a:solidFill>
                <a:latin typeface="Times New Roman" panose="02020603050405020304" pitchFamily="18" charset="0"/>
                <a:ea typeface="微软雅黑" pitchFamily="34" charset="-122"/>
              </a:rPr>
              <a:t>14</a:t>
            </a:r>
            <a:r>
              <a:rPr lang="zh-CN" altLang="en-US" sz="2400" dirty="0">
                <a:solidFill>
                  <a:schemeClr val="tx1"/>
                </a:solidFill>
                <a:latin typeface="Times New Roman" panose="02020603050405020304" pitchFamily="18" charset="0"/>
                <a:ea typeface="微软雅黑" pitchFamily="34" charset="-122"/>
              </a:rPr>
              <a:t>号跑道能见度</a:t>
            </a:r>
            <a:r>
              <a:rPr lang="en-US" altLang="zh-CN" sz="2400" dirty="0">
                <a:solidFill>
                  <a:schemeClr val="tx1"/>
                </a:solidFill>
                <a:latin typeface="Times New Roman" panose="02020603050405020304" pitchFamily="18" charset="0"/>
                <a:ea typeface="微软雅黑" pitchFamily="34" charset="-122"/>
              </a:rPr>
              <a:t>VVV</a:t>
            </a:r>
            <a:r>
              <a:rPr lang="zh-CN" altLang="en-US" sz="2400" dirty="0">
                <a:solidFill>
                  <a:schemeClr val="tx1"/>
                </a:solidFill>
                <a:latin typeface="Times New Roman" panose="02020603050405020304" pitchFamily="18" charset="0"/>
                <a:ea typeface="微软雅黑" pitchFamily="34" charset="-122"/>
              </a:rPr>
              <a:t>在观测前</a:t>
            </a:r>
            <a:r>
              <a:rPr lang="en-US" altLang="zh-CN" sz="2400" dirty="0">
                <a:solidFill>
                  <a:schemeClr val="tx1"/>
                </a:solidFill>
                <a:latin typeface="Times New Roman" panose="02020603050405020304" pitchFamily="18" charset="0"/>
                <a:ea typeface="微软雅黑" pitchFamily="34" charset="-122"/>
              </a:rPr>
              <a:t>10</a:t>
            </a:r>
            <a:r>
              <a:rPr lang="zh-CN" altLang="en-US" sz="2400" dirty="0">
                <a:solidFill>
                  <a:schemeClr val="tx1"/>
                </a:solidFill>
                <a:latin typeface="Times New Roman" panose="02020603050405020304" pitchFamily="18" charset="0"/>
                <a:ea typeface="微软雅黑" pitchFamily="34" charset="-122"/>
              </a:rPr>
              <a:t>分钟内没有明显变化</a:t>
            </a:r>
          </a:p>
          <a:p>
            <a:pPr>
              <a:lnSpc>
                <a:spcPct val="160000"/>
              </a:lnSpc>
              <a:buFontTx/>
              <a:buNone/>
            </a:pPr>
            <a:endParaRPr lang="en-US" altLang="zh-CN" sz="2400" dirty="0">
              <a:solidFill>
                <a:schemeClr val="tx1"/>
              </a:solidFill>
              <a:latin typeface="Times New Roman" panose="02020603050405020304" pitchFamily="18" charset="0"/>
              <a:ea typeface="微软雅黑" pitchFamily="34" charset="-122"/>
            </a:endParaRPr>
          </a:p>
          <a:p>
            <a:pPr>
              <a:lnSpc>
                <a:spcPct val="160000"/>
              </a:lnSpc>
              <a:buFontTx/>
              <a:buNone/>
            </a:pPr>
            <a:r>
              <a:rPr lang="zh-CN" altLang="en-US" sz="2400" dirty="0">
                <a:solidFill>
                  <a:schemeClr val="tx1"/>
                </a:solidFill>
                <a:latin typeface="Times New Roman" panose="02020603050405020304" pitchFamily="18" charset="0"/>
                <a:ea typeface="微软雅黑" pitchFamily="34" charset="-122"/>
              </a:rPr>
              <a:t>当无法确定跑道视程的变化趋势时可以省略不报</a:t>
            </a:r>
          </a:p>
          <a:p>
            <a:pPr>
              <a:lnSpc>
                <a:spcPct val="100000"/>
              </a:lnSpc>
            </a:pPr>
            <a:endParaRPr lang="zh-CN" altLang="en-US" dirty="0"/>
          </a:p>
        </p:txBody>
      </p:sp>
    </p:spTree>
    <p:extLst>
      <p:ext uri="{BB962C8B-B14F-4D97-AF65-F5344CB8AC3E}">
        <p14:creationId xmlns:p14="http://schemas.microsoft.com/office/powerpoint/2010/main" val="2615376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3"/>
          <p:cNvSpPr>
            <a:spLocks noGrp="1" noChangeArrowheads="1"/>
          </p:cNvSpPr>
          <p:nvPr>
            <p:ph type="body" idx="4294967295"/>
          </p:nvPr>
        </p:nvSpPr>
        <p:spPr>
          <a:xfrm>
            <a:off x="622853" y="281609"/>
            <a:ext cx="9660834" cy="5791200"/>
          </a:xfrm>
        </p:spPr>
        <p:txBody>
          <a:bodyPr/>
          <a:lstStyle/>
          <a:p>
            <a:pPr marL="0" indent="0">
              <a:lnSpc>
                <a:spcPct val="150000"/>
              </a:lnSpc>
              <a:buNone/>
            </a:pPr>
            <a:r>
              <a:rPr lang="en-US" altLang="zh-CN" sz="3100" dirty="0">
                <a:latin typeface="微软雅黑" pitchFamily="34" charset="-122"/>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RD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I</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当跑道视程有重大变化时用此组</a:t>
            </a:r>
          </a:p>
          <a:p>
            <a:pPr marL="0" indent="0">
              <a:lnSpc>
                <a:spcPct val="150000"/>
              </a:lnSpc>
            </a:pPr>
            <a:r>
              <a:rPr lang="en-US" altLang="zh-CN" sz="2400" dirty="0">
                <a:solidFill>
                  <a:schemeClr val="tx1"/>
                </a:solidFill>
                <a:latin typeface="Times New Roman" panose="02020603050405020304" pitchFamily="18" charset="0"/>
                <a:ea typeface="微软雅黑" pitchFamily="34" charset="-122"/>
              </a:rPr>
              <a:t>V</a:t>
            </a:r>
            <a:r>
              <a:rPr lang="zh-CN" altLang="en-US" sz="2400" dirty="0">
                <a:solidFill>
                  <a:schemeClr val="tx1"/>
                </a:solidFill>
                <a:latin typeface="Times New Roman" panose="02020603050405020304" pitchFamily="18" charset="0"/>
                <a:ea typeface="微软雅黑" pitchFamily="34" charset="-122"/>
              </a:rPr>
              <a:t>为指示码，</a:t>
            </a:r>
            <a:r>
              <a:rPr lang="en-US" altLang="zh-CN" sz="2400" dirty="0">
                <a:solidFill>
                  <a:schemeClr val="tx1"/>
                </a:solidFill>
                <a:latin typeface="Times New Roman" panose="02020603050405020304" pitchFamily="18" charset="0"/>
                <a:ea typeface="微软雅黑" pitchFamily="34" charset="-122"/>
              </a:rPr>
              <a:t>V</a:t>
            </a:r>
            <a:r>
              <a:rPr lang="zh-CN" altLang="en-US" sz="2400" dirty="0">
                <a:solidFill>
                  <a:schemeClr val="tx1"/>
                </a:solidFill>
                <a:latin typeface="Times New Roman" panose="02020603050405020304" pitchFamily="18" charset="0"/>
                <a:ea typeface="微软雅黑" pitchFamily="34" charset="-122"/>
              </a:rPr>
              <a:t>前后的</a:t>
            </a:r>
            <a:r>
              <a:rPr lang="en-US" altLang="zh-CN" sz="2400" dirty="0" err="1">
                <a:solidFill>
                  <a:schemeClr val="tx1"/>
                </a:solidFill>
                <a:latin typeface="Times New Roman" panose="02020603050405020304" pitchFamily="18" charset="0"/>
                <a:ea typeface="微软雅黑" pitchFamily="34" charset="-122"/>
              </a:rPr>
              <a:t>V</a:t>
            </a:r>
            <a:r>
              <a:rPr lang="en-US" altLang="zh-CN" sz="2400" baseline="-25000" dirty="0" err="1">
                <a:solidFill>
                  <a:schemeClr val="tx1"/>
                </a:solidFill>
                <a:latin typeface="Times New Roman" panose="02020603050405020304" pitchFamily="18" charset="0"/>
                <a:ea typeface="微软雅黑" pitchFamily="34" charset="-122"/>
              </a:rPr>
              <a:t>r</a:t>
            </a:r>
            <a:r>
              <a:rPr lang="zh-CN" altLang="en-US" sz="2400" dirty="0">
                <a:solidFill>
                  <a:schemeClr val="tx1"/>
                </a:solidFill>
                <a:latin typeface="Times New Roman" panose="02020603050405020304" pitchFamily="18" charset="0"/>
                <a:ea typeface="微软雅黑" pitchFamily="34" charset="-122"/>
              </a:rPr>
              <a:t>则分别编报观测跑道视程前十分钟内某一分钟平均最小值和平均最大值。</a:t>
            </a:r>
          </a:p>
          <a:p>
            <a:pPr marL="0" indent="0">
              <a:lnSpc>
                <a:spcPct val="150000"/>
              </a:lnSpc>
            </a:pPr>
            <a:r>
              <a:rPr lang="zh-CN" altLang="en-US" sz="2400" dirty="0">
                <a:solidFill>
                  <a:schemeClr val="tx1"/>
                </a:solidFill>
                <a:latin typeface="Times New Roman" panose="02020603050405020304" pitchFamily="18" charset="0"/>
                <a:ea typeface="微软雅黑" pitchFamily="34" charset="-122"/>
              </a:rPr>
              <a:t>如：</a:t>
            </a:r>
            <a:r>
              <a:rPr lang="en-US" altLang="zh-CN" sz="2400" dirty="0">
                <a:solidFill>
                  <a:schemeClr val="tx1"/>
                </a:solidFill>
                <a:latin typeface="Times New Roman" panose="02020603050405020304" pitchFamily="18" charset="0"/>
                <a:ea typeface="微软雅黑" pitchFamily="34" charset="-122"/>
              </a:rPr>
              <a:t>R32/0800V1200D</a:t>
            </a:r>
            <a:r>
              <a:rPr lang="zh-CN" altLang="en-US" sz="2400" dirty="0">
                <a:solidFill>
                  <a:schemeClr val="tx1"/>
                </a:solidFill>
                <a:latin typeface="Times New Roman" panose="02020603050405020304" pitchFamily="18" charset="0"/>
                <a:ea typeface="微软雅黑" pitchFamily="34" charset="-122"/>
              </a:rPr>
              <a:t>表示</a:t>
            </a:r>
            <a:r>
              <a:rPr lang="en-US" altLang="zh-CN" sz="2400" dirty="0">
                <a:solidFill>
                  <a:schemeClr val="tx1"/>
                </a:solidFill>
                <a:latin typeface="Times New Roman" panose="02020603050405020304" pitchFamily="18" charset="0"/>
                <a:ea typeface="微软雅黑" pitchFamily="34" charset="-122"/>
              </a:rPr>
              <a:t>32</a:t>
            </a:r>
            <a:r>
              <a:rPr lang="zh-CN" altLang="en-US" sz="2400" dirty="0">
                <a:solidFill>
                  <a:schemeClr val="tx1"/>
                </a:solidFill>
                <a:latin typeface="Times New Roman" panose="02020603050405020304" pitchFamily="18" charset="0"/>
                <a:ea typeface="微软雅黑" pitchFamily="34" charset="-122"/>
              </a:rPr>
              <a:t>号右跑道跑道视程最小</a:t>
            </a:r>
            <a:r>
              <a:rPr lang="en-US" altLang="zh-CN" sz="2400" dirty="0">
                <a:solidFill>
                  <a:schemeClr val="tx1"/>
                </a:solidFill>
                <a:latin typeface="Times New Roman" panose="02020603050405020304" pitchFamily="18" charset="0"/>
                <a:ea typeface="微软雅黑" pitchFamily="34" charset="-122"/>
              </a:rPr>
              <a:t>800</a:t>
            </a:r>
            <a:r>
              <a:rPr lang="zh-CN" altLang="en-US" sz="2400" dirty="0">
                <a:solidFill>
                  <a:schemeClr val="tx1"/>
                </a:solidFill>
                <a:latin typeface="Times New Roman" panose="02020603050405020304" pitchFamily="18" charset="0"/>
                <a:ea typeface="微软雅黑" pitchFamily="34" charset="-122"/>
              </a:rPr>
              <a:t>米，最大</a:t>
            </a:r>
            <a:r>
              <a:rPr lang="en-US" altLang="zh-CN" sz="2400" dirty="0">
                <a:solidFill>
                  <a:schemeClr val="tx1"/>
                </a:solidFill>
                <a:latin typeface="Times New Roman" panose="02020603050405020304" pitchFamily="18" charset="0"/>
                <a:ea typeface="微软雅黑" pitchFamily="34" charset="-122"/>
              </a:rPr>
              <a:t>1200</a:t>
            </a:r>
            <a:r>
              <a:rPr lang="zh-CN" altLang="en-US" sz="2400" dirty="0">
                <a:solidFill>
                  <a:schemeClr val="tx1"/>
                </a:solidFill>
                <a:latin typeface="Times New Roman" panose="02020603050405020304" pitchFamily="18" charset="0"/>
                <a:ea typeface="微软雅黑" pitchFamily="34" charset="-122"/>
              </a:rPr>
              <a:t>米，在观测时有明显下降趋势。</a:t>
            </a:r>
          </a:p>
          <a:p>
            <a:pPr marL="0" indent="0">
              <a:lnSpc>
                <a:spcPct val="150000"/>
              </a:lnSpc>
            </a:pPr>
            <a:r>
              <a:rPr lang="en-US" altLang="zh-CN" sz="2400" dirty="0">
                <a:solidFill>
                  <a:schemeClr val="tx1"/>
                </a:solidFill>
                <a:latin typeface="Times New Roman" panose="02020603050405020304" pitchFamily="18" charset="0"/>
                <a:ea typeface="微软雅黑" pitchFamily="34" charset="-122"/>
              </a:rPr>
              <a:t>P</a:t>
            </a:r>
            <a:r>
              <a:rPr lang="zh-CN" altLang="en-US" sz="2400" dirty="0">
                <a:solidFill>
                  <a:schemeClr val="tx1"/>
                </a:solidFill>
                <a:latin typeface="Times New Roman" panose="02020603050405020304" pitchFamily="18" charset="0"/>
                <a:ea typeface="微软雅黑" pitchFamily="34" charset="-122"/>
              </a:rPr>
              <a:t>为大于，</a:t>
            </a:r>
            <a:r>
              <a:rPr lang="en-US" altLang="zh-CN" sz="2400" dirty="0">
                <a:solidFill>
                  <a:schemeClr val="tx1"/>
                </a:solidFill>
                <a:latin typeface="Times New Roman" panose="02020603050405020304" pitchFamily="18" charset="0"/>
                <a:ea typeface="微软雅黑" pitchFamily="34" charset="-122"/>
              </a:rPr>
              <a:t>M</a:t>
            </a:r>
            <a:r>
              <a:rPr lang="zh-CN" altLang="en-US" sz="2400" dirty="0">
                <a:solidFill>
                  <a:schemeClr val="tx1"/>
                </a:solidFill>
                <a:latin typeface="Times New Roman" panose="02020603050405020304" pitchFamily="18" charset="0"/>
                <a:ea typeface="微软雅黑" pitchFamily="34" charset="-122"/>
              </a:rPr>
              <a:t>为小于指示码 ，如</a:t>
            </a:r>
            <a:r>
              <a:rPr lang="en-US" altLang="zh-CN" sz="2400" dirty="0">
                <a:solidFill>
                  <a:schemeClr val="tx1"/>
                </a:solidFill>
                <a:latin typeface="Times New Roman" panose="02020603050405020304" pitchFamily="18" charset="0"/>
                <a:ea typeface="微软雅黑" pitchFamily="34" charset="-122"/>
              </a:rPr>
              <a:t>M100</a:t>
            </a:r>
            <a:r>
              <a:rPr lang="zh-CN" altLang="en-US" sz="2400" dirty="0">
                <a:solidFill>
                  <a:schemeClr val="tx1"/>
                </a:solidFill>
                <a:latin typeface="Times New Roman" panose="02020603050405020304" pitchFamily="18" charset="0"/>
                <a:ea typeface="微软雅黑" pitchFamily="34" charset="-122"/>
              </a:rPr>
              <a:t>表示跑道视程小于</a:t>
            </a:r>
            <a:r>
              <a:rPr lang="en-US" altLang="zh-CN" sz="2400" dirty="0">
                <a:solidFill>
                  <a:schemeClr val="tx1"/>
                </a:solidFill>
                <a:latin typeface="Times New Roman" panose="02020603050405020304" pitchFamily="18" charset="0"/>
                <a:ea typeface="微软雅黑" pitchFamily="34" charset="-122"/>
              </a:rPr>
              <a:t>100</a:t>
            </a:r>
            <a:r>
              <a:rPr lang="zh-CN" altLang="en-US" sz="2400" dirty="0">
                <a:solidFill>
                  <a:schemeClr val="tx1"/>
                </a:solidFill>
                <a:latin typeface="Times New Roman" panose="02020603050405020304" pitchFamily="18" charset="0"/>
                <a:ea typeface="微软雅黑" pitchFamily="34" charset="-122"/>
              </a:rPr>
              <a:t>米</a:t>
            </a:r>
          </a:p>
        </p:txBody>
      </p:sp>
    </p:spTree>
    <p:extLst>
      <p:ext uri="{BB962C8B-B14F-4D97-AF65-F5344CB8AC3E}">
        <p14:creationId xmlns:p14="http://schemas.microsoft.com/office/powerpoint/2010/main" val="1890731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p:cNvSpPr>
            <a:spLocks noGrp="1"/>
          </p:cNvSpPr>
          <p:nvPr>
            <p:ph type="body" idx="1"/>
          </p:nvPr>
        </p:nvSpPr>
        <p:spPr>
          <a:xfrm>
            <a:off x="580818" y="456510"/>
            <a:ext cx="8229600" cy="4525963"/>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第八组 </a:t>
            </a:r>
            <a:r>
              <a:rPr lang="en-US" altLang="zh-CN" sz="2400" dirty="0">
                <a:solidFill>
                  <a:schemeClr val="accent5"/>
                </a:solidFill>
                <a:latin typeface="Times New Roman" panose="02020603050405020304" pitchFamily="18" charset="0"/>
                <a:ea typeface="微软雅黑" pitchFamily="34" charset="-122"/>
              </a:rPr>
              <a:t>CAVOK  </a:t>
            </a:r>
            <a:r>
              <a:rPr lang="zh-CN" altLang="en-US" sz="2400" dirty="0">
                <a:solidFill>
                  <a:schemeClr val="accent5"/>
                </a:solidFill>
                <a:latin typeface="Times New Roman" panose="02020603050405020304" pitchFamily="18" charset="0"/>
                <a:ea typeface="微软雅黑" pitchFamily="34" charset="-122"/>
              </a:rPr>
              <a:t>好天气组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字码</a:t>
            </a:r>
            <a:r>
              <a:rPr lang="en-US" altLang="zh-CN" sz="2400" dirty="0">
                <a:solidFill>
                  <a:schemeClr val="tx1"/>
                </a:solidFill>
                <a:latin typeface="Times New Roman" panose="02020603050405020304" pitchFamily="18" charset="0"/>
                <a:ea typeface="微软雅黑" pitchFamily="34" charset="-122"/>
              </a:rPr>
              <a:t>CAVOK</a:t>
            </a:r>
            <a:r>
              <a:rPr lang="zh-CN" altLang="en-US" sz="2400" dirty="0">
                <a:solidFill>
                  <a:schemeClr val="tx1"/>
                </a:solidFill>
                <a:latin typeface="Times New Roman" panose="02020603050405020304" pitchFamily="18" charset="0"/>
                <a:ea typeface="微软雅黑" pitchFamily="34" charset="-122"/>
              </a:rPr>
              <a:t>可用来代替能见度组、天气现象组和云组，其条件是：</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）能见度</a:t>
            </a:r>
            <a:r>
              <a:rPr lang="en-US" altLang="zh-CN" sz="2400" dirty="0">
                <a:solidFill>
                  <a:schemeClr val="tx1"/>
                </a:solidFill>
                <a:latin typeface="Times New Roman" panose="02020603050405020304" pitchFamily="18" charset="0"/>
                <a:ea typeface="微软雅黑" pitchFamily="34" charset="-122"/>
              </a:rPr>
              <a:t>10km</a:t>
            </a:r>
            <a:r>
              <a:rPr lang="zh-CN" altLang="en-US" sz="2400" dirty="0">
                <a:solidFill>
                  <a:schemeClr val="tx1"/>
                </a:solidFill>
                <a:latin typeface="Times New Roman" panose="02020603050405020304" pitchFamily="18" charset="0"/>
                <a:ea typeface="微软雅黑" pitchFamily="34" charset="-122"/>
              </a:rPr>
              <a:t>或以上；</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1500m</a:t>
            </a:r>
            <a:r>
              <a:rPr lang="zh-CN" altLang="en-US" sz="2400" dirty="0">
                <a:solidFill>
                  <a:schemeClr val="tx1"/>
                </a:solidFill>
                <a:latin typeface="Times New Roman" panose="02020603050405020304" pitchFamily="18" charset="0"/>
                <a:ea typeface="微软雅黑" pitchFamily="34" charset="-122"/>
              </a:rPr>
              <a:t>以下无云，而且没有强对流天气；</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）无降水、雷暴、沙暴、吹雪等天气现象。</a:t>
            </a:r>
          </a:p>
        </p:txBody>
      </p:sp>
    </p:spTree>
    <p:extLst>
      <p:ext uri="{BB962C8B-B14F-4D97-AF65-F5344CB8AC3E}">
        <p14:creationId xmlns:p14="http://schemas.microsoft.com/office/powerpoint/2010/main" val="1084943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3"/>
          <p:cNvSpPr>
            <a:spLocks noGrp="1" noChangeArrowheads="1"/>
          </p:cNvSpPr>
          <p:nvPr>
            <p:ph type="body" idx="4294967295"/>
          </p:nvPr>
        </p:nvSpPr>
        <p:spPr>
          <a:xfrm>
            <a:off x="429867" y="261143"/>
            <a:ext cx="9562271" cy="6335713"/>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第九组  </a:t>
            </a:r>
            <a:r>
              <a:rPr lang="en-US" altLang="zh-CN" sz="2400" dirty="0">
                <a:solidFill>
                  <a:schemeClr val="tx1"/>
                </a:solidFill>
                <a:latin typeface="Times New Roman" panose="02020603050405020304" pitchFamily="18" charset="0"/>
                <a:ea typeface="微软雅黑" pitchFamily="34" charset="-122"/>
              </a:rPr>
              <a:t>W’W’  </a:t>
            </a:r>
            <a:r>
              <a:rPr lang="zh-CN" altLang="en-US" sz="2400" dirty="0">
                <a:solidFill>
                  <a:schemeClr val="tx1"/>
                </a:solidFill>
                <a:latin typeface="Times New Roman" panose="02020603050405020304" pitchFamily="18" charset="0"/>
                <a:ea typeface="微软雅黑" pitchFamily="34" charset="-122"/>
              </a:rPr>
              <a:t>天气现象组：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当观测时出现几种不同的天气现象时，可重复</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编报， </a:t>
            </a:r>
            <a:r>
              <a:rPr lang="en-US" altLang="zh-CN" sz="2400" dirty="0">
                <a:solidFill>
                  <a:schemeClr val="tx1"/>
                </a:solidFill>
                <a:latin typeface="Times New Roman" panose="02020603050405020304" pitchFamily="18" charset="0"/>
                <a:ea typeface="微软雅黑" pitchFamily="34" charset="-122"/>
              </a:rPr>
              <a:t>W’W’ </a:t>
            </a:r>
            <a:r>
              <a:rPr lang="zh-CN" altLang="en-US" sz="2400" dirty="0">
                <a:solidFill>
                  <a:schemeClr val="tx1"/>
                </a:solidFill>
                <a:latin typeface="Times New Roman" panose="02020603050405020304" pitchFamily="18" charset="0"/>
                <a:ea typeface="微软雅黑" pitchFamily="34" charset="-122"/>
              </a:rPr>
              <a:t>可按照表</a:t>
            </a:r>
            <a:r>
              <a:rPr lang="en-US" altLang="zh-CN" sz="2400" dirty="0">
                <a:solidFill>
                  <a:schemeClr val="tx1"/>
                </a:solidFill>
                <a:latin typeface="Times New Roman" panose="02020603050405020304" pitchFamily="18" charset="0"/>
                <a:ea typeface="微软雅黑" pitchFamily="34" charset="-122"/>
              </a:rPr>
              <a:t>22.3</a:t>
            </a:r>
            <a:r>
              <a:rPr lang="zh-CN" altLang="en-US" sz="2400" dirty="0">
                <a:solidFill>
                  <a:schemeClr val="tx1"/>
                </a:solidFill>
                <a:latin typeface="Times New Roman" panose="02020603050405020304" pitchFamily="18" charset="0"/>
                <a:ea typeface="微软雅黑" pitchFamily="34" charset="-122"/>
              </a:rPr>
              <a:t>编报（每组</a:t>
            </a:r>
            <a:r>
              <a:rPr lang="en-US" altLang="zh-CN" sz="2400" dirty="0">
                <a:solidFill>
                  <a:schemeClr val="tx1"/>
                </a:solidFill>
                <a:latin typeface="Times New Roman" panose="02020603050405020304" pitchFamily="18" charset="0"/>
                <a:ea typeface="微软雅黑" pitchFamily="34" charset="-122"/>
              </a:rPr>
              <a:t>2~9</a:t>
            </a:r>
            <a:r>
              <a:rPr lang="zh-CN" altLang="en-US" sz="2400" dirty="0">
                <a:solidFill>
                  <a:schemeClr val="tx1"/>
                </a:solidFill>
                <a:latin typeface="Times New Roman" panose="02020603050405020304" pitchFamily="18" charset="0"/>
                <a:ea typeface="微软雅黑" pitchFamily="34" charset="-122"/>
              </a:rPr>
              <a:t>个字符表示）。</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VCFG</a:t>
            </a:r>
            <a:r>
              <a:rPr lang="zh-CN" altLang="en-US" sz="2400" dirty="0">
                <a:solidFill>
                  <a:schemeClr val="tx1"/>
                </a:solidFill>
                <a:latin typeface="Times New Roman" panose="02020603050405020304" pitchFamily="18" charset="0"/>
                <a:ea typeface="微软雅黑" pitchFamily="34" charset="-122"/>
              </a:rPr>
              <a:t>表示：机场附近</a:t>
            </a:r>
            <a:r>
              <a:rPr lang="en-US" altLang="zh-CN" sz="2400" dirty="0">
                <a:solidFill>
                  <a:schemeClr val="tx1"/>
                </a:solidFill>
                <a:latin typeface="Times New Roman" panose="02020603050405020304" pitchFamily="18" charset="0"/>
                <a:ea typeface="微软雅黑" pitchFamily="34" charset="-122"/>
              </a:rPr>
              <a:t>8</a:t>
            </a:r>
            <a:r>
              <a:rPr lang="zh-CN" altLang="en-US" sz="2400" dirty="0">
                <a:solidFill>
                  <a:schemeClr val="tx1"/>
                </a:solidFill>
                <a:latin typeface="Times New Roman" panose="02020603050405020304" pitchFamily="18" charset="0"/>
                <a:ea typeface="微软雅黑" pitchFamily="34" charset="-122"/>
              </a:rPr>
              <a:t>公里以内（不含机场）有雾</a:t>
            </a:r>
          </a:p>
        </p:txBody>
      </p:sp>
    </p:spTree>
    <p:extLst>
      <p:ext uri="{BB962C8B-B14F-4D97-AF65-F5344CB8AC3E}">
        <p14:creationId xmlns:p14="http://schemas.microsoft.com/office/powerpoint/2010/main" val="3035430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
          <p:cNvSpPr>
            <a:spLocks noGrp="1" noChangeArrowheads="1"/>
          </p:cNvSpPr>
          <p:nvPr>
            <p:ph type="body" idx="4294967295"/>
          </p:nvPr>
        </p:nvSpPr>
        <p:spPr>
          <a:xfrm>
            <a:off x="477078" y="-1"/>
            <a:ext cx="11542644" cy="7328453"/>
          </a:xfrm>
        </p:spPr>
        <p:txBody>
          <a:bodyPr>
            <a:normAutofit fontScale="70000" lnSpcReduction="20000"/>
          </a:bodyPr>
          <a:lstStyle/>
          <a:p>
            <a:pPr marL="0" indent="0">
              <a:lnSpc>
                <a:spcPct val="170000"/>
              </a:lnSpc>
              <a:buNone/>
            </a:pPr>
            <a:r>
              <a:rPr lang="zh-CN" altLang="en-US" sz="3100" dirty="0">
                <a:solidFill>
                  <a:schemeClr val="tx1"/>
                </a:solidFill>
                <a:latin typeface="Times New Roman" panose="02020603050405020304" pitchFamily="18" charset="0"/>
                <a:ea typeface="微软雅黑" pitchFamily="34" charset="-122"/>
              </a:rPr>
              <a:t>第十组  云组</a:t>
            </a:r>
          </a:p>
          <a:p>
            <a:pPr marL="0" indent="0">
              <a:lnSpc>
                <a:spcPct val="170000"/>
              </a:lnSpc>
              <a:buNone/>
            </a:pPr>
            <a:r>
              <a:rPr lang="en-US" altLang="zh-CN" sz="3100" dirty="0" err="1">
                <a:solidFill>
                  <a:schemeClr val="tx1"/>
                </a:solidFill>
                <a:latin typeface="Times New Roman" panose="02020603050405020304" pitchFamily="18" charset="0"/>
                <a:ea typeface="微软雅黑" pitchFamily="34" charset="-122"/>
              </a:rPr>
              <a:t>N</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N</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N</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a:solidFill>
                  <a:schemeClr val="tx1"/>
                </a:solidFill>
                <a:latin typeface="Times New Roman" panose="02020603050405020304" pitchFamily="18" charset="0"/>
                <a:ea typeface="微软雅黑" pitchFamily="34" charset="-122"/>
              </a:rPr>
              <a:t>(CC) </a:t>
            </a:r>
            <a:r>
              <a:rPr lang="zh-CN" altLang="en-US" sz="3100" dirty="0">
                <a:solidFill>
                  <a:schemeClr val="tx1"/>
                </a:solidFill>
                <a:latin typeface="Times New Roman" panose="02020603050405020304" pitchFamily="18" charset="0"/>
                <a:ea typeface="微软雅黑" pitchFamily="34" charset="-122"/>
              </a:rPr>
              <a:t>或</a:t>
            </a:r>
            <a:r>
              <a:rPr lang="en-US" altLang="zh-CN" sz="3100" dirty="0" err="1">
                <a:solidFill>
                  <a:schemeClr val="tx1"/>
                </a:solidFill>
                <a:latin typeface="Times New Roman" panose="02020603050405020304" pitchFamily="18" charset="0"/>
                <a:ea typeface="微软雅黑" pitchFamily="34" charset="-122"/>
              </a:rPr>
              <a:t>VVh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a:solidFill>
                  <a:schemeClr val="tx1"/>
                </a:solidFill>
                <a:latin typeface="Times New Roman" panose="02020603050405020304" pitchFamily="18" charset="0"/>
                <a:ea typeface="微软雅黑" pitchFamily="34" charset="-122"/>
              </a:rPr>
              <a:t> </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a:solidFill>
                  <a:schemeClr val="tx1"/>
                </a:solidFill>
                <a:latin typeface="Times New Roman" panose="02020603050405020304" pitchFamily="18" charset="0"/>
                <a:ea typeface="微软雅黑" pitchFamily="34" charset="-122"/>
              </a:rPr>
              <a:t> </a:t>
            </a:r>
            <a:r>
              <a:rPr lang="zh-CN" altLang="en-US" sz="3100" dirty="0">
                <a:solidFill>
                  <a:schemeClr val="tx1"/>
                </a:solidFill>
                <a:latin typeface="Times New Roman" panose="02020603050405020304" pitchFamily="18" charset="0"/>
                <a:ea typeface="微软雅黑" pitchFamily="34" charset="-122"/>
              </a:rPr>
              <a:t>或 </a:t>
            </a:r>
            <a:r>
              <a:rPr lang="en-US" altLang="zh-CN" sz="3100" dirty="0">
                <a:solidFill>
                  <a:schemeClr val="tx1"/>
                </a:solidFill>
                <a:latin typeface="Times New Roman" panose="02020603050405020304" pitchFamily="18" charset="0"/>
                <a:ea typeface="微软雅黑" pitchFamily="34" charset="-122"/>
              </a:rPr>
              <a:t>SKC</a:t>
            </a:r>
            <a:r>
              <a:rPr lang="zh-CN" altLang="en-US" sz="3100" dirty="0">
                <a:solidFill>
                  <a:schemeClr val="tx1"/>
                </a:solidFill>
                <a:latin typeface="Times New Roman" panose="02020603050405020304" pitchFamily="18" charset="0"/>
                <a:ea typeface="微软雅黑" pitchFamily="34" charset="-122"/>
              </a:rPr>
              <a:t>或</a:t>
            </a:r>
            <a:r>
              <a:rPr lang="en-US" altLang="zh-CN" sz="3100" dirty="0">
                <a:solidFill>
                  <a:schemeClr val="tx1"/>
                </a:solidFill>
                <a:latin typeface="Times New Roman" panose="02020603050405020304" pitchFamily="18" charset="0"/>
                <a:ea typeface="微软雅黑" pitchFamily="34" charset="-122"/>
              </a:rPr>
              <a:t>NSC </a:t>
            </a:r>
          </a:p>
          <a:p>
            <a:pPr marL="0" indent="0">
              <a:lnSpc>
                <a:spcPct val="170000"/>
              </a:lnSpc>
              <a:buNone/>
            </a:pPr>
            <a:r>
              <a:rPr lang="zh-CN" altLang="en-US" sz="3100" dirty="0">
                <a:solidFill>
                  <a:schemeClr val="tx1"/>
                </a:solidFill>
                <a:latin typeface="Times New Roman" panose="02020603050405020304" pitchFamily="18" charset="0"/>
                <a:ea typeface="微软雅黑" pitchFamily="34" charset="-122"/>
              </a:rPr>
              <a:t>本组可以编报若干组，按云底高度从低到高顺次编报</a:t>
            </a:r>
          </a:p>
          <a:p>
            <a:pPr marL="0" indent="0">
              <a:lnSpc>
                <a:spcPct val="170000"/>
              </a:lnSpc>
              <a:buNone/>
            </a:pPr>
            <a:r>
              <a:rPr lang="en-US" altLang="zh-CN" sz="3100" dirty="0" err="1">
                <a:solidFill>
                  <a:schemeClr val="tx1"/>
                </a:solidFill>
                <a:latin typeface="Times New Roman" panose="02020603050405020304" pitchFamily="18" charset="0"/>
                <a:ea typeface="微软雅黑" pitchFamily="34" charset="-122"/>
              </a:rPr>
              <a:t>N</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N</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N</a:t>
            </a:r>
            <a:r>
              <a:rPr lang="en-US" altLang="zh-CN" sz="3100" baseline="-25000" dirty="0" err="1">
                <a:solidFill>
                  <a:schemeClr val="tx1"/>
                </a:solidFill>
                <a:latin typeface="Times New Roman" panose="02020603050405020304" pitchFamily="18" charset="0"/>
                <a:ea typeface="微软雅黑" pitchFamily="34" charset="-122"/>
              </a:rPr>
              <a:t>s</a:t>
            </a:r>
            <a:r>
              <a:rPr lang="zh-CN" altLang="en-US" sz="3100" dirty="0">
                <a:solidFill>
                  <a:schemeClr val="tx1"/>
                </a:solidFill>
                <a:latin typeface="Times New Roman" panose="02020603050405020304" pitchFamily="18" charset="0"/>
                <a:ea typeface="微软雅黑" pitchFamily="34" charset="-122"/>
              </a:rPr>
              <a:t>：云量，需要用简语表示：</a:t>
            </a:r>
          </a:p>
          <a:p>
            <a:pPr marL="0" indent="0">
              <a:lnSpc>
                <a:spcPct val="170000"/>
              </a:lnSpc>
              <a:buNone/>
            </a:pPr>
            <a:r>
              <a:rPr lang="zh-CN" altLang="en-US" sz="3100" dirty="0">
                <a:solidFill>
                  <a:schemeClr val="tx1"/>
                </a:solidFill>
                <a:latin typeface="Times New Roman" panose="02020603050405020304" pitchFamily="18" charset="0"/>
                <a:ea typeface="微软雅黑" pitchFamily="34" charset="-122"/>
              </a:rPr>
              <a:t>             </a:t>
            </a:r>
            <a:r>
              <a:rPr lang="zh-CN" altLang="en-US" sz="3100" dirty="0">
                <a:solidFill>
                  <a:schemeClr val="accent5"/>
                </a:solidFill>
                <a:latin typeface="Times New Roman" panose="02020603050405020304" pitchFamily="18" charset="0"/>
                <a:ea typeface="微软雅黑" pitchFamily="34" charset="-122"/>
              </a:rPr>
              <a:t>  </a:t>
            </a:r>
            <a:r>
              <a:rPr lang="en-US" altLang="zh-CN" sz="3100" dirty="0">
                <a:solidFill>
                  <a:schemeClr val="accent5"/>
                </a:solidFill>
                <a:latin typeface="Times New Roman" panose="02020603050405020304" pitchFamily="18" charset="0"/>
                <a:ea typeface="微软雅黑" pitchFamily="34" charset="-122"/>
              </a:rPr>
              <a:t>FEW</a:t>
            </a:r>
            <a:r>
              <a:rPr lang="zh-CN" altLang="en-US" sz="3100" dirty="0">
                <a:solidFill>
                  <a:schemeClr val="accent5"/>
                </a:solidFill>
                <a:latin typeface="Times New Roman" panose="02020603050405020304" pitchFamily="18" charset="0"/>
                <a:ea typeface="微软雅黑" pitchFamily="34" charset="-122"/>
              </a:rPr>
              <a:t>（少云</a:t>
            </a:r>
            <a:r>
              <a:rPr lang="en-US" altLang="zh-CN" sz="3100" dirty="0">
                <a:solidFill>
                  <a:schemeClr val="accent5"/>
                </a:solidFill>
                <a:latin typeface="Times New Roman" panose="02020603050405020304" pitchFamily="18" charset="0"/>
                <a:ea typeface="微软雅黑" pitchFamily="34" charset="-122"/>
              </a:rPr>
              <a:t>1—2</a:t>
            </a:r>
            <a:r>
              <a:rPr lang="zh-CN" altLang="en-US" sz="3100" dirty="0">
                <a:solidFill>
                  <a:schemeClr val="accent5"/>
                </a:solidFill>
                <a:latin typeface="Times New Roman" panose="02020603050405020304" pitchFamily="18" charset="0"/>
                <a:ea typeface="微软雅黑" pitchFamily="34" charset="-122"/>
              </a:rPr>
              <a:t>个量）</a:t>
            </a:r>
          </a:p>
          <a:p>
            <a:pPr marL="0" indent="0">
              <a:lnSpc>
                <a:spcPct val="170000"/>
              </a:lnSpc>
              <a:buNone/>
            </a:pPr>
            <a:r>
              <a:rPr lang="zh-CN" altLang="en-US" sz="3100" dirty="0">
                <a:solidFill>
                  <a:schemeClr val="accent5"/>
                </a:solidFill>
                <a:latin typeface="Times New Roman" panose="02020603050405020304" pitchFamily="18" charset="0"/>
                <a:ea typeface="微软雅黑" pitchFamily="34" charset="-122"/>
              </a:rPr>
              <a:t>               </a:t>
            </a:r>
            <a:r>
              <a:rPr lang="en-US" altLang="zh-CN" sz="3100" dirty="0">
                <a:solidFill>
                  <a:schemeClr val="accent5"/>
                </a:solidFill>
                <a:latin typeface="Times New Roman" panose="02020603050405020304" pitchFamily="18" charset="0"/>
                <a:ea typeface="微软雅黑" pitchFamily="34" charset="-122"/>
              </a:rPr>
              <a:t>SCT </a:t>
            </a:r>
            <a:r>
              <a:rPr lang="zh-CN" altLang="en-US" sz="3100" dirty="0">
                <a:solidFill>
                  <a:schemeClr val="accent5"/>
                </a:solidFill>
                <a:latin typeface="Times New Roman" panose="02020603050405020304" pitchFamily="18" charset="0"/>
                <a:ea typeface="微软雅黑" pitchFamily="34" charset="-122"/>
              </a:rPr>
              <a:t>（疏云</a:t>
            </a:r>
            <a:r>
              <a:rPr lang="en-US" altLang="zh-CN" sz="3100" dirty="0">
                <a:solidFill>
                  <a:schemeClr val="accent5"/>
                </a:solidFill>
                <a:latin typeface="Times New Roman" panose="02020603050405020304" pitchFamily="18" charset="0"/>
                <a:ea typeface="微软雅黑" pitchFamily="34" charset="-122"/>
              </a:rPr>
              <a:t>3-4</a:t>
            </a:r>
            <a:r>
              <a:rPr lang="zh-CN" altLang="en-US" sz="3100" dirty="0">
                <a:solidFill>
                  <a:schemeClr val="accent5"/>
                </a:solidFill>
                <a:latin typeface="Times New Roman" panose="02020603050405020304" pitchFamily="18" charset="0"/>
                <a:ea typeface="微软雅黑" pitchFamily="34" charset="-122"/>
              </a:rPr>
              <a:t>）</a:t>
            </a:r>
          </a:p>
          <a:p>
            <a:pPr marL="0" indent="0">
              <a:lnSpc>
                <a:spcPct val="170000"/>
              </a:lnSpc>
              <a:buNone/>
            </a:pPr>
            <a:r>
              <a:rPr lang="zh-CN" altLang="en-US" sz="3100" dirty="0">
                <a:solidFill>
                  <a:schemeClr val="accent5"/>
                </a:solidFill>
                <a:latin typeface="Times New Roman" panose="02020603050405020304" pitchFamily="18" charset="0"/>
                <a:ea typeface="微软雅黑" pitchFamily="34" charset="-122"/>
              </a:rPr>
              <a:t>               </a:t>
            </a:r>
            <a:r>
              <a:rPr lang="en-US" altLang="zh-CN" sz="3100" dirty="0">
                <a:solidFill>
                  <a:schemeClr val="accent5"/>
                </a:solidFill>
                <a:latin typeface="Times New Roman" panose="02020603050405020304" pitchFamily="18" charset="0"/>
                <a:ea typeface="微软雅黑" pitchFamily="34" charset="-122"/>
              </a:rPr>
              <a:t>BKN</a:t>
            </a:r>
            <a:r>
              <a:rPr lang="zh-CN" altLang="en-US" sz="3100" dirty="0">
                <a:solidFill>
                  <a:schemeClr val="accent5"/>
                </a:solidFill>
                <a:latin typeface="Times New Roman" panose="02020603050405020304" pitchFamily="18" charset="0"/>
                <a:ea typeface="微软雅黑" pitchFamily="34" charset="-122"/>
              </a:rPr>
              <a:t>（多云</a:t>
            </a:r>
            <a:r>
              <a:rPr lang="en-US" altLang="zh-CN" sz="3100" dirty="0">
                <a:solidFill>
                  <a:schemeClr val="accent5"/>
                </a:solidFill>
                <a:latin typeface="Times New Roman" panose="02020603050405020304" pitchFamily="18" charset="0"/>
                <a:ea typeface="微软雅黑" pitchFamily="34" charset="-122"/>
              </a:rPr>
              <a:t>5-7</a:t>
            </a:r>
            <a:r>
              <a:rPr lang="zh-CN" altLang="en-US" sz="3100" dirty="0">
                <a:solidFill>
                  <a:schemeClr val="accent5"/>
                </a:solidFill>
                <a:latin typeface="Times New Roman" panose="02020603050405020304" pitchFamily="18" charset="0"/>
                <a:ea typeface="微软雅黑" pitchFamily="34" charset="-122"/>
              </a:rPr>
              <a:t>）</a:t>
            </a:r>
          </a:p>
          <a:p>
            <a:pPr marL="0" indent="0">
              <a:lnSpc>
                <a:spcPct val="170000"/>
              </a:lnSpc>
              <a:buNone/>
            </a:pPr>
            <a:r>
              <a:rPr lang="en-US" altLang="zh-CN" sz="3100" dirty="0">
                <a:solidFill>
                  <a:schemeClr val="accent5"/>
                </a:solidFill>
                <a:latin typeface="Times New Roman" panose="02020603050405020304" pitchFamily="18" charset="0"/>
                <a:ea typeface="微软雅黑" pitchFamily="34" charset="-122"/>
              </a:rPr>
              <a:t>               OVC</a:t>
            </a:r>
            <a:r>
              <a:rPr lang="zh-CN" altLang="en-US" sz="3100" dirty="0">
                <a:solidFill>
                  <a:schemeClr val="accent5"/>
                </a:solidFill>
                <a:latin typeface="Times New Roman" panose="02020603050405020304" pitchFamily="18" charset="0"/>
                <a:ea typeface="微软雅黑" pitchFamily="34" charset="-122"/>
              </a:rPr>
              <a:t>（阴天</a:t>
            </a:r>
            <a:r>
              <a:rPr lang="en-US" altLang="zh-CN" sz="3100" dirty="0">
                <a:solidFill>
                  <a:schemeClr val="accent5"/>
                </a:solidFill>
                <a:latin typeface="Times New Roman" panose="02020603050405020304" pitchFamily="18" charset="0"/>
                <a:ea typeface="微软雅黑" pitchFamily="34" charset="-122"/>
              </a:rPr>
              <a:t>8</a:t>
            </a:r>
            <a:r>
              <a:rPr lang="zh-CN" altLang="en-US" sz="3100" dirty="0">
                <a:solidFill>
                  <a:schemeClr val="accent5"/>
                </a:solidFill>
                <a:latin typeface="Times New Roman" panose="02020603050405020304" pitchFamily="18" charset="0"/>
                <a:ea typeface="微软雅黑" pitchFamily="34" charset="-122"/>
              </a:rPr>
              <a:t>）</a:t>
            </a:r>
          </a:p>
          <a:p>
            <a:pPr marL="0" indent="0">
              <a:lnSpc>
                <a:spcPct val="170000"/>
              </a:lnSpc>
              <a:buNone/>
            </a:pP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en-US" altLang="zh-CN" sz="3100" dirty="0" err="1">
                <a:solidFill>
                  <a:schemeClr val="tx1"/>
                </a:solidFill>
                <a:latin typeface="Times New Roman" panose="02020603050405020304" pitchFamily="18" charset="0"/>
                <a:ea typeface="微软雅黑" pitchFamily="34" charset="-122"/>
              </a:rPr>
              <a:t>h</a:t>
            </a:r>
            <a:r>
              <a:rPr lang="en-US" altLang="zh-CN" sz="3100" baseline="-25000" dirty="0" err="1">
                <a:solidFill>
                  <a:schemeClr val="tx1"/>
                </a:solidFill>
                <a:latin typeface="Times New Roman" panose="02020603050405020304" pitchFamily="18" charset="0"/>
                <a:ea typeface="微软雅黑" pitchFamily="34" charset="-122"/>
              </a:rPr>
              <a:t>s</a:t>
            </a:r>
            <a:r>
              <a:rPr lang="zh-CN" altLang="en-US" sz="3100" dirty="0">
                <a:solidFill>
                  <a:schemeClr val="tx1"/>
                </a:solidFill>
                <a:latin typeface="Times New Roman" panose="02020603050405020304" pitchFamily="18" charset="0"/>
                <a:ea typeface="微软雅黑" pitchFamily="34" charset="-122"/>
              </a:rPr>
              <a:t>为云底高，以</a:t>
            </a:r>
            <a:r>
              <a:rPr lang="en-US" altLang="zh-CN" sz="3100" dirty="0">
                <a:solidFill>
                  <a:schemeClr val="tx1"/>
                </a:solidFill>
                <a:latin typeface="Times New Roman" panose="02020603050405020304" pitchFamily="18" charset="0"/>
                <a:ea typeface="微软雅黑" pitchFamily="34" charset="-122"/>
              </a:rPr>
              <a:t>30m</a:t>
            </a:r>
            <a:r>
              <a:rPr lang="zh-CN" altLang="en-US" sz="3100" dirty="0">
                <a:solidFill>
                  <a:schemeClr val="tx1"/>
                </a:solidFill>
                <a:latin typeface="Times New Roman" panose="02020603050405020304" pitchFamily="18" charset="0"/>
                <a:ea typeface="微软雅黑" pitchFamily="34" charset="-122"/>
              </a:rPr>
              <a:t>为单位</a:t>
            </a:r>
            <a:r>
              <a:rPr lang="en-US" altLang="zh-CN" sz="3100" dirty="0">
                <a:solidFill>
                  <a:schemeClr val="tx1"/>
                </a:solidFill>
                <a:latin typeface="Times New Roman" panose="02020603050405020304" pitchFamily="18" charset="0"/>
                <a:ea typeface="微软雅黑" pitchFamily="34" charset="-122"/>
              </a:rPr>
              <a:t>(</a:t>
            </a:r>
            <a:r>
              <a:rPr lang="zh-CN" altLang="en-US" sz="3100" dirty="0">
                <a:solidFill>
                  <a:schemeClr val="tx1"/>
                </a:solidFill>
                <a:latin typeface="Times New Roman" panose="02020603050405020304" pitchFamily="18" charset="0"/>
                <a:ea typeface="微软雅黑" pitchFamily="34" charset="-122"/>
              </a:rPr>
              <a:t>实际云高</a:t>
            </a:r>
            <a:r>
              <a:rPr lang="en-US" altLang="zh-CN" sz="3100" dirty="0">
                <a:solidFill>
                  <a:schemeClr val="tx1"/>
                </a:solidFill>
                <a:latin typeface="Times New Roman" panose="02020603050405020304" pitchFamily="18" charset="0"/>
                <a:ea typeface="微软雅黑" pitchFamily="34" charset="-122"/>
              </a:rPr>
              <a:t>=</a:t>
            </a:r>
            <a:r>
              <a:rPr lang="zh-CN" altLang="en-US" sz="3100" dirty="0">
                <a:solidFill>
                  <a:schemeClr val="tx1"/>
                </a:solidFill>
                <a:latin typeface="Times New Roman" panose="02020603050405020304" pitchFamily="18" charset="0"/>
                <a:ea typeface="微软雅黑" pitchFamily="34" charset="-122"/>
              </a:rPr>
              <a:t>电码</a:t>
            </a:r>
            <a:r>
              <a:rPr lang="en-US" altLang="zh-CN" sz="3100" dirty="0">
                <a:solidFill>
                  <a:schemeClr val="tx1"/>
                </a:solidFill>
                <a:latin typeface="Times New Roman" panose="02020603050405020304" pitchFamily="18" charset="0"/>
                <a:ea typeface="微软雅黑" pitchFamily="34" charset="-122"/>
              </a:rPr>
              <a:t>×30)</a:t>
            </a:r>
          </a:p>
          <a:p>
            <a:pPr marL="0" indent="0">
              <a:lnSpc>
                <a:spcPct val="170000"/>
              </a:lnSpc>
              <a:buNone/>
            </a:pPr>
            <a:r>
              <a:rPr lang="en-US" altLang="zh-CN" sz="3100" dirty="0">
                <a:solidFill>
                  <a:schemeClr val="tx1"/>
                </a:solidFill>
                <a:latin typeface="Times New Roman" panose="02020603050405020304" pitchFamily="18" charset="0"/>
                <a:ea typeface="微软雅黑" pitchFamily="34" charset="-122"/>
              </a:rPr>
              <a:t>CC</a:t>
            </a:r>
            <a:r>
              <a:rPr lang="zh-CN" altLang="en-US" sz="3100" dirty="0">
                <a:solidFill>
                  <a:schemeClr val="tx1"/>
                </a:solidFill>
                <a:latin typeface="Times New Roman" panose="02020603050405020304" pitchFamily="18" charset="0"/>
                <a:ea typeface="微软雅黑" pitchFamily="34" charset="-122"/>
              </a:rPr>
              <a:t>为云状，只需报积雨云</a:t>
            </a:r>
            <a:r>
              <a:rPr lang="en-US" altLang="zh-CN" sz="3100" dirty="0">
                <a:solidFill>
                  <a:schemeClr val="tx1"/>
                </a:solidFill>
                <a:latin typeface="Times New Roman" panose="02020603050405020304" pitchFamily="18" charset="0"/>
                <a:ea typeface="微软雅黑" pitchFamily="34" charset="-122"/>
              </a:rPr>
              <a:t>(</a:t>
            </a:r>
            <a:r>
              <a:rPr lang="en-US" altLang="zh-CN" sz="3100" dirty="0" err="1">
                <a:solidFill>
                  <a:schemeClr val="tx1"/>
                </a:solidFill>
                <a:latin typeface="Times New Roman" panose="02020603050405020304" pitchFamily="18" charset="0"/>
                <a:ea typeface="微软雅黑" pitchFamily="34" charset="-122"/>
              </a:rPr>
              <a:t>Cb</a:t>
            </a:r>
            <a:r>
              <a:rPr lang="en-US" altLang="zh-CN" sz="3100" dirty="0">
                <a:solidFill>
                  <a:schemeClr val="tx1"/>
                </a:solidFill>
                <a:latin typeface="Times New Roman" panose="02020603050405020304" pitchFamily="18" charset="0"/>
                <a:ea typeface="微软雅黑" pitchFamily="34" charset="-122"/>
              </a:rPr>
              <a:t>)</a:t>
            </a:r>
            <a:r>
              <a:rPr lang="zh-CN" altLang="en-US" sz="3100" dirty="0">
                <a:solidFill>
                  <a:schemeClr val="tx1"/>
                </a:solidFill>
                <a:latin typeface="Times New Roman" panose="02020603050405020304" pitchFamily="18" charset="0"/>
                <a:ea typeface="微软雅黑" pitchFamily="34" charset="-122"/>
              </a:rPr>
              <a:t>和浓积云</a:t>
            </a:r>
            <a:r>
              <a:rPr lang="en-US" altLang="zh-CN" sz="3100" dirty="0">
                <a:solidFill>
                  <a:schemeClr val="tx1"/>
                </a:solidFill>
                <a:latin typeface="Times New Roman" panose="02020603050405020304" pitchFamily="18" charset="0"/>
                <a:ea typeface="微软雅黑" pitchFamily="34" charset="-122"/>
              </a:rPr>
              <a:t>(</a:t>
            </a:r>
            <a:r>
              <a:rPr lang="en-US" altLang="zh-CN" sz="3100" dirty="0" err="1">
                <a:solidFill>
                  <a:schemeClr val="tx1"/>
                </a:solidFill>
                <a:latin typeface="Times New Roman" panose="02020603050405020304" pitchFamily="18" charset="0"/>
                <a:ea typeface="微软雅黑" pitchFamily="34" charset="-122"/>
              </a:rPr>
              <a:t>TCu</a:t>
            </a:r>
            <a:r>
              <a:rPr lang="en-US" altLang="zh-CN" sz="3100" dirty="0">
                <a:solidFill>
                  <a:schemeClr val="tx1"/>
                </a:solidFill>
                <a:latin typeface="Times New Roman" panose="02020603050405020304" pitchFamily="18" charset="0"/>
                <a:ea typeface="微软雅黑" pitchFamily="34" charset="-122"/>
              </a:rPr>
              <a:t>)</a:t>
            </a:r>
            <a:r>
              <a:rPr lang="zh-CN" altLang="en-US" sz="3100" dirty="0">
                <a:solidFill>
                  <a:schemeClr val="tx1"/>
                </a:solidFill>
                <a:latin typeface="Times New Roman" panose="02020603050405020304" pitchFamily="18" charset="0"/>
                <a:ea typeface="微软雅黑" pitchFamily="34" charset="-122"/>
              </a:rPr>
              <a:t>。如果积雨云和浓积云出现在同高度时，只需编报积雨云的云状</a:t>
            </a:r>
          </a:p>
          <a:p>
            <a:pPr marL="0" indent="0">
              <a:lnSpc>
                <a:spcPct val="120000"/>
              </a:lnSpc>
              <a:buNone/>
            </a:pPr>
            <a:r>
              <a:rPr lang="zh-CN" altLang="en-US" sz="2800" dirty="0">
                <a:latin typeface="微软雅黑" pitchFamily="34" charset="-122"/>
                <a:ea typeface="微软雅黑" pitchFamily="34" charset="-122"/>
              </a:rPr>
              <a:t>    </a:t>
            </a: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2284570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3"/>
          <p:cNvSpPr>
            <a:spLocks noGrp="1"/>
          </p:cNvSpPr>
          <p:nvPr>
            <p:ph type="body" idx="1"/>
          </p:nvPr>
        </p:nvSpPr>
        <p:spPr>
          <a:xfrm>
            <a:off x="649357" y="0"/>
            <a:ext cx="10813773" cy="6597651"/>
          </a:xfrm>
        </p:spPr>
        <p:txBody>
          <a:bodyPr>
            <a:normAutofit/>
          </a:bodyPr>
          <a:lstStyle/>
          <a:p>
            <a:pPr marL="0" indent="0">
              <a:lnSpc>
                <a:spcPct val="150000"/>
              </a:lnSpc>
              <a:buNone/>
            </a:pPr>
            <a:r>
              <a:rPr lang="en-US" altLang="zh-CN" sz="2400" dirty="0" err="1">
                <a:solidFill>
                  <a:schemeClr val="tx1"/>
                </a:solidFill>
                <a:latin typeface="Times New Roman" panose="02020603050405020304" pitchFamily="18" charset="0"/>
                <a:ea typeface="微软雅黑" panose="020B0503020204020204" pitchFamily="34" charset="-122"/>
              </a:rPr>
              <a:t>VVh</a:t>
            </a:r>
            <a:r>
              <a:rPr lang="en-US" altLang="zh-CN" sz="2400" baseline="-25000" dirty="0" err="1">
                <a:solidFill>
                  <a:schemeClr val="tx1"/>
                </a:solidFill>
                <a:latin typeface="Times New Roman" panose="02020603050405020304" pitchFamily="18" charset="0"/>
                <a:ea typeface="微软雅黑" panose="020B0503020204020204" pitchFamily="34" charset="-122"/>
              </a:rPr>
              <a:t>s</a:t>
            </a:r>
            <a:r>
              <a:rPr lang="en-US" altLang="zh-CN" sz="2400" dirty="0" err="1">
                <a:solidFill>
                  <a:schemeClr val="tx1"/>
                </a:solidFill>
                <a:latin typeface="Times New Roman" panose="02020603050405020304" pitchFamily="18" charset="0"/>
                <a:ea typeface="微软雅黑" panose="020B0503020204020204" pitchFamily="34" charset="-122"/>
              </a:rPr>
              <a:t>h</a:t>
            </a:r>
            <a:r>
              <a:rPr lang="en-US" altLang="zh-CN" sz="2400" baseline="-25000" dirty="0" err="1">
                <a:solidFill>
                  <a:schemeClr val="tx1"/>
                </a:solidFill>
                <a:latin typeface="Times New Roman" panose="02020603050405020304" pitchFamily="18" charset="0"/>
                <a:ea typeface="微软雅黑" panose="020B0503020204020204" pitchFamily="34" charset="-122"/>
              </a:rPr>
              <a:t>s</a:t>
            </a:r>
            <a:r>
              <a:rPr lang="en-US" altLang="zh-CN" sz="2400" dirty="0" err="1">
                <a:solidFill>
                  <a:schemeClr val="tx1"/>
                </a:solidFill>
                <a:latin typeface="Times New Roman" panose="02020603050405020304" pitchFamily="18" charset="0"/>
                <a:ea typeface="微软雅黑" panose="020B0503020204020204" pitchFamily="34" charset="-122"/>
              </a:rPr>
              <a:t>h</a:t>
            </a:r>
            <a:r>
              <a:rPr lang="en-US" altLang="zh-CN" sz="2400" baseline="-25000" dirty="0" err="1">
                <a:solidFill>
                  <a:schemeClr val="tx1"/>
                </a:solidFill>
                <a:latin typeface="Times New Roman" panose="02020603050405020304" pitchFamily="18" charset="0"/>
                <a:ea typeface="微软雅黑" panose="020B0503020204020204" pitchFamily="34" charset="-122"/>
              </a:rPr>
              <a:t>s</a:t>
            </a:r>
            <a:r>
              <a:rPr lang="zh-CN" altLang="en-US" sz="2400" dirty="0">
                <a:solidFill>
                  <a:schemeClr val="tx1"/>
                </a:solidFill>
                <a:latin typeface="Times New Roman" panose="02020603050405020304" pitchFamily="18" charset="0"/>
                <a:ea typeface="微软雅黑" panose="020B0503020204020204" pitchFamily="34" charset="-122"/>
              </a:rPr>
              <a:t>为垂直能见度</a:t>
            </a:r>
          </a:p>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应用条件：当天空被天气现象遮蔽而模糊不清时需用此组；</a:t>
            </a:r>
          </a:p>
          <a:p>
            <a:pPr marL="0" indent="0">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VV</a:t>
            </a:r>
            <a:r>
              <a:rPr lang="zh-CN" altLang="en-US" sz="2400" dirty="0">
                <a:solidFill>
                  <a:schemeClr val="tx1"/>
                </a:solidFill>
                <a:latin typeface="Times New Roman" panose="02020603050405020304" pitchFamily="18" charset="0"/>
                <a:ea typeface="微软雅黑" panose="020B0503020204020204" pitchFamily="34" charset="-122"/>
              </a:rPr>
              <a:t>：垂直能见度指示符（</a:t>
            </a:r>
            <a:r>
              <a:rPr lang="en-US" altLang="zh-CN" sz="2400" dirty="0">
                <a:solidFill>
                  <a:schemeClr val="tx1"/>
                </a:solidFill>
                <a:latin typeface="Times New Roman" panose="02020603050405020304" pitchFamily="18" charset="0"/>
                <a:ea typeface="微软雅黑" panose="020B0503020204020204" pitchFamily="34" charset="-122"/>
              </a:rPr>
              <a:t>vertical </a:t>
            </a:r>
            <a:r>
              <a:rPr lang="en-US" altLang="en-US" sz="2400" dirty="0">
                <a:solidFill>
                  <a:schemeClr val="tx1"/>
                </a:solidFill>
                <a:latin typeface="Times New Roman" panose="02020603050405020304" pitchFamily="18" charset="0"/>
                <a:ea typeface="微软雅黑" panose="020B0503020204020204" pitchFamily="34" charset="-122"/>
              </a:rPr>
              <a:t>visibility</a:t>
            </a:r>
            <a:r>
              <a:rPr lang="zh-CN" altLang="en-US" sz="2400" dirty="0">
                <a:solidFill>
                  <a:schemeClr val="tx1"/>
                </a:solidFill>
                <a:latin typeface="Times New Roman" panose="02020603050405020304" pitchFamily="18" charset="0"/>
                <a:ea typeface="微软雅黑" panose="020B0503020204020204" pitchFamily="34" charset="-122"/>
              </a:rPr>
              <a:t>）</a:t>
            </a:r>
          </a:p>
          <a:p>
            <a:pPr marL="0" indent="0">
              <a:lnSpc>
                <a:spcPct val="150000"/>
              </a:lnSpc>
              <a:buNone/>
            </a:pPr>
            <a:r>
              <a:rPr lang="en-US" altLang="zh-CN" sz="2400" dirty="0" err="1">
                <a:solidFill>
                  <a:schemeClr val="tx1"/>
                </a:solidFill>
                <a:latin typeface="Times New Roman" panose="02020603050405020304" pitchFamily="18" charset="0"/>
                <a:ea typeface="微软雅黑" panose="020B0503020204020204" pitchFamily="34" charset="-122"/>
              </a:rPr>
              <a:t>h</a:t>
            </a:r>
            <a:r>
              <a:rPr lang="en-US" altLang="zh-CN" sz="2400" baseline="-25000" dirty="0" err="1">
                <a:solidFill>
                  <a:schemeClr val="tx1"/>
                </a:solidFill>
                <a:latin typeface="Times New Roman" panose="02020603050405020304" pitchFamily="18" charset="0"/>
                <a:ea typeface="微软雅黑" panose="020B0503020204020204" pitchFamily="34" charset="-122"/>
              </a:rPr>
              <a:t>s</a:t>
            </a:r>
            <a:r>
              <a:rPr lang="en-US" altLang="zh-CN" sz="2400" dirty="0" err="1">
                <a:solidFill>
                  <a:schemeClr val="tx1"/>
                </a:solidFill>
                <a:latin typeface="Times New Roman" panose="02020603050405020304" pitchFamily="18" charset="0"/>
                <a:ea typeface="微软雅黑" panose="020B0503020204020204" pitchFamily="34" charset="-122"/>
              </a:rPr>
              <a:t>h</a:t>
            </a:r>
            <a:r>
              <a:rPr lang="en-US" altLang="zh-CN" sz="2400" baseline="-25000" dirty="0" err="1">
                <a:solidFill>
                  <a:schemeClr val="tx1"/>
                </a:solidFill>
                <a:latin typeface="Times New Roman" panose="02020603050405020304" pitchFamily="18" charset="0"/>
                <a:ea typeface="微软雅黑" panose="020B0503020204020204" pitchFamily="34" charset="-122"/>
              </a:rPr>
              <a:t>s</a:t>
            </a:r>
            <a:r>
              <a:rPr lang="en-US" altLang="zh-CN" sz="2400" dirty="0" err="1">
                <a:solidFill>
                  <a:schemeClr val="tx1"/>
                </a:solidFill>
                <a:latin typeface="Times New Roman" panose="02020603050405020304" pitchFamily="18" charset="0"/>
                <a:ea typeface="微软雅黑" panose="020B0503020204020204" pitchFamily="34" charset="-122"/>
              </a:rPr>
              <a:t>h</a:t>
            </a:r>
            <a:r>
              <a:rPr lang="en-US" altLang="zh-CN" sz="2400" dirty="0">
                <a:solidFill>
                  <a:schemeClr val="tx1"/>
                </a:solidFill>
                <a:latin typeface="Times New Roman" panose="02020603050405020304" pitchFamily="18" charset="0"/>
                <a:ea typeface="微软雅黑" panose="020B0503020204020204" pitchFamily="34" charset="-122"/>
              </a:rPr>
              <a:t>:</a:t>
            </a:r>
            <a:r>
              <a:rPr lang="zh-CN" altLang="en-US" sz="2400" dirty="0">
                <a:solidFill>
                  <a:schemeClr val="tx1"/>
                </a:solidFill>
                <a:latin typeface="Times New Roman" panose="02020603050405020304" pitchFamily="18" charset="0"/>
                <a:ea typeface="微软雅黑" panose="020B0503020204020204" pitchFamily="34" charset="-122"/>
              </a:rPr>
              <a:t>垂直能见度，编报标准与云底高相同</a:t>
            </a:r>
          </a:p>
          <a:p>
            <a:pPr marL="0" indent="0">
              <a:lnSpc>
                <a:spcPct val="150000"/>
              </a:lnSpc>
              <a:buNone/>
            </a:pPr>
            <a:r>
              <a:rPr lang="zh-CN" altLang="en-US" sz="2400" dirty="0">
                <a:solidFill>
                  <a:schemeClr val="tx1"/>
                </a:solidFill>
                <a:latin typeface="Times New Roman" panose="02020603050405020304" pitchFamily="18" charset="0"/>
                <a:ea typeface="微软雅黑" panose="020B0503020204020204" pitchFamily="34" charset="-122"/>
              </a:rPr>
              <a:t>特殊符号：</a:t>
            </a:r>
          </a:p>
          <a:p>
            <a:pPr marL="0" indent="0">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       SKC</a:t>
            </a:r>
            <a:r>
              <a:rPr lang="zh-CN" altLang="en-US" sz="2400" dirty="0">
                <a:solidFill>
                  <a:schemeClr val="tx1"/>
                </a:solidFill>
                <a:latin typeface="Times New Roman" panose="02020603050405020304" pitchFamily="18" charset="0"/>
                <a:ea typeface="微软雅黑" panose="020B0503020204020204" pitchFamily="34" charset="-122"/>
              </a:rPr>
              <a:t>：碧空（</a:t>
            </a:r>
            <a:r>
              <a:rPr lang="en-US" altLang="zh-CN" sz="2400" dirty="0" err="1">
                <a:solidFill>
                  <a:schemeClr val="tx1"/>
                </a:solidFill>
                <a:latin typeface="Times New Roman" panose="02020603050405020304" pitchFamily="18" charset="0"/>
                <a:ea typeface="微软雅黑" panose="020B0503020204020204" pitchFamily="34" charset="-122"/>
              </a:rPr>
              <a:t>Skyclear</a:t>
            </a:r>
            <a:r>
              <a:rPr lang="zh-CN" altLang="en-US" sz="2400" dirty="0">
                <a:solidFill>
                  <a:schemeClr val="tx1"/>
                </a:solidFill>
                <a:latin typeface="Times New Roman" panose="02020603050405020304" pitchFamily="18" charset="0"/>
                <a:ea typeface="微软雅黑" panose="020B0503020204020204" pitchFamily="34" charset="-122"/>
              </a:rPr>
              <a:t>），表示天空无云或不足</a:t>
            </a:r>
            <a:r>
              <a:rPr lang="en-US" altLang="zh-CN" sz="2400" dirty="0">
                <a:solidFill>
                  <a:schemeClr val="tx1"/>
                </a:solidFill>
                <a:latin typeface="Times New Roman" panose="02020603050405020304" pitchFamily="18" charset="0"/>
                <a:ea typeface="微软雅黑" panose="020B0503020204020204" pitchFamily="34" charset="-122"/>
              </a:rPr>
              <a:t>1</a:t>
            </a:r>
            <a:r>
              <a:rPr lang="zh-CN" altLang="en-US" sz="2400" dirty="0">
                <a:solidFill>
                  <a:schemeClr val="tx1"/>
                </a:solidFill>
                <a:latin typeface="Times New Roman" panose="02020603050405020304" pitchFamily="18" charset="0"/>
                <a:ea typeface="微软雅黑" panose="020B0503020204020204" pitchFamily="34" charset="-122"/>
              </a:rPr>
              <a:t>成，无积雨云和浓积云</a:t>
            </a:r>
          </a:p>
          <a:p>
            <a:pPr marL="0" indent="0">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      NSC</a:t>
            </a:r>
            <a:r>
              <a:rPr lang="zh-CN" altLang="en-US" sz="2400" dirty="0">
                <a:solidFill>
                  <a:schemeClr val="tx1"/>
                </a:solidFill>
                <a:latin typeface="Times New Roman" panose="02020603050405020304" pitchFamily="18" charset="0"/>
                <a:ea typeface="微软雅黑" panose="020B0503020204020204" pitchFamily="34" charset="-122"/>
              </a:rPr>
              <a:t>：表示没有对飞行有影响的重要的云</a:t>
            </a:r>
          </a:p>
        </p:txBody>
      </p:sp>
    </p:spTree>
    <p:extLst>
      <p:ext uri="{BB962C8B-B14F-4D97-AF65-F5344CB8AC3E}">
        <p14:creationId xmlns:p14="http://schemas.microsoft.com/office/powerpoint/2010/main" val="3461359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p:cNvSpPr>
            <a:spLocks noGrp="1" noChangeArrowheads="1"/>
          </p:cNvSpPr>
          <p:nvPr>
            <p:ph type="body" idx="4294967295"/>
          </p:nvPr>
        </p:nvSpPr>
        <p:spPr>
          <a:xfrm>
            <a:off x="649357" y="404813"/>
            <a:ext cx="9767819" cy="5256212"/>
          </a:xfrm>
        </p:spPr>
        <p:txBody>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第十一组  </a:t>
            </a:r>
            <a:r>
              <a:rPr lang="en-US" altLang="zh-CN" sz="2400" dirty="0">
                <a:solidFill>
                  <a:schemeClr val="tx1"/>
                </a:solidFill>
                <a:latin typeface="Times New Roman" panose="02020603050405020304" pitchFamily="18" charset="0"/>
                <a:ea typeface="微软雅黑" pitchFamily="34" charset="-122"/>
              </a:rPr>
              <a:t>T’T’/T </a:t>
            </a:r>
            <a:r>
              <a:rPr lang="en-US" altLang="zh-CN" sz="2400" dirty="0" err="1">
                <a:solidFill>
                  <a:schemeClr val="tx1"/>
                </a:solidFill>
                <a:latin typeface="Times New Roman" panose="02020603050405020304" pitchFamily="18" charset="0"/>
                <a:ea typeface="微软雅黑" pitchFamily="34" charset="-122"/>
              </a:rPr>
              <a:t>d’T</a:t>
            </a:r>
            <a:r>
              <a:rPr lang="en-US" altLang="zh-CN" sz="2400" dirty="0">
                <a:solidFill>
                  <a:schemeClr val="tx1"/>
                </a:solidFill>
                <a:latin typeface="Times New Roman" panose="02020603050405020304" pitchFamily="18" charset="0"/>
                <a:ea typeface="微软雅黑" pitchFamily="34" charset="-122"/>
              </a:rPr>
              <a:t> d’  </a:t>
            </a:r>
            <a:r>
              <a:rPr lang="zh-CN" altLang="en-US" sz="2400" dirty="0">
                <a:solidFill>
                  <a:schemeClr val="tx1"/>
                </a:solidFill>
                <a:latin typeface="Times New Roman" panose="02020603050405020304" pitchFamily="18" charset="0"/>
                <a:ea typeface="微软雅黑" pitchFamily="34" charset="-122"/>
              </a:rPr>
              <a:t>温度</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露点组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T’T’</a:t>
            </a:r>
            <a:r>
              <a:rPr lang="zh-CN" altLang="en-US" sz="2400" dirty="0">
                <a:solidFill>
                  <a:schemeClr val="tx1"/>
                </a:solidFill>
                <a:latin typeface="Times New Roman" panose="02020603050405020304" pitchFamily="18" charset="0"/>
                <a:ea typeface="微软雅黑" pitchFamily="34" charset="-122"/>
              </a:rPr>
              <a:t>为气温</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Td ’Td ’</a:t>
            </a:r>
            <a:r>
              <a:rPr lang="zh-CN" altLang="en-US" sz="2400" dirty="0">
                <a:solidFill>
                  <a:schemeClr val="tx1"/>
                </a:solidFill>
                <a:latin typeface="Times New Roman" panose="02020603050405020304" pitchFamily="18" charset="0"/>
                <a:ea typeface="微软雅黑" pitchFamily="34" charset="-122"/>
              </a:rPr>
              <a:t>为露点</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都表示为整摄氏度，数字前加</a:t>
            </a:r>
            <a:r>
              <a:rPr lang="en-US" altLang="zh-CN" sz="2400" dirty="0">
                <a:solidFill>
                  <a:schemeClr val="tx1"/>
                </a:solidFill>
                <a:latin typeface="Times New Roman" panose="02020603050405020304" pitchFamily="18" charset="0"/>
                <a:ea typeface="微软雅黑" pitchFamily="34" charset="-122"/>
              </a:rPr>
              <a:t>M</a:t>
            </a:r>
            <a:r>
              <a:rPr lang="zh-CN" altLang="en-US" sz="2400" dirty="0">
                <a:solidFill>
                  <a:schemeClr val="tx1"/>
                </a:solidFill>
                <a:latin typeface="Times New Roman" panose="02020603050405020304" pitchFamily="18" charset="0"/>
                <a:ea typeface="微软雅黑" pitchFamily="34" charset="-122"/>
              </a:rPr>
              <a:t>表示温度在</a:t>
            </a:r>
            <a:r>
              <a:rPr lang="en-US" altLang="zh-CN" sz="2400" dirty="0">
                <a:solidFill>
                  <a:schemeClr val="tx1"/>
                </a:solidFill>
                <a:latin typeface="Times New Roman" panose="02020603050405020304" pitchFamily="18" charset="0"/>
                <a:ea typeface="微软雅黑" pitchFamily="34" charset="-122"/>
              </a:rPr>
              <a:t>0</a:t>
            </a:r>
            <a:r>
              <a:rPr lang="zh-CN" altLang="en-US" sz="2400" dirty="0">
                <a:solidFill>
                  <a:schemeClr val="tx1"/>
                </a:solidFill>
                <a:latin typeface="Times New Roman" panose="02020603050405020304" pitchFamily="18" charset="0"/>
                <a:ea typeface="微软雅黑" pitchFamily="34" charset="-122"/>
              </a:rPr>
              <a:t>度以下。</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例如：</a:t>
            </a:r>
            <a:r>
              <a:rPr lang="en-US" altLang="zh-CN" sz="2400" dirty="0">
                <a:solidFill>
                  <a:schemeClr val="tx1"/>
                </a:solidFill>
                <a:latin typeface="Times New Roman" panose="02020603050405020304" pitchFamily="18" charset="0"/>
                <a:ea typeface="微软雅黑" pitchFamily="34" charset="-122"/>
              </a:rPr>
              <a:t>05/M04   </a:t>
            </a:r>
            <a:r>
              <a:rPr lang="zh-CN" altLang="en-US" sz="2400" dirty="0">
                <a:solidFill>
                  <a:schemeClr val="tx1"/>
                </a:solidFill>
                <a:latin typeface="Times New Roman" panose="02020603050405020304" pitchFamily="18" charset="0"/>
                <a:ea typeface="微软雅黑" pitchFamily="34" charset="-122"/>
              </a:rPr>
              <a:t>温度</a:t>
            </a:r>
            <a:r>
              <a:rPr lang="en-US" altLang="zh-CN" sz="2400" dirty="0">
                <a:solidFill>
                  <a:schemeClr val="tx1"/>
                </a:solidFill>
                <a:latin typeface="Times New Roman" panose="02020603050405020304" pitchFamily="18" charset="0"/>
                <a:ea typeface="微软雅黑" pitchFamily="34" charset="-122"/>
              </a:rPr>
              <a:t>5℃</a:t>
            </a:r>
            <a:r>
              <a:rPr lang="zh-CN" altLang="en-US" sz="2400" dirty="0">
                <a:solidFill>
                  <a:schemeClr val="tx1"/>
                </a:solidFill>
                <a:latin typeface="Times New Roman" panose="02020603050405020304" pitchFamily="18" charset="0"/>
                <a:ea typeface="微软雅黑" pitchFamily="34" charset="-122"/>
              </a:rPr>
              <a:t>，露点温度</a:t>
            </a:r>
            <a:r>
              <a:rPr lang="en-US" altLang="zh-CN" sz="2400" dirty="0">
                <a:solidFill>
                  <a:schemeClr val="tx1"/>
                </a:solidFill>
                <a:latin typeface="Times New Roman" panose="02020603050405020304" pitchFamily="18" charset="0"/>
                <a:ea typeface="微软雅黑" pitchFamily="34" charset="-122"/>
              </a:rPr>
              <a:t>-4℃</a:t>
            </a:r>
          </a:p>
          <a:p>
            <a:pPr marL="0" indent="0">
              <a:lnSpc>
                <a:spcPct val="120000"/>
              </a:lnSpc>
              <a:buNone/>
            </a:pPr>
            <a:endParaRPr lang="zh-CN" altLang="en-US" sz="3200" dirty="0">
              <a:latin typeface="微软雅黑" pitchFamily="34" charset="-122"/>
              <a:ea typeface="微软雅黑" pitchFamily="34" charset="-122"/>
            </a:endParaRPr>
          </a:p>
          <a:p>
            <a:pPr marL="0" indent="0">
              <a:lnSpc>
                <a:spcPct val="120000"/>
              </a:lnSpc>
            </a:pPr>
            <a:endParaRPr lang="en-US" altLang="zh-CN" sz="3200" dirty="0">
              <a:latin typeface="微软雅黑" pitchFamily="34" charset="-122"/>
              <a:ea typeface="微软雅黑" pitchFamily="34" charset="-122"/>
            </a:endParaRPr>
          </a:p>
        </p:txBody>
      </p:sp>
    </p:spTree>
    <p:extLst>
      <p:ext uri="{BB962C8B-B14F-4D97-AF65-F5344CB8AC3E}">
        <p14:creationId xmlns:p14="http://schemas.microsoft.com/office/powerpoint/2010/main" val="1921943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3"/>
          <p:cNvSpPr>
            <a:spLocks noGrp="1" noChangeArrowheads="1"/>
          </p:cNvSpPr>
          <p:nvPr>
            <p:ph type="body" idx="4294967295"/>
          </p:nvPr>
        </p:nvSpPr>
        <p:spPr>
          <a:xfrm>
            <a:off x="542374" y="296862"/>
            <a:ext cx="9608791" cy="6264275"/>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第十二组  </a:t>
            </a:r>
            <a:r>
              <a:rPr lang="en-US" altLang="zh-CN" sz="2400" dirty="0" err="1">
                <a:solidFill>
                  <a:schemeClr val="tx1"/>
                </a:solidFill>
                <a:latin typeface="Times New Roman" panose="02020603050405020304" pitchFamily="18" charset="0"/>
                <a:ea typeface="微软雅黑" pitchFamily="34" charset="-122"/>
              </a:rPr>
              <a:t>QP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修正海平面气压组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Q</a:t>
            </a:r>
            <a:r>
              <a:rPr lang="zh-CN" altLang="en-US" sz="2400" dirty="0">
                <a:solidFill>
                  <a:schemeClr val="tx1"/>
                </a:solidFill>
                <a:latin typeface="Times New Roman" panose="02020603050405020304" pitchFamily="18" charset="0"/>
                <a:ea typeface="微软雅黑" pitchFamily="34" charset="-122"/>
              </a:rPr>
              <a:t>为修正海平面气压指示码</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P</a:t>
            </a:r>
            <a:r>
              <a:rPr lang="en-US" altLang="zh-CN" sz="2400" baseline="-25000" dirty="0" err="1">
                <a:solidFill>
                  <a:schemeClr val="tx1"/>
                </a:solidFill>
                <a:latin typeface="Times New Roman" panose="02020603050405020304" pitchFamily="18" charset="0"/>
                <a:ea typeface="微软雅黑" pitchFamily="34" charset="-122"/>
              </a:rPr>
              <a:t>h</a:t>
            </a:r>
            <a:r>
              <a:rPr lang="zh-CN" altLang="en-US" sz="2400" dirty="0">
                <a:solidFill>
                  <a:schemeClr val="tx1"/>
                </a:solidFill>
                <a:latin typeface="Times New Roman" panose="02020603050405020304" pitchFamily="18" charset="0"/>
                <a:ea typeface="微软雅黑" pitchFamily="34" charset="-122"/>
              </a:rPr>
              <a:t>是以百帕为单位的气压数值</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整数</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，不足四位时第一位补零。</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例如：</a:t>
            </a:r>
            <a:r>
              <a:rPr lang="en-US" altLang="zh-CN" sz="2400" dirty="0">
                <a:solidFill>
                  <a:schemeClr val="tx1"/>
                </a:solidFill>
                <a:latin typeface="Times New Roman" panose="02020603050405020304" pitchFamily="18" charset="0"/>
                <a:ea typeface="微软雅黑" pitchFamily="34" charset="-122"/>
              </a:rPr>
              <a:t>Q0989——</a:t>
            </a:r>
            <a:r>
              <a:rPr lang="zh-CN" altLang="en-US" sz="2400" dirty="0">
                <a:solidFill>
                  <a:schemeClr val="tx1"/>
                </a:solidFill>
                <a:latin typeface="Times New Roman" panose="02020603050405020304" pitchFamily="18" charset="0"/>
                <a:ea typeface="微软雅黑" pitchFamily="34" charset="-122"/>
              </a:rPr>
              <a:t>修正海平面气压为</a:t>
            </a:r>
            <a:r>
              <a:rPr lang="en-US" altLang="zh-CN" sz="2400" dirty="0">
                <a:solidFill>
                  <a:schemeClr val="tx1"/>
                </a:solidFill>
                <a:latin typeface="Times New Roman" panose="02020603050405020304" pitchFamily="18" charset="0"/>
                <a:ea typeface="微软雅黑" pitchFamily="34" charset="-122"/>
              </a:rPr>
              <a:t>989hPa</a:t>
            </a:r>
          </a:p>
          <a:p>
            <a:pPr marL="0" indent="0">
              <a:lnSpc>
                <a:spcPct val="150000"/>
              </a:lnSpc>
              <a:buNone/>
            </a:pPr>
            <a:endParaRPr lang="zh-CN" altLang="en-US"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第十三组  </a:t>
            </a:r>
            <a:r>
              <a:rPr lang="en-US" altLang="zh-CN" sz="2400" dirty="0">
                <a:solidFill>
                  <a:schemeClr val="tx1"/>
                </a:solidFill>
                <a:latin typeface="Times New Roman" panose="02020603050405020304" pitchFamily="18" charset="0"/>
                <a:ea typeface="微软雅黑" pitchFamily="34" charset="-122"/>
              </a:rPr>
              <a:t>RE W’W’  </a:t>
            </a:r>
            <a:r>
              <a:rPr lang="zh-CN" altLang="en-US" sz="2400" dirty="0">
                <a:solidFill>
                  <a:schemeClr val="tx1"/>
                </a:solidFill>
                <a:latin typeface="Times New Roman" panose="02020603050405020304" pitchFamily="18" charset="0"/>
                <a:ea typeface="微软雅黑" pitchFamily="34" charset="-122"/>
              </a:rPr>
              <a:t>补充报告组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表示本次报告与上次报告之间发生的重要天气现象，可报三组。</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RE</a:t>
            </a:r>
            <a:r>
              <a:rPr lang="zh-CN" altLang="en-US" sz="2400" dirty="0">
                <a:solidFill>
                  <a:schemeClr val="tx1"/>
                </a:solidFill>
                <a:latin typeface="Times New Roman" panose="02020603050405020304" pitchFamily="18" charset="0"/>
                <a:ea typeface="微软雅黑" pitchFamily="34" charset="-122"/>
              </a:rPr>
              <a:t>为指示码， </a:t>
            </a:r>
            <a:r>
              <a:rPr lang="en-US" altLang="zh-CN" sz="2400" dirty="0">
                <a:solidFill>
                  <a:schemeClr val="tx1"/>
                </a:solidFill>
                <a:latin typeface="Times New Roman" panose="02020603050405020304" pitchFamily="18" charset="0"/>
                <a:ea typeface="微软雅黑" pitchFamily="34" charset="-122"/>
              </a:rPr>
              <a:t>W’W’ </a:t>
            </a:r>
            <a:r>
              <a:rPr lang="zh-CN" altLang="en-US" sz="2400" dirty="0">
                <a:solidFill>
                  <a:schemeClr val="tx1"/>
                </a:solidFill>
                <a:latin typeface="Times New Roman" panose="02020603050405020304" pitchFamily="18" charset="0"/>
                <a:ea typeface="微软雅黑" pitchFamily="34" charset="-122"/>
              </a:rPr>
              <a:t>的编报方法见表</a:t>
            </a:r>
            <a:r>
              <a:rPr lang="en-US" altLang="zh-CN" sz="2400" dirty="0">
                <a:solidFill>
                  <a:schemeClr val="tx1"/>
                </a:solidFill>
                <a:latin typeface="Times New Roman" panose="02020603050405020304" pitchFamily="18" charset="0"/>
                <a:ea typeface="微软雅黑" pitchFamily="34" charset="-122"/>
              </a:rPr>
              <a:t>22-3</a:t>
            </a:r>
          </a:p>
        </p:txBody>
      </p:sp>
    </p:spTree>
    <p:extLst>
      <p:ext uri="{BB962C8B-B14F-4D97-AF65-F5344CB8AC3E}">
        <p14:creationId xmlns:p14="http://schemas.microsoft.com/office/powerpoint/2010/main" val="33597912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3"/>
          <p:cNvSpPr>
            <a:spLocks noGrp="1" noChangeArrowheads="1"/>
          </p:cNvSpPr>
          <p:nvPr>
            <p:ph type="body" idx="4294967295"/>
          </p:nvPr>
        </p:nvSpPr>
        <p:spPr>
          <a:xfrm>
            <a:off x="728869" y="198783"/>
            <a:ext cx="10018644" cy="6019800"/>
          </a:xfrm>
        </p:spPr>
        <p:txBody>
          <a:bodyPr>
            <a:normAutofit/>
          </a:bodyPr>
          <a:lstStyle/>
          <a:p>
            <a:pPr marL="0" indent="0">
              <a:lnSpc>
                <a:spcPct val="120000"/>
              </a:lnSpc>
              <a:buNone/>
            </a:pPr>
            <a:r>
              <a:rPr lang="zh-CN" altLang="en-US" sz="2400" dirty="0">
                <a:solidFill>
                  <a:schemeClr val="tx1"/>
                </a:solidFill>
                <a:latin typeface="Times New Roman" panose="02020603050405020304" pitchFamily="18" charset="0"/>
                <a:ea typeface="微软雅黑" pitchFamily="34" charset="-122"/>
              </a:rPr>
              <a:t>第十四组  </a:t>
            </a:r>
            <a:r>
              <a:rPr lang="en-US" altLang="zh-CN" sz="2400" dirty="0">
                <a:solidFill>
                  <a:schemeClr val="tx1"/>
                </a:solidFill>
                <a:latin typeface="Times New Roman" panose="02020603050405020304" pitchFamily="18" charset="0"/>
                <a:ea typeface="微软雅黑" pitchFamily="34" charset="-122"/>
              </a:rPr>
              <a:t>WS  TKOF  </a:t>
            </a:r>
            <a:r>
              <a:rPr lang="en-US" altLang="zh-CN" sz="2400" dirty="0" err="1">
                <a:solidFill>
                  <a:schemeClr val="tx1"/>
                </a:solidFill>
                <a:latin typeface="Times New Roman" panose="02020603050405020304" pitchFamily="18" charset="0"/>
                <a:ea typeface="微软雅黑" pitchFamily="34" charset="-122"/>
              </a:rPr>
              <a:t>RWYD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WS  LDG  </a:t>
            </a:r>
            <a:r>
              <a:rPr lang="en-US" altLang="zh-CN" sz="2400" dirty="0" err="1">
                <a:solidFill>
                  <a:schemeClr val="tx1"/>
                </a:solidFill>
                <a:latin typeface="Times New Roman" panose="02020603050405020304" pitchFamily="18" charset="0"/>
                <a:ea typeface="微软雅黑" pitchFamily="34" charset="-122"/>
              </a:rPr>
              <a:t>RWYD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风切变组</a:t>
            </a:r>
          </a:p>
          <a:p>
            <a:pPr marL="0" indent="0">
              <a:lnSpc>
                <a:spcPct val="120000"/>
              </a:lnSpc>
              <a:buNone/>
            </a:pPr>
            <a:r>
              <a:rPr lang="en-US" altLang="zh-CN" sz="2400" dirty="0">
                <a:solidFill>
                  <a:schemeClr val="tx1"/>
                </a:solidFill>
                <a:latin typeface="Times New Roman" panose="02020603050405020304" pitchFamily="18" charset="0"/>
                <a:ea typeface="微软雅黑" pitchFamily="34" charset="-122"/>
              </a:rPr>
              <a:t>WS  TKOF  RWY</a:t>
            </a:r>
            <a:r>
              <a:rPr lang="zh-CN" altLang="en-US" sz="2400" dirty="0">
                <a:solidFill>
                  <a:schemeClr val="tx1"/>
                </a:solidFill>
                <a:latin typeface="Times New Roman" panose="02020603050405020304" pitchFamily="18" charset="0"/>
                <a:ea typeface="微软雅黑" pitchFamily="34" charset="-122"/>
              </a:rPr>
              <a:t>表示起飞跑道有风切变</a:t>
            </a:r>
          </a:p>
          <a:p>
            <a:pPr marL="0" indent="0">
              <a:lnSpc>
                <a:spcPct val="120000"/>
              </a:lnSpc>
              <a:buNone/>
            </a:pPr>
            <a:r>
              <a:rPr lang="en-US" altLang="zh-CN" sz="2400" dirty="0">
                <a:solidFill>
                  <a:schemeClr val="tx1"/>
                </a:solidFill>
                <a:latin typeface="Times New Roman" panose="02020603050405020304" pitchFamily="18" charset="0"/>
                <a:ea typeface="微软雅黑" pitchFamily="34" charset="-122"/>
              </a:rPr>
              <a:t>WS  LDG  RWY</a:t>
            </a:r>
            <a:r>
              <a:rPr lang="zh-CN" altLang="en-US" sz="2400" dirty="0">
                <a:solidFill>
                  <a:schemeClr val="tx1"/>
                </a:solidFill>
                <a:latin typeface="Times New Roman" panose="02020603050405020304" pitchFamily="18" charset="0"/>
                <a:ea typeface="微软雅黑" pitchFamily="34" charset="-122"/>
              </a:rPr>
              <a:t>为着陆跑道有  风切变</a:t>
            </a:r>
          </a:p>
          <a:p>
            <a:pPr marL="0" indent="0">
              <a:lnSpc>
                <a:spcPct val="120000"/>
              </a:lnSpc>
              <a:buNone/>
            </a:pPr>
            <a:r>
              <a:rPr lang="en-US" altLang="zh-CN" sz="2400" dirty="0">
                <a:solidFill>
                  <a:schemeClr val="tx1"/>
                </a:solidFill>
                <a:latin typeface="Times New Roman" panose="02020603050405020304" pitchFamily="18" charset="0"/>
                <a:ea typeface="微软雅黑" pitchFamily="34" charset="-122"/>
              </a:rPr>
              <a:t>WS  ALL  RWY</a:t>
            </a:r>
            <a:r>
              <a:rPr lang="zh-CN" altLang="en-US" sz="2400" dirty="0">
                <a:solidFill>
                  <a:schemeClr val="tx1"/>
                </a:solidFill>
                <a:latin typeface="Times New Roman" panose="02020603050405020304" pitchFamily="18" charset="0"/>
                <a:ea typeface="微软雅黑" pitchFamily="34" charset="-122"/>
              </a:rPr>
              <a:t>为所有跑道有风切变</a:t>
            </a:r>
          </a:p>
          <a:p>
            <a:pPr marL="0" indent="0">
              <a:lnSpc>
                <a:spcPct val="120000"/>
              </a:lnSpc>
              <a:buNone/>
            </a:pP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r</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为跑道编号，若有平行跑道，在其后用</a:t>
            </a:r>
            <a:r>
              <a:rPr lang="en-US" altLang="zh-CN" sz="2400" dirty="0">
                <a:solidFill>
                  <a:schemeClr val="tx1"/>
                </a:solidFill>
                <a:latin typeface="Times New Roman" panose="02020603050405020304" pitchFamily="18" charset="0"/>
                <a:ea typeface="微软雅黑" pitchFamily="34" charset="-122"/>
              </a:rPr>
              <a:t>R</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L</a:t>
            </a:r>
            <a:r>
              <a:rPr lang="zh-CN" altLang="en-US" sz="2400" dirty="0">
                <a:solidFill>
                  <a:schemeClr val="tx1"/>
                </a:solidFill>
                <a:latin typeface="Times New Roman" panose="02020603050405020304" pitchFamily="18" charset="0"/>
                <a:ea typeface="微软雅黑" pitchFamily="34" charset="-122"/>
              </a:rPr>
              <a:t>和</a:t>
            </a:r>
            <a:r>
              <a:rPr lang="en-US" altLang="zh-CN" sz="2400" dirty="0">
                <a:solidFill>
                  <a:schemeClr val="tx1"/>
                </a:solidFill>
                <a:latin typeface="Times New Roman" panose="02020603050405020304" pitchFamily="18" charset="0"/>
                <a:ea typeface="微软雅黑" pitchFamily="34" charset="-122"/>
              </a:rPr>
              <a:t>C</a:t>
            </a:r>
            <a:r>
              <a:rPr lang="zh-CN" altLang="en-US" sz="2400" dirty="0">
                <a:solidFill>
                  <a:schemeClr val="tx1"/>
                </a:solidFill>
                <a:latin typeface="Times New Roman" panose="02020603050405020304" pitchFamily="18" charset="0"/>
                <a:ea typeface="微软雅黑" pitchFamily="34" charset="-122"/>
              </a:rPr>
              <a:t>表示右、左和中跑道</a:t>
            </a:r>
          </a:p>
          <a:p>
            <a:pPr marL="0" indent="0">
              <a:lnSpc>
                <a:spcPct val="120000"/>
              </a:lnSpc>
              <a:buNone/>
            </a:pPr>
            <a:r>
              <a:rPr lang="en-US" altLang="zh-CN" sz="2400" dirty="0">
                <a:solidFill>
                  <a:schemeClr val="tx1"/>
                </a:solidFill>
                <a:latin typeface="Times New Roman" panose="02020603050405020304" pitchFamily="18" charset="0"/>
                <a:ea typeface="微软雅黑" pitchFamily="34" charset="-122"/>
              </a:rPr>
              <a:t>WS: wind shear      TKOF: take off </a:t>
            </a:r>
          </a:p>
          <a:p>
            <a:pPr marL="0" indent="0">
              <a:lnSpc>
                <a:spcPct val="120000"/>
              </a:lnSpc>
              <a:buNone/>
            </a:pPr>
            <a:r>
              <a:rPr lang="en-US" altLang="zh-CN" sz="2400" dirty="0">
                <a:solidFill>
                  <a:schemeClr val="tx1"/>
                </a:solidFill>
                <a:latin typeface="Times New Roman" panose="02020603050405020304" pitchFamily="18" charset="0"/>
                <a:ea typeface="微软雅黑" pitchFamily="34" charset="-122"/>
              </a:rPr>
              <a:t>WS TKOF RWY36    36</a:t>
            </a:r>
            <a:r>
              <a:rPr lang="zh-CN" altLang="en-US" sz="2400" dirty="0">
                <a:solidFill>
                  <a:schemeClr val="tx1"/>
                </a:solidFill>
                <a:latin typeface="Times New Roman" panose="02020603050405020304" pitchFamily="18" charset="0"/>
                <a:ea typeface="微软雅黑" pitchFamily="34" charset="-122"/>
              </a:rPr>
              <a:t>号跑道上起飞方向有风切变  </a:t>
            </a:r>
          </a:p>
          <a:p>
            <a:pPr marL="0" indent="0">
              <a:lnSpc>
                <a:spcPct val="120000"/>
              </a:lnSpc>
              <a:buNone/>
            </a:pPr>
            <a:r>
              <a:rPr lang="en-US" altLang="zh-CN" sz="2400" dirty="0">
                <a:solidFill>
                  <a:schemeClr val="tx1"/>
                </a:solidFill>
                <a:latin typeface="Times New Roman" panose="02020603050405020304" pitchFamily="18" charset="0"/>
                <a:ea typeface="微软雅黑" pitchFamily="34" charset="-122"/>
              </a:rPr>
              <a:t>WS LDG   RWY24L  24</a:t>
            </a:r>
            <a:r>
              <a:rPr lang="zh-CN" altLang="en-US" sz="2400" dirty="0">
                <a:solidFill>
                  <a:schemeClr val="tx1"/>
                </a:solidFill>
                <a:latin typeface="Times New Roman" panose="02020603050405020304" pitchFamily="18" charset="0"/>
                <a:ea typeface="微软雅黑" pitchFamily="34" charset="-122"/>
              </a:rPr>
              <a:t>号左跑道着陆方向有风切变</a:t>
            </a:r>
          </a:p>
        </p:txBody>
      </p:sp>
    </p:spTree>
    <p:extLst>
      <p:ext uri="{BB962C8B-B14F-4D97-AF65-F5344CB8AC3E}">
        <p14:creationId xmlns:p14="http://schemas.microsoft.com/office/powerpoint/2010/main" val="851867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p:cNvSpPr>
            <a:spLocks noGrp="1"/>
          </p:cNvSpPr>
          <p:nvPr>
            <p:ph type="body" idx="1"/>
          </p:nvPr>
        </p:nvSpPr>
        <p:spPr>
          <a:xfrm>
            <a:off x="549135" y="161097"/>
            <a:ext cx="8846655" cy="6119813"/>
          </a:xfrm>
        </p:spPr>
        <p:txBody>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第十五组</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第十七组为附加的趋势型着陆报告</a:t>
            </a:r>
          </a:p>
          <a:p>
            <a:pPr marL="0" indent="0">
              <a:lnSpc>
                <a:spcPct val="150000"/>
              </a:lnSpc>
              <a:buNone/>
            </a:pPr>
            <a:endParaRPr lang="zh-CN" altLang="en-US"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第十五组  </a:t>
            </a:r>
            <a:r>
              <a:rPr lang="en-US" altLang="zh-CN" sz="2400" dirty="0">
                <a:solidFill>
                  <a:schemeClr val="tx1"/>
                </a:solidFill>
                <a:latin typeface="Times New Roman" panose="02020603050405020304" pitchFamily="18" charset="0"/>
                <a:ea typeface="微软雅黑" pitchFamily="34" charset="-122"/>
              </a:rPr>
              <a:t>TTTTT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NOSIG  </a:t>
            </a:r>
            <a:r>
              <a:rPr lang="zh-CN" altLang="en-US" sz="2400" dirty="0">
                <a:solidFill>
                  <a:schemeClr val="tx1"/>
                </a:solidFill>
                <a:latin typeface="Times New Roman" panose="02020603050405020304" pitchFamily="18" charset="0"/>
                <a:ea typeface="微软雅黑" pitchFamily="34" charset="-122"/>
              </a:rPr>
              <a:t>天气变化趋势组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当前面各组有一项或几项气象要素预计将发生明显变化时，</a:t>
            </a:r>
            <a:r>
              <a:rPr lang="en-US" altLang="zh-CN" sz="2400" dirty="0">
                <a:solidFill>
                  <a:schemeClr val="tx1"/>
                </a:solidFill>
                <a:latin typeface="Times New Roman" panose="02020603050405020304" pitchFamily="18" charset="0"/>
                <a:ea typeface="微软雅黑" pitchFamily="34" charset="-122"/>
              </a:rPr>
              <a:t>TTTTT</a:t>
            </a:r>
            <a:r>
              <a:rPr lang="zh-CN" altLang="en-US" sz="2400" dirty="0">
                <a:solidFill>
                  <a:schemeClr val="tx1"/>
                </a:solidFill>
                <a:latin typeface="Times New Roman" panose="02020603050405020304" pitchFamily="18" charset="0"/>
                <a:ea typeface="微软雅黑" pitchFamily="34" charset="-122"/>
              </a:rPr>
              <a:t>用</a:t>
            </a:r>
            <a:r>
              <a:rPr lang="en-US" altLang="zh-CN" sz="2400" dirty="0">
                <a:solidFill>
                  <a:schemeClr val="tx1"/>
                </a:solidFill>
                <a:latin typeface="Times New Roman" panose="02020603050405020304" pitchFamily="18" charset="0"/>
                <a:ea typeface="微软雅黑" pitchFamily="34" charset="-122"/>
              </a:rPr>
              <a:t>BECMC</a:t>
            </a:r>
            <a:r>
              <a:rPr lang="zh-CN" altLang="en-US" sz="2400" dirty="0">
                <a:solidFill>
                  <a:schemeClr val="tx1"/>
                </a:solidFill>
                <a:latin typeface="Times New Roman" panose="02020603050405020304" pitchFamily="18" charset="0"/>
                <a:ea typeface="微软雅黑" pitchFamily="34" charset="-122"/>
              </a:rPr>
              <a:t>或</a:t>
            </a:r>
            <a:r>
              <a:rPr lang="en-US" altLang="zh-CN" sz="2400" dirty="0">
                <a:solidFill>
                  <a:schemeClr val="tx1"/>
                </a:solidFill>
                <a:latin typeface="Times New Roman" panose="02020603050405020304" pitchFamily="18" charset="0"/>
                <a:ea typeface="微软雅黑" pitchFamily="34" charset="-122"/>
              </a:rPr>
              <a:t>TEMPO</a:t>
            </a:r>
            <a:r>
              <a:rPr lang="zh-CN" altLang="en-US" sz="2400" dirty="0">
                <a:solidFill>
                  <a:schemeClr val="tx1"/>
                </a:solidFill>
                <a:latin typeface="Times New Roman" panose="02020603050405020304" pitchFamily="18" charset="0"/>
                <a:ea typeface="微软雅黑" pitchFamily="34" charset="-122"/>
              </a:rPr>
              <a:t>编报。</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BECMC</a:t>
            </a:r>
            <a:r>
              <a:rPr lang="zh-CN" altLang="en-US" sz="2400" dirty="0">
                <a:solidFill>
                  <a:schemeClr val="tx1"/>
                </a:solidFill>
                <a:latin typeface="Times New Roman" panose="02020603050405020304" pitchFamily="18" charset="0"/>
                <a:ea typeface="微软雅黑" pitchFamily="34" charset="-122"/>
              </a:rPr>
              <a:t>：天气将变为</a:t>
            </a:r>
            <a:r>
              <a:rPr lang="en-US" altLang="zh-CN"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TEMPO</a:t>
            </a:r>
            <a:r>
              <a:rPr lang="zh-CN" altLang="en-US" sz="2400" dirty="0">
                <a:solidFill>
                  <a:schemeClr val="tx1"/>
                </a:solidFill>
                <a:latin typeface="Times New Roman" panose="02020603050405020304" pitchFamily="18" charset="0"/>
                <a:ea typeface="微软雅黑" pitchFamily="34" charset="-122"/>
              </a:rPr>
              <a:t>：气象要素有短时波动，波动时间＜</a:t>
            </a: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小时</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NOSIG</a:t>
            </a:r>
            <a:r>
              <a:rPr lang="zh-CN" altLang="en-US" sz="2400" dirty="0">
                <a:solidFill>
                  <a:schemeClr val="tx1"/>
                </a:solidFill>
                <a:latin typeface="Times New Roman" panose="02020603050405020304" pitchFamily="18" charset="0"/>
                <a:ea typeface="微软雅黑" pitchFamily="34" charset="-122"/>
              </a:rPr>
              <a:t>：预计气象要素无显著变化</a:t>
            </a:r>
            <a:endParaRPr lang="en-US" altLang="zh-CN" sz="2400" dirty="0">
              <a:solidFill>
                <a:schemeClr val="tx1"/>
              </a:solidFill>
              <a:latin typeface="Times New Roman" panose="02020603050405020304" pitchFamily="18" charset="0"/>
              <a:ea typeface="微软雅黑" pitchFamily="34" charset="-122"/>
            </a:endParaRPr>
          </a:p>
          <a:p>
            <a:pPr marL="0" indent="0"/>
            <a:endParaRPr lang="zh-CN" altLang="en-US" dirty="0"/>
          </a:p>
        </p:txBody>
      </p:sp>
    </p:spTree>
    <p:extLst>
      <p:ext uri="{BB962C8B-B14F-4D97-AF65-F5344CB8AC3E}">
        <p14:creationId xmlns:p14="http://schemas.microsoft.com/office/powerpoint/2010/main" val="31788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
          <p:cNvSpPr>
            <a:spLocks noGrp="1" noChangeArrowheads="1"/>
          </p:cNvSpPr>
          <p:nvPr>
            <p:ph type="body" idx="4294967295"/>
          </p:nvPr>
        </p:nvSpPr>
        <p:spPr>
          <a:xfrm>
            <a:off x="887896" y="260350"/>
            <a:ext cx="9189554" cy="5334000"/>
          </a:xfrm>
        </p:spPr>
        <p:txBody>
          <a:bodyPr>
            <a:normAutofit lnSpcReduction="10000"/>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第十六组  </a:t>
            </a:r>
            <a:r>
              <a:rPr lang="en-US" altLang="zh-CN" sz="2400" dirty="0" err="1">
                <a:solidFill>
                  <a:schemeClr val="tx1"/>
                </a:solidFill>
                <a:latin typeface="Times New Roman" panose="02020603050405020304" pitchFamily="18" charset="0"/>
                <a:ea typeface="微软雅黑" pitchFamily="34" charset="-122"/>
              </a:rPr>
              <a:t>TTGGgg</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变化时间组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TT </a:t>
            </a:r>
            <a:r>
              <a:rPr lang="zh-CN" altLang="en-US" sz="2400" dirty="0">
                <a:solidFill>
                  <a:schemeClr val="tx1"/>
                </a:solidFill>
                <a:latin typeface="Times New Roman" panose="02020603050405020304" pitchFamily="18" charset="0"/>
                <a:ea typeface="微软雅黑" pitchFamily="34" charset="-122"/>
              </a:rPr>
              <a:t>可表示为</a:t>
            </a:r>
            <a:r>
              <a:rPr lang="en-US" altLang="zh-CN" sz="2400" dirty="0">
                <a:solidFill>
                  <a:schemeClr val="tx1"/>
                </a:solidFill>
                <a:latin typeface="Times New Roman" panose="02020603050405020304" pitchFamily="18" charset="0"/>
                <a:ea typeface="微软雅黑" pitchFamily="34" charset="-122"/>
              </a:rPr>
              <a:t>FM  TL  AT</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FM</a:t>
            </a:r>
            <a:r>
              <a:rPr lang="zh-CN" altLang="en-US" sz="2400" dirty="0">
                <a:solidFill>
                  <a:schemeClr val="tx1"/>
                </a:solidFill>
                <a:latin typeface="Times New Roman" panose="02020603050405020304" pitchFamily="18" charset="0"/>
                <a:ea typeface="微软雅黑" pitchFamily="34" charset="-122"/>
              </a:rPr>
              <a:t>指开始变化时间，</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TL</a:t>
            </a:r>
            <a:r>
              <a:rPr lang="zh-CN" altLang="en-US" sz="2400" dirty="0">
                <a:solidFill>
                  <a:schemeClr val="tx1"/>
                </a:solidFill>
                <a:latin typeface="Times New Roman" panose="02020603050405020304" pitchFamily="18" charset="0"/>
                <a:ea typeface="微软雅黑" pitchFamily="34" charset="-122"/>
              </a:rPr>
              <a:t>变化结束时间</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AT</a:t>
            </a:r>
            <a:r>
              <a:rPr lang="zh-CN" altLang="en-US" sz="2400" dirty="0">
                <a:solidFill>
                  <a:schemeClr val="tx1"/>
                </a:solidFill>
                <a:latin typeface="Times New Roman" panose="02020603050405020304" pitchFamily="18" charset="0"/>
                <a:ea typeface="微软雅黑" pitchFamily="34" charset="-122"/>
              </a:rPr>
              <a:t>在那一时刻出现</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GGgg</a:t>
            </a:r>
            <a:r>
              <a:rPr lang="zh-CN" altLang="en-US" sz="2400" dirty="0">
                <a:solidFill>
                  <a:schemeClr val="tx1"/>
                </a:solidFill>
                <a:latin typeface="Times New Roman" panose="02020603050405020304" pitchFamily="18" charset="0"/>
                <a:ea typeface="微软雅黑" pitchFamily="34" charset="-122"/>
              </a:rPr>
              <a:t>表示变化的时、分，用世界时</a:t>
            </a:r>
            <a:r>
              <a:rPr lang="en-US" altLang="zh-CN"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如</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从</a:t>
            </a:r>
            <a:r>
              <a:rPr lang="en-US" altLang="zh-CN" sz="2400" dirty="0">
                <a:solidFill>
                  <a:schemeClr val="tx1"/>
                </a:solidFill>
                <a:latin typeface="Times New Roman" panose="02020603050405020304" pitchFamily="18" charset="0"/>
                <a:ea typeface="微软雅黑" pitchFamily="34" charset="-122"/>
              </a:rPr>
              <a:t>4</a:t>
            </a:r>
            <a:r>
              <a:rPr lang="zh-CN" altLang="en-US" sz="2400" dirty="0">
                <a:solidFill>
                  <a:schemeClr val="tx1"/>
                </a:solidFill>
                <a:latin typeface="Times New Roman" panose="02020603050405020304" pitchFamily="18" charset="0"/>
                <a:ea typeface="微软雅黑" pitchFamily="34" charset="-122"/>
              </a:rPr>
              <a:t>点</a:t>
            </a:r>
            <a:r>
              <a:rPr lang="en-US" altLang="zh-CN" sz="2400" dirty="0">
                <a:solidFill>
                  <a:schemeClr val="tx1"/>
                </a:solidFill>
                <a:latin typeface="Times New Roman" panose="02020603050405020304" pitchFamily="18" charset="0"/>
                <a:ea typeface="微软雅黑" pitchFamily="34" charset="-122"/>
              </a:rPr>
              <a:t>30</a:t>
            </a:r>
            <a:r>
              <a:rPr lang="zh-CN" altLang="en-US" sz="2400" dirty="0">
                <a:solidFill>
                  <a:schemeClr val="tx1"/>
                </a:solidFill>
                <a:latin typeface="Times New Roman" panose="02020603050405020304" pitchFamily="18" charset="0"/>
                <a:ea typeface="微软雅黑" pitchFamily="34" charset="-122"/>
              </a:rPr>
              <a:t>分开始变化，可编报为</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FM0430Z…</a:t>
            </a:r>
          </a:p>
          <a:p>
            <a:pPr marL="0" indent="0">
              <a:lnSpc>
                <a:spcPct val="120000"/>
              </a:lnSpc>
              <a:buNone/>
            </a:pPr>
            <a:endParaRPr lang="en-US" altLang="zh-CN" sz="2800" dirty="0">
              <a:latin typeface="微软雅黑" pitchFamily="34" charset="-122"/>
              <a:ea typeface="微软雅黑" pitchFamily="34" charset="-122"/>
            </a:endParaRPr>
          </a:p>
          <a:p>
            <a:pPr marL="0" indent="0">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33355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p:cNvSpPr>
            <a:spLocks noGrp="1" noChangeArrowheads="1"/>
          </p:cNvSpPr>
          <p:nvPr>
            <p:ph type="body" idx="4294967295"/>
          </p:nvPr>
        </p:nvSpPr>
        <p:spPr>
          <a:xfrm>
            <a:off x="602974" y="337932"/>
            <a:ext cx="8229600" cy="4525963"/>
          </a:xfrm>
        </p:spPr>
        <p:txBody>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第十七组  变化的气象要素组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后面几项分别为风向风速组，能见度组、天气现象组和云组，它们的出现表示前面所报的天气有变化。</a:t>
            </a:r>
          </a:p>
          <a:p>
            <a:pPr>
              <a:lnSpc>
                <a:spcPct val="150000"/>
              </a:lnSpc>
            </a:pPr>
            <a:endParaRPr lang="zh-CN" altLang="en-US"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NSW</a:t>
            </a:r>
            <a:r>
              <a:rPr lang="zh-CN" altLang="en-US" sz="2400" dirty="0">
                <a:solidFill>
                  <a:schemeClr val="tx1"/>
                </a:solidFill>
                <a:latin typeface="Times New Roman" panose="02020603050405020304" pitchFamily="18" charset="0"/>
                <a:ea typeface="微软雅黑" pitchFamily="34" charset="-122"/>
              </a:rPr>
              <a:t>表示无重要天气现象，</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NSC</a:t>
            </a:r>
            <a:r>
              <a:rPr lang="zh-CN" altLang="en-US" sz="2400" dirty="0">
                <a:solidFill>
                  <a:schemeClr val="tx1"/>
                </a:solidFill>
                <a:latin typeface="Times New Roman" panose="02020603050405020304" pitchFamily="18" charset="0"/>
                <a:ea typeface="微软雅黑" pitchFamily="34" charset="-122"/>
              </a:rPr>
              <a:t>表示无重要的云。</a:t>
            </a:r>
          </a:p>
          <a:p>
            <a:pPr>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26860867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36CBC5A7-4ECA-4B20-8C92-A0C34F2B2B92}"/>
              </a:ext>
            </a:extLst>
          </p:cNvPr>
          <p:cNvSpPr>
            <a:spLocks noGrp="1" noChangeArrowheads="1"/>
          </p:cNvSpPr>
          <p:nvPr>
            <p:ph type="body" idx="4294967295"/>
          </p:nvPr>
        </p:nvSpPr>
        <p:spPr>
          <a:xfrm>
            <a:off x="145774" y="452300"/>
            <a:ext cx="10548730" cy="2089150"/>
          </a:xfrm>
        </p:spPr>
        <p:txBody>
          <a:bodyPr>
            <a:normAutofit/>
          </a:bodyPr>
          <a:lstStyle/>
          <a:p>
            <a:pPr marL="0" indent="0" algn="just">
              <a:lnSpc>
                <a:spcPct val="150000"/>
              </a:lnSpc>
              <a:buNone/>
            </a:pPr>
            <a:r>
              <a:rPr lang="en-US" altLang="zh-CN" sz="2400" dirty="0">
                <a:solidFill>
                  <a:schemeClr val="tx1"/>
                </a:solidFill>
                <a:latin typeface="Times New Roman" panose="02020603050405020304" pitchFamily="18" charset="0"/>
                <a:ea typeface="微软雅黑" panose="020B0503020204020204" pitchFamily="34" charset="-122"/>
              </a:rPr>
              <a:t>METAR ZBAA 221600Z 24008MPS 1200 R18/1000U FGDZ SCT010 OVC020 17/16 Q1018 BECMG TL 1700 0800 FG BECMG AT 1800 9999 NSW=</a:t>
            </a:r>
          </a:p>
        </p:txBody>
      </p:sp>
      <p:sp>
        <p:nvSpPr>
          <p:cNvPr id="4" name="文本框 3">
            <a:extLst>
              <a:ext uri="{FF2B5EF4-FFF2-40B4-BE49-F238E27FC236}">
                <a16:creationId xmlns:a16="http://schemas.microsoft.com/office/drawing/2014/main" id="{EC4AA65F-F01F-46D0-8A1F-3B548943D541}"/>
              </a:ext>
            </a:extLst>
          </p:cNvPr>
          <p:cNvSpPr txBox="1"/>
          <p:nvPr/>
        </p:nvSpPr>
        <p:spPr>
          <a:xfrm>
            <a:off x="503583" y="2305878"/>
            <a:ext cx="10548730" cy="2795958"/>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机场例行报，北京，</a:t>
            </a:r>
            <a:r>
              <a:rPr lang="en-US" altLang="zh-CN" sz="2400" dirty="0">
                <a:latin typeface="Times New Roman" panose="02020603050405020304" pitchFamily="18" charset="0"/>
                <a:ea typeface="微软雅黑" panose="020B0503020204020204" pitchFamily="34" charset="-122"/>
              </a:rPr>
              <a:t>23</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00</a:t>
            </a:r>
            <a:r>
              <a:rPr lang="zh-CN" altLang="en-US" sz="2400" dirty="0">
                <a:latin typeface="Times New Roman" panose="02020603050405020304" pitchFamily="18" charset="0"/>
                <a:ea typeface="微软雅黑" panose="020B0503020204020204" pitchFamily="34" charset="-122"/>
              </a:rPr>
              <a:t>时</a:t>
            </a:r>
            <a:r>
              <a:rPr lang="en-US" altLang="zh-CN" sz="2400" dirty="0">
                <a:latin typeface="Times New Roman" panose="02020603050405020304" pitchFamily="18" charset="0"/>
                <a:ea typeface="微软雅黑" panose="020B0503020204020204" pitchFamily="34" charset="-122"/>
              </a:rPr>
              <a:t>00</a:t>
            </a:r>
            <a:r>
              <a:rPr lang="zh-CN" altLang="en-US" sz="2400" dirty="0">
                <a:latin typeface="Times New Roman" panose="02020603050405020304" pitchFamily="18" charset="0"/>
                <a:ea typeface="微软雅黑" panose="020B0503020204020204" pitchFamily="34" charset="-122"/>
              </a:rPr>
              <a:t>分，地面风向</a:t>
            </a:r>
            <a:r>
              <a:rPr lang="en-US" altLang="zh-CN" sz="2400" dirty="0">
                <a:latin typeface="Times New Roman" panose="02020603050405020304" pitchFamily="18" charset="0"/>
                <a:ea typeface="微软雅黑" panose="020B0503020204020204" pitchFamily="34" charset="-122"/>
              </a:rPr>
              <a:t>240°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8m/s</a:t>
            </a:r>
            <a:r>
              <a:rPr lang="zh-CN" altLang="en-US" sz="2400" dirty="0">
                <a:latin typeface="Times New Roman" panose="02020603050405020304" pitchFamily="18" charset="0"/>
                <a:ea typeface="微软雅黑" panose="020B0503020204020204" pitchFamily="34" charset="-122"/>
              </a:rPr>
              <a:t>，能见度</a:t>
            </a:r>
            <a:r>
              <a:rPr lang="en-US" altLang="zh-CN" sz="2400" dirty="0">
                <a:latin typeface="Times New Roman" panose="02020603050405020304" pitchFamily="18" charset="0"/>
                <a:ea typeface="微软雅黑" panose="020B0503020204020204" pitchFamily="34" charset="-122"/>
              </a:rPr>
              <a:t>1200</a:t>
            </a:r>
            <a:r>
              <a:rPr lang="zh-CN" altLang="en-US" sz="2400" dirty="0">
                <a:latin typeface="Times New Roman" panose="02020603050405020304" pitchFamily="18" charset="0"/>
                <a:ea typeface="微软雅黑" panose="020B0503020204020204" pitchFamily="34" charset="-122"/>
              </a:rPr>
              <a:t>米，</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en-US" altLang="zh-CN" sz="2400" dirty="0">
                <a:latin typeface="Times New Roman" panose="02020603050405020304" pitchFamily="18" charset="0"/>
                <a:ea typeface="微软雅黑" panose="020B0503020204020204" pitchFamily="34" charset="-122"/>
              </a:rPr>
              <a:t>18</a:t>
            </a:r>
            <a:r>
              <a:rPr lang="zh-CN" altLang="en-US" sz="2400" dirty="0">
                <a:latin typeface="Times New Roman" panose="02020603050405020304" pitchFamily="18" charset="0"/>
                <a:ea typeface="微软雅黑" panose="020B0503020204020204" pitchFamily="34" charset="-122"/>
              </a:rPr>
              <a:t>号跑道的跑道视程为</a:t>
            </a:r>
            <a:r>
              <a:rPr lang="en-US" altLang="zh-CN" sz="2400" dirty="0">
                <a:latin typeface="Times New Roman" panose="02020603050405020304" pitchFamily="18" charset="0"/>
                <a:ea typeface="微软雅黑" panose="020B0503020204020204" pitchFamily="34" charset="-122"/>
              </a:rPr>
              <a:t>1000</a:t>
            </a:r>
            <a:r>
              <a:rPr lang="zh-CN" altLang="en-US" sz="2400" dirty="0">
                <a:latin typeface="Times New Roman" panose="02020603050405020304" pitchFamily="18" charset="0"/>
                <a:ea typeface="微软雅黑" panose="020B0503020204020204" pitchFamily="34" charset="-122"/>
              </a:rPr>
              <a:t>米，并有明显上升趋势，有雾、毛毛雨，疏云，云高</a:t>
            </a:r>
            <a:r>
              <a:rPr lang="en-US" altLang="zh-CN" sz="2400" dirty="0">
                <a:latin typeface="Times New Roman" panose="02020603050405020304" pitchFamily="18" charset="0"/>
                <a:ea typeface="微软雅黑" panose="020B0503020204020204" pitchFamily="34" charset="-122"/>
              </a:rPr>
              <a:t>300</a:t>
            </a:r>
            <a:r>
              <a:rPr lang="zh-CN" altLang="en-US" sz="2400" dirty="0">
                <a:latin typeface="Times New Roman" panose="02020603050405020304" pitchFamily="18" charset="0"/>
                <a:ea typeface="微软雅黑" panose="020B0503020204020204" pitchFamily="34" charset="-122"/>
              </a:rPr>
              <a:t>米，阴天，云高</a:t>
            </a:r>
            <a:r>
              <a:rPr lang="en-US" altLang="zh-CN" sz="2400" dirty="0">
                <a:latin typeface="Times New Roman" panose="02020603050405020304" pitchFamily="18" charset="0"/>
                <a:ea typeface="微软雅黑" panose="020B0503020204020204" pitchFamily="34" charset="-122"/>
              </a:rPr>
              <a:t>600</a:t>
            </a:r>
            <a:r>
              <a:rPr lang="zh-CN" altLang="en-US" sz="2400" dirty="0">
                <a:latin typeface="Times New Roman" panose="02020603050405020304" pitchFamily="18" charset="0"/>
                <a:ea typeface="微软雅黑" panose="020B0503020204020204" pitchFamily="34" charset="-122"/>
              </a:rPr>
              <a:t>米，气温</a:t>
            </a:r>
            <a:r>
              <a:rPr lang="en-US" altLang="zh-CN" sz="2400" dirty="0">
                <a:latin typeface="Times New Roman" panose="02020603050405020304" pitchFamily="18" charset="0"/>
                <a:ea typeface="微软雅黑" panose="020B0503020204020204" pitchFamily="34" charset="-122"/>
              </a:rPr>
              <a:t>17</a:t>
            </a:r>
            <a:r>
              <a:rPr lang="zh-CN" altLang="en-US" sz="2400" dirty="0">
                <a:latin typeface="Times New Roman" panose="02020603050405020304" pitchFamily="18" charset="0"/>
                <a:ea typeface="微软雅黑" panose="020B0503020204020204" pitchFamily="34" charset="-122"/>
              </a:rPr>
              <a:t>℃，露点</a:t>
            </a:r>
            <a:r>
              <a:rPr lang="en-US" altLang="zh-CN" sz="2400" dirty="0">
                <a:latin typeface="Times New Roman" panose="02020603050405020304" pitchFamily="18" charset="0"/>
                <a:ea typeface="微软雅黑" panose="020B0503020204020204" pitchFamily="34" charset="-122"/>
              </a:rPr>
              <a:t>16</a:t>
            </a:r>
            <a:r>
              <a:rPr lang="zh-CN" altLang="en-US" sz="2400" dirty="0">
                <a:latin typeface="Times New Roman" panose="02020603050405020304" pitchFamily="18" charset="0"/>
                <a:ea typeface="微软雅黑" panose="020B0503020204020204" pitchFamily="34" charset="-122"/>
              </a:rPr>
              <a:t>℃，修正海平面气压为</a:t>
            </a:r>
            <a:r>
              <a:rPr lang="en-US" altLang="zh-CN" sz="2400" dirty="0">
                <a:latin typeface="Times New Roman" panose="02020603050405020304" pitchFamily="18" charset="0"/>
                <a:ea typeface="微软雅黑" panose="020B0503020204020204" pitchFamily="34" charset="-122"/>
              </a:rPr>
              <a:t>1018hPa</a:t>
            </a:r>
            <a:r>
              <a:rPr lang="zh-CN" altLang="en-US" sz="2400" dirty="0">
                <a:latin typeface="Times New Roman" panose="02020603050405020304" pitchFamily="18" charset="0"/>
                <a:ea typeface="微软雅黑" panose="020B0503020204020204" pitchFamily="34" charset="-122"/>
              </a:rPr>
              <a:t>。未来变化趋势：从世界时</a:t>
            </a:r>
            <a:r>
              <a:rPr lang="en-US" altLang="zh-CN" sz="2400" dirty="0">
                <a:latin typeface="Times New Roman" panose="02020603050405020304" pitchFamily="18" charset="0"/>
                <a:ea typeface="微软雅黑" panose="020B0503020204020204" pitchFamily="34" charset="-122"/>
              </a:rPr>
              <a:t>17</a:t>
            </a:r>
            <a:r>
              <a:rPr lang="zh-CN" altLang="en-US" sz="2400" dirty="0">
                <a:latin typeface="Times New Roman" panose="02020603050405020304" pitchFamily="18" charset="0"/>
                <a:ea typeface="微软雅黑" panose="020B0503020204020204" pitchFamily="34" charset="-122"/>
              </a:rPr>
              <a:t>时到</a:t>
            </a:r>
            <a:r>
              <a:rPr lang="en-US" altLang="zh-CN" sz="2400" dirty="0">
                <a:latin typeface="Times New Roman" panose="02020603050405020304" pitchFamily="18" charset="0"/>
                <a:ea typeface="微软雅黑" panose="020B0503020204020204" pitchFamily="34" charset="-122"/>
              </a:rPr>
              <a:t>18</a:t>
            </a:r>
            <a:r>
              <a:rPr lang="zh-CN" altLang="en-US" sz="2400" dirty="0">
                <a:latin typeface="Times New Roman" panose="02020603050405020304" pitchFamily="18" charset="0"/>
                <a:ea typeface="微软雅黑" panose="020B0503020204020204" pitchFamily="34" charset="-122"/>
              </a:rPr>
              <a:t>时能见度从</a:t>
            </a:r>
            <a:r>
              <a:rPr lang="en-US" altLang="zh-CN" sz="2400" dirty="0">
                <a:latin typeface="Times New Roman" panose="02020603050405020304" pitchFamily="18" charset="0"/>
                <a:ea typeface="微软雅黑" panose="020B0503020204020204" pitchFamily="34" charset="-122"/>
              </a:rPr>
              <a:t>800</a:t>
            </a:r>
            <a:r>
              <a:rPr lang="zh-CN" altLang="en-US" sz="2400" dirty="0">
                <a:latin typeface="Times New Roman" panose="02020603050405020304" pitchFamily="18" charset="0"/>
                <a:ea typeface="微软雅黑" panose="020B0503020204020204" pitchFamily="34" charset="-122"/>
              </a:rPr>
              <a:t>米逐渐大于等于</a:t>
            </a:r>
            <a:r>
              <a:rPr lang="en-US" altLang="zh-CN" sz="2400" dirty="0">
                <a:latin typeface="Times New Roman" panose="02020603050405020304" pitchFamily="18" charset="0"/>
                <a:ea typeface="微软雅黑" panose="020B0503020204020204" pitchFamily="34" charset="-122"/>
              </a:rPr>
              <a:t>10km</a:t>
            </a:r>
            <a:r>
              <a:rPr lang="zh-CN" altLang="en-US" sz="2400" dirty="0">
                <a:latin typeface="Times New Roman" panose="02020603050405020304" pitchFamily="18" charset="0"/>
                <a:ea typeface="微软雅黑" panose="020B0503020204020204" pitchFamily="34" charset="-122"/>
              </a:rPr>
              <a:t>，雾开始消散、到世界</a:t>
            </a:r>
            <a:r>
              <a:rPr lang="en-US" altLang="zh-CN" sz="2400" dirty="0">
                <a:latin typeface="Times New Roman" panose="02020603050405020304" pitchFamily="18" charset="0"/>
                <a:ea typeface="微软雅黑" panose="020B0503020204020204" pitchFamily="34" charset="-122"/>
              </a:rPr>
              <a:t>18</a:t>
            </a:r>
            <a:r>
              <a:rPr lang="zh-CN" altLang="en-US" sz="2400" dirty="0">
                <a:latin typeface="Times New Roman" panose="02020603050405020304" pitchFamily="18" charset="0"/>
                <a:ea typeface="微软雅黑" panose="020B0503020204020204" pitchFamily="34" charset="-122"/>
              </a:rPr>
              <a:t>时重要天气现象结束。</a:t>
            </a:r>
          </a:p>
        </p:txBody>
      </p:sp>
    </p:spTree>
    <p:extLst>
      <p:ext uri="{BB962C8B-B14F-4D97-AF65-F5344CB8AC3E}">
        <p14:creationId xmlns:p14="http://schemas.microsoft.com/office/powerpoint/2010/main" val="362497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5">
            <a:extLst>
              <a:ext uri="{FF2B5EF4-FFF2-40B4-BE49-F238E27FC236}">
                <a16:creationId xmlns:a16="http://schemas.microsoft.com/office/drawing/2014/main" id="{0F0699DC-D445-4384-BDAB-5E99040ED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467" y="600627"/>
            <a:ext cx="8569325"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7">
            <a:extLst>
              <a:ext uri="{FF2B5EF4-FFF2-40B4-BE49-F238E27FC236}">
                <a16:creationId xmlns:a16="http://schemas.microsoft.com/office/drawing/2014/main" id="{53DC7EC7-F497-4F8E-A9B3-75A487312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54" y="3032125"/>
            <a:ext cx="88201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10">
            <a:extLst>
              <a:ext uri="{FF2B5EF4-FFF2-40B4-BE49-F238E27FC236}">
                <a16:creationId xmlns:a16="http://schemas.microsoft.com/office/drawing/2014/main" id="{5D4D1921-FC9D-4D97-BC95-B6835AFCCA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467" y="4950931"/>
            <a:ext cx="842486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1721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3"/>
          <p:cNvSpPr>
            <a:spLocks noGrp="1" noChangeArrowheads="1"/>
          </p:cNvSpPr>
          <p:nvPr>
            <p:ph type="body" idx="4294967295"/>
          </p:nvPr>
        </p:nvSpPr>
        <p:spPr>
          <a:xfrm>
            <a:off x="901147" y="304800"/>
            <a:ext cx="10031895" cy="6172200"/>
          </a:xfrm>
        </p:spPr>
        <p:txBody>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机场特殊天气报告：</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指在两次正点观测之间，当某一对飞行有较大影响的天气现象出现（终止或消失）时而进行的报告。</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报告的起头：</a:t>
            </a:r>
            <a:r>
              <a:rPr lang="en-US" altLang="zh-CN" sz="2400" dirty="0">
                <a:solidFill>
                  <a:schemeClr val="tx1"/>
                </a:solidFill>
                <a:latin typeface="Times New Roman" panose="02020603050405020304" pitchFamily="18" charset="0"/>
                <a:ea typeface="微软雅黑" pitchFamily="34" charset="-122"/>
              </a:rPr>
              <a:t>SPECI</a:t>
            </a:r>
            <a:endParaRPr lang="zh-CN" altLang="en-US"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其余各项编报方法和</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中相同</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由于特选报只是针对恶劣天气编报的，因此为突出重点，</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中无关的项均可忽略，因此它简单明确。  </a:t>
            </a:r>
          </a:p>
          <a:p>
            <a:pPr marL="0" indent="0">
              <a:lnSpc>
                <a:spcPct val="120000"/>
              </a:lnSpc>
              <a:buNone/>
            </a:pPr>
            <a:endParaRPr lang="zh-CN" altLang="en-US" sz="2800" dirty="0">
              <a:latin typeface="微软雅黑" pitchFamily="34" charset="-122"/>
              <a:ea typeface="微软雅黑" pitchFamily="34" charset="-122"/>
            </a:endParaRPr>
          </a:p>
          <a:p>
            <a:pPr marL="0" indent="0">
              <a:lnSpc>
                <a:spcPct val="120000"/>
              </a:lnSpc>
              <a:buNone/>
            </a:pPr>
            <a:endParaRPr lang="zh-CN" altLang="en-US" sz="2800" dirty="0">
              <a:latin typeface="微软雅黑" pitchFamily="34" charset="-122"/>
              <a:ea typeface="微软雅黑" pitchFamily="34" charset="-122"/>
            </a:endParaRPr>
          </a:p>
        </p:txBody>
      </p:sp>
    </p:spTree>
    <p:extLst>
      <p:ext uri="{BB962C8B-B14F-4D97-AF65-F5344CB8AC3E}">
        <p14:creationId xmlns:p14="http://schemas.microsoft.com/office/powerpoint/2010/main" val="14185758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3"/>
          <p:cNvSpPr>
            <a:spLocks noGrp="1" noChangeArrowheads="1"/>
          </p:cNvSpPr>
          <p:nvPr>
            <p:ph type="body" idx="4294967295"/>
          </p:nvPr>
        </p:nvSpPr>
        <p:spPr>
          <a:xfrm>
            <a:off x="990600" y="268357"/>
            <a:ext cx="9399104" cy="5991225"/>
          </a:xfrm>
        </p:spPr>
        <p:txBody>
          <a:bodyPr>
            <a:normAutofit/>
          </a:bodyPr>
          <a:lstStyle/>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二、机场（航站）天气预报电报</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机场天气预报是为目视飞行提供的基本天气预报，也是仪表飞行必不可少的。</a:t>
            </a:r>
            <a:br>
              <a:rPr lang="zh-CN" altLang="en-US" sz="2400" dirty="0">
                <a:solidFill>
                  <a:schemeClr val="tx1"/>
                </a:solidFill>
                <a:latin typeface="Times New Roman" panose="02020603050405020304" pitchFamily="18" charset="0"/>
                <a:ea typeface="微软雅黑" pitchFamily="34" charset="-122"/>
              </a:rPr>
            </a:br>
            <a:r>
              <a:rPr lang="zh-CN" altLang="en-US" sz="2400" dirty="0">
                <a:solidFill>
                  <a:schemeClr val="tx1"/>
                </a:solidFill>
                <a:latin typeface="Times New Roman" panose="02020603050405020304" pitchFamily="18" charset="0"/>
                <a:ea typeface="微软雅黑" pitchFamily="34" charset="-122"/>
              </a:rPr>
              <a:t>      可根据其预报的云高、能见度和风来选择最佳进场着陆方向，也必须根据航站天气预报来确定是否需要一个备降机场，如果需要，还要看备降机场预报的天气是否适合降落。</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机场天气预报的有效时段应不小于</a:t>
            </a:r>
            <a:r>
              <a:rPr lang="en-US" altLang="zh-CN" sz="2400" dirty="0">
                <a:solidFill>
                  <a:schemeClr val="tx1"/>
                </a:solidFill>
                <a:latin typeface="Times New Roman" panose="02020603050405020304" pitchFamily="18" charset="0"/>
                <a:ea typeface="微软雅黑" pitchFamily="34" charset="-122"/>
              </a:rPr>
              <a:t>9h</a:t>
            </a:r>
            <a:r>
              <a:rPr lang="zh-CN" altLang="en-US" sz="2400" dirty="0">
                <a:solidFill>
                  <a:schemeClr val="tx1"/>
                </a:solidFill>
                <a:latin typeface="Times New Roman" panose="02020603050405020304" pitchFamily="18" charset="0"/>
                <a:ea typeface="微软雅黑" pitchFamily="34" charset="-122"/>
              </a:rPr>
              <a:t>，不大于</a:t>
            </a:r>
            <a:r>
              <a:rPr lang="en-US" altLang="zh-CN" sz="2400" dirty="0">
                <a:solidFill>
                  <a:schemeClr val="tx1"/>
                </a:solidFill>
                <a:latin typeface="Times New Roman" panose="02020603050405020304" pitchFamily="18" charset="0"/>
                <a:ea typeface="微软雅黑" pitchFamily="34" charset="-122"/>
              </a:rPr>
              <a:t>24h</a:t>
            </a:r>
            <a:r>
              <a:rPr lang="zh-CN" altLang="en-US" sz="2400" dirty="0">
                <a:solidFill>
                  <a:schemeClr val="tx1"/>
                </a:solidFill>
                <a:latin typeface="Times New Roman" panose="02020603050405020304" pitchFamily="18" charset="0"/>
                <a:ea typeface="微软雅黑" pitchFamily="34" charset="-122"/>
              </a:rPr>
              <a:t>。有效时段小于</a:t>
            </a:r>
            <a:r>
              <a:rPr lang="en-US" altLang="zh-CN" sz="2400" dirty="0">
                <a:solidFill>
                  <a:schemeClr val="tx1"/>
                </a:solidFill>
                <a:latin typeface="Times New Roman" panose="02020603050405020304" pitchFamily="18" charset="0"/>
                <a:ea typeface="微软雅黑" pitchFamily="34" charset="-122"/>
              </a:rPr>
              <a:t>12h</a:t>
            </a:r>
            <a:r>
              <a:rPr lang="zh-CN" altLang="en-US" sz="2400" dirty="0">
                <a:solidFill>
                  <a:schemeClr val="tx1"/>
                </a:solidFill>
                <a:latin typeface="Times New Roman" panose="02020603050405020304" pitchFamily="18" charset="0"/>
                <a:ea typeface="微软雅黑" pitchFamily="34" charset="-122"/>
              </a:rPr>
              <a:t>的机场预报每</a:t>
            </a:r>
            <a:r>
              <a:rPr lang="en-US" altLang="zh-CN" sz="2400" dirty="0">
                <a:solidFill>
                  <a:schemeClr val="tx1"/>
                </a:solidFill>
                <a:latin typeface="Times New Roman" panose="02020603050405020304" pitchFamily="18" charset="0"/>
                <a:ea typeface="微软雅黑" pitchFamily="34" charset="-122"/>
              </a:rPr>
              <a:t>3h</a:t>
            </a:r>
            <a:r>
              <a:rPr lang="zh-CN" altLang="en-US" sz="2400" dirty="0">
                <a:solidFill>
                  <a:schemeClr val="tx1"/>
                </a:solidFill>
                <a:latin typeface="Times New Roman" panose="02020603050405020304" pitchFamily="18" charset="0"/>
                <a:ea typeface="微软雅黑" pitchFamily="34" charset="-122"/>
              </a:rPr>
              <a:t>小时发布一次；有效时段为</a:t>
            </a:r>
            <a:r>
              <a:rPr lang="en-US" altLang="zh-CN" sz="2400" dirty="0">
                <a:solidFill>
                  <a:schemeClr val="tx1"/>
                </a:solidFill>
                <a:latin typeface="Times New Roman" panose="02020603050405020304" pitchFamily="18" charset="0"/>
                <a:ea typeface="微软雅黑" pitchFamily="34" charset="-122"/>
              </a:rPr>
              <a:t>12~24h</a:t>
            </a:r>
            <a:r>
              <a:rPr lang="zh-CN" altLang="en-US" sz="2400" dirty="0">
                <a:solidFill>
                  <a:schemeClr val="tx1"/>
                </a:solidFill>
                <a:latin typeface="Times New Roman" panose="02020603050405020304" pitchFamily="18" charset="0"/>
                <a:ea typeface="微软雅黑" pitchFamily="34" charset="-122"/>
              </a:rPr>
              <a:t>的机场预报每</a:t>
            </a:r>
            <a:r>
              <a:rPr lang="en-US" altLang="zh-CN" sz="2400" dirty="0">
                <a:solidFill>
                  <a:schemeClr val="tx1"/>
                </a:solidFill>
                <a:latin typeface="Times New Roman" panose="02020603050405020304" pitchFamily="18" charset="0"/>
                <a:ea typeface="微软雅黑" pitchFamily="34" charset="-122"/>
              </a:rPr>
              <a:t>6h</a:t>
            </a:r>
            <a:r>
              <a:rPr lang="zh-CN" altLang="en-US" sz="2400" dirty="0">
                <a:solidFill>
                  <a:schemeClr val="tx1"/>
                </a:solidFill>
                <a:latin typeface="Times New Roman" panose="02020603050405020304" pitchFamily="18" charset="0"/>
                <a:ea typeface="微软雅黑" pitchFamily="34" charset="-122"/>
              </a:rPr>
              <a:t>发布一次。</a:t>
            </a:r>
            <a:endParaRPr lang="en-US" altLang="zh-CN" sz="2400" dirty="0">
              <a:solidFill>
                <a:schemeClr val="tx1"/>
              </a:solidFill>
              <a:latin typeface="Times New Roman" panose="02020603050405020304" pitchFamily="18" charset="0"/>
              <a:ea typeface="微软雅黑" pitchFamily="34" charset="-122"/>
            </a:endParaRPr>
          </a:p>
        </p:txBody>
      </p:sp>
    </p:spTree>
    <p:extLst>
      <p:ext uri="{BB962C8B-B14F-4D97-AF65-F5344CB8AC3E}">
        <p14:creationId xmlns:p14="http://schemas.microsoft.com/office/powerpoint/2010/main" val="961528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p:cNvSpPr>
            <a:spLocks noGrp="1" noChangeArrowheads="1"/>
          </p:cNvSpPr>
          <p:nvPr>
            <p:ph type="body" idx="4294967295"/>
          </p:nvPr>
        </p:nvSpPr>
        <p:spPr>
          <a:xfrm>
            <a:off x="616709" y="0"/>
            <a:ext cx="9362177" cy="6718852"/>
          </a:xfrm>
        </p:spPr>
        <p:txBody>
          <a:bodyPr>
            <a:normAutofit/>
          </a:bodyPr>
          <a:lstStyle/>
          <a:p>
            <a:pPr marL="0" indent="0">
              <a:lnSpc>
                <a:spcPct val="150000"/>
              </a:lnSpc>
              <a:buNone/>
            </a:pPr>
            <a:r>
              <a:rPr lang="zh-CN" altLang="en-US" sz="2400" b="1" dirty="0">
                <a:solidFill>
                  <a:schemeClr val="tx1"/>
                </a:solidFill>
                <a:latin typeface="Times New Roman" panose="02020603050405020304" pitchFamily="18" charset="0"/>
                <a:ea typeface="微软雅黑" pitchFamily="34" charset="-122"/>
              </a:rPr>
              <a:t>电码说明</a:t>
            </a:r>
            <a:r>
              <a:rPr lang="en-US" altLang="zh-CN" sz="2400" b="1"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、第一组  </a:t>
            </a:r>
            <a:r>
              <a:rPr lang="en-US" altLang="zh-CN" sz="2400" dirty="0">
                <a:solidFill>
                  <a:schemeClr val="tx1"/>
                </a:solidFill>
                <a:latin typeface="Times New Roman" panose="02020603050405020304" pitchFamily="18" charset="0"/>
                <a:ea typeface="微软雅黑" pitchFamily="34" charset="-122"/>
              </a:rPr>
              <a:t>TAF  </a:t>
            </a:r>
            <a:r>
              <a:rPr lang="zh-CN" altLang="en-US" sz="2400" dirty="0">
                <a:solidFill>
                  <a:schemeClr val="tx1"/>
                </a:solidFill>
                <a:latin typeface="Times New Roman" panose="02020603050405020304" pitchFamily="18" charset="0"/>
                <a:ea typeface="微软雅黑" pitchFamily="34" charset="-122"/>
              </a:rPr>
              <a:t>电报名称</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机场预报电报用</a:t>
            </a:r>
            <a:r>
              <a:rPr lang="en-US" altLang="zh-CN" sz="2400" dirty="0">
                <a:solidFill>
                  <a:schemeClr val="tx1"/>
                </a:solidFill>
                <a:latin typeface="Times New Roman" panose="02020603050405020304" pitchFamily="18" charset="0"/>
                <a:ea typeface="微软雅黑" pitchFamily="34" charset="-122"/>
              </a:rPr>
              <a:t>TAF</a:t>
            </a:r>
            <a:r>
              <a:rPr lang="zh-CN" altLang="en-US" sz="2400" dirty="0">
                <a:solidFill>
                  <a:schemeClr val="tx1"/>
                </a:solidFill>
                <a:latin typeface="Times New Roman" panose="02020603050405020304" pitchFamily="18" charset="0"/>
                <a:ea typeface="微软雅黑" pitchFamily="34" charset="-122"/>
              </a:rPr>
              <a:t>起头</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Terminal Aviation Forecast</a:t>
            </a:r>
            <a:r>
              <a:rPr lang="zh-CN" altLang="en-US" sz="2400" dirty="0">
                <a:solidFill>
                  <a:schemeClr val="tx1"/>
                </a:solidFill>
                <a:latin typeface="Times New Roman" panose="02020603050405020304" pitchFamily="18" charset="0"/>
                <a:ea typeface="微软雅黑" pitchFamily="34" charset="-122"/>
              </a:rPr>
              <a:t>：机场天气预报</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TAF AMD(</a:t>
            </a:r>
            <a:r>
              <a:rPr lang="zh-CN" altLang="en-US" sz="2400" dirty="0">
                <a:solidFill>
                  <a:schemeClr val="tx1"/>
                </a:solidFill>
                <a:latin typeface="Times New Roman" panose="02020603050405020304" pitchFamily="18" charset="0"/>
                <a:ea typeface="微软雅黑" pitchFamily="34" charset="-122"/>
              </a:rPr>
              <a:t>预报错</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：机场预报的订正报</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TAF COR (</a:t>
            </a:r>
            <a:r>
              <a:rPr lang="zh-CN" altLang="en-US" sz="2400" dirty="0">
                <a:solidFill>
                  <a:schemeClr val="tx1"/>
                </a:solidFill>
                <a:latin typeface="Times New Roman" panose="02020603050405020304" pitchFamily="18" charset="0"/>
                <a:ea typeface="微软雅黑" pitchFamily="34" charset="-122"/>
              </a:rPr>
              <a:t>发错报</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：机场预报的更正报</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TAF CNL </a:t>
            </a:r>
            <a:r>
              <a:rPr lang="zh-CN" altLang="en-US" sz="2400" dirty="0">
                <a:solidFill>
                  <a:schemeClr val="tx1"/>
                </a:solidFill>
                <a:latin typeface="Times New Roman" panose="02020603050405020304" pitchFamily="18" charset="0"/>
                <a:ea typeface="微软雅黑" pitchFamily="34" charset="-122"/>
              </a:rPr>
              <a:t>：机场预报取消报</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、第二组  </a:t>
            </a:r>
            <a:r>
              <a:rPr lang="en-US" altLang="zh-CN" sz="2400" dirty="0">
                <a:solidFill>
                  <a:schemeClr val="tx1"/>
                </a:solidFill>
                <a:latin typeface="Times New Roman" panose="02020603050405020304" pitchFamily="18" charset="0"/>
                <a:ea typeface="微软雅黑" pitchFamily="34" charset="-122"/>
              </a:rPr>
              <a:t>CCCC  </a:t>
            </a:r>
            <a:r>
              <a:rPr lang="zh-CN" altLang="en-US" sz="2400" dirty="0">
                <a:solidFill>
                  <a:schemeClr val="tx1"/>
                </a:solidFill>
                <a:latin typeface="Times New Roman" panose="02020603050405020304" pitchFamily="18" charset="0"/>
                <a:ea typeface="微软雅黑" pitchFamily="34" charset="-122"/>
              </a:rPr>
              <a:t>地名代码词</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一律使用国际民航组织规定的四字地名代码</a:t>
            </a:r>
          </a:p>
        </p:txBody>
      </p:sp>
    </p:spTree>
    <p:extLst>
      <p:ext uri="{BB962C8B-B14F-4D97-AF65-F5344CB8AC3E}">
        <p14:creationId xmlns:p14="http://schemas.microsoft.com/office/powerpoint/2010/main" val="40397219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type="body" idx="4294967295"/>
          </p:nvPr>
        </p:nvSpPr>
        <p:spPr>
          <a:xfrm>
            <a:off x="828745" y="0"/>
            <a:ext cx="9640472" cy="6758609"/>
          </a:xfrm>
        </p:spPr>
        <p:txBody>
          <a:bodyPr>
            <a:normAutofit/>
          </a:bodyPr>
          <a:lstStyle/>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、第三组  </a:t>
            </a:r>
            <a:r>
              <a:rPr lang="en-US" altLang="zh-CN" sz="2400" dirty="0" err="1">
                <a:solidFill>
                  <a:schemeClr val="tx1"/>
                </a:solidFill>
                <a:latin typeface="Times New Roman" panose="02020603050405020304" pitchFamily="18" charset="0"/>
                <a:ea typeface="微软雅黑" pitchFamily="34" charset="-122"/>
              </a:rPr>
              <a:t>YYGGggZ</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时间组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YYGGggZ</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是发报时的日期、小时、分</a:t>
            </a:r>
            <a:r>
              <a:rPr lang="en-US" altLang="zh-CN" sz="2400" dirty="0">
                <a:solidFill>
                  <a:schemeClr val="tx1"/>
                </a:solidFill>
                <a:latin typeface="Times New Roman" panose="02020603050405020304" pitchFamily="18" charset="0"/>
                <a:ea typeface="微软雅黑" pitchFamily="34" charset="-122"/>
              </a:rPr>
              <a:t>: “Z”</a:t>
            </a:r>
            <a:r>
              <a:rPr lang="zh-CN" altLang="en-US" sz="2400" dirty="0">
                <a:solidFill>
                  <a:schemeClr val="tx1"/>
                </a:solidFill>
                <a:latin typeface="Times New Roman" panose="02020603050405020304" pitchFamily="18" charset="0"/>
                <a:ea typeface="微软雅黑" pitchFamily="34" charset="-122"/>
              </a:rPr>
              <a:t>是世界时的指示码</a:t>
            </a:r>
            <a:r>
              <a:rPr lang="en-US" altLang="zh-CN"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4</a:t>
            </a:r>
            <a:r>
              <a:rPr lang="zh-CN" altLang="en-US" sz="2400" dirty="0">
                <a:solidFill>
                  <a:schemeClr val="tx1"/>
                </a:solidFill>
                <a:latin typeface="Times New Roman" panose="02020603050405020304" pitchFamily="18" charset="0"/>
                <a:ea typeface="微软雅黑" pitchFamily="34" charset="-122"/>
              </a:rPr>
              <a:t>、第四组  </a:t>
            </a:r>
            <a:r>
              <a:rPr lang="en-US" altLang="zh-CN" sz="2400" dirty="0">
                <a:solidFill>
                  <a:schemeClr val="tx1"/>
                </a:solidFill>
                <a:latin typeface="Times New Roman" panose="02020603050405020304" pitchFamily="18" charset="0"/>
                <a:ea typeface="微软雅黑" pitchFamily="34" charset="-122"/>
              </a:rPr>
              <a:t>YYG</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预报的有效时间</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YY</a:t>
            </a:r>
            <a:r>
              <a:rPr lang="zh-CN" altLang="en-US" sz="2400" dirty="0">
                <a:solidFill>
                  <a:schemeClr val="tx1"/>
                </a:solidFill>
                <a:latin typeface="Times New Roman" panose="02020603050405020304" pitchFamily="18" charset="0"/>
                <a:ea typeface="微软雅黑" pitchFamily="34" charset="-122"/>
              </a:rPr>
              <a:t>为日期， </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为预报有效的开始时间，</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G</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为预报有效的结束时间</a:t>
            </a:r>
            <a:r>
              <a:rPr lang="en-US" altLang="zh-CN"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5</a:t>
            </a:r>
            <a:r>
              <a:rPr lang="zh-CN" altLang="en-US" sz="2400" dirty="0">
                <a:solidFill>
                  <a:schemeClr val="tx1"/>
                </a:solidFill>
                <a:latin typeface="Times New Roman" panose="02020603050405020304" pitchFamily="18" charset="0"/>
                <a:ea typeface="微软雅黑" pitchFamily="34" charset="-122"/>
              </a:rPr>
              <a:t>、第五组  </a:t>
            </a:r>
            <a:r>
              <a:rPr lang="en-US" altLang="zh-CN" sz="2400" dirty="0" err="1">
                <a:solidFill>
                  <a:schemeClr val="tx1"/>
                </a:solidFill>
                <a:latin typeface="Times New Roman" panose="02020603050405020304" pitchFamily="18" charset="0"/>
                <a:ea typeface="微软雅黑" pitchFamily="34" charset="-122"/>
              </a:rPr>
              <a:t>dddffGf</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a:solidFill>
                  <a:schemeClr val="tx1"/>
                </a:solidFill>
                <a:latin typeface="Times New Roman" panose="02020603050405020304" pitchFamily="18" charset="0"/>
                <a:ea typeface="微软雅黑" pitchFamily="34" charset="-122"/>
              </a:rPr>
              <a:t> (KMH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MPS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KT) </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预报的风</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预报方法与机场例行天气报告</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相同</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6</a:t>
            </a:r>
            <a:r>
              <a:rPr lang="zh-CN" altLang="en-US" sz="2400" dirty="0">
                <a:solidFill>
                  <a:schemeClr val="tx1"/>
                </a:solidFill>
                <a:latin typeface="Times New Roman" panose="02020603050405020304" pitchFamily="18" charset="0"/>
                <a:ea typeface="微软雅黑" pitchFamily="34" charset="-122"/>
              </a:rPr>
              <a:t>、第六组   </a:t>
            </a:r>
            <a:r>
              <a:rPr lang="en-US" altLang="zh-CN" sz="2400" dirty="0">
                <a:solidFill>
                  <a:schemeClr val="tx1"/>
                </a:solidFill>
                <a:latin typeface="Times New Roman" panose="02020603050405020304" pitchFamily="18" charset="0"/>
                <a:ea typeface="微软雅黑" pitchFamily="34" charset="-122"/>
              </a:rPr>
              <a:t>CAVOK  </a:t>
            </a:r>
            <a:r>
              <a:rPr lang="zh-CN" altLang="en-US" sz="2400" dirty="0">
                <a:solidFill>
                  <a:schemeClr val="tx1"/>
                </a:solidFill>
                <a:latin typeface="Times New Roman" panose="02020603050405020304" pitchFamily="18" charset="0"/>
                <a:ea typeface="微软雅黑" pitchFamily="34" charset="-122"/>
              </a:rPr>
              <a:t>好天气组</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CAVOK</a:t>
            </a:r>
            <a:r>
              <a:rPr lang="zh-CN" altLang="en-US" sz="2400" dirty="0">
                <a:solidFill>
                  <a:schemeClr val="tx1"/>
                </a:solidFill>
                <a:latin typeface="Times New Roman" panose="02020603050405020304" pitchFamily="18" charset="0"/>
                <a:ea typeface="微软雅黑" pitchFamily="34" charset="-122"/>
              </a:rPr>
              <a:t>的用法与</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报中的相同。</a:t>
            </a:r>
          </a:p>
        </p:txBody>
      </p:sp>
    </p:spTree>
    <p:extLst>
      <p:ext uri="{BB962C8B-B14F-4D97-AF65-F5344CB8AC3E}">
        <p14:creationId xmlns:p14="http://schemas.microsoft.com/office/powerpoint/2010/main" val="2628766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p:cNvSpPr>
            <a:spLocks noGrp="1" noChangeArrowheads="1"/>
          </p:cNvSpPr>
          <p:nvPr>
            <p:ph type="body" idx="4294967295"/>
          </p:nvPr>
        </p:nvSpPr>
        <p:spPr>
          <a:xfrm>
            <a:off x="1610624" y="188913"/>
            <a:ext cx="9070628" cy="5688012"/>
          </a:xfrm>
        </p:spPr>
        <p:txBody>
          <a:bodyPr/>
          <a:lstStyle/>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7</a:t>
            </a:r>
            <a:r>
              <a:rPr lang="zh-CN" altLang="en-US" sz="2400" dirty="0">
                <a:solidFill>
                  <a:schemeClr val="tx1"/>
                </a:solidFill>
                <a:latin typeface="Times New Roman" panose="02020603050405020304" pitchFamily="18" charset="0"/>
                <a:ea typeface="微软雅黑" pitchFamily="34" charset="-122"/>
              </a:rPr>
              <a:t>、第七组  </a:t>
            </a:r>
            <a:r>
              <a:rPr lang="en-US" altLang="zh-CN" sz="2400" dirty="0">
                <a:solidFill>
                  <a:schemeClr val="tx1"/>
                </a:solidFill>
                <a:latin typeface="Times New Roman" panose="02020603050405020304" pitchFamily="18" charset="0"/>
                <a:ea typeface="微软雅黑" pitchFamily="34" charset="-122"/>
              </a:rPr>
              <a:t>VVVV  </a:t>
            </a:r>
            <a:r>
              <a:rPr lang="zh-CN" altLang="en-US" sz="2400" dirty="0">
                <a:solidFill>
                  <a:schemeClr val="tx1"/>
                </a:solidFill>
                <a:latin typeface="Times New Roman" panose="02020603050405020304" pitchFamily="18" charset="0"/>
                <a:ea typeface="微软雅黑" pitchFamily="34" charset="-122"/>
              </a:rPr>
              <a:t>预报的能见度</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编报方法与</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报中的能见度相同</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8</a:t>
            </a:r>
            <a:r>
              <a:rPr lang="zh-CN" altLang="en-US" sz="2400" dirty="0">
                <a:solidFill>
                  <a:schemeClr val="tx1"/>
                </a:solidFill>
                <a:latin typeface="Times New Roman" panose="02020603050405020304" pitchFamily="18" charset="0"/>
                <a:ea typeface="微软雅黑" pitchFamily="34" charset="-122"/>
              </a:rPr>
              <a:t>、第八组 </a:t>
            </a:r>
            <a:r>
              <a:rPr lang="en-US" altLang="zh-CN" sz="2400" dirty="0">
                <a:solidFill>
                  <a:schemeClr val="tx1"/>
                </a:solidFill>
                <a:latin typeface="Times New Roman" panose="02020603050405020304" pitchFamily="18" charset="0"/>
                <a:ea typeface="微软雅黑" pitchFamily="34" charset="-122"/>
              </a:rPr>
              <a:t>W’W’</a:t>
            </a:r>
            <a:r>
              <a:rPr lang="zh-CN" altLang="en-US" sz="2400" dirty="0">
                <a:solidFill>
                  <a:schemeClr val="tx1"/>
                </a:solidFill>
                <a:latin typeface="Times New Roman" panose="02020603050405020304" pitchFamily="18" charset="0"/>
                <a:ea typeface="微软雅黑" pitchFamily="34" charset="-122"/>
              </a:rPr>
              <a:t>或</a:t>
            </a:r>
            <a:r>
              <a:rPr lang="en-US" altLang="zh-CN" sz="2400" dirty="0">
                <a:solidFill>
                  <a:schemeClr val="tx1"/>
                </a:solidFill>
                <a:latin typeface="Times New Roman" panose="02020603050405020304" pitchFamily="18" charset="0"/>
                <a:ea typeface="微软雅黑" pitchFamily="34" charset="-122"/>
              </a:rPr>
              <a:t>NSW  </a:t>
            </a:r>
            <a:r>
              <a:rPr lang="zh-CN" altLang="en-US" sz="2400" dirty="0">
                <a:solidFill>
                  <a:schemeClr val="tx1"/>
                </a:solidFill>
                <a:latin typeface="Times New Roman" panose="02020603050405020304" pitchFamily="18" charset="0"/>
                <a:ea typeface="微软雅黑" pitchFamily="34" charset="-122"/>
              </a:rPr>
              <a:t>重要天气现象</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预报值</a:t>
            </a:r>
            <a:r>
              <a:rPr lang="en-US" altLang="zh-CN"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当预计重要天气现象结束时，编报“</a:t>
            </a:r>
            <a:r>
              <a:rPr lang="en-US" altLang="zh-CN" sz="2400" dirty="0">
                <a:solidFill>
                  <a:schemeClr val="tx1"/>
                </a:solidFill>
                <a:latin typeface="Times New Roman" panose="02020603050405020304" pitchFamily="18" charset="0"/>
                <a:ea typeface="微软雅黑" pitchFamily="34" charset="-122"/>
              </a:rPr>
              <a:t>NSW“</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NSW=None Significant Weather</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9</a:t>
            </a:r>
            <a:r>
              <a:rPr lang="zh-CN" altLang="en-US" sz="2400" dirty="0">
                <a:solidFill>
                  <a:schemeClr val="tx1"/>
                </a:solidFill>
                <a:latin typeface="Times New Roman" panose="02020603050405020304" pitchFamily="18" charset="0"/>
                <a:ea typeface="微软雅黑" pitchFamily="34" charset="-122"/>
              </a:rPr>
              <a:t>、第九组 </a:t>
            </a:r>
            <a:r>
              <a:rPr lang="en-US" altLang="zh-CN" sz="2400" dirty="0" err="1">
                <a:solidFill>
                  <a:schemeClr val="tx1"/>
                </a:solidFill>
                <a:latin typeface="Times New Roman" panose="02020603050405020304" pitchFamily="18" charset="0"/>
                <a:ea typeface="微软雅黑" pitchFamily="34" charset="-122"/>
              </a:rPr>
              <a:t>N</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N</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N</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a:solidFill>
                  <a:schemeClr val="tx1"/>
                </a:solidFill>
                <a:latin typeface="Times New Roman" panose="02020603050405020304" pitchFamily="18" charset="0"/>
                <a:ea typeface="微软雅黑" pitchFamily="34" charset="-122"/>
              </a:rPr>
              <a:t>(CC)</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err="1">
                <a:solidFill>
                  <a:schemeClr val="tx1"/>
                </a:solidFill>
                <a:latin typeface="Times New Roman" panose="02020603050405020304" pitchFamily="18" charset="0"/>
                <a:ea typeface="微软雅黑" pitchFamily="34" charset="-122"/>
              </a:rPr>
              <a:t>VVh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预报云组</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编报方法与</a:t>
            </a:r>
            <a:r>
              <a:rPr lang="en-US" altLang="zh-CN" sz="2400" dirty="0">
                <a:solidFill>
                  <a:schemeClr val="tx1"/>
                </a:solidFill>
                <a:latin typeface="Times New Roman" panose="02020603050405020304" pitchFamily="18" charset="0"/>
                <a:ea typeface="微软雅黑" pitchFamily="34" charset="-122"/>
              </a:rPr>
              <a:t>METAR</a:t>
            </a:r>
            <a:r>
              <a:rPr lang="zh-CN" altLang="en-US" sz="2400" dirty="0">
                <a:solidFill>
                  <a:schemeClr val="tx1"/>
                </a:solidFill>
                <a:latin typeface="Times New Roman" panose="02020603050405020304" pitchFamily="18" charset="0"/>
                <a:ea typeface="微软雅黑" pitchFamily="34" charset="-122"/>
              </a:rPr>
              <a:t>中相同。</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碧空时报“</a:t>
            </a:r>
            <a:r>
              <a:rPr lang="en-US" altLang="zh-CN" sz="2400" dirty="0">
                <a:solidFill>
                  <a:schemeClr val="tx1"/>
                </a:solidFill>
                <a:latin typeface="Times New Roman" panose="02020603050405020304" pitchFamily="18" charset="0"/>
                <a:ea typeface="微软雅黑" pitchFamily="34" charset="-122"/>
              </a:rPr>
              <a:t>SKC”</a:t>
            </a:r>
            <a:r>
              <a:rPr lang="zh-CN" altLang="en-US" sz="2400" dirty="0">
                <a:solidFill>
                  <a:schemeClr val="tx1"/>
                </a:solidFill>
                <a:latin typeface="Times New Roman" panose="02020603050405020304" pitchFamily="18" charset="0"/>
                <a:ea typeface="微软雅黑" pitchFamily="34" charset="-122"/>
              </a:rPr>
              <a:t>，无重要的云时编报“</a:t>
            </a:r>
            <a:r>
              <a:rPr lang="en-US" altLang="zh-CN" sz="2400" dirty="0">
                <a:solidFill>
                  <a:schemeClr val="tx1"/>
                </a:solidFill>
                <a:latin typeface="Times New Roman" panose="02020603050405020304" pitchFamily="18" charset="0"/>
                <a:ea typeface="微软雅黑" pitchFamily="34" charset="-122"/>
              </a:rPr>
              <a:t>NSC”</a:t>
            </a:r>
          </a:p>
          <a:p>
            <a:pPr marL="0" indent="0">
              <a:lnSpc>
                <a:spcPct val="120000"/>
              </a:lnSpc>
            </a:pPr>
            <a:endParaRPr lang="en-US" altLang="zh-CN" sz="2900" dirty="0">
              <a:latin typeface="微软雅黑" pitchFamily="34" charset="-122"/>
              <a:ea typeface="微软雅黑" pitchFamily="34" charset="-122"/>
            </a:endParaRPr>
          </a:p>
        </p:txBody>
      </p:sp>
    </p:spTree>
    <p:extLst>
      <p:ext uri="{BB962C8B-B14F-4D97-AF65-F5344CB8AC3E}">
        <p14:creationId xmlns:p14="http://schemas.microsoft.com/office/powerpoint/2010/main" val="21047469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p:cNvSpPr>
          <p:nvPr>
            <p:ph type="body" idx="1"/>
          </p:nvPr>
        </p:nvSpPr>
        <p:spPr>
          <a:xfrm>
            <a:off x="437322" y="0"/>
            <a:ext cx="10601739" cy="6597651"/>
          </a:xfrm>
        </p:spPr>
        <p:txBody>
          <a:bodyPr>
            <a:normAutofit/>
          </a:bodyPr>
          <a:lstStyle/>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10</a:t>
            </a:r>
            <a:r>
              <a:rPr lang="zh-CN" altLang="en-US" sz="2400" dirty="0">
                <a:solidFill>
                  <a:schemeClr val="tx1"/>
                </a:solidFill>
                <a:latin typeface="Times New Roman" panose="02020603050405020304" pitchFamily="18" charset="0"/>
                <a:ea typeface="微软雅黑" pitchFamily="34" charset="-122"/>
              </a:rPr>
              <a:t>、第十组  </a:t>
            </a:r>
            <a:r>
              <a:rPr lang="en-US" altLang="zh-CN" sz="2400" dirty="0">
                <a:solidFill>
                  <a:schemeClr val="tx1"/>
                </a:solidFill>
                <a:latin typeface="Times New Roman" panose="02020603050405020304" pitchFamily="18" charset="0"/>
                <a:ea typeface="微软雅黑" pitchFamily="34" charset="-122"/>
              </a:rPr>
              <a:t>PROBC</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C</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GGGeGe</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概率组</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预计气象要素出现另一数值的概率和时间“</a:t>
            </a:r>
            <a:r>
              <a:rPr lang="en-US" altLang="zh-CN" sz="2400" dirty="0">
                <a:solidFill>
                  <a:schemeClr val="tx1"/>
                </a:solidFill>
                <a:latin typeface="Times New Roman" panose="02020603050405020304" pitchFamily="18" charset="0"/>
                <a:ea typeface="微软雅黑" pitchFamily="34" charset="-122"/>
              </a:rPr>
              <a:t>PROB”</a:t>
            </a:r>
            <a:r>
              <a:rPr lang="zh-CN" altLang="en-US" sz="2400" dirty="0">
                <a:solidFill>
                  <a:schemeClr val="tx1"/>
                </a:solidFill>
                <a:latin typeface="Times New Roman" panose="02020603050405020304" pitchFamily="18" charset="0"/>
                <a:ea typeface="微软雅黑" pitchFamily="34" charset="-122"/>
              </a:rPr>
              <a:t>为概率指示码</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C</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C</a:t>
            </a:r>
            <a:r>
              <a:rPr lang="en-US" altLang="zh-CN" sz="2400" baseline="-250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为概率，只用</a:t>
            </a:r>
            <a:r>
              <a:rPr lang="en-US" altLang="zh-CN" sz="2400" dirty="0">
                <a:solidFill>
                  <a:schemeClr val="tx1"/>
                </a:solidFill>
                <a:latin typeface="Times New Roman" panose="02020603050405020304" pitchFamily="18" charset="0"/>
                <a:ea typeface="微软雅黑" pitchFamily="34" charset="-122"/>
              </a:rPr>
              <a:t>30</a:t>
            </a:r>
            <a:r>
              <a:rPr lang="zh-CN" altLang="en-US" sz="2400" dirty="0">
                <a:solidFill>
                  <a:schemeClr val="tx1"/>
                </a:solidFill>
                <a:latin typeface="Times New Roman" panose="02020603050405020304" pitchFamily="18" charset="0"/>
                <a:ea typeface="微软雅黑" pitchFamily="34" charset="-122"/>
              </a:rPr>
              <a:t>％ ，</a:t>
            </a:r>
            <a:r>
              <a:rPr lang="en-US" altLang="zh-CN" sz="2400" dirty="0">
                <a:solidFill>
                  <a:schemeClr val="tx1"/>
                </a:solidFill>
                <a:latin typeface="Times New Roman" panose="02020603050405020304" pitchFamily="18" charset="0"/>
                <a:ea typeface="微软雅黑" pitchFamily="34" charset="-122"/>
              </a:rPr>
              <a:t>40</a:t>
            </a:r>
            <a:r>
              <a:rPr lang="zh-CN" altLang="en-US" sz="2400" dirty="0">
                <a:solidFill>
                  <a:schemeClr val="tx1"/>
                </a:solidFill>
                <a:latin typeface="Times New Roman" panose="02020603050405020304" pitchFamily="18" charset="0"/>
                <a:ea typeface="微软雅黑" pitchFamily="34" charset="-122"/>
              </a:rPr>
              <a:t>％表示，小于</a:t>
            </a:r>
            <a:r>
              <a:rPr lang="en-US" altLang="zh-CN" sz="2400" dirty="0">
                <a:solidFill>
                  <a:schemeClr val="tx1"/>
                </a:solidFill>
                <a:latin typeface="Times New Roman" panose="02020603050405020304" pitchFamily="18" charset="0"/>
                <a:ea typeface="微软雅黑" pitchFamily="34" charset="-122"/>
              </a:rPr>
              <a:t>30</a:t>
            </a:r>
            <a:r>
              <a:rPr lang="zh-CN" altLang="en-US" sz="2400" dirty="0">
                <a:solidFill>
                  <a:schemeClr val="tx1"/>
                </a:solidFill>
                <a:latin typeface="Times New Roman" panose="02020603050405020304" pitchFamily="18" charset="0"/>
                <a:ea typeface="微软雅黑" pitchFamily="34" charset="-122"/>
              </a:rPr>
              <a:t>％不报</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当概率超过</a:t>
            </a:r>
            <a:r>
              <a:rPr lang="en-US" altLang="zh-CN" sz="2400" dirty="0">
                <a:solidFill>
                  <a:schemeClr val="tx1"/>
                </a:solidFill>
                <a:latin typeface="Times New Roman" panose="02020603050405020304" pitchFamily="18" charset="0"/>
                <a:ea typeface="微软雅黑" pitchFamily="34" charset="-122"/>
              </a:rPr>
              <a:t>50</a:t>
            </a:r>
            <a:r>
              <a:rPr lang="zh-CN" altLang="en-US" sz="2400" dirty="0">
                <a:solidFill>
                  <a:schemeClr val="tx1"/>
                </a:solidFill>
                <a:latin typeface="Times New Roman" panose="02020603050405020304" pitchFamily="18" charset="0"/>
                <a:ea typeface="微软雅黑" pitchFamily="34" charset="-122"/>
              </a:rPr>
              <a:t>％以上可用 </a:t>
            </a:r>
            <a:r>
              <a:rPr lang="en-US" altLang="zh-CN" sz="2400" dirty="0">
                <a:solidFill>
                  <a:schemeClr val="tx1"/>
                </a:solidFill>
                <a:latin typeface="Times New Roman" panose="02020603050405020304" pitchFamily="18" charset="0"/>
                <a:ea typeface="微软雅黑" pitchFamily="34" charset="-122"/>
              </a:rPr>
              <a:t>BECMG</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TEMPO</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GGGeGe</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表示变化的起止时间：</a:t>
            </a:r>
          </a:p>
          <a:p>
            <a:pPr marL="0" indent="0">
              <a:lnSpc>
                <a:spcPct val="150000"/>
              </a:lnSpc>
              <a:buNone/>
            </a:pPr>
            <a:r>
              <a:rPr lang="zh-CN" altLang="en-US" sz="2400" dirty="0">
                <a:solidFill>
                  <a:schemeClr val="accent5"/>
                </a:solidFill>
                <a:latin typeface="Times New Roman" panose="02020603050405020304" pitchFamily="18" charset="0"/>
                <a:ea typeface="微软雅黑" pitchFamily="34" charset="-122"/>
              </a:rPr>
              <a:t>例：</a:t>
            </a:r>
            <a:r>
              <a:rPr lang="en-US" altLang="zh-CN" sz="2400" dirty="0">
                <a:solidFill>
                  <a:schemeClr val="accent5"/>
                </a:solidFill>
                <a:latin typeface="Times New Roman" panose="02020603050405020304" pitchFamily="18" charset="0"/>
                <a:ea typeface="微软雅黑" pitchFamily="34" charset="-122"/>
              </a:rPr>
              <a:t>1500 PROB40 1214 0800 FG</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能见度</a:t>
            </a:r>
            <a:r>
              <a:rPr lang="en-US" altLang="zh-CN" sz="2400" dirty="0">
                <a:solidFill>
                  <a:schemeClr val="tx1"/>
                </a:solidFill>
                <a:latin typeface="Times New Roman" panose="02020603050405020304" pitchFamily="18" charset="0"/>
                <a:ea typeface="微软雅黑" pitchFamily="34" charset="-122"/>
              </a:rPr>
              <a:t>1500m</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12</a:t>
            </a:r>
            <a:r>
              <a:rPr lang="zh-CN" altLang="en-US" sz="2400" dirty="0">
                <a:solidFill>
                  <a:schemeClr val="tx1"/>
                </a:solidFill>
                <a:latin typeface="Times New Roman" panose="02020603050405020304" pitchFamily="18" charset="0"/>
                <a:ea typeface="微软雅黑" pitchFamily="34" charset="-122"/>
              </a:rPr>
              <a:t>点到</a:t>
            </a:r>
            <a:r>
              <a:rPr lang="en-US" altLang="zh-CN" sz="2400" dirty="0">
                <a:solidFill>
                  <a:schemeClr val="tx1"/>
                </a:solidFill>
                <a:latin typeface="Times New Roman" panose="02020603050405020304" pitchFamily="18" charset="0"/>
                <a:ea typeface="微软雅黑" pitchFamily="34" charset="-122"/>
              </a:rPr>
              <a:t>14</a:t>
            </a:r>
            <a:r>
              <a:rPr lang="zh-CN" altLang="en-US" sz="2400" dirty="0">
                <a:solidFill>
                  <a:schemeClr val="tx1"/>
                </a:solidFill>
                <a:latin typeface="Times New Roman" panose="02020603050405020304" pitchFamily="18" charset="0"/>
                <a:ea typeface="微软雅黑" pitchFamily="34" charset="-122"/>
              </a:rPr>
              <a:t>点之间有</a:t>
            </a:r>
            <a:r>
              <a:rPr lang="en-US" altLang="zh-CN" sz="2400" dirty="0">
                <a:solidFill>
                  <a:schemeClr val="tx1"/>
                </a:solidFill>
                <a:latin typeface="Times New Roman" panose="02020603050405020304" pitchFamily="18" charset="0"/>
                <a:ea typeface="微软雅黑" pitchFamily="34" charset="-122"/>
              </a:rPr>
              <a:t>40</a:t>
            </a:r>
            <a:r>
              <a:rPr lang="zh-CN" altLang="en-US" sz="2400" dirty="0">
                <a:solidFill>
                  <a:schemeClr val="tx1"/>
                </a:solidFill>
                <a:latin typeface="Times New Roman" panose="02020603050405020304" pitchFamily="18" charset="0"/>
                <a:ea typeface="微软雅黑" pitchFamily="34" charset="-122"/>
              </a:rPr>
              <a:t>％的概率能见度</a:t>
            </a:r>
            <a:r>
              <a:rPr lang="en-US" altLang="zh-CN" sz="2400" dirty="0">
                <a:solidFill>
                  <a:schemeClr val="tx1"/>
                </a:solidFill>
                <a:latin typeface="Times New Roman" panose="02020603050405020304" pitchFamily="18" charset="0"/>
                <a:ea typeface="微软雅黑" pitchFamily="34" charset="-122"/>
              </a:rPr>
              <a:t>800</a:t>
            </a:r>
            <a:r>
              <a:rPr lang="zh-CN" altLang="en-US" sz="2400" dirty="0">
                <a:solidFill>
                  <a:schemeClr val="tx1"/>
                </a:solidFill>
                <a:latin typeface="Times New Roman" panose="02020603050405020304" pitchFamily="18" charset="0"/>
                <a:ea typeface="微软雅黑" pitchFamily="34" charset="-122"/>
              </a:rPr>
              <a:t>米和雾</a:t>
            </a:r>
          </a:p>
          <a:p>
            <a:pPr marL="0" indent="0">
              <a:lnSpc>
                <a:spcPct val="150000"/>
              </a:lnSpc>
              <a:buNone/>
            </a:pPr>
            <a:r>
              <a:rPr lang="zh-CN" altLang="en-US" sz="2400" dirty="0">
                <a:solidFill>
                  <a:schemeClr val="accent5"/>
                </a:solidFill>
                <a:latin typeface="Times New Roman" panose="02020603050405020304" pitchFamily="18" charset="0"/>
                <a:ea typeface="微软雅黑" pitchFamily="34" charset="-122"/>
              </a:rPr>
              <a:t>例：</a:t>
            </a:r>
            <a:r>
              <a:rPr lang="en-US" altLang="zh-CN" sz="2400" dirty="0">
                <a:solidFill>
                  <a:schemeClr val="accent5"/>
                </a:solidFill>
                <a:latin typeface="Times New Roman" panose="02020603050405020304" pitchFamily="18" charset="0"/>
                <a:ea typeface="微软雅黑" pitchFamily="34" charset="-122"/>
              </a:rPr>
              <a:t>PROB30 TEMPO 1517 </a:t>
            </a:r>
            <a:r>
              <a:rPr lang="zh-CN" altLang="en-US" sz="2400" dirty="0">
                <a:solidFill>
                  <a:schemeClr val="accent5"/>
                </a:solidFill>
                <a:latin typeface="Times New Roman" panose="02020603050405020304" pitchFamily="18" charset="0"/>
                <a:ea typeface="微软雅黑" pitchFamily="34" charset="-122"/>
              </a:rPr>
              <a:t>天气现象</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15</a:t>
            </a:r>
            <a:r>
              <a:rPr lang="zh-CN" altLang="en-US" sz="2400" dirty="0">
                <a:solidFill>
                  <a:schemeClr val="tx1"/>
                </a:solidFill>
                <a:latin typeface="Times New Roman" panose="02020603050405020304" pitchFamily="18" charset="0"/>
                <a:ea typeface="微软雅黑" pitchFamily="34" charset="-122"/>
              </a:rPr>
              <a:t>点至</a:t>
            </a:r>
            <a:r>
              <a:rPr lang="en-US" altLang="zh-CN" sz="2400" dirty="0">
                <a:solidFill>
                  <a:schemeClr val="tx1"/>
                </a:solidFill>
                <a:latin typeface="Times New Roman" panose="02020603050405020304" pitchFamily="18" charset="0"/>
                <a:ea typeface="微软雅黑" pitchFamily="34" charset="-122"/>
              </a:rPr>
              <a:t>17</a:t>
            </a:r>
            <a:r>
              <a:rPr lang="zh-CN" altLang="en-US" sz="2400" dirty="0">
                <a:solidFill>
                  <a:schemeClr val="tx1"/>
                </a:solidFill>
                <a:latin typeface="Times New Roman" panose="02020603050405020304" pitchFamily="18" charset="0"/>
                <a:ea typeface="微软雅黑" pitchFamily="34" charset="-122"/>
              </a:rPr>
              <a:t>点之间，有</a:t>
            </a:r>
            <a:r>
              <a:rPr lang="en-US" altLang="zh-CN" sz="2400" dirty="0">
                <a:solidFill>
                  <a:schemeClr val="tx1"/>
                </a:solidFill>
                <a:latin typeface="Times New Roman" panose="02020603050405020304" pitchFamily="18" charset="0"/>
                <a:ea typeface="微软雅黑" pitchFamily="34" charset="-122"/>
              </a:rPr>
              <a:t>30%</a:t>
            </a:r>
            <a:r>
              <a:rPr lang="zh-CN" altLang="en-US" sz="2400" dirty="0">
                <a:solidFill>
                  <a:schemeClr val="tx1"/>
                </a:solidFill>
                <a:latin typeface="Times New Roman" panose="02020603050405020304" pitchFamily="18" charset="0"/>
                <a:ea typeface="微软雅黑" pitchFamily="34" charset="-122"/>
              </a:rPr>
              <a:t>的概率，短时出现</a:t>
            </a:r>
            <a:r>
              <a:rPr lang="en-US" altLang="zh-CN" sz="2400" dirty="0">
                <a:solidFill>
                  <a:schemeClr val="tx1"/>
                </a:solidFill>
                <a:latin typeface="Times New Roman" panose="02020603050405020304" pitchFamily="18" charset="0"/>
                <a:ea typeface="微软雅黑" pitchFamily="34" charset="-122"/>
              </a:rPr>
              <a:t>……</a:t>
            </a:r>
          </a:p>
        </p:txBody>
      </p:sp>
    </p:spTree>
    <p:extLst>
      <p:ext uri="{BB962C8B-B14F-4D97-AF65-F5344CB8AC3E}">
        <p14:creationId xmlns:p14="http://schemas.microsoft.com/office/powerpoint/2010/main" val="24817322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p:cNvSpPr>
          <p:nvPr>
            <p:ph type="body" idx="1"/>
          </p:nvPr>
        </p:nvSpPr>
        <p:spPr>
          <a:xfrm>
            <a:off x="503583" y="0"/>
            <a:ext cx="9985031" cy="6858001"/>
          </a:xfrm>
        </p:spPr>
        <p:txBody>
          <a:bodyPr>
            <a:normAutofit lnSpcReduction="10000"/>
          </a:bodyPr>
          <a:lstStyle/>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11</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TTTTT </a:t>
            </a:r>
            <a:r>
              <a:rPr lang="en-US" altLang="zh-CN" sz="2400" dirty="0" err="1">
                <a:solidFill>
                  <a:schemeClr val="tx1"/>
                </a:solidFill>
                <a:latin typeface="Times New Roman" panose="02020603050405020304" pitchFamily="18" charset="0"/>
                <a:ea typeface="微软雅黑" pitchFamily="34" charset="-122"/>
              </a:rPr>
              <a:t>GGGeGe</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TT </a:t>
            </a:r>
            <a:r>
              <a:rPr lang="en-US" altLang="zh-CN" sz="2400" dirty="0" err="1">
                <a:solidFill>
                  <a:schemeClr val="tx1"/>
                </a:solidFill>
                <a:latin typeface="Times New Roman" panose="02020603050405020304" pitchFamily="18" charset="0"/>
                <a:ea typeface="微软雅黑" pitchFamily="34" charset="-122"/>
              </a:rPr>
              <a:t>GGGeGe</a:t>
            </a:r>
            <a:r>
              <a:rPr lang="en-US" altLang="zh-CN" sz="2400" dirty="0">
                <a:solidFill>
                  <a:schemeClr val="tx1"/>
                </a:solidFill>
                <a:latin typeface="Times New Roman" panose="02020603050405020304" pitchFamily="18" charset="0"/>
                <a:ea typeface="微软雅黑" pitchFamily="34" charset="-122"/>
              </a:rPr>
              <a:t> </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气象要素变化组 </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表示预报的有效时段（</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1 </a:t>
            </a:r>
            <a:r>
              <a:rPr lang="en-US" altLang="zh-CN" sz="2400" dirty="0" err="1">
                <a:solidFill>
                  <a:schemeClr val="tx1"/>
                </a:solidFill>
                <a:latin typeface="Times New Roman" panose="02020603050405020304" pitchFamily="18" charset="0"/>
                <a:ea typeface="微软雅黑" pitchFamily="34" charset="-122"/>
              </a:rPr>
              <a:t>G</a:t>
            </a:r>
            <a:r>
              <a:rPr lang="en-US" altLang="zh-CN" sz="2400" baseline="-25000" dirty="0" err="1">
                <a:solidFill>
                  <a:schemeClr val="tx1"/>
                </a:solidFill>
                <a:latin typeface="Times New Roman" panose="02020603050405020304" pitchFamily="18" charset="0"/>
                <a:ea typeface="微软雅黑" pitchFamily="34" charset="-122"/>
              </a:rPr>
              <a:t>1</a:t>
            </a:r>
            <a:r>
              <a:rPr lang="en-US" altLang="zh-CN" sz="2400" baseline="-250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至</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2 </a:t>
            </a:r>
            <a:r>
              <a:rPr lang="en-US" altLang="zh-CN" sz="2400" dirty="0" err="1">
                <a:solidFill>
                  <a:schemeClr val="tx1"/>
                </a:solidFill>
                <a:latin typeface="Times New Roman" panose="02020603050405020304" pitchFamily="18" charset="0"/>
                <a:ea typeface="微软雅黑" pitchFamily="34" charset="-122"/>
              </a:rPr>
              <a:t>G</a:t>
            </a:r>
            <a:r>
              <a:rPr lang="en-US" altLang="zh-CN" sz="2400" baseline="-25000" dirty="0" err="1">
                <a:solidFill>
                  <a:schemeClr val="tx1"/>
                </a:solidFill>
                <a:latin typeface="Times New Roman" panose="02020603050405020304" pitchFamily="18" charset="0"/>
                <a:ea typeface="微软雅黑" pitchFamily="34" charset="-122"/>
              </a:rPr>
              <a:t>2</a:t>
            </a:r>
            <a:r>
              <a:rPr lang="en-US" altLang="zh-CN" sz="2400" baseline="-250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）内，当预计部分或全部要素在某一中间时刻</a:t>
            </a:r>
            <a:r>
              <a:rPr lang="en-US" altLang="zh-CN" sz="2400" dirty="0" err="1">
                <a:solidFill>
                  <a:schemeClr val="tx1"/>
                </a:solidFill>
                <a:latin typeface="Times New Roman" panose="02020603050405020304" pitchFamily="18" charset="0"/>
                <a:ea typeface="微软雅黑" pitchFamily="34" charset="-122"/>
              </a:rPr>
              <a:t>GGgg</a:t>
            </a:r>
            <a:r>
              <a:rPr lang="zh-CN" altLang="en-US" sz="2400" dirty="0">
                <a:solidFill>
                  <a:schemeClr val="tx1"/>
                </a:solidFill>
                <a:latin typeface="Times New Roman" panose="02020603050405020304" pitchFamily="18" charset="0"/>
                <a:ea typeface="微软雅黑" pitchFamily="34" charset="-122"/>
              </a:rPr>
              <a:t>或者在</a:t>
            </a:r>
            <a:r>
              <a:rPr lang="en-US" altLang="zh-CN" sz="2400" dirty="0">
                <a:solidFill>
                  <a:schemeClr val="tx1"/>
                </a:solidFill>
                <a:latin typeface="Times New Roman" panose="02020603050405020304" pitchFamily="18" charset="0"/>
                <a:ea typeface="微软雅黑" pitchFamily="34" charset="-122"/>
              </a:rPr>
              <a:t>GG</a:t>
            </a:r>
            <a:r>
              <a:rPr lang="zh-CN" altLang="en-US" sz="2400" dirty="0">
                <a:solidFill>
                  <a:schemeClr val="tx1"/>
                </a:solidFill>
                <a:latin typeface="Times New Roman" panose="02020603050405020304" pitchFamily="18" charset="0"/>
                <a:ea typeface="微软雅黑" pitchFamily="34" charset="-122"/>
              </a:rPr>
              <a:t>至</a:t>
            </a:r>
            <a:r>
              <a:rPr lang="en-US" altLang="zh-CN" sz="2400" dirty="0" err="1">
                <a:solidFill>
                  <a:schemeClr val="tx1"/>
                </a:solidFill>
                <a:latin typeface="Times New Roman" panose="02020603050405020304" pitchFamily="18" charset="0"/>
                <a:ea typeface="微软雅黑" pitchFamily="34" charset="-122"/>
              </a:rPr>
              <a:t>GeGe</a:t>
            </a:r>
            <a:r>
              <a:rPr lang="zh-CN" altLang="en-US" sz="2400" dirty="0">
                <a:solidFill>
                  <a:schemeClr val="tx1"/>
                </a:solidFill>
                <a:latin typeface="Times New Roman" panose="02020603050405020304" pitchFamily="18" charset="0"/>
                <a:ea typeface="微软雅黑" pitchFamily="34" charset="-122"/>
              </a:rPr>
              <a:t>时段内发生变化。</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12</a:t>
            </a:r>
            <a:r>
              <a:rPr lang="zh-CN" altLang="en-US" sz="2400" dirty="0">
                <a:solidFill>
                  <a:schemeClr val="tx1"/>
                </a:solidFill>
                <a:latin typeface="Times New Roman" panose="02020603050405020304" pitchFamily="18" charset="0"/>
                <a:ea typeface="微软雅黑" pitchFamily="34" charset="-122"/>
              </a:rPr>
              <a:t>、第十二组（</a:t>
            </a:r>
            <a:r>
              <a:rPr lang="en-US" altLang="zh-CN" sz="2400" dirty="0">
                <a:solidFill>
                  <a:schemeClr val="tx1"/>
                </a:solidFill>
                <a:latin typeface="Times New Roman" panose="02020603050405020304" pitchFamily="18" charset="0"/>
                <a:ea typeface="微软雅黑" pitchFamily="34" charset="-122"/>
              </a:rPr>
              <a:t>TXT</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Z   TNT</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Z </a:t>
            </a:r>
            <a:r>
              <a:rPr lang="zh-CN" altLang="en-US" sz="2400" dirty="0">
                <a:solidFill>
                  <a:schemeClr val="tx1"/>
                </a:solidFill>
                <a:latin typeface="Times New Roman" panose="02020603050405020304" pitchFamily="18" charset="0"/>
                <a:ea typeface="微软雅黑" pitchFamily="34" charset="-122"/>
              </a:rPr>
              <a:t>）</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       预报气温组</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a:t>
            </a:r>
            <a:r>
              <a:rPr lang="zh-CN" altLang="en-US" sz="2400" dirty="0">
                <a:solidFill>
                  <a:schemeClr val="tx1"/>
                </a:solidFill>
                <a:latin typeface="Times New Roman" panose="02020603050405020304" pitchFamily="18" charset="0"/>
                <a:ea typeface="微软雅黑" pitchFamily="34" charset="-122"/>
              </a:rPr>
              <a:t>为气温指示码，</a:t>
            </a:r>
            <a:r>
              <a:rPr lang="en-US" altLang="zh-CN" sz="2400" dirty="0">
                <a:solidFill>
                  <a:schemeClr val="tx1"/>
                </a:solidFill>
                <a:latin typeface="Times New Roman" panose="02020603050405020304" pitchFamily="18" charset="0"/>
                <a:ea typeface="微软雅黑" pitchFamily="34" charset="-122"/>
              </a:rPr>
              <a:t>TX</a:t>
            </a:r>
            <a:r>
              <a:rPr lang="zh-CN" altLang="en-US" sz="2400" dirty="0">
                <a:solidFill>
                  <a:schemeClr val="tx1"/>
                </a:solidFill>
                <a:latin typeface="Times New Roman" panose="02020603050405020304" pitchFamily="18" charset="0"/>
                <a:ea typeface="微软雅黑" pitchFamily="34" charset="-122"/>
              </a:rPr>
              <a:t>最高气温指示码</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TN</a:t>
            </a:r>
            <a:r>
              <a:rPr lang="zh-CN" altLang="en-US" sz="2400" dirty="0">
                <a:solidFill>
                  <a:schemeClr val="tx1"/>
                </a:solidFill>
                <a:latin typeface="Times New Roman" panose="02020603050405020304" pitchFamily="18" charset="0"/>
                <a:ea typeface="微软雅黑" pitchFamily="34" charset="-122"/>
              </a:rPr>
              <a:t>最低气温指示码</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F</a:t>
            </a:r>
            <a:r>
              <a:rPr lang="zh-CN" altLang="en-US" sz="2400" dirty="0">
                <a:solidFill>
                  <a:schemeClr val="tx1"/>
                </a:solidFill>
                <a:latin typeface="Times New Roman" panose="02020603050405020304" pitchFamily="18" charset="0"/>
                <a:ea typeface="微软雅黑" pitchFamily="34" charset="-122"/>
              </a:rPr>
              <a:t>：预报的气温（℃） ，若为负值前面加</a:t>
            </a:r>
            <a:r>
              <a:rPr lang="en-US" altLang="zh-CN" sz="2400" dirty="0">
                <a:solidFill>
                  <a:schemeClr val="tx1"/>
                </a:solidFill>
                <a:latin typeface="Times New Roman" panose="02020603050405020304" pitchFamily="18" charset="0"/>
                <a:ea typeface="微软雅黑" pitchFamily="34" charset="-122"/>
              </a:rPr>
              <a:t>M</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F: </a:t>
            </a:r>
            <a:r>
              <a:rPr lang="zh-CN" altLang="en-US" sz="2400" dirty="0">
                <a:solidFill>
                  <a:schemeClr val="tx1"/>
                </a:solidFill>
                <a:latin typeface="Times New Roman" panose="02020603050405020304" pitchFamily="18" charset="0"/>
                <a:ea typeface="微软雅黑" pitchFamily="34" charset="-122"/>
              </a:rPr>
              <a:t>预计出现该气温的时间（</a:t>
            </a:r>
            <a:r>
              <a:rPr lang="en-US" altLang="zh-CN" sz="2400" dirty="0">
                <a:solidFill>
                  <a:schemeClr val="tx1"/>
                </a:solidFill>
                <a:latin typeface="Times New Roman" panose="02020603050405020304" pitchFamily="18" charset="0"/>
                <a:ea typeface="微软雅黑" pitchFamily="34" charset="-122"/>
              </a:rPr>
              <a:t>UTC</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Z:UTC</a:t>
            </a:r>
            <a:r>
              <a:rPr lang="zh-CN" altLang="en-US" sz="2400" dirty="0">
                <a:solidFill>
                  <a:schemeClr val="tx1"/>
                </a:solidFill>
                <a:latin typeface="Times New Roman" panose="02020603050405020304" pitchFamily="18" charset="0"/>
                <a:ea typeface="微软雅黑" pitchFamily="34" charset="-122"/>
              </a:rPr>
              <a:t>指示码</a:t>
            </a:r>
          </a:p>
          <a:p>
            <a:pPr marL="0" indent="0">
              <a:lnSpc>
                <a:spcPct val="150000"/>
              </a:lnSpc>
              <a:buNone/>
            </a:pP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TX25/06Z TN15/23Z“</a:t>
            </a:r>
          </a:p>
        </p:txBody>
      </p:sp>
    </p:spTree>
    <p:extLst>
      <p:ext uri="{BB962C8B-B14F-4D97-AF65-F5344CB8AC3E}">
        <p14:creationId xmlns:p14="http://schemas.microsoft.com/office/powerpoint/2010/main" val="13178247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81ABB56-6B63-4558-9E21-D4EC42903126}"/>
              </a:ext>
            </a:extLst>
          </p:cNvPr>
          <p:cNvSpPr txBox="1"/>
          <p:nvPr/>
        </p:nvSpPr>
        <p:spPr>
          <a:xfrm>
            <a:off x="728870" y="452139"/>
            <a:ext cx="10164417" cy="5566845"/>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TAF ZBAA 130430Z 130615 31007MPS 8000 SHRA FEW005 FEW010CB SCT018 BKN025 TEMPO 1014 4000 +SHRA PROB30 TEMPO 1315 TSRA  SCT005 BKN010CB</a:t>
            </a:r>
          </a:p>
          <a:p>
            <a:pPr>
              <a:lnSpc>
                <a:spcPct val="150000"/>
              </a:lnSpc>
            </a:pPr>
            <a:r>
              <a:rPr lang="zh-CN" altLang="en-US" sz="2400" dirty="0">
                <a:latin typeface="Times New Roman" panose="02020603050405020304" pitchFamily="18" charset="0"/>
                <a:ea typeface="微软雅黑" panose="020B0503020204020204" pitchFamily="34" charset="-122"/>
              </a:rPr>
              <a:t>机场天气（航站）预报：北京，发报时间</a:t>
            </a:r>
            <a:r>
              <a:rPr lang="en-US" altLang="zh-CN" sz="2400" dirty="0">
                <a:latin typeface="Times New Roman" panose="02020603050405020304" pitchFamily="18" charset="0"/>
                <a:ea typeface="微软雅黑" panose="020B0503020204020204" pitchFamily="34" charset="-122"/>
              </a:rPr>
              <a:t>13</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12:30</a:t>
            </a:r>
            <a:r>
              <a:rPr lang="zh-CN" altLang="en-US" sz="2400" dirty="0">
                <a:latin typeface="Times New Roman" panose="02020603050405020304" pitchFamily="18" charset="0"/>
                <a:ea typeface="微软雅黑" panose="020B0503020204020204" pitchFamily="34" charset="-122"/>
              </a:rPr>
              <a:t>，预报有效时间为</a:t>
            </a:r>
            <a:r>
              <a:rPr lang="en-US" altLang="zh-CN" sz="2400" dirty="0">
                <a:latin typeface="Times New Roman" panose="02020603050405020304" pitchFamily="18" charset="0"/>
                <a:ea typeface="微软雅黑" panose="020B0503020204020204" pitchFamily="34" charset="-122"/>
              </a:rPr>
              <a:t>13</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06:00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）至</a:t>
            </a:r>
            <a:r>
              <a:rPr lang="en-US" altLang="zh-CN" sz="2400" dirty="0">
                <a:latin typeface="Times New Roman" panose="02020603050405020304" pitchFamily="18" charset="0"/>
                <a:ea typeface="微软雅黑" panose="020B0503020204020204" pitchFamily="34" charset="-122"/>
              </a:rPr>
              <a:t>15:00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）。地面风向</a:t>
            </a:r>
            <a:r>
              <a:rPr lang="en-US" altLang="zh-CN" sz="2400" dirty="0">
                <a:latin typeface="Times New Roman" panose="02020603050405020304" pitchFamily="18" charset="0"/>
                <a:ea typeface="微软雅黑" panose="020B0503020204020204" pitchFamily="34" charset="-122"/>
              </a:rPr>
              <a:t>310°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7m/s</a:t>
            </a:r>
            <a:r>
              <a:rPr lang="zh-CN" altLang="en-US" sz="2400" dirty="0">
                <a:latin typeface="Times New Roman" panose="02020603050405020304" pitchFamily="18" charset="0"/>
                <a:ea typeface="微软雅黑" panose="020B0503020204020204" pitchFamily="34" charset="-122"/>
              </a:rPr>
              <a:t>，能见度</a:t>
            </a:r>
            <a:r>
              <a:rPr lang="en-US" altLang="zh-CN" sz="2400" dirty="0">
                <a:latin typeface="Times New Roman" panose="02020603050405020304" pitchFamily="18" charset="0"/>
                <a:ea typeface="微软雅黑" panose="020B0503020204020204" pitchFamily="34" charset="-122"/>
              </a:rPr>
              <a:t>8000m</a:t>
            </a:r>
            <a:r>
              <a:rPr lang="zh-CN" altLang="en-US" sz="2400" dirty="0">
                <a:latin typeface="Times New Roman" panose="02020603050405020304" pitchFamily="18" charset="0"/>
                <a:ea typeface="微软雅黑" panose="020B0503020204020204" pitchFamily="34" charset="-122"/>
              </a:rPr>
              <a:t>，中阵雨，有</a:t>
            </a:r>
            <a:r>
              <a:rPr lang="en-US" altLang="zh-CN" sz="2400" dirty="0">
                <a:latin typeface="Times New Roman" panose="02020603050405020304" pitchFamily="18" charset="0"/>
                <a:ea typeface="微软雅黑" panose="020B0503020204020204" pitchFamily="34" charset="-122"/>
              </a:rPr>
              <a:t>1/8-2/8</a:t>
            </a:r>
            <a:r>
              <a:rPr lang="zh-CN" altLang="en-US" sz="2400" dirty="0">
                <a:latin typeface="Times New Roman" panose="02020603050405020304" pitchFamily="18" charset="0"/>
                <a:ea typeface="微软雅黑" panose="020B0503020204020204" pitchFamily="34" charset="-122"/>
              </a:rPr>
              <a:t>量的云，云底高</a:t>
            </a:r>
            <a:r>
              <a:rPr lang="en-US" altLang="zh-CN" sz="2400" dirty="0">
                <a:latin typeface="Times New Roman" panose="02020603050405020304" pitchFamily="18" charset="0"/>
                <a:ea typeface="微软雅黑" panose="020B0503020204020204" pitchFamily="34" charset="-122"/>
              </a:rPr>
              <a:t>150m</a:t>
            </a:r>
            <a:r>
              <a:rPr lang="zh-CN" altLang="en-US" sz="2400" dirty="0">
                <a:latin typeface="Times New Roman" panose="02020603050405020304" pitchFamily="18" charset="0"/>
                <a:ea typeface="微软雅黑" panose="020B0503020204020204" pitchFamily="34" charset="-122"/>
              </a:rPr>
              <a:t>，有</a:t>
            </a:r>
            <a:r>
              <a:rPr lang="en-US" altLang="zh-CN" sz="2400" dirty="0">
                <a:latin typeface="Times New Roman" panose="02020603050405020304" pitchFamily="18" charset="0"/>
                <a:ea typeface="微软雅黑" panose="020B0503020204020204" pitchFamily="34" charset="-122"/>
              </a:rPr>
              <a:t>1/8-2/8</a:t>
            </a:r>
            <a:r>
              <a:rPr lang="zh-CN" altLang="en-US" sz="2400" dirty="0">
                <a:latin typeface="Times New Roman" panose="02020603050405020304" pitchFamily="18" charset="0"/>
                <a:ea typeface="微软雅黑" panose="020B0503020204020204" pitchFamily="34" charset="-122"/>
              </a:rPr>
              <a:t>量的积雨云，云底高</a:t>
            </a:r>
            <a:r>
              <a:rPr lang="en-US" altLang="zh-CN" sz="2400" dirty="0">
                <a:latin typeface="Times New Roman" panose="02020603050405020304" pitchFamily="18" charset="0"/>
                <a:ea typeface="微软雅黑" panose="020B0503020204020204" pitchFamily="34" charset="-122"/>
              </a:rPr>
              <a:t>300m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3/8-4/8</a:t>
            </a:r>
            <a:r>
              <a:rPr lang="zh-CN" altLang="en-US" sz="2400" dirty="0">
                <a:latin typeface="Times New Roman" panose="02020603050405020304" pitchFamily="18" charset="0"/>
                <a:ea typeface="微软雅黑" panose="020B0503020204020204" pitchFamily="34" charset="-122"/>
              </a:rPr>
              <a:t>量的云，云底高</a:t>
            </a:r>
            <a:r>
              <a:rPr lang="en-US" altLang="zh-CN" sz="2400" dirty="0">
                <a:latin typeface="Times New Roman" panose="02020603050405020304" pitchFamily="18" charset="0"/>
                <a:ea typeface="微软雅黑" panose="020B0503020204020204" pitchFamily="34" charset="-122"/>
              </a:rPr>
              <a:t>540m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5/8-7/8</a:t>
            </a:r>
            <a:r>
              <a:rPr lang="zh-CN" altLang="en-US" sz="2400" dirty="0">
                <a:latin typeface="Times New Roman" panose="02020603050405020304" pitchFamily="18" charset="0"/>
                <a:ea typeface="微软雅黑" panose="020B0503020204020204" pitchFamily="34" charset="-122"/>
              </a:rPr>
              <a:t>量的云，云底高</a:t>
            </a:r>
            <a:r>
              <a:rPr lang="en-US" altLang="zh-CN" sz="2400" dirty="0">
                <a:latin typeface="Times New Roman" panose="02020603050405020304" pitchFamily="18" charset="0"/>
                <a:ea typeface="微软雅黑" panose="020B0503020204020204" pitchFamily="34" charset="-122"/>
              </a:rPr>
              <a:t>750m</a:t>
            </a:r>
            <a:r>
              <a:rPr lang="zh-CN" altLang="en-US" sz="2400" dirty="0">
                <a:latin typeface="Times New Roman" panose="02020603050405020304" pitchFamily="18" charset="0"/>
                <a:ea typeface="微软雅黑" panose="020B0503020204020204" pitchFamily="34" charset="-122"/>
              </a:rPr>
              <a:t>。预计在</a:t>
            </a:r>
            <a:r>
              <a:rPr lang="en-US" altLang="zh-CN" sz="2400" dirty="0">
                <a:latin typeface="Times New Roman" panose="02020603050405020304" pitchFamily="18" charset="0"/>
                <a:ea typeface="微软雅黑" panose="020B0503020204020204" pitchFamily="34" charset="-122"/>
              </a:rPr>
              <a:t>10:00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）至</a:t>
            </a:r>
            <a:r>
              <a:rPr lang="en-US" altLang="zh-CN" sz="2400" dirty="0">
                <a:latin typeface="Times New Roman" panose="02020603050405020304" pitchFamily="18" charset="0"/>
                <a:ea typeface="微软雅黑" panose="020B0503020204020204" pitchFamily="34" charset="-122"/>
              </a:rPr>
              <a:t>14:00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）之间有短暂变化，能见度变为</a:t>
            </a:r>
            <a:r>
              <a:rPr lang="en-US" altLang="zh-CN" sz="2400" dirty="0">
                <a:latin typeface="Times New Roman" panose="02020603050405020304" pitchFamily="18" charset="0"/>
                <a:ea typeface="微软雅黑" panose="020B0503020204020204" pitchFamily="34" charset="-122"/>
              </a:rPr>
              <a:t>4000m</a:t>
            </a:r>
            <a:r>
              <a:rPr lang="zh-CN" altLang="en-US" sz="2400" dirty="0">
                <a:latin typeface="Times New Roman" panose="02020603050405020304" pitchFamily="18" charset="0"/>
                <a:ea typeface="微软雅黑" panose="020B0503020204020204" pitchFamily="34" charset="-122"/>
              </a:rPr>
              <a:t>，大阵雨。在</a:t>
            </a:r>
            <a:r>
              <a:rPr lang="en-US" altLang="zh-CN" sz="2400" dirty="0">
                <a:latin typeface="Times New Roman" panose="02020603050405020304" pitchFamily="18" charset="0"/>
                <a:ea typeface="微软雅黑" panose="020B0503020204020204" pitchFamily="34" charset="-122"/>
              </a:rPr>
              <a:t>13:00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）至</a:t>
            </a:r>
            <a:r>
              <a:rPr lang="en-US" altLang="zh-CN" sz="2400" dirty="0">
                <a:latin typeface="Times New Roman" panose="02020603050405020304" pitchFamily="18" charset="0"/>
                <a:ea typeface="微软雅黑" panose="020B0503020204020204" pitchFamily="34" charset="-122"/>
              </a:rPr>
              <a:t>15:00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）之间，有</a:t>
            </a:r>
            <a:r>
              <a:rPr lang="en-US" altLang="zh-CN" sz="2400" dirty="0">
                <a:latin typeface="Times New Roman" panose="02020603050405020304" pitchFamily="18" charset="0"/>
                <a:ea typeface="微软雅黑" panose="020B0503020204020204" pitchFamily="34" charset="-122"/>
              </a:rPr>
              <a:t>30%</a:t>
            </a:r>
            <a:r>
              <a:rPr lang="zh-CN" altLang="en-US" sz="2400" dirty="0">
                <a:latin typeface="Times New Roman" panose="02020603050405020304" pitchFamily="18" charset="0"/>
                <a:ea typeface="微软雅黑" panose="020B0503020204020204" pitchFamily="34" charset="-122"/>
              </a:rPr>
              <a:t>概率出现中等强度的雷雨，</a:t>
            </a:r>
            <a:r>
              <a:rPr lang="en-US" altLang="zh-CN" sz="2400" dirty="0">
                <a:latin typeface="Times New Roman" panose="02020603050405020304" pitchFamily="18" charset="0"/>
                <a:ea typeface="微软雅黑" panose="020B0503020204020204" pitchFamily="34" charset="-122"/>
              </a:rPr>
              <a:t>3/8-4/8</a:t>
            </a:r>
            <a:r>
              <a:rPr lang="zh-CN" altLang="en-US" sz="2400" dirty="0">
                <a:latin typeface="Times New Roman" panose="02020603050405020304" pitchFamily="18" charset="0"/>
                <a:ea typeface="微软雅黑" panose="020B0503020204020204" pitchFamily="34" charset="-122"/>
              </a:rPr>
              <a:t>量的云，云底高</a:t>
            </a:r>
            <a:r>
              <a:rPr lang="en-US" altLang="zh-CN" sz="2400" dirty="0">
                <a:latin typeface="Times New Roman" panose="02020603050405020304" pitchFamily="18" charset="0"/>
                <a:ea typeface="微软雅黑" panose="020B0503020204020204" pitchFamily="34" charset="-122"/>
              </a:rPr>
              <a:t>150m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5/8-7/8</a:t>
            </a:r>
            <a:r>
              <a:rPr lang="zh-CN" altLang="en-US" sz="2400" dirty="0">
                <a:latin typeface="Times New Roman" panose="02020603050405020304" pitchFamily="18" charset="0"/>
                <a:ea typeface="微软雅黑" panose="020B0503020204020204" pitchFamily="34" charset="-122"/>
              </a:rPr>
              <a:t>量的积雨云，云底高度</a:t>
            </a:r>
            <a:r>
              <a:rPr lang="en-US" altLang="zh-CN" sz="2400" dirty="0">
                <a:latin typeface="Times New Roman" panose="02020603050405020304" pitchFamily="18" charset="0"/>
                <a:ea typeface="微软雅黑" panose="020B0503020204020204" pitchFamily="34" charset="-122"/>
              </a:rPr>
              <a:t>300m</a:t>
            </a:r>
            <a:r>
              <a:rPr lang="zh-CN" altLang="en-US" sz="2400" dirty="0">
                <a:latin typeface="Times New Roman" panose="02020603050405020304" pitchFamily="18" charset="0"/>
                <a:ea typeface="微软雅黑" panose="020B0503020204020204" pitchFamily="34" charset="-122"/>
              </a:rPr>
              <a:t>。</a:t>
            </a:r>
          </a:p>
        </p:txBody>
      </p:sp>
    </p:spTree>
    <p:extLst>
      <p:ext uri="{BB962C8B-B14F-4D97-AF65-F5344CB8AC3E}">
        <p14:creationId xmlns:p14="http://schemas.microsoft.com/office/powerpoint/2010/main" val="5807111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body" idx="1"/>
          </p:nvPr>
        </p:nvSpPr>
        <p:spPr>
          <a:xfrm>
            <a:off x="1774825" y="908051"/>
            <a:ext cx="8497888" cy="5616575"/>
          </a:xfrm>
        </p:spPr>
        <p:txBody>
          <a:bodyPr>
            <a:normAutofit/>
          </a:bodyPr>
          <a:lstStyle/>
          <a:p>
            <a:pPr>
              <a:lnSpc>
                <a:spcPct val="150000"/>
              </a:lnSpc>
              <a:buFont typeface="Wingdings 3" pitchFamily="18" charset="2"/>
              <a:buNone/>
            </a:pPr>
            <a:r>
              <a:rPr lang="zh-CN" altLang="en-US" sz="2400" dirty="0">
                <a:solidFill>
                  <a:schemeClr val="tx1"/>
                </a:solidFill>
                <a:latin typeface="Times New Roman" panose="02020603050405020304" pitchFamily="18" charset="0"/>
                <a:ea typeface="微软雅黑" pitchFamily="34" charset="-122"/>
              </a:rPr>
              <a:t>（一）电码格式</a:t>
            </a:r>
            <a:r>
              <a:rPr lang="en-US" altLang="zh-CN" sz="2400" dirty="0">
                <a:solidFill>
                  <a:schemeClr val="tx1"/>
                </a:solidFill>
                <a:latin typeface="Times New Roman" panose="02020603050405020304" pitchFamily="18" charset="0"/>
                <a:ea typeface="微软雅黑" pitchFamily="34" charset="-122"/>
              </a:rPr>
              <a:t>:</a:t>
            </a:r>
          </a:p>
          <a:p>
            <a:pPr>
              <a:lnSpc>
                <a:spcPct val="150000"/>
              </a:lnSpc>
            </a:pPr>
            <a:r>
              <a:rPr lang="en-US" altLang="zh-CN" sz="2400" dirty="0">
                <a:solidFill>
                  <a:schemeClr val="tx1"/>
                </a:solidFill>
                <a:latin typeface="Times New Roman" panose="02020603050405020304" pitchFamily="18" charset="0"/>
                <a:ea typeface="微软雅黑" pitchFamily="34" charset="-122"/>
              </a:rPr>
              <a:t>ROFOR     (</a:t>
            </a:r>
            <a:r>
              <a:rPr lang="en-US" altLang="zh-CN" sz="2400" dirty="0" err="1">
                <a:solidFill>
                  <a:schemeClr val="tx1"/>
                </a:solidFill>
                <a:latin typeface="Times New Roman" panose="02020603050405020304" pitchFamily="18" charset="0"/>
                <a:ea typeface="微软雅黑" pitchFamily="34" charset="-122"/>
              </a:rPr>
              <a:t>YYGGggZ</a:t>
            </a:r>
            <a:r>
              <a:rPr lang="en-US" altLang="zh-CN" sz="2400" dirty="0">
                <a:solidFill>
                  <a:schemeClr val="tx1"/>
                </a:solidFill>
                <a:latin typeface="Times New Roman" panose="02020603050405020304" pitchFamily="18" charset="0"/>
                <a:ea typeface="微软雅黑" pitchFamily="34" charset="-122"/>
              </a:rPr>
              <a:t>)    Y</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Y</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G</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 G</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 G</a:t>
            </a:r>
            <a:r>
              <a:rPr lang="en-US" altLang="zh-CN" sz="2400" baseline="-25000" dirty="0">
                <a:solidFill>
                  <a:schemeClr val="tx1"/>
                </a:solidFill>
                <a:latin typeface="Times New Roman" panose="02020603050405020304" pitchFamily="18" charset="0"/>
                <a:ea typeface="微软雅黑" pitchFamily="34" charset="-122"/>
              </a:rPr>
              <a:t>2</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G</a:t>
            </a:r>
            <a:r>
              <a:rPr lang="en-US" altLang="zh-CN" sz="2400" baseline="-25000" dirty="0" err="1">
                <a:solidFill>
                  <a:schemeClr val="tx1"/>
                </a:solidFill>
                <a:latin typeface="Times New Roman" panose="02020603050405020304" pitchFamily="18" charset="0"/>
                <a:ea typeface="微软雅黑" pitchFamily="34" charset="-122"/>
              </a:rPr>
              <a:t>2</a:t>
            </a:r>
            <a:endParaRPr lang="en-US" altLang="zh-CN" sz="2400" baseline="-25000" dirty="0">
              <a:solidFill>
                <a:schemeClr val="tx1"/>
              </a:solidFill>
              <a:latin typeface="Times New Roman" panose="02020603050405020304" pitchFamily="18" charset="0"/>
              <a:ea typeface="微软雅黑" pitchFamily="34" charset="-122"/>
            </a:endParaRP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航路预报     发报日时分    预报起止时间</a:t>
            </a:r>
            <a:endParaRPr lang="en-US" altLang="zh-CN" sz="2400" dirty="0">
              <a:solidFill>
                <a:schemeClr val="tx1"/>
              </a:solidFill>
              <a:latin typeface="Times New Roman" panose="02020603050405020304" pitchFamily="18" charset="0"/>
              <a:ea typeface="微软雅黑" pitchFamily="34" charset="-122"/>
            </a:endParaRPr>
          </a:p>
          <a:p>
            <a:pPr>
              <a:lnSpc>
                <a:spcPct val="150000"/>
              </a:lnSpc>
              <a:buFontTx/>
              <a:buNone/>
            </a:pPr>
            <a:endParaRPr lang="zh-CN" altLang="en-US" sz="2400" dirty="0">
              <a:solidFill>
                <a:schemeClr val="tx1"/>
              </a:solidFill>
              <a:latin typeface="Times New Roman" panose="02020603050405020304" pitchFamily="18" charset="0"/>
              <a:ea typeface="微软雅黑" pitchFamily="34" charset="-122"/>
            </a:endParaRPr>
          </a:p>
          <a:p>
            <a:pPr>
              <a:lnSpc>
                <a:spcPct val="150000"/>
              </a:lnSpc>
            </a:pPr>
            <a:r>
              <a:rPr lang="en-US" altLang="zh-CN" sz="2400" dirty="0">
                <a:solidFill>
                  <a:schemeClr val="tx1"/>
                </a:solidFill>
                <a:latin typeface="Times New Roman" panose="02020603050405020304" pitchFamily="18" charset="0"/>
                <a:ea typeface="微软雅黑" pitchFamily="34" charset="-122"/>
              </a:rPr>
              <a:t>KMH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MPS </a:t>
            </a:r>
            <a:r>
              <a:rPr lang="zh-CN" altLang="en-US" sz="2400" dirty="0">
                <a:solidFill>
                  <a:schemeClr val="tx1"/>
                </a:solidFill>
                <a:latin typeface="Times New Roman" panose="02020603050405020304" pitchFamily="18" charset="0"/>
                <a:ea typeface="微软雅黑" pitchFamily="34" charset="-122"/>
              </a:rPr>
              <a:t>或 </a:t>
            </a:r>
            <a:r>
              <a:rPr lang="en-US" altLang="zh-CN" sz="2400" dirty="0">
                <a:solidFill>
                  <a:schemeClr val="tx1"/>
                </a:solidFill>
                <a:latin typeface="Times New Roman" panose="02020603050405020304" pitchFamily="18" charset="0"/>
                <a:ea typeface="微软雅黑" pitchFamily="34" charset="-122"/>
              </a:rPr>
              <a:t>KT    CCCC    (</a:t>
            </a:r>
            <a:r>
              <a:rPr lang="en-US" altLang="zh-CN" sz="2400" dirty="0" err="1">
                <a:solidFill>
                  <a:schemeClr val="tx1"/>
                </a:solidFill>
                <a:latin typeface="Times New Roman" panose="02020603050405020304" pitchFamily="18" charset="0"/>
                <a:ea typeface="微软雅黑" pitchFamily="34" charset="-122"/>
              </a:rPr>
              <a:t>QLa</a:t>
            </a:r>
            <a:r>
              <a:rPr lang="en-US" altLang="zh-CN" sz="2400" dirty="0">
                <a:solidFill>
                  <a:schemeClr val="tx1"/>
                </a:solidFill>
                <a:latin typeface="Times New Roman" panose="02020603050405020304" pitchFamily="18" charset="0"/>
                <a:ea typeface="微软雅黑" pitchFamily="34" charset="-122"/>
              </a:rPr>
              <a:t> La L </a:t>
            </a:r>
            <a:r>
              <a:rPr lang="en-US" altLang="zh-CN" sz="2400" dirty="0" err="1">
                <a:solidFill>
                  <a:schemeClr val="tx1"/>
                </a:solidFill>
                <a:latin typeface="Times New Roman" panose="02020603050405020304" pitchFamily="18" charset="0"/>
                <a:ea typeface="微软雅黑" pitchFamily="34" charset="-122"/>
              </a:rPr>
              <a:t>oLo</a:t>
            </a:r>
            <a:r>
              <a:rPr lang="en-US" altLang="zh-CN" sz="2400" dirty="0">
                <a:solidFill>
                  <a:schemeClr val="tx1"/>
                </a:solidFill>
                <a:latin typeface="Times New Roman" panose="02020603050405020304" pitchFamily="18" charset="0"/>
                <a:ea typeface="微软雅黑" pitchFamily="34" charset="-122"/>
              </a:rPr>
              <a:t> )</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风速单位           起点站名   附加点组</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多用站名</a:t>
            </a:r>
            <a:r>
              <a:rPr lang="en-US" altLang="zh-CN" sz="2400" dirty="0">
                <a:solidFill>
                  <a:schemeClr val="tx1"/>
                </a:solidFill>
                <a:latin typeface="Times New Roman" panose="02020603050405020304" pitchFamily="18" charset="0"/>
                <a:ea typeface="微软雅黑" pitchFamily="34" charset="-122"/>
              </a:rPr>
              <a:t>)</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CCCC       0i ZZZ11-11  (VVVV)  (W</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W</a:t>
            </a:r>
            <a:r>
              <a:rPr lang="en-US" altLang="zh-CN" sz="2400" baseline="-25000" dirty="0" err="1">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 W</a:t>
            </a:r>
            <a:r>
              <a:rPr lang="en-US" altLang="zh-CN" sz="2400" baseline="-25000" dirty="0">
                <a:solidFill>
                  <a:schemeClr val="tx1"/>
                </a:solidFill>
                <a:latin typeface="Times New Roman" panose="02020603050405020304" pitchFamily="18" charset="0"/>
                <a:ea typeface="微软雅黑" pitchFamily="34" charset="-122"/>
              </a:rPr>
              <a:t>1</a:t>
            </a:r>
            <a:r>
              <a:rPr lang="en-US" altLang="zh-CN" sz="2400" dirty="0">
                <a:solidFill>
                  <a:schemeClr val="tx1"/>
                </a:solidFill>
                <a:latin typeface="Times New Roman" panose="02020603050405020304" pitchFamily="18" charset="0"/>
                <a:ea typeface="微软雅黑" pitchFamily="34" charset="-122"/>
              </a:rPr>
              <a:t>)</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终点站名   航段指示组     能见度     天气现象</a:t>
            </a:r>
            <a:endParaRPr lang="en-US" altLang="zh-CN" sz="2400" dirty="0">
              <a:solidFill>
                <a:schemeClr val="tx1"/>
              </a:solidFill>
              <a:latin typeface="Times New Roman" panose="02020603050405020304" pitchFamily="18" charset="0"/>
              <a:ea typeface="微软雅黑" pitchFamily="34" charset="-122"/>
            </a:endParaRPr>
          </a:p>
        </p:txBody>
      </p:sp>
      <p:sp>
        <p:nvSpPr>
          <p:cNvPr id="80900" name="Rectangle 4"/>
          <p:cNvSpPr>
            <a:spLocks/>
          </p:cNvSpPr>
          <p:nvPr/>
        </p:nvSpPr>
        <p:spPr bwMode="auto">
          <a:xfrm>
            <a:off x="378172" y="-55564"/>
            <a:ext cx="4619625" cy="777875"/>
          </a:xfrm>
          <a:prstGeom prst="rect">
            <a:avLst/>
          </a:prstGeom>
          <a:noFill/>
          <a:ln w="9525">
            <a:noFill/>
            <a:miter lim="800000"/>
            <a:headEnd/>
            <a:tailEnd/>
          </a:ln>
        </p:spPr>
        <p:txBody>
          <a:bodyPr anchor="ctr"/>
          <a:lstStyle/>
          <a:p>
            <a:pPr eaLnBrk="0" hangingPunct="0"/>
            <a:r>
              <a:rPr lang="zh-CN" altLang="en-US" sz="3200" dirty="0">
                <a:latin typeface="Lucida Sans Unicode" pitchFamily="34" charset="0"/>
                <a:ea typeface="微软雅黑" pitchFamily="34" charset="-122"/>
              </a:rPr>
              <a:t>三、航路天气预报电报</a:t>
            </a:r>
          </a:p>
        </p:txBody>
      </p:sp>
    </p:spTree>
    <p:extLst>
      <p:ext uri="{BB962C8B-B14F-4D97-AF65-F5344CB8AC3E}">
        <p14:creationId xmlns:p14="http://schemas.microsoft.com/office/powerpoint/2010/main" val="3523353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3"/>
          <p:cNvSpPr>
            <a:spLocks noGrp="1" noChangeArrowheads="1"/>
          </p:cNvSpPr>
          <p:nvPr>
            <p:ph type="body" idx="4294967295"/>
          </p:nvPr>
        </p:nvSpPr>
        <p:spPr>
          <a:xfrm>
            <a:off x="1847850" y="476250"/>
            <a:ext cx="8496300" cy="5410200"/>
          </a:xfrm>
        </p:spPr>
        <p:txBody>
          <a:bodyPr>
            <a:normAutofit/>
          </a:bodyPr>
          <a:lstStyle/>
          <a:p>
            <a:pPr>
              <a:lnSpc>
                <a:spcPct val="150000"/>
              </a:lnSpc>
              <a:buFontTx/>
              <a:buNone/>
            </a:pPr>
            <a:r>
              <a:rPr lang="en-US" altLang="zh-CN" sz="2400" dirty="0" err="1">
                <a:solidFill>
                  <a:schemeClr val="tx1"/>
                </a:solidFill>
                <a:latin typeface="Times New Roman" panose="02020603050405020304" pitchFamily="18" charset="0"/>
                <a:ea typeface="微软雅黑" pitchFamily="34" charset="-122"/>
              </a:rPr>
              <a:t>N</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N</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N</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s</a:t>
            </a:r>
            <a:r>
              <a:rPr lang="en-US" altLang="zh-CN" sz="2400" dirty="0">
                <a:solidFill>
                  <a:schemeClr val="tx1"/>
                </a:solidFill>
                <a:latin typeface="Times New Roman" panose="02020603050405020304" pitchFamily="18" charset="0"/>
                <a:ea typeface="微软雅黑" pitchFamily="34" charset="-122"/>
              </a:rPr>
              <a:t>       7h</a:t>
            </a:r>
            <a:r>
              <a:rPr lang="en-US" altLang="zh-CN" sz="2400" baseline="-25000" dirty="0">
                <a:solidFill>
                  <a:schemeClr val="tx1"/>
                </a:solidFill>
                <a:latin typeface="Times New Roman" panose="02020603050405020304" pitchFamily="18" charset="0"/>
                <a:ea typeface="微软雅黑" pitchFamily="34" charset="-122"/>
              </a:rPr>
              <a:t>t</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t</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t</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f</a:t>
            </a:r>
            <a:r>
              <a:rPr lang="en-US" altLang="zh-CN" sz="2400" dirty="0">
                <a:solidFill>
                  <a:schemeClr val="tx1"/>
                </a:solidFill>
                <a:latin typeface="Times New Roman" panose="02020603050405020304" pitchFamily="18" charset="0"/>
                <a:ea typeface="微软雅黑" pitchFamily="34" charset="-122"/>
              </a:rPr>
              <a:t>       (6I</a:t>
            </a:r>
            <a:r>
              <a:rPr lang="en-US" altLang="zh-CN" sz="2400" baseline="-25000" dirty="0">
                <a:solidFill>
                  <a:schemeClr val="tx1"/>
                </a:solidFill>
                <a:latin typeface="Times New Roman" panose="02020603050405020304" pitchFamily="18" charset="0"/>
                <a:ea typeface="微软雅黑" pitchFamily="34" charset="-122"/>
              </a:rPr>
              <a:t>c</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i</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i</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i</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L</a:t>
            </a:r>
            <a:r>
              <a:rPr lang="en-US" altLang="zh-CN" sz="2400" dirty="0">
                <a:solidFill>
                  <a:schemeClr val="tx1"/>
                </a:solidFill>
                <a:latin typeface="Times New Roman" panose="02020603050405020304" pitchFamily="18" charset="0"/>
                <a:ea typeface="微软雅黑" pitchFamily="34" charset="-122"/>
              </a:rPr>
              <a:t> )</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云量和云高       云顶和</a:t>
            </a:r>
            <a:r>
              <a:rPr lang="en-US" altLang="zh-CN" sz="2400" dirty="0">
                <a:solidFill>
                  <a:schemeClr val="tx1"/>
                </a:solidFill>
                <a:latin typeface="Times New Roman" panose="02020603050405020304" pitchFamily="18" charset="0"/>
                <a:ea typeface="微软雅黑" pitchFamily="34" charset="-122"/>
              </a:rPr>
              <a:t>0℃</a:t>
            </a:r>
            <a:r>
              <a:rPr lang="zh-CN" altLang="en-US" sz="2400" dirty="0">
                <a:solidFill>
                  <a:schemeClr val="tx1"/>
                </a:solidFill>
                <a:latin typeface="Times New Roman" panose="02020603050405020304" pitchFamily="18" charset="0"/>
                <a:ea typeface="微软雅黑" pitchFamily="34" charset="-122"/>
              </a:rPr>
              <a:t>层高度         积冰组</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  (5Bh</a:t>
            </a:r>
            <a:r>
              <a:rPr lang="en-US" altLang="zh-CN" sz="2400" baseline="-25000" dirty="0">
                <a:solidFill>
                  <a:schemeClr val="tx1"/>
                </a:solidFill>
                <a:latin typeface="Times New Roman" panose="02020603050405020304" pitchFamily="18" charset="0"/>
                <a:ea typeface="微软雅黑" pitchFamily="34" charset="-122"/>
              </a:rPr>
              <a:t>B</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B</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B</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L</a:t>
            </a:r>
            <a:r>
              <a:rPr lang="en-US" altLang="zh-CN" sz="2400" dirty="0">
                <a:solidFill>
                  <a:schemeClr val="tx1"/>
                </a:solidFill>
                <a:latin typeface="Times New Roman" panose="02020603050405020304" pitchFamily="18" charset="0"/>
                <a:ea typeface="微软雅黑" pitchFamily="34" charset="-122"/>
              </a:rPr>
              <a:t> )         (4h</a:t>
            </a:r>
            <a:r>
              <a:rPr lang="en-US" altLang="zh-CN" sz="2400" baseline="-25000" dirty="0">
                <a:solidFill>
                  <a:schemeClr val="tx1"/>
                </a:solidFill>
                <a:latin typeface="Times New Roman" panose="02020603050405020304" pitchFamily="18" charset="0"/>
                <a:ea typeface="微软雅黑" pitchFamily="34" charset="-122"/>
              </a:rPr>
              <a:t>x</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x</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x</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h</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h</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h</a:t>
            </a:r>
            <a:r>
              <a:rPr lang="en-US" altLang="zh-CN" sz="2400" dirty="0">
                <a:solidFill>
                  <a:schemeClr val="tx1"/>
                </a:solidFill>
                <a:latin typeface="Times New Roman" panose="02020603050405020304" pitchFamily="18" charset="0"/>
                <a:ea typeface="微软雅黑" pitchFamily="34" charset="-122"/>
              </a:rPr>
              <a:t> )dd×10</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颠簸组             某高度气温    风向风速</a:t>
            </a:r>
          </a:p>
          <a:p>
            <a:pPr>
              <a:lnSpc>
                <a:spcPct val="150000"/>
              </a:lnSpc>
              <a:buFontTx/>
              <a:buNone/>
            </a:pPr>
            <a:endParaRPr lang="zh-CN" altLang="en-US" sz="2400" dirty="0">
              <a:solidFill>
                <a:schemeClr val="tx1"/>
              </a:solidFill>
              <a:latin typeface="Times New Roman" panose="02020603050405020304" pitchFamily="18" charset="0"/>
              <a:ea typeface="微软雅黑" pitchFamily="34" charset="-122"/>
            </a:endParaRP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2h</a:t>
            </a:r>
            <a:r>
              <a:rPr lang="en-US" altLang="zh-CN" sz="2400" baseline="-25000" dirty="0">
                <a:solidFill>
                  <a:schemeClr val="tx1"/>
                </a:solidFill>
                <a:latin typeface="Times New Roman" panose="02020603050405020304" pitchFamily="18" charset="0"/>
                <a:ea typeface="微软雅黑" pitchFamily="34" charset="-122"/>
              </a:rPr>
              <a:t>p</a:t>
            </a:r>
            <a:r>
              <a:rPr lang="en-US" altLang="zh-CN" sz="2400" dirty="0">
                <a:solidFill>
                  <a:schemeClr val="tx1"/>
                </a:solidFill>
                <a:latin typeface="Times New Roman" panose="02020603050405020304" pitchFamily="18" charset="0"/>
                <a:ea typeface="微软雅黑" pitchFamily="34" charset="-122"/>
              </a:rPr>
              <a:t>h</a:t>
            </a:r>
            <a:r>
              <a:rPr lang="en-US" altLang="zh-CN" sz="2400" baseline="-25000" dirty="0">
                <a:solidFill>
                  <a:schemeClr val="tx1"/>
                </a:solidFill>
                <a:latin typeface="Times New Roman" panose="02020603050405020304" pitchFamily="18" charset="0"/>
                <a:ea typeface="微软雅黑" pitchFamily="34" charset="-122"/>
              </a:rPr>
              <a:t>p</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p</a:t>
            </a:r>
            <a:r>
              <a:rPr lang="en-US" altLang="zh-CN" sz="2400" dirty="0">
                <a:solidFill>
                  <a:schemeClr val="tx1"/>
                </a:solidFill>
                <a:latin typeface="Times New Roman" panose="02020603050405020304" pitchFamily="18" charset="0"/>
                <a:ea typeface="微软雅黑" pitchFamily="34" charset="-122"/>
              </a:rPr>
              <a:t>T</a:t>
            </a:r>
            <a:r>
              <a:rPr lang="en-US" altLang="zh-CN" sz="2400" baseline="-25000" dirty="0">
                <a:solidFill>
                  <a:schemeClr val="tx1"/>
                </a:solidFill>
                <a:latin typeface="Times New Roman" panose="02020603050405020304" pitchFamily="18" charset="0"/>
                <a:ea typeface="微软雅黑" pitchFamily="34" charset="-122"/>
              </a:rPr>
              <a:t>p</a:t>
            </a:r>
            <a:r>
              <a:rPr lang="zh-CN" altLang="en-US" sz="2400" dirty="0">
                <a:solidFill>
                  <a:schemeClr val="tx1"/>
                </a:solidFill>
                <a:latin typeface="Times New Roman" panose="02020603050405020304" pitchFamily="18" charset="0"/>
                <a:ea typeface="微软雅黑" pitchFamily="34" charset="-122"/>
              </a:rPr>
              <a:t>）</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对流层顶高度和气温</a:t>
            </a:r>
          </a:p>
        </p:txBody>
      </p:sp>
    </p:spTree>
    <p:extLst>
      <p:ext uri="{BB962C8B-B14F-4D97-AF65-F5344CB8AC3E}">
        <p14:creationId xmlns:p14="http://schemas.microsoft.com/office/powerpoint/2010/main" val="40353735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p:cNvSpPr>
          <p:nvPr>
            <p:ph type="body" idx="1"/>
          </p:nvPr>
        </p:nvSpPr>
        <p:spPr>
          <a:xfrm>
            <a:off x="702365" y="132522"/>
            <a:ext cx="10363199" cy="7063408"/>
          </a:xfrm>
        </p:spPr>
        <p:txBody>
          <a:bodyPr>
            <a:normAutofit/>
          </a:bodyPr>
          <a:lstStyle/>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、第二段</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 1111          </a:t>
            </a:r>
            <a:r>
              <a:rPr lang="zh-CN" altLang="en-US" sz="2400" dirty="0">
                <a:solidFill>
                  <a:schemeClr val="tx1"/>
                </a:solidFill>
                <a:latin typeface="Times New Roman" panose="02020603050405020304" pitchFamily="18" charset="0"/>
                <a:ea typeface="微软雅黑" pitchFamily="34" charset="-122"/>
              </a:rPr>
              <a:t>高空 急 流 </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err="1">
                <a:solidFill>
                  <a:schemeClr val="tx1"/>
                </a:solidFill>
                <a:latin typeface="Times New Roman" panose="02020603050405020304" pitchFamily="18" charset="0"/>
                <a:ea typeface="微软雅黑" pitchFamily="34" charset="-122"/>
              </a:rPr>
              <a:t>QL</a:t>
            </a:r>
            <a:r>
              <a:rPr lang="en-US" altLang="zh-CN" sz="2400" baseline="-25000" dirty="0" err="1">
                <a:solidFill>
                  <a:schemeClr val="tx1"/>
                </a:solidFill>
                <a:latin typeface="Times New Roman" panose="02020603050405020304" pitchFamily="18" charset="0"/>
                <a:ea typeface="微软雅黑" pitchFamily="34" charset="-122"/>
              </a:rPr>
              <a:t>a</a:t>
            </a:r>
            <a:r>
              <a:rPr lang="en-US" altLang="zh-CN" sz="2400" dirty="0" err="1">
                <a:solidFill>
                  <a:schemeClr val="tx1"/>
                </a:solidFill>
                <a:latin typeface="Times New Roman" panose="02020603050405020304" pitchFamily="18" charset="0"/>
                <a:ea typeface="微软雅黑" pitchFamily="34" charset="-122"/>
              </a:rPr>
              <a:t>L</a:t>
            </a:r>
            <a:r>
              <a:rPr lang="en-US" altLang="zh-CN" sz="2400" baseline="-25000" dirty="0" err="1">
                <a:solidFill>
                  <a:schemeClr val="tx1"/>
                </a:solidFill>
                <a:latin typeface="Times New Roman" panose="02020603050405020304" pitchFamily="18" charset="0"/>
                <a:ea typeface="微软雅黑" pitchFamily="34" charset="-122"/>
              </a:rPr>
              <a:t>a</a:t>
            </a:r>
            <a:r>
              <a:rPr lang="en-US" altLang="zh-CN" sz="2400" dirty="0">
                <a:solidFill>
                  <a:schemeClr val="tx1"/>
                </a:solidFill>
                <a:latin typeface="Times New Roman" panose="02020603050405020304" pitchFamily="18" charset="0"/>
                <a:ea typeface="微软雅黑" pitchFamily="34" charset="-122"/>
              </a:rPr>
              <a:t> L</a:t>
            </a:r>
            <a:r>
              <a:rPr lang="en-US" altLang="zh-CN" sz="2400" baseline="-25000" dirty="0">
                <a:solidFill>
                  <a:schemeClr val="tx1"/>
                </a:solidFill>
                <a:latin typeface="Times New Roman" panose="02020603050405020304" pitchFamily="18" charset="0"/>
                <a:ea typeface="微软雅黑" pitchFamily="34" charset="-122"/>
              </a:rPr>
              <a:t>o</a:t>
            </a:r>
            <a:r>
              <a:rPr lang="en-US" altLang="zh-CN" sz="2400" dirty="0">
                <a:solidFill>
                  <a:schemeClr val="tx1"/>
                </a:solidFill>
                <a:latin typeface="Times New Roman" panose="02020603050405020304" pitchFamily="18" charset="0"/>
                <a:ea typeface="微软雅黑" pitchFamily="34" charset="-122"/>
              </a:rPr>
              <a:t> </a:t>
            </a:r>
            <a:r>
              <a:rPr lang="en-US" altLang="zh-CN" sz="2400" dirty="0" err="1">
                <a:solidFill>
                  <a:schemeClr val="tx1"/>
                </a:solidFill>
                <a:latin typeface="Times New Roman" panose="02020603050405020304" pitchFamily="18" charset="0"/>
                <a:ea typeface="微软雅黑" pitchFamily="34" charset="-122"/>
              </a:rPr>
              <a:t>L</a:t>
            </a:r>
            <a:r>
              <a:rPr lang="en-US" altLang="zh-CN" sz="2400" baseline="-25000" dirty="0" err="1">
                <a:solidFill>
                  <a:schemeClr val="tx1"/>
                </a:solidFill>
                <a:latin typeface="Times New Roman" panose="02020603050405020304" pitchFamily="18" charset="0"/>
                <a:ea typeface="微软雅黑" pitchFamily="34" charset="-122"/>
              </a:rPr>
              <a:t>o</a:t>
            </a:r>
            <a:r>
              <a:rPr lang="en-US" altLang="zh-CN" sz="2400" baseline="-250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急流轴位置 </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j</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j</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j</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j</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j</a:t>
            </a:r>
            <a:r>
              <a:rPr lang="en-US" altLang="zh-CN" sz="2400" baseline="-250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       高度和风速</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3</a:t>
            </a:r>
            <a:r>
              <a:rPr lang="zh-CN" altLang="en-US" sz="2400" dirty="0">
                <a:solidFill>
                  <a:schemeClr val="tx1"/>
                </a:solidFill>
                <a:latin typeface="Times New Roman" panose="02020603050405020304" pitchFamily="18" charset="0"/>
                <a:ea typeface="微软雅黑" pitchFamily="34" charset="-122"/>
              </a:rPr>
              <a:t>、第三段</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2222             </a:t>
            </a:r>
            <a:r>
              <a:rPr lang="zh-CN" altLang="en-US" sz="2400" dirty="0">
                <a:solidFill>
                  <a:schemeClr val="tx1"/>
                </a:solidFill>
                <a:latin typeface="Times New Roman" panose="02020603050405020304" pitchFamily="18" charset="0"/>
                <a:ea typeface="微软雅黑" pitchFamily="34" charset="-122"/>
              </a:rPr>
              <a:t>风组指示码 </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h</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f</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某高度最大风速 </a:t>
            </a:r>
            <a:endParaRPr lang="en-US" altLang="zh-CN" sz="2400" dirty="0">
              <a:solidFill>
                <a:schemeClr val="tx1"/>
              </a:solidFill>
              <a:latin typeface="Times New Roman" panose="02020603050405020304" pitchFamily="18" charset="0"/>
              <a:ea typeface="微软雅黑" pitchFamily="34" charset="-122"/>
            </a:endParaRPr>
          </a:p>
          <a:p>
            <a:pPr marL="0" indent="0">
              <a:lnSpc>
                <a:spcPct val="150000"/>
              </a:lnSpc>
              <a:buNone/>
            </a:pP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d</a:t>
            </a:r>
            <a:r>
              <a:rPr lang="en-US" altLang="zh-CN" sz="2400" baseline="-25000" dirty="0" err="1">
                <a:solidFill>
                  <a:schemeClr val="tx1"/>
                </a:solidFill>
                <a:latin typeface="Times New Roman" panose="02020603050405020304" pitchFamily="18" charset="0"/>
                <a:ea typeface="微软雅黑" pitchFamily="34" charset="-122"/>
              </a:rPr>
              <a:t>m</a:t>
            </a:r>
            <a:r>
              <a:rPr lang="en-US" altLang="zh-CN" sz="2400" dirty="0" err="1">
                <a:solidFill>
                  <a:schemeClr val="tx1"/>
                </a:solidFill>
                <a:latin typeface="Times New Roman" panose="02020603050405020304" pitchFamily="18" charset="0"/>
                <a:ea typeface="微软雅黑" pitchFamily="34" charset="-122"/>
              </a:rPr>
              <a:t>VV</a:t>
            </a: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风向和垂直风切变</a:t>
            </a:r>
          </a:p>
          <a:p>
            <a:pPr marL="0" indent="0">
              <a:lnSpc>
                <a:spcPct val="150000"/>
              </a:lnSpc>
              <a:buNone/>
            </a:pPr>
            <a:r>
              <a:rPr lang="en-US" altLang="zh-CN" sz="2400" dirty="0">
                <a:solidFill>
                  <a:schemeClr val="tx1"/>
                </a:solidFill>
                <a:latin typeface="Times New Roman" panose="02020603050405020304" pitchFamily="18" charset="0"/>
                <a:ea typeface="微软雅黑" pitchFamily="34" charset="-122"/>
              </a:rPr>
              <a:t>4</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9i</a:t>
            </a:r>
            <a:r>
              <a:rPr lang="en-US" altLang="zh-CN" sz="2400" baseline="-25000" dirty="0">
                <a:solidFill>
                  <a:schemeClr val="tx1"/>
                </a:solidFill>
                <a:latin typeface="Times New Roman" panose="02020603050405020304" pitchFamily="18" charset="0"/>
                <a:ea typeface="微软雅黑" pitchFamily="34" charset="-122"/>
              </a:rPr>
              <a:t>3</a:t>
            </a:r>
            <a:r>
              <a:rPr lang="en-US" altLang="zh-CN" sz="2400" dirty="0">
                <a:solidFill>
                  <a:schemeClr val="tx1"/>
                </a:solidFill>
                <a:latin typeface="Times New Roman" panose="02020603050405020304" pitchFamily="18" charset="0"/>
                <a:ea typeface="微软雅黑" pitchFamily="34" charset="-122"/>
              </a:rPr>
              <a:t>nnn</a:t>
            </a:r>
            <a:endParaRPr lang="zh-CN" altLang="en-US" sz="2400" dirty="0">
              <a:solidFill>
                <a:schemeClr val="tx1"/>
              </a:solidFill>
              <a:latin typeface="Times New Roman" panose="02020603050405020304" pitchFamily="18" charset="0"/>
              <a:ea typeface="微软雅黑" pitchFamily="34" charset="-122"/>
            </a:endParaRPr>
          </a:p>
        </p:txBody>
      </p:sp>
    </p:spTree>
    <p:extLst>
      <p:ext uri="{BB962C8B-B14F-4D97-AF65-F5344CB8AC3E}">
        <p14:creationId xmlns:p14="http://schemas.microsoft.com/office/powerpoint/2010/main" val="24913247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p:cNvSpPr>
            <a:spLocks noGrp="1" noChangeArrowheads="1"/>
          </p:cNvSpPr>
          <p:nvPr>
            <p:ph type="body" idx="4294967295"/>
          </p:nvPr>
        </p:nvSpPr>
        <p:spPr>
          <a:xfrm>
            <a:off x="940905" y="185530"/>
            <a:ext cx="8229600" cy="5791200"/>
          </a:xfrm>
        </p:spPr>
        <p:txBody>
          <a:bodyPr/>
          <a:lstStyle/>
          <a:p>
            <a:pPr>
              <a:lnSpc>
                <a:spcPct val="150000"/>
              </a:lnSpc>
            </a:pPr>
            <a:r>
              <a:rPr lang="zh-CN" altLang="en-US" sz="2400" dirty="0">
                <a:solidFill>
                  <a:schemeClr val="tx1"/>
                </a:solidFill>
                <a:latin typeface="Times New Roman" panose="02020603050405020304" pitchFamily="18" charset="0"/>
                <a:ea typeface="微软雅黑" pitchFamily="34" charset="-122"/>
              </a:rPr>
              <a:t>（二）电码说明</a:t>
            </a:r>
          </a:p>
          <a:p>
            <a:pPr>
              <a:lnSpc>
                <a:spcPct val="150000"/>
              </a:lnSpc>
            </a:pPr>
            <a:r>
              <a:rPr lang="en-US" altLang="zh-CN" sz="2400" dirty="0">
                <a:solidFill>
                  <a:schemeClr val="tx1"/>
                </a:solidFill>
                <a:latin typeface="Times New Roman" panose="02020603050405020304" pitchFamily="18" charset="0"/>
                <a:ea typeface="微软雅黑" pitchFamily="34" charset="-122"/>
              </a:rPr>
              <a:t>1</a:t>
            </a:r>
            <a:r>
              <a:rPr lang="zh-CN" altLang="en-US" sz="2400" dirty="0">
                <a:solidFill>
                  <a:schemeClr val="tx1"/>
                </a:solidFill>
                <a:latin typeface="Times New Roman" panose="02020603050405020304" pitchFamily="18" charset="0"/>
                <a:ea typeface="微软雅黑" pitchFamily="34" charset="-122"/>
              </a:rPr>
              <a:t>、附加点组： </a:t>
            </a:r>
            <a:r>
              <a:rPr lang="en-US" altLang="zh-CN" sz="2400" dirty="0" err="1">
                <a:solidFill>
                  <a:schemeClr val="tx1"/>
                </a:solidFill>
                <a:latin typeface="Times New Roman" panose="02020603050405020304" pitchFamily="18" charset="0"/>
                <a:ea typeface="微软雅黑" pitchFamily="34" charset="-122"/>
              </a:rPr>
              <a:t>QL</a:t>
            </a:r>
            <a:r>
              <a:rPr lang="en-US" altLang="zh-CN" sz="2400" baseline="-25000" dirty="0" err="1">
                <a:solidFill>
                  <a:schemeClr val="tx1"/>
                </a:solidFill>
                <a:latin typeface="Times New Roman" panose="02020603050405020304" pitchFamily="18" charset="0"/>
                <a:ea typeface="微软雅黑" pitchFamily="34" charset="-122"/>
              </a:rPr>
              <a:t>a</a:t>
            </a:r>
            <a:r>
              <a:rPr lang="en-US" altLang="zh-CN" sz="2400" dirty="0" err="1">
                <a:solidFill>
                  <a:schemeClr val="tx1"/>
                </a:solidFill>
                <a:latin typeface="Times New Roman" panose="02020603050405020304" pitchFamily="18" charset="0"/>
                <a:ea typeface="微软雅黑" pitchFamily="34" charset="-122"/>
              </a:rPr>
              <a:t>L</a:t>
            </a:r>
            <a:r>
              <a:rPr lang="en-US" altLang="zh-CN" sz="2400" baseline="-25000" dirty="0" err="1">
                <a:solidFill>
                  <a:schemeClr val="tx1"/>
                </a:solidFill>
                <a:latin typeface="Times New Roman" panose="02020603050405020304" pitchFamily="18" charset="0"/>
                <a:ea typeface="微软雅黑" pitchFamily="34" charset="-122"/>
              </a:rPr>
              <a:t>a</a:t>
            </a:r>
            <a:r>
              <a:rPr lang="en-US" altLang="zh-CN" sz="2400" dirty="0" err="1">
                <a:solidFill>
                  <a:schemeClr val="tx1"/>
                </a:solidFill>
                <a:latin typeface="Times New Roman" panose="02020603050405020304" pitchFamily="18" charset="0"/>
                <a:ea typeface="微软雅黑" pitchFamily="34" charset="-122"/>
              </a:rPr>
              <a:t>L</a:t>
            </a:r>
            <a:r>
              <a:rPr lang="en-US" altLang="zh-CN" sz="2400" baseline="-25000" dirty="0" err="1">
                <a:solidFill>
                  <a:schemeClr val="tx1"/>
                </a:solidFill>
                <a:latin typeface="Times New Roman" panose="02020603050405020304" pitchFamily="18" charset="0"/>
                <a:ea typeface="微软雅黑" pitchFamily="34" charset="-122"/>
              </a:rPr>
              <a:t>o</a:t>
            </a:r>
            <a:r>
              <a:rPr lang="en-US" altLang="zh-CN" sz="2400" dirty="0" err="1">
                <a:solidFill>
                  <a:schemeClr val="tx1"/>
                </a:solidFill>
                <a:latin typeface="Times New Roman" panose="02020603050405020304" pitchFamily="18" charset="0"/>
                <a:ea typeface="微软雅黑" pitchFamily="34" charset="-122"/>
              </a:rPr>
              <a:t>L</a:t>
            </a:r>
            <a:r>
              <a:rPr lang="en-US" altLang="zh-CN" sz="2400" baseline="-25000" dirty="0" err="1">
                <a:solidFill>
                  <a:schemeClr val="tx1"/>
                </a:solidFill>
                <a:latin typeface="Times New Roman" panose="02020603050405020304" pitchFamily="18" charset="0"/>
                <a:ea typeface="微软雅黑" pitchFamily="34" charset="-122"/>
              </a:rPr>
              <a:t>o</a:t>
            </a:r>
            <a:r>
              <a:rPr lang="en-US" altLang="zh-CN" sz="2400" dirty="0">
                <a:solidFill>
                  <a:schemeClr val="tx1"/>
                </a:solidFill>
                <a:latin typeface="Times New Roman" panose="02020603050405020304" pitchFamily="18" charset="0"/>
                <a:ea typeface="微软雅黑" pitchFamily="34" charset="-122"/>
              </a:rPr>
              <a:t> </a:t>
            </a:r>
            <a:endParaRPr lang="zh-CN" altLang="en-US" sz="2400" dirty="0">
              <a:solidFill>
                <a:schemeClr val="tx1"/>
              </a:solidFill>
              <a:latin typeface="Times New Roman" panose="02020603050405020304" pitchFamily="18" charset="0"/>
              <a:ea typeface="微软雅黑" pitchFamily="34" charset="-122"/>
            </a:endParaRPr>
          </a:p>
          <a:p>
            <a:pPr>
              <a:lnSpc>
                <a:spcPct val="150000"/>
              </a:lnSpc>
            </a:pPr>
            <a:r>
              <a:rPr lang="zh-CN" altLang="en-US" sz="2400" dirty="0">
                <a:solidFill>
                  <a:schemeClr val="tx1"/>
                </a:solidFill>
                <a:latin typeface="Times New Roman" panose="02020603050405020304" pitchFamily="18" charset="0"/>
                <a:ea typeface="微软雅黑" pitchFamily="34" charset="-122"/>
              </a:rPr>
              <a:t>       国内，在起点站和终点站之间如果需要选一个或几个附加点，一般多用站名代号表示如：</a:t>
            </a:r>
          </a:p>
          <a:p>
            <a:pPr>
              <a:lnSpc>
                <a:spcPct val="150000"/>
              </a:lnSpc>
            </a:pPr>
            <a:r>
              <a:rPr lang="en-US" altLang="zh-CN" sz="2400" dirty="0">
                <a:solidFill>
                  <a:schemeClr val="tx1"/>
                </a:solidFill>
                <a:latin typeface="Times New Roman" panose="02020603050405020304" pitchFamily="18" charset="0"/>
                <a:ea typeface="微软雅黑" pitchFamily="34" charset="-122"/>
              </a:rPr>
              <a:t>ZSTN  </a:t>
            </a:r>
            <a:r>
              <a:rPr lang="zh-CN" altLang="en-US" sz="2400" dirty="0">
                <a:solidFill>
                  <a:schemeClr val="tx1"/>
                </a:solidFill>
                <a:latin typeface="Times New Roman" panose="02020603050405020304" pitchFamily="18" charset="0"/>
                <a:ea typeface="微软雅黑" pitchFamily="34" charset="-122"/>
              </a:rPr>
              <a:t>济南      </a:t>
            </a:r>
            <a:r>
              <a:rPr lang="en-US" altLang="zh-CN" sz="2400" dirty="0">
                <a:solidFill>
                  <a:schemeClr val="tx1"/>
                </a:solidFill>
                <a:latin typeface="Times New Roman" panose="02020603050405020304" pitchFamily="18" charset="0"/>
                <a:ea typeface="微软雅黑" pitchFamily="34" charset="-122"/>
              </a:rPr>
              <a:t>ZBSJ   </a:t>
            </a:r>
            <a:r>
              <a:rPr lang="zh-CN" altLang="en-US" sz="2400" dirty="0">
                <a:solidFill>
                  <a:schemeClr val="tx1"/>
                </a:solidFill>
                <a:latin typeface="Times New Roman" panose="02020603050405020304" pitchFamily="18" charset="0"/>
                <a:ea typeface="微软雅黑" pitchFamily="34" charset="-122"/>
              </a:rPr>
              <a:t>石家庄</a:t>
            </a:r>
          </a:p>
          <a:p>
            <a:pPr>
              <a:lnSpc>
                <a:spcPct val="150000"/>
              </a:lnSpc>
            </a:pPr>
            <a:r>
              <a:rPr lang="zh-CN" altLang="en-US" sz="2400" dirty="0">
                <a:solidFill>
                  <a:schemeClr val="tx1"/>
                </a:solidFill>
                <a:latin typeface="Times New Roman" panose="02020603050405020304" pitchFamily="18" charset="0"/>
                <a:ea typeface="微软雅黑" pitchFamily="34" charset="-122"/>
              </a:rPr>
              <a:t>      国际： </a:t>
            </a:r>
          </a:p>
          <a:p>
            <a:pPr>
              <a:lnSpc>
                <a:spcPct val="150000"/>
              </a:lnSpc>
            </a:pPr>
            <a:r>
              <a:rPr lang="zh-CN" altLang="en-US" sz="2400" dirty="0">
                <a:solidFill>
                  <a:schemeClr val="tx1"/>
                </a:solidFill>
                <a:latin typeface="Times New Roman" panose="02020603050405020304" pitchFamily="18" charset="0"/>
                <a:ea typeface="微软雅黑" pitchFamily="34" charset="-122"/>
              </a:rPr>
              <a:t>用</a:t>
            </a:r>
            <a:r>
              <a:rPr lang="en-US" altLang="zh-CN" sz="2400" dirty="0">
                <a:solidFill>
                  <a:schemeClr val="tx1"/>
                </a:solidFill>
                <a:latin typeface="Times New Roman" panose="02020603050405020304" pitchFamily="18" charset="0"/>
                <a:ea typeface="微软雅黑" pitchFamily="34" charset="-122"/>
              </a:rPr>
              <a:t>QL</a:t>
            </a:r>
            <a:r>
              <a:rPr lang="zh-CN" altLang="en-US" sz="2400" dirty="0">
                <a:solidFill>
                  <a:schemeClr val="tx1"/>
                </a:solidFill>
                <a:latin typeface="Times New Roman" panose="02020603050405020304" pitchFamily="18" charset="0"/>
                <a:ea typeface="微软雅黑" pitchFamily="34" charset="-122"/>
              </a:rPr>
              <a:t>ａ</a:t>
            </a:r>
            <a:r>
              <a:rPr lang="en-US" altLang="zh-CN" sz="2400" dirty="0">
                <a:solidFill>
                  <a:schemeClr val="tx1"/>
                </a:solidFill>
                <a:latin typeface="Times New Roman" panose="02020603050405020304" pitchFamily="18" charset="0"/>
                <a:ea typeface="微软雅黑" pitchFamily="34" charset="-122"/>
              </a:rPr>
              <a:t>L</a:t>
            </a:r>
            <a:r>
              <a:rPr lang="zh-CN" altLang="en-US" sz="2400" dirty="0">
                <a:solidFill>
                  <a:schemeClr val="tx1"/>
                </a:solidFill>
                <a:latin typeface="Times New Roman" panose="02020603050405020304" pitchFamily="18" charset="0"/>
                <a:ea typeface="微软雅黑" pitchFamily="34" charset="-122"/>
              </a:rPr>
              <a:t>ａ</a:t>
            </a:r>
            <a:r>
              <a:rPr lang="en-US" altLang="zh-CN" sz="2400" dirty="0">
                <a:solidFill>
                  <a:schemeClr val="tx1"/>
                </a:solidFill>
                <a:latin typeface="Times New Roman" panose="02020603050405020304" pitchFamily="18" charset="0"/>
                <a:ea typeface="微软雅黑" pitchFamily="34" charset="-122"/>
              </a:rPr>
              <a:t>L</a:t>
            </a:r>
            <a:r>
              <a:rPr lang="zh-CN" altLang="en-US" sz="2400" dirty="0">
                <a:solidFill>
                  <a:schemeClr val="tx1"/>
                </a:solidFill>
                <a:latin typeface="Times New Roman" panose="02020603050405020304" pitchFamily="18" charset="0"/>
                <a:ea typeface="微软雅黑" pitchFamily="34" charset="-122"/>
              </a:rPr>
              <a:t>ｏ</a:t>
            </a:r>
            <a:r>
              <a:rPr lang="en-US" altLang="zh-CN" sz="2400" dirty="0">
                <a:solidFill>
                  <a:schemeClr val="tx1"/>
                </a:solidFill>
                <a:latin typeface="Times New Roman" panose="02020603050405020304" pitchFamily="18" charset="0"/>
                <a:ea typeface="微软雅黑" pitchFamily="34" charset="-122"/>
              </a:rPr>
              <a:t>L</a:t>
            </a:r>
            <a:r>
              <a:rPr lang="zh-CN" altLang="en-US" sz="2400" dirty="0">
                <a:solidFill>
                  <a:schemeClr val="tx1"/>
                </a:solidFill>
                <a:latin typeface="Times New Roman" panose="02020603050405020304" pitchFamily="18" charset="0"/>
                <a:ea typeface="微软雅黑" pitchFamily="34" charset="-122"/>
              </a:rPr>
              <a:t>ｏ</a:t>
            </a:r>
          </a:p>
          <a:p>
            <a:pPr>
              <a:lnSpc>
                <a:spcPct val="150000"/>
              </a:lnSpc>
            </a:pPr>
            <a:r>
              <a:rPr lang="zh-CN" altLang="en-US" sz="2400" dirty="0">
                <a:solidFill>
                  <a:schemeClr val="tx1"/>
                </a:solidFill>
                <a:latin typeface="Times New Roman" panose="02020603050405020304" pitchFamily="18" charset="0"/>
                <a:ea typeface="微软雅黑" pitchFamily="34" charset="-122"/>
              </a:rPr>
              <a:t>Ｑ表示地球八分象限</a:t>
            </a:r>
          </a:p>
          <a:p>
            <a:pPr>
              <a:lnSpc>
                <a:spcPct val="120000"/>
              </a:lnSpc>
            </a:pPr>
            <a:endParaRPr lang="zh-CN" altLang="en-US" sz="2800" dirty="0">
              <a:latin typeface="微软雅黑" pitchFamily="34" charset="-122"/>
              <a:ea typeface="微软雅黑" pitchFamily="34" charset="-122"/>
            </a:endParaRPr>
          </a:p>
          <a:p>
            <a:pPr>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25992291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3"/>
          <p:cNvSpPr>
            <a:spLocks noGrp="1" noChangeArrowheads="1"/>
          </p:cNvSpPr>
          <p:nvPr>
            <p:ph type="body" idx="4294967295"/>
          </p:nvPr>
        </p:nvSpPr>
        <p:spPr>
          <a:xfrm>
            <a:off x="689113" y="0"/>
            <a:ext cx="9445487" cy="6248400"/>
          </a:xfrm>
        </p:spPr>
        <p:txBody>
          <a:bodyPr>
            <a:normAutofit/>
          </a:bodyPr>
          <a:lstStyle/>
          <a:p>
            <a:pPr>
              <a:lnSpc>
                <a:spcPct val="150000"/>
              </a:lnSpc>
            </a:pPr>
            <a:r>
              <a:rPr lang="zh-CN" altLang="en-US" sz="2400" dirty="0">
                <a:solidFill>
                  <a:schemeClr val="tx1"/>
                </a:solidFill>
                <a:latin typeface="Times New Roman" panose="02020603050405020304" pitchFamily="18" charset="0"/>
                <a:ea typeface="微软雅黑" pitchFamily="34" charset="-122"/>
              </a:rPr>
              <a:t>在北半球经度：</a:t>
            </a:r>
          </a:p>
          <a:p>
            <a:pPr>
              <a:lnSpc>
                <a:spcPct val="150000"/>
              </a:lnSpc>
            </a:pPr>
            <a:r>
              <a:rPr lang="zh-CN" altLang="en-US" sz="2400" dirty="0">
                <a:solidFill>
                  <a:schemeClr val="tx1"/>
                </a:solidFill>
                <a:latin typeface="Times New Roman" panose="02020603050405020304" pitchFamily="18" charset="0"/>
                <a:ea typeface="微软雅黑" pitchFamily="34" charset="-122"/>
              </a:rPr>
              <a:t>０：　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９０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Ｗ</a:t>
            </a:r>
          </a:p>
          <a:p>
            <a:pPr>
              <a:lnSpc>
                <a:spcPct val="150000"/>
              </a:lnSpc>
            </a:pPr>
            <a:r>
              <a:rPr lang="zh-CN" altLang="en-US" sz="2400" dirty="0">
                <a:solidFill>
                  <a:schemeClr val="tx1"/>
                </a:solidFill>
                <a:latin typeface="Times New Roman" panose="02020603050405020304" pitchFamily="18" charset="0"/>
                <a:ea typeface="微软雅黑" pitchFamily="34" charset="-122"/>
              </a:rPr>
              <a:t>１：　９０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１８０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Ｗ</a:t>
            </a:r>
          </a:p>
          <a:p>
            <a:pPr>
              <a:lnSpc>
                <a:spcPct val="150000"/>
              </a:lnSpc>
            </a:pPr>
            <a:r>
              <a:rPr lang="zh-CN" altLang="en-US" sz="2400" dirty="0">
                <a:solidFill>
                  <a:schemeClr val="tx1"/>
                </a:solidFill>
                <a:latin typeface="Times New Roman" panose="02020603050405020304" pitchFamily="18" charset="0"/>
                <a:ea typeface="微软雅黑" pitchFamily="34" charset="-122"/>
              </a:rPr>
              <a:t>２：　１８０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９０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Ｅ</a:t>
            </a:r>
          </a:p>
          <a:p>
            <a:pPr>
              <a:lnSpc>
                <a:spcPct val="150000"/>
              </a:lnSpc>
            </a:pPr>
            <a:r>
              <a:rPr lang="zh-CN" altLang="en-US" sz="2400" dirty="0">
                <a:solidFill>
                  <a:schemeClr val="tx1"/>
                </a:solidFill>
                <a:latin typeface="Times New Roman" panose="02020603050405020304" pitchFamily="18" charset="0"/>
                <a:ea typeface="微软雅黑" pitchFamily="34" charset="-122"/>
              </a:rPr>
              <a:t>３：　９０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Ｅ</a:t>
            </a:r>
          </a:p>
          <a:p>
            <a:pPr>
              <a:lnSpc>
                <a:spcPct val="150000"/>
              </a:lnSpc>
            </a:pPr>
            <a:r>
              <a:rPr lang="zh-CN" altLang="en-US" sz="2400" dirty="0">
                <a:solidFill>
                  <a:schemeClr val="tx1"/>
                </a:solidFill>
                <a:latin typeface="Times New Roman" panose="02020603050405020304" pitchFamily="18" charset="0"/>
                <a:ea typeface="微软雅黑" pitchFamily="34" charset="-122"/>
              </a:rPr>
              <a:t>Ｌａ Ｌｏ</a:t>
            </a:r>
          </a:p>
          <a:p>
            <a:pPr>
              <a:lnSpc>
                <a:spcPct val="150000"/>
              </a:lnSpc>
            </a:pPr>
            <a:r>
              <a:rPr lang="zh-CN" altLang="en-US" sz="2400" dirty="0">
                <a:solidFill>
                  <a:schemeClr val="tx1"/>
                </a:solidFill>
                <a:latin typeface="Times New Roman" panose="02020603050405020304" pitchFamily="18" charset="0"/>
                <a:ea typeface="微软雅黑" pitchFamily="34" charset="-122"/>
              </a:rPr>
              <a:t>分别表示纬度和经度的整度数，并略去百位数</a:t>
            </a:r>
          </a:p>
          <a:p>
            <a:pPr>
              <a:lnSpc>
                <a:spcPct val="150000"/>
              </a:lnSpc>
            </a:pPr>
            <a:r>
              <a:rPr lang="zh-CN" altLang="en-US" sz="2400" dirty="0">
                <a:solidFill>
                  <a:schemeClr val="tx1"/>
                </a:solidFill>
                <a:latin typeface="Times New Roman" panose="02020603050405020304" pitchFamily="18" charset="0"/>
                <a:ea typeface="微软雅黑" pitchFamily="34" charset="-122"/>
              </a:rPr>
              <a:t>如附加点为　２４０１７</a:t>
            </a:r>
          </a:p>
          <a:p>
            <a:pPr>
              <a:lnSpc>
                <a:spcPct val="150000"/>
              </a:lnSpc>
            </a:pPr>
            <a:r>
              <a:rPr lang="zh-CN" altLang="en-US" sz="2400" dirty="0">
                <a:solidFill>
                  <a:schemeClr val="tx1"/>
                </a:solidFill>
                <a:latin typeface="Times New Roman" panose="02020603050405020304" pitchFamily="18" charset="0"/>
                <a:ea typeface="微软雅黑" pitchFamily="34" charset="-122"/>
              </a:rPr>
              <a:t>表示该点在北半球，北纬４０</a:t>
            </a:r>
            <a:r>
              <a:rPr lang="en-US" altLang="zh-CN" sz="2400" dirty="0">
                <a:solidFill>
                  <a:schemeClr val="tx1"/>
                </a:solidFill>
                <a:latin typeface="Times New Roman" panose="02020603050405020304" pitchFamily="18" charset="0"/>
                <a:ea typeface="微软雅黑" pitchFamily="34" charset="-122"/>
              </a:rPr>
              <a:t>°</a:t>
            </a:r>
            <a:r>
              <a:rPr lang="zh-CN" altLang="en-US" sz="2400" dirty="0">
                <a:solidFill>
                  <a:schemeClr val="tx1"/>
                </a:solidFill>
                <a:latin typeface="Times New Roman" panose="02020603050405020304" pitchFamily="18" charset="0"/>
                <a:ea typeface="微软雅黑" pitchFamily="34" charset="-122"/>
              </a:rPr>
              <a:t>　东经１１７</a:t>
            </a:r>
            <a:r>
              <a:rPr lang="en-US" altLang="zh-CN" sz="2400" dirty="0">
                <a:solidFill>
                  <a:schemeClr val="tx1"/>
                </a:solidFill>
                <a:latin typeface="Times New Roman" panose="02020603050405020304" pitchFamily="18" charset="0"/>
                <a:ea typeface="微软雅黑" pitchFamily="34" charset="-122"/>
              </a:rPr>
              <a:t>°</a:t>
            </a:r>
          </a:p>
          <a:p>
            <a:pPr>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34058906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3"/>
          <p:cNvSpPr>
            <a:spLocks noGrp="1" noChangeArrowheads="1"/>
          </p:cNvSpPr>
          <p:nvPr>
            <p:ph type="body" idx="4294967295"/>
          </p:nvPr>
        </p:nvSpPr>
        <p:spPr>
          <a:xfrm>
            <a:off x="1099930" y="238539"/>
            <a:ext cx="9110870" cy="6192425"/>
          </a:xfrm>
        </p:spPr>
        <p:txBody>
          <a:bodyPr>
            <a:normAutofit/>
          </a:bodyPr>
          <a:lstStyle/>
          <a:p>
            <a:pPr>
              <a:lnSpc>
                <a:spcPct val="150000"/>
              </a:lnSpc>
            </a:pPr>
            <a:r>
              <a:rPr lang="zh-CN" altLang="en-US" sz="2400" dirty="0">
                <a:solidFill>
                  <a:schemeClr val="tx1"/>
                </a:solidFill>
                <a:latin typeface="Times New Roman" panose="02020603050405020304" pitchFamily="18" charset="0"/>
                <a:ea typeface="微软雅黑" pitchFamily="34" charset="-122"/>
              </a:rPr>
              <a:t>２、航段指示组：</a:t>
            </a:r>
          </a:p>
          <a:p>
            <a:pPr>
              <a:lnSpc>
                <a:spcPct val="150000"/>
              </a:lnSpc>
            </a:pPr>
            <a:r>
              <a:rPr lang="zh-CN" altLang="en-US" sz="2400" dirty="0">
                <a:solidFill>
                  <a:schemeClr val="tx1"/>
                </a:solidFill>
                <a:latin typeface="Times New Roman" panose="02020603050405020304" pitchFamily="18" charset="0"/>
                <a:ea typeface="微软雅黑" pitchFamily="34" charset="-122"/>
              </a:rPr>
              <a:t>本组用在航路各段或各点预报的开头，</a:t>
            </a:r>
          </a:p>
          <a:p>
            <a:pPr>
              <a:lnSpc>
                <a:spcPct val="150000"/>
              </a:lnSpc>
            </a:pPr>
            <a:r>
              <a:rPr lang="zh-CN" altLang="en-US" sz="2400" dirty="0">
                <a:solidFill>
                  <a:schemeClr val="tx1"/>
                </a:solidFill>
                <a:latin typeface="Times New Roman" panose="02020603050405020304" pitchFamily="18" charset="0"/>
                <a:ea typeface="微软雅黑" pitchFamily="34" charset="-122"/>
              </a:rPr>
              <a:t>航段指示组电码含义</a:t>
            </a:r>
          </a:p>
          <a:p>
            <a:pPr>
              <a:lnSpc>
                <a:spcPct val="150000"/>
              </a:lnSpc>
            </a:pPr>
            <a:r>
              <a:rPr lang="zh-CN" altLang="en-US" sz="2400" dirty="0">
                <a:solidFill>
                  <a:schemeClr val="tx1"/>
                </a:solidFill>
                <a:latin typeface="Times New Roman" panose="02020603050405020304" pitchFamily="18" charset="0"/>
                <a:ea typeface="微软雅黑" pitchFamily="34" charset="-122"/>
              </a:rPr>
              <a:t>００　直至转折点（附加点）为止</a:t>
            </a:r>
          </a:p>
          <a:p>
            <a:pPr>
              <a:lnSpc>
                <a:spcPct val="150000"/>
              </a:lnSpc>
            </a:pPr>
            <a:r>
              <a:rPr lang="zh-CN" altLang="en-US" sz="2400" dirty="0">
                <a:solidFill>
                  <a:schemeClr val="tx1"/>
                </a:solidFill>
                <a:latin typeface="Times New Roman" panose="02020603050405020304" pitchFamily="18" charset="0"/>
                <a:ea typeface="微软雅黑" pitchFamily="34" charset="-122"/>
              </a:rPr>
              <a:t>０１　至纬度</a:t>
            </a:r>
          </a:p>
          <a:p>
            <a:pPr>
              <a:lnSpc>
                <a:spcPct val="150000"/>
              </a:lnSpc>
            </a:pPr>
            <a:r>
              <a:rPr lang="zh-CN" altLang="en-US" sz="2400" dirty="0">
                <a:solidFill>
                  <a:schemeClr val="tx1"/>
                </a:solidFill>
                <a:latin typeface="Times New Roman" panose="02020603050405020304" pitchFamily="18" charset="0"/>
                <a:ea typeface="微软雅黑" pitchFamily="34" charset="-122"/>
              </a:rPr>
              <a:t>０２　至经度</a:t>
            </a:r>
          </a:p>
          <a:p>
            <a:pPr>
              <a:lnSpc>
                <a:spcPct val="150000"/>
              </a:lnSpc>
            </a:pPr>
            <a:r>
              <a:rPr lang="zh-CN" altLang="en-US" sz="2400" dirty="0">
                <a:solidFill>
                  <a:schemeClr val="tx1"/>
                </a:solidFill>
                <a:latin typeface="Times New Roman" panose="02020603050405020304" pitchFamily="18" charset="0"/>
                <a:ea typeface="微软雅黑" pitchFamily="34" charset="-122"/>
              </a:rPr>
              <a:t>０３　至ＣＣＣＣ站</a:t>
            </a:r>
          </a:p>
          <a:p>
            <a:pPr>
              <a:lnSpc>
                <a:spcPct val="150000"/>
              </a:lnSpc>
            </a:pPr>
            <a:r>
              <a:rPr lang="zh-CN" altLang="en-US" sz="2400" dirty="0">
                <a:solidFill>
                  <a:schemeClr val="tx1"/>
                </a:solidFill>
                <a:latin typeface="Times New Roman" panose="02020603050405020304" pitchFamily="18" charset="0"/>
                <a:ea typeface="微软雅黑" pitchFamily="34" charset="-122"/>
              </a:rPr>
              <a:t>０４　至距前一地点ＮＮＮ　ＫＭ处</a:t>
            </a:r>
          </a:p>
          <a:p>
            <a:pPr>
              <a:lnSpc>
                <a:spcPct val="150000"/>
              </a:lnSpc>
            </a:pPr>
            <a:r>
              <a:rPr lang="zh-CN" altLang="en-US" sz="2400" dirty="0">
                <a:solidFill>
                  <a:schemeClr val="tx1"/>
                </a:solidFill>
                <a:latin typeface="Times New Roman" panose="02020603050405020304" pitchFamily="18" charset="0"/>
                <a:ea typeface="微软雅黑" pitchFamily="34" charset="-122"/>
              </a:rPr>
              <a:t>０５　至气象编号地区５号地带</a:t>
            </a:r>
          </a:p>
          <a:p>
            <a:pPr>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1018095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3"/>
          <p:cNvSpPr>
            <a:spLocks noGrp="1" noChangeArrowheads="1"/>
          </p:cNvSpPr>
          <p:nvPr>
            <p:ph type="body" idx="4294967295"/>
          </p:nvPr>
        </p:nvSpPr>
        <p:spPr>
          <a:xfrm>
            <a:off x="1205948" y="195470"/>
            <a:ext cx="8229600" cy="5486400"/>
          </a:xfrm>
        </p:spPr>
        <p:txBody>
          <a:bodyPr/>
          <a:lstStyle/>
          <a:p>
            <a:pPr>
              <a:lnSpc>
                <a:spcPct val="150000"/>
              </a:lnSpc>
            </a:pPr>
            <a:r>
              <a:rPr lang="zh-CN" altLang="en-US" sz="2400" dirty="0">
                <a:solidFill>
                  <a:schemeClr val="tx1"/>
                </a:solidFill>
                <a:latin typeface="微软雅黑" pitchFamily="34" charset="-122"/>
                <a:ea typeface="微软雅黑" pitchFamily="34" charset="-122"/>
              </a:rPr>
              <a:t>０６　在纬度ＬａＬａ处</a:t>
            </a:r>
          </a:p>
          <a:p>
            <a:pPr>
              <a:lnSpc>
                <a:spcPct val="150000"/>
              </a:lnSpc>
            </a:pPr>
            <a:r>
              <a:rPr lang="zh-CN" altLang="en-US" sz="2400" dirty="0">
                <a:solidFill>
                  <a:schemeClr val="tx1"/>
                </a:solidFill>
                <a:latin typeface="微软雅黑" pitchFamily="34" charset="-122"/>
                <a:ea typeface="微软雅黑" pitchFamily="34" charset="-122"/>
              </a:rPr>
              <a:t>０７　在经度ＬｏＬｏ处</a:t>
            </a:r>
          </a:p>
          <a:p>
            <a:pPr>
              <a:lnSpc>
                <a:spcPct val="150000"/>
              </a:lnSpc>
            </a:pPr>
            <a:r>
              <a:rPr lang="zh-CN" altLang="en-US" sz="2400" dirty="0">
                <a:solidFill>
                  <a:schemeClr val="tx1"/>
                </a:solidFill>
                <a:latin typeface="微软雅黑" pitchFamily="34" charset="-122"/>
                <a:ea typeface="微软雅黑" pitchFamily="34" charset="-122"/>
              </a:rPr>
              <a:t>０９　在距前一地点ＮＮＮ　ＫＭ处</a:t>
            </a:r>
          </a:p>
          <a:p>
            <a:pPr>
              <a:lnSpc>
                <a:spcPct val="150000"/>
              </a:lnSpc>
            </a:pPr>
            <a:endParaRPr lang="zh-CN" altLang="en-US" sz="2400" dirty="0">
              <a:solidFill>
                <a:schemeClr val="tx1"/>
              </a:solidFill>
              <a:latin typeface="微软雅黑" pitchFamily="34" charset="-122"/>
              <a:ea typeface="微软雅黑" pitchFamily="34" charset="-122"/>
            </a:endParaRPr>
          </a:p>
          <a:p>
            <a:pPr>
              <a:lnSpc>
                <a:spcPct val="150000"/>
              </a:lnSpc>
            </a:pPr>
            <a:r>
              <a:rPr lang="zh-CN" altLang="en-US" sz="2400" dirty="0">
                <a:solidFill>
                  <a:schemeClr val="tx1"/>
                </a:solidFill>
                <a:latin typeface="微软雅黑" pitchFamily="34" charset="-122"/>
                <a:ea typeface="微软雅黑" pitchFamily="34" charset="-122"/>
              </a:rPr>
              <a:t>如０３ＺＢＡＡ</a:t>
            </a:r>
          </a:p>
          <a:p>
            <a:pPr>
              <a:lnSpc>
                <a:spcPct val="150000"/>
              </a:lnSpc>
            </a:pPr>
            <a:r>
              <a:rPr lang="zh-CN" altLang="en-US" sz="2400" dirty="0">
                <a:solidFill>
                  <a:schemeClr val="tx1"/>
                </a:solidFill>
                <a:latin typeface="微软雅黑" pitchFamily="34" charset="-122"/>
                <a:ea typeface="微软雅黑" pitchFamily="34" charset="-122"/>
              </a:rPr>
              <a:t>表示直到首都机场</a:t>
            </a:r>
          </a:p>
          <a:p>
            <a:pPr>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13845889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3"/>
          <p:cNvSpPr>
            <a:spLocks noGrp="1" noChangeArrowheads="1"/>
          </p:cNvSpPr>
          <p:nvPr>
            <p:ph type="body" idx="4294967295"/>
          </p:nvPr>
        </p:nvSpPr>
        <p:spPr>
          <a:xfrm>
            <a:off x="675861" y="0"/>
            <a:ext cx="9306339" cy="6172200"/>
          </a:xfrm>
        </p:spPr>
        <p:txBody>
          <a:bodyPr>
            <a:normAutofit/>
          </a:bodyPr>
          <a:lstStyle/>
          <a:p>
            <a:pPr>
              <a:lnSpc>
                <a:spcPct val="150000"/>
              </a:lnSpc>
            </a:pPr>
            <a:r>
              <a:rPr lang="en-US" altLang="zh-CN" sz="2400" dirty="0">
                <a:solidFill>
                  <a:schemeClr val="tx1"/>
                </a:solidFill>
                <a:latin typeface="微软雅黑" pitchFamily="34" charset="-122"/>
                <a:ea typeface="微软雅黑" pitchFamily="34" charset="-122"/>
              </a:rPr>
              <a:t>3</a:t>
            </a:r>
            <a:r>
              <a:rPr lang="zh-CN" altLang="en-US" sz="2400" dirty="0">
                <a:solidFill>
                  <a:schemeClr val="tx1"/>
                </a:solidFill>
                <a:latin typeface="微软雅黑" pitchFamily="34" charset="-122"/>
                <a:ea typeface="微软雅黑" pitchFamily="34" charset="-122"/>
              </a:rPr>
              <a:t>、天气现象组：</a:t>
            </a:r>
          </a:p>
          <a:p>
            <a:pPr>
              <a:lnSpc>
                <a:spcPct val="150000"/>
              </a:lnSpc>
            </a:pPr>
            <a:r>
              <a:rPr lang="zh-CN" altLang="en-US" sz="2400" dirty="0">
                <a:solidFill>
                  <a:schemeClr val="tx1"/>
                </a:solidFill>
                <a:latin typeface="微软雅黑" pitchFamily="34" charset="-122"/>
                <a:ea typeface="微软雅黑" pitchFamily="34" charset="-122"/>
              </a:rPr>
              <a:t>雷暴             </a:t>
            </a:r>
            <a:r>
              <a:rPr lang="en-US" altLang="zh-CN" sz="2400" dirty="0">
                <a:solidFill>
                  <a:schemeClr val="tx1"/>
                </a:solidFill>
                <a:latin typeface="微软雅黑" pitchFamily="34" charset="-122"/>
                <a:ea typeface="微软雅黑" pitchFamily="34" charset="-122"/>
              </a:rPr>
              <a:t>111</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TS</a:t>
            </a:r>
          </a:p>
          <a:p>
            <a:pPr>
              <a:lnSpc>
                <a:spcPct val="150000"/>
              </a:lnSpc>
            </a:pPr>
            <a:r>
              <a:rPr lang="zh-CN" altLang="en-US" sz="2400" dirty="0">
                <a:solidFill>
                  <a:schemeClr val="tx1"/>
                </a:solidFill>
                <a:latin typeface="微软雅黑" pitchFamily="34" charset="-122"/>
                <a:ea typeface="微软雅黑" pitchFamily="34" charset="-122"/>
              </a:rPr>
              <a:t>热带 气旋    </a:t>
            </a:r>
            <a:r>
              <a:rPr lang="en-US" altLang="zh-CN" sz="2400" dirty="0">
                <a:solidFill>
                  <a:schemeClr val="tx1"/>
                </a:solidFill>
                <a:latin typeface="微软雅黑" pitchFamily="34" charset="-122"/>
                <a:ea typeface="微软雅黑" pitchFamily="34" charset="-122"/>
              </a:rPr>
              <a:t>222</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TRS</a:t>
            </a:r>
          </a:p>
          <a:p>
            <a:pPr>
              <a:lnSpc>
                <a:spcPct val="150000"/>
              </a:lnSpc>
            </a:pPr>
            <a:r>
              <a:rPr lang="zh-CN" altLang="en-US" sz="2400" dirty="0">
                <a:solidFill>
                  <a:schemeClr val="tx1"/>
                </a:solidFill>
                <a:latin typeface="微软雅黑" pitchFamily="34" charset="-122"/>
                <a:ea typeface="微软雅黑" pitchFamily="34" charset="-122"/>
              </a:rPr>
              <a:t>强飑线         </a:t>
            </a:r>
            <a:r>
              <a:rPr lang="en-US" altLang="zh-CN" sz="2400" dirty="0">
                <a:solidFill>
                  <a:schemeClr val="tx1"/>
                </a:solidFill>
                <a:latin typeface="微软雅黑" pitchFamily="34" charset="-122"/>
                <a:ea typeface="微软雅黑" pitchFamily="34" charset="-122"/>
              </a:rPr>
              <a:t>333</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LSQ</a:t>
            </a:r>
          </a:p>
          <a:p>
            <a:pPr>
              <a:lnSpc>
                <a:spcPct val="150000"/>
              </a:lnSpc>
            </a:pPr>
            <a:r>
              <a:rPr lang="zh-CN" altLang="en-US" sz="2400" dirty="0">
                <a:solidFill>
                  <a:schemeClr val="tx1"/>
                </a:solidFill>
                <a:latin typeface="微软雅黑" pitchFamily="34" charset="-122"/>
                <a:ea typeface="微软雅黑" pitchFamily="34" charset="-122"/>
              </a:rPr>
              <a:t>冰雹             </a:t>
            </a:r>
            <a:r>
              <a:rPr lang="en-US" altLang="zh-CN" sz="2400" dirty="0">
                <a:solidFill>
                  <a:schemeClr val="tx1"/>
                </a:solidFill>
                <a:latin typeface="微软雅黑" pitchFamily="34" charset="-122"/>
                <a:ea typeface="微软雅黑" pitchFamily="34" charset="-122"/>
              </a:rPr>
              <a:t>444</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HAIL</a:t>
            </a:r>
          </a:p>
          <a:p>
            <a:pPr>
              <a:lnSpc>
                <a:spcPct val="150000"/>
              </a:lnSpc>
            </a:pPr>
            <a:r>
              <a:rPr lang="zh-CN" altLang="en-US" sz="2400" dirty="0">
                <a:solidFill>
                  <a:schemeClr val="tx1"/>
                </a:solidFill>
                <a:latin typeface="微软雅黑" pitchFamily="34" charset="-122"/>
                <a:ea typeface="微软雅黑" pitchFamily="34" charset="-122"/>
              </a:rPr>
              <a:t>地形波         </a:t>
            </a:r>
            <a:r>
              <a:rPr lang="en-US" altLang="zh-CN" sz="2400" dirty="0">
                <a:solidFill>
                  <a:schemeClr val="tx1"/>
                </a:solidFill>
                <a:latin typeface="微软雅黑" pitchFamily="34" charset="-122"/>
                <a:ea typeface="微软雅黑" pitchFamily="34" charset="-122"/>
              </a:rPr>
              <a:t>555</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MTW</a:t>
            </a:r>
          </a:p>
          <a:p>
            <a:pPr>
              <a:lnSpc>
                <a:spcPct val="150000"/>
              </a:lnSpc>
            </a:pPr>
            <a:r>
              <a:rPr lang="zh-CN" altLang="en-US" sz="2400" dirty="0">
                <a:solidFill>
                  <a:schemeClr val="tx1"/>
                </a:solidFill>
                <a:latin typeface="微软雅黑" pitchFamily="34" charset="-122"/>
                <a:ea typeface="微软雅黑" pitchFamily="34" charset="-122"/>
              </a:rPr>
              <a:t>沙暴             </a:t>
            </a:r>
            <a:r>
              <a:rPr lang="en-US" altLang="zh-CN" sz="2400" dirty="0">
                <a:solidFill>
                  <a:schemeClr val="tx1"/>
                </a:solidFill>
                <a:latin typeface="微软雅黑" pitchFamily="34" charset="-122"/>
                <a:ea typeface="微软雅黑" pitchFamily="34" charset="-122"/>
              </a:rPr>
              <a:t>666</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SAND</a:t>
            </a:r>
          </a:p>
          <a:p>
            <a:pPr>
              <a:lnSpc>
                <a:spcPct val="150000"/>
              </a:lnSpc>
            </a:pPr>
            <a:r>
              <a:rPr lang="zh-CN" altLang="en-US" sz="2400" dirty="0">
                <a:solidFill>
                  <a:schemeClr val="tx1"/>
                </a:solidFill>
                <a:latin typeface="微软雅黑" pitchFamily="34" charset="-122"/>
                <a:ea typeface="微软雅黑" pitchFamily="34" charset="-122"/>
              </a:rPr>
              <a:t>尘暴              </a:t>
            </a:r>
            <a:r>
              <a:rPr lang="en-US" altLang="zh-CN" sz="2400" dirty="0">
                <a:solidFill>
                  <a:schemeClr val="tx1"/>
                </a:solidFill>
                <a:latin typeface="微软雅黑" pitchFamily="34" charset="-122"/>
                <a:ea typeface="微软雅黑" pitchFamily="34" charset="-122"/>
              </a:rPr>
              <a:t>777</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DUST</a:t>
            </a:r>
          </a:p>
          <a:p>
            <a:pPr>
              <a:lnSpc>
                <a:spcPct val="150000"/>
              </a:lnSpc>
            </a:pPr>
            <a:r>
              <a:rPr lang="zh-CN" altLang="en-US" sz="2400" dirty="0">
                <a:solidFill>
                  <a:schemeClr val="tx1"/>
                </a:solidFill>
                <a:latin typeface="微软雅黑" pitchFamily="34" charset="-122"/>
                <a:ea typeface="微软雅黑" pitchFamily="34" charset="-122"/>
              </a:rPr>
              <a:t>冻雨              </a:t>
            </a:r>
            <a:r>
              <a:rPr lang="en-US" altLang="zh-CN" sz="2400" dirty="0">
                <a:solidFill>
                  <a:schemeClr val="tx1"/>
                </a:solidFill>
                <a:latin typeface="微软雅黑" pitchFamily="34" charset="-122"/>
                <a:ea typeface="微软雅黑" pitchFamily="34" charset="-122"/>
              </a:rPr>
              <a:t>888</a:t>
            </a:r>
            <a:r>
              <a:rPr lang="zh-CN" altLang="en-US" sz="2400" dirty="0">
                <a:solidFill>
                  <a:schemeClr val="tx1"/>
                </a:solidFill>
                <a:latin typeface="微软雅黑" pitchFamily="34" charset="-122"/>
                <a:ea typeface="微软雅黑" pitchFamily="34" charset="-122"/>
              </a:rPr>
              <a:t>或</a:t>
            </a:r>
            <a:r>
              <a:rPr lang="en-US" altLang="zh-CN" sz="2400" dirty="0">
                <a:solidFill>
                  <a:schemeClr val="tx1"/>
                </a:solidFill>
                <a:latin typeface="微软雅黑" pitchFamily="34" charset="-122"/>
                <a:ea typeface="微软雅黑" pitchFamily="34" charset="-122"/>
              </a:rPr>
              <a:t>FZR</a:t>
            </a:r>
          </a:p>
          <a:p>
            <a:pPr>
              <a:lnSpc>
                <a:spcPct val="120000"/>
              </a:lnSpc>
            </a:pPr>
            <a:endParaRPr lang="en-US" altLang="zh-CN" sz="2800" dirty="0">
              <a:latin typeface="微软雅黑" pitchFamily="34" charset="-122"/>
              <a:ea typeface="微软雅黑" pitchFamily="34" charset="-122"/>
            </a:endParaRPr>
          </a:p>
        </p:txBody>
      </p:sp>
    </p:spTree>
    <p:extLst>
      <p:ext uri="{BB962C8B-B14F-4D97-AF65-F5344CB8AC3E}">
        <p14:creationId xmlns:p14="http://schemas.microsoft.com/office/powerpoint/2010/main" val="18978877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A0B229-A845-441F-A5C1-2C2AC3F6448B}"/>
              </a:ext>
            </a:extLst>
          </p:cNvPr>
          <p:cNvSpPr txBox="1"/>
          <p:nvPr/>
        </p:nvSpPr>
        <p:spPr>
          <a:xfrm>
            <a:off x="940904" y="424070"/>
            <a:ext cx="9462053" cy="1133965"/>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4</a:t>
            </a:r>
            <a:r>
              <a:rPr lang="zh-CN" altLang="en-US" sz="2400" dirty="0">
                <a:latin typeface="Times New Roman" panose="02020603050405020304" pitchFamily="18" charset="0"/>
                <a:ea typeface="微软雅黑" panose="020B0503020204020204" pitchFamily="34" charset="-122"/>
              </a:rPr>
              <a:t>、云组和</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字组    </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zh-CN" altLang="en-US" sz="2400" dirty="0">
                <a:latin typeface="Times New Roman" panose="02020603050405020304" pitchFamily="18" charset="0"/>
                <a:ea typeface="微软雅黑" panose="020B0503020204020204" pitchFamily="34" charset="-122"/>
              </a:rPr>
              <a:t>云的预报与航站报相同，</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为云顶高度指示码，</a:t>
            </a:r>
          </a:p>
        </p:txBody>
      </p:sp>
      <p:pic>
        <p:nvPicPr>
          <p:cNvPr id="3" name="图片 2">
            <a:extLst>
              <a:ext uri="{FF2B5EF4-FFF2-40B4-BE49-F238E27FC236}">
                <a16:creationId xmlns:a16="http://schemas.microsoft.com/office/drawing/2014/main" id="{C0924F8C-9DE5-4357-BA2B-B09E62FE800F}"/>
              </a:ext>
            </a:extLst>
          </p:cNvPr>
          <p:cNvPicPr>
            <a:picLocks noChangeAspect="1"/>
          </p:cNvPicPr>
          <p:nvPr/>
        </p:nvPicPr>
        <p:blipFill>
          <a:blip r:embed="rId2"/>
          <a:stretch>
            <a:fillRect/>
          </a:stretch>
        </p:blipFill>
        <p:spPr>
          <a:xfrm>
            <a:off x="7186733" y="991052"/>
            <a:ext cx="1237595" cy="640135"/>
          </a:xfrm>
          <a:prstGeom prst="rect">
            <a:avLst/>
          </a:prstGeom>
        </p:spPr>
      </p:pic>
      <p:sp>
        <p:nvSpPr>
          <p:cNvPr id="4" name="文本框 3">
            <a:extLst>
              <a:ext uri="{FF2B5EF4-FFF2-40B4-BE49-F238E27FC236}">
                <a16:creationId xmlns:a16="http://schemas.microsoft.com/office/drawing/2014/main" id="{A6BA0A88-0559-41EF-B9DA-159BF92F1144}"/>
              </a:ext>
            </a:extLst>
          </p:cNvPr>
          <p:cNvSpPr txBox="1"/>
          <p:nvPr/>
        </p:nvSpPr>
        <p:spPr>
          <a:xfrm>
            <a:off x="1046922" y="1815548"/>
            <a:ext cx="9276521" cy="2796856"/>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为</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℃层高。对每一层云，必须对应的使用云组和</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字组，航线上的云顶高度采用海拔高度。若预报了两个云组但只预报一个</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℃层高，则第二个</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字组应编报为“</a:t>
            </a:r>
            <a:r>
              <a:rPr lang="en-US" altLang="zh-CN" sz="2400" dirty="0">
                <a:latin typeface="Times New Roman" panose="02020603050405020304" pitchFamily="18" charset="0"/>
                <a:ea typeface="微软雅黑" panose="020B0503020204020204" pitchFamily="34" charset="-122"/>
              </a:rPr>
              <a:t>7hththt///</a:t>
            </a:r>
            <a:r>
              <a:rPr lang="zh-CN" altLang="en-US" sz="2400" dirty="0">
                <a:latin typeface="Times New Roman" panose="02020603050405020304" pitchFamily="18" charset="0"/>
                <a:ea typeface="微软雅黑" panose="020B0503020204020204" pitchFamily="34" charset="-122"/>
              </a:rPr>
              <a:t>”，表示</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℃层高度同前。若只预报了一个云组，但预报了两个</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℃层高，则第二个</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字组应编报为“</a:t>
            </a:r>
            <a:r>
              <a:rPr lang="en-US" altLang="zh-CN" sz="2400" dirty="0">
                <a:latin typeface="Times New Roman" panose="02020603050405020304" pitchFamily="18" charset="0"/>
                <a:ea typeface="微软雅黑" panose="020B0503020204020204" pitchFamily="34" charset="-122"/>
              </a:rPr>
              <a:t>7///</a:t>
            </a:r>
            <a:r>
              <a:rPr lang="en-US" altLang="zh-CN" sz="2400" dirty="0" err="1">
                <a:latin typeface="Times New Roman" panose="02020603050405020304" pitchFamily="18" charset="0"/>
                <a:ea typeface="微软雅黑" panose="020B0503020204020204" pitchFamily="34" charset="-122"/>
              </a:rPr>
              <a:t>hfhfhf</a:t>
            </a:r>
            <a:r>
              <a:rPr lang="zh-CN" altLang="en-US" sz="2400" dirty="0">
                <a:latin typeface="Times New Roman" panose="02020603050405020304" pitchFamily="18" charset="0"/>
                <a:ea typeface="微软雅黑" panose="020B0503020204020204" pitchFamily="34" charset="-122"/>
              </a:rPr>
              <a:t>”，表示云顶高度不详。</a:t>
            </a:r>
          </a:p>
        </p:txBody>
      </p:sp>
    </p:spTree>
    <p:extLst>
      <p:ext uri="{BB962C8B-B14F-4D97-AF65-F5344CB8AC3E}">
        <p14:creationId xmlns:p14="http://schemas.microsoft.com/office/powerpoint/2010/main" val="9946622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73126FC-136F-45AC-9834-46F7257917CE}"/>
                  </a:ext>
                </a:extLst>
              </p:cNvPr>
              <p:cNvSpPr txBox="1"/>
              <p:nvPr/>
            </p:nvSpPr>
            <p:spPr>
              <a:xfrm>
                <a:off x="1205948" y="437322"/>
                <a:ext cx="9223513" cy="3904852"/>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第五组  （</a:t>
                </a:r>
                <a:r>
                  <a:rPr lang="en-US" altLang="zh-CN" sz="2400" dirty="0">
                    <a:latin typeface="Times New Roman" panose="02020603050405020304" pitchFamily="18" charset="0"/>
                    <a:ea typeface="微软雅黑" panose="020B0503020204020204" pitchFamily="34" charset="-122"/>
                  </a:rPr>
                  <a:t>6IchihihitL</a:t>
                </a:r>
                <a:r>
                  <a:rPr lang="zh-CN" altLang="en-US" sz="2400" dirty="0">
                    <a:latin typeface="Times New Roman" panose="02020603050405020304" pitchFamily="18" charset="0"/>
                    <a:ea typeface="微软雅黑" panose="020B0503020204020204" pitchFamily="34" charset="-122"/>
                  </a:rPr>
                  <a:t>）积冰组</a:t>
                </a:r>
              </a:p>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6”</a:t>
                </a:r>
                <a:r>
                  <a:rPr lang="zh-CN" altLang="en-US" sz="2400" dirty="0">
                    <a:latin typeface="Times New Roman" panose="02020603050405020304" pitchFamily="18" charset="0"/>
                    <a:ea typeface="微软雅黑" panose="020B0503020204020204" pitchFamily="34" charset="-122"/>
                  </a:rPr>
                  <a:t>为积冰指示码，“</a:t>
                </a:r>
                <a:r>
                  <a:rPr lang="en-US" altLang="zh-CN" sz="2400" dirty="0" err="1">
                    <a:latin typeface="Times New Roman" panose="02020603050405020304" pitchFamily="18" charset="0"/>
                    <a:ea typeface="微软雅黑" panose="020B0503020204020204" pitchFamily="34" charset="-122"/>
                  </a:rPr>
                  <a:t>hihihi</a:t>
                </a:r>
                <a:r>
                  <a:rPr lang="zh-CN" altLang="en-US" sz="2400" dirty="0">
                    <a:latin typeface="Times New Roman" panose="02020603050405020304" pitchFamily="18" charset="0"/>
                    <a:ea typeface="微软雅黑" panose="020B0503020204020204" pitchFamily="34" charset="-122"/>
                  </a:rPr>
                  <a:t>”为积冰层底的高度（</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电码</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latin typeface="Times New Roman" panose="02020603050405020304" pitchFamily="18" charset="0"/>
                    <a:ea typeface="微软雅黑" panose="020B0503020204020204" pitchFamily="34" charset="-122"/>
                  </a:rPr>
                  <a:t>30m</a:t>
                </a:r>
                <a:r>
                  <a:rPr lang="zh-CN" altLang="en-US" sz="2400" dirty="0">
                    <a:latin typeface="Times New Roman" panose="02020603050405020304" pitchFamily="18" charset="0"/>
                    <a:ea typeface="微软雅黑" panose="020B0503020204020204" pitchFamily="34" charset="-122"/>
                  </a:rPr>
                  <a:t>）；“</a:t>
                </a:r>
                <a:r>
                  <a:rPr lang="en-US" altLang="zh-CN" sz="2400" dirty="0" err="1">
                    <a:latin typeface="Times New Roman" panose="02020603050405020304" pitchFamily="18" charset="0"/>
                    <a:ea typeface="微软雅黑" panose="020B0503020204020204" pitchFamily="34" charset="-122"/>
                  </a:rPr>
                  <a:t>tL</a:t>
                </a:r>
                <a:r>
                  <a:rPr lang="zh-CN" altLang="en-US" sz="2400" dirty="0">
                    <a:latin typeface="Times New Roman" panose="02020603050405020304" pitchFamily="18" charset="0"/>
                    <a:ea typeface="微软雅黑" panose="020B0503020204020204" pitchFamily="34" charset="-122"/>
                  </a:rPr>
                  <a:t>”为积冰层厚度（</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电码</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latin typeface="Times New Roman" panose="02020603050405020304" pitchFamily="18" charset="0"/>
                    <a:ea typeface="微软雅黑" panose="020B0503020204020204" pitchFamily="34" charset="-122"/>
                  </a:rPr>
                  <a:t>300m </a:t>
                </a:r>
                <a:r>
                  <a:rPr lang="zh-CN" altLang="en-US" sz="2400" dirty="0">
                    <a:latin typeface="Times New Roman" panose="02020603050405020304" pitchFamily="18" charset="0"/>
                    <a:ea typeface="微软雅黑" panose="020B0503020204020204" pitchFamily="34" charset="-122"/>
                  </a:rPr>
                  <a:t>）；“</a:t>
                </a:r>
                <a:r>
                  <a:rPr lang="en-US" altLang="zh-CN" sz="2400" dirty="0" err="1">
                    <a:latin typeface="Times New Roman" panose="02020603050405020304" pitchFamily="18" charset="0"/>
                    <a:ea typeface="微软雅黑" panose="020B0503020204020204" pitchFamily="34" charset="-122"/>
                  </a:rPr>
                  <a:t>Ic</a:t>
                </a:r>
                <a:r>
                  <a:rPr lang="zh-CN" altLang="en-US" sz="2400" dirty="0">
                    <a:latin typeface="Times New Roman" panose="02020603050405020304" pitchFamily="18" charset="0"/>
                    <a:ea typeface="微软雅黑" panose="020B0503020204020204" pitchFamily="34" charset="-122"/>
                  </a:rPr>
                  <a:t>”为积冰类型。</a:t>
                </a:r>
                <a:endParaRPr lang="en-US" altLang="zh-CN" sz="2400" dirty="0">
                  <a:latin typeface="Times New Roman" panose="02020603050405020304" pitchFamily="18" charset="0"/>
                  <a:ea typeface="微软雅黑" panose="020B0503020204020204" pitchFamily="34" charset="-122"/>
                </a:endParaRPr>
              </a:p>
              <a:p>
                <a:pPr>
                  <a:lnSpc>
                    <a:spcPct val="150000"/>
                  </a:lnSpc>
                </a:pPr>
                <a:r>
                  <a:rPr lang="zh-CN" altLang="en-US" sz="2400" dirty="0">
                    <a:latin typeface="Times New Roman" panose="02020603050405020304" pitchFamily="18" charset="0"/>
                    <a:ea typeface="微软雅黑" panose="020B0503020204020204" pitchFamily="34" charset="-122"/>
                  </a:rPr>
                  <a:t>如“</a:t>
                </a:r>
                <a:r>
                  <a:rPr lang="en-US" altLang="zh-CN" sz="2400" dirty="0">
                    <a:latin typeface="Times New Roman" panose="02020603050405020304" pitchFamily="18" charset="0"/>
                    <a:ea typeface="微软雅黑" panose="020B0503020204020204" pitchFamily="34" charset="-122"/>
                  </a:rPr>
                  <a:t>621002</a:t>
                </a:r>
                <a:r>
                  <a:rPr lang="zh-CN" altLang="en-US" sz="2400" dirty="0">
                    <a:latin typeface="Times New Roman" panose="02020603050405020304" pitchFamily="18" charset="0"/>
                    <a:ea typeface="微软雅黑" panose="020B0503020204020204" pitchFamily="34" charset="-122"/>
                  </a:rPr>
                  <a:t>”为“在</a:t>
                </a:r>
                <a:r>
                  <a:rPr lang="en-US" altLang="zh-CN" sz="2400" dirty="0">
                    <a:latin typeface="Times New Roman" panose="02020603050405020304" pitchFamily="18" charset="0"/>
                    <a:ea typeface="微软雅黑" panose="020B0503020204020204" pitchFamily="34" charset="-122"/>
                  </a:rPr>
                  <a:t>3000m</a:t>
                </a:r>
                <a:r>
                  <a:rPr lang="zh-CN" altLang="en-US" sz="2400" dirty="0">
                    <a:latin typeface="Times New Roman" panose="02020603050405020304" pitchFamily="18" charset="0"/>
                    <a:ea typeface="微软雅黑" panose="020B0503020204020204" pitchFamily="34" charset="-122"/>
                  </a:rPr>
                  <a:t>高度上有厚度为</a:t>
                </a:r>
                <a:r>
                  <a:rPr lang="en-US" altLang="zh-CN" sz="2400" dirty="0">
                    <a:latin typeface="Times New Roman" panose="02020603050405020304" pitchFamily="18" charset="0"/>
                    <a:ea typeface="微软雅黑" panose="020B0503020204020204" pitchFamily="34" charset="-122"/>
                  </a:rPr>
                  <a:t>600m</a:t>
                </a:r>
                <a:r>
                  <a:rPr lang="zh-CN" altLang="en-US" sz="2400" dirty="0">
                    <a:latin typeface="Times New Roman" panose="02020603050405020304" pitchFamily="18" charset="0"/>
                    <a:ea typeface="微软雅黑" panose="020B0503020204020204" pitchFamily="34" charset="-122"/>
                  </a:rPr>
                  <a:t>”的云中轻度积冰。</a:t>
                </a:r>
              </a:p>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6.</a:t>
                </a:r>
                <a:r>
                  <a:rPr lang="zh-CN" altLang="en-US" sz="2400" dirty="0">
                    <a:latin typeface="Times New Roman" panose="02020603050405020304" pitchFamily="18" charset="0"/>
                    <a:ea typeface="微软雅黑" panose="020B0503020204020204" pitchFamily="34" charset="-122"/>
                  </a:rPr>
                  <a:t>第六组  （</a:t>
                </a:r>
                <a:r>
                  <a:rPr lang="en-US" altLang="zh-CN" sz="2400" dirty="0">
                    <a:latin typeface="Times New Roman" panose="02020603050405020304" pitchFamily="18" charset="0"/>
                    <a:ea typeface="微软雅黑" panose="020B0503020204020204" pitchFamily="34" charset="-122"/>
                  </a:rPr>
                  <a:t>5BhBhBhBtL</a:t>
                </a:r>
                <a:r>
                  <a:rPr lang="zh-CN" altLang="en-US" sz="2400" dirty="0">
                    <a:latin typeface="Times New Roman" panose="02020603050405020304" pitchFamily="18" charset="0"/>
                    <a:ea typeface="微软雅黑" panose="020B0503020204020204" pitchFamily="34" charset="-122"/>
                  </a:rPr>
                  <a:t>）     颠簸组  “</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为颠簸</a:t>
                </a:r>
                <a:r>
                  <a:rPr lang="zh-CN" altLang="en-US" sz="2400">
                    <a:latin typeface="Times New Roman" panose="02020603050405020304" pitchFamily="18" charset="0"/>
                    <a:ea typeface="微软雅黑" panose="020B0503020204020204" pitchFamily="34" charset="-122"/>
                  </a:rPr>
                  <a:t>指示码</a:t>
                </a:r>
                <a:endParaRPr lang="zh-CN" altLang="en-US" sz="2400" dirty="0">
                  <a:latin typeface="Times New Roman" panose="02020603050405020304" pitchFamily="18" charset="0"/>
                  <a:ea typeface="微软雅黑" panose="020B0503020204020204" pitchFamily="34" charset="-122"/>
                </a:endParaRPr>
              </a:p>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气温和风组  （</a:t>
                </a:r>
                <a:r>
                  <a:rPr lang="en-US" altLang="zh-CN" sz="2400" dirty="0">
                    <a:latin typeface="Times New Roman" panose="02020603050405020304" pitchFamily="18" charset="0"/>
                    <a:ea typeface="微软雅黑" panose="020B0503020204020204" pitchFamily="34" charset="-122"/>
                  </a:rPr>
                  <a:t>4hxhxhxTxTx     </a:t>
                </a:r>
                <a:r>
                  <a:rPr lang="en-US" altLang="zh-CN" sz="2400" dirty="0" err="1">
                    <a:latin typeface="Times New Roman" panose="02020603050405020304" pitchFamily="18" charset="0"/>
                    <a:ea typeface="微软雅黑" panose="020B0503020204020204" pitchFamily="34" charset="-122"/>
                  </a:rPr>
                  <a:t>dhdhfhfhfh</a:t>
                </a:r>
                <a:r>
                  <a:rPr lang="zh-CN" altLang="en-US" sz="2400" dirty="0">
                    <a:latin typeface="Times New Roman" panose="02020603050405020304" pitchFamily="18" charset="0"/>
                    <a:ea typeface="微软雅黑" panose="020B0503020204020204" pitchFamily="34" charset="-122"/>
                  </a:rPr>
                  <a:t>）</a:t>
                </a:r>
              </a:p>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8.</a:t>
                </a:r>
                <a:r>
                  <a:rPr lang="zh-CN" altLang="en-US" sz="2400" dirty="0">
                    <a:latin typeface="Times New Roman" panose="02020603050405020304" pitchFamily="18" charset="0"/>
                    <a:ea typeface="微软雅黑" panose="020B0503020204020204" pitchFamily="34" charset="-122"/>
                  </a:rPr>
                  <a:t>对流层顶组 </a:t>
                </a:r>
                <a:r>
                  <a:rPr lang="en-US" altLang="zh-CN" sz="2400" dirty="0">
                    <a:latin typeface="Times New Roman" panose="02020603050405020304" pitchFamily="18" charset="0"/>
                    <a:ea typeface="微软雅黑" panose="020B0503020204020204" pitchFamily="34" charset="-122"/>
                  </a:rPr>
                  <a:t>2h’ph’pTpTp</a:t>
                </a:r>
                <a:endParaRPr lang="zh-CN" altLang="en-US" sz="2400" dirty="0">
                  <a:latin typeface="Times New Roman" panose="02020603050405020304" pitchFamily="18" charset="0"/>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273126FC-136F-45AC-9834-46F7257917CE}"/>
                  </a:ext>
                </a:extLst>
              </p:cNvPr>
              <p:cNvSpPr txBox="1">
                <a:spLocks noRot="1" noChangeAspect="1" noMove="1" noResize="1" noEditPoints="1" noAdjustHandles="1" noChangeArrowheads="1" noChangeShapeType="1" noTextEdit="1"/>
              </p:cNvSpPr>
              <p:nvPr/>
            </p:nvSpPr>
            <p:spPr>
              <a:xfrm>
                <a:off x="1205948" y="437322"/>
                <a:ext cx="9223513" cy="3904852"/>
              </a:xfrm>
              <a:prstGeom prst="rect">
                <a:avLst/>
              </a:prstGeom>
              <a:blipFill>
                <a:blip r:embed="rId2"/>
                <a:stretch>
                  <a:fillRect l="-1058" r="-4362" b="-28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6627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ECE832E-8488-4065-9CAE-289881FCA5EE}"/>
              </a:ext>
            </a:extLst>
          </p:cNvPr>
          <p:cNvPicPr>
            <a:picLocks noChangeAspect="1"/>
          </p:cNvPicPr>
          <p:nvPr/>
        </p:nvPicPr>
        <p:blipFill rotWithShape="1">
          <a:blip r:embed="rId2"/>
          <a:srcRect l="5105" t="1884" r="13220"/>
          <a:stretch/>
        </p:blipFill>
        <p:spPr>
          <a:xfrm rot="16200000">
            <a:off x="2770289" y="-1440943"/>
            <a:ext cx="5582127" cy="9471178"/>
          </a:xfrm>
          <a:prstGeom prst="rect">
            <a:avLst/>
          </a:prstGeom>
        </p:spPr>
      </p:pic>
    </p:spTree>
    <p:extLst>
      <p:ext uri="{BB962C8B-B14F-4D97-AF65-F5344CB8AC3E}">
        <p14:creationId xmlns:p14="http://schemas.microsoft.com/office/powerpoint/2010/main" val="38667167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3"/>
          <p:cNvSpPr>
            <a:spLocks noGrp="1" noChangeArrowheads="1"/>
          </p:cNvSpPr>
          <p:nvPr>
            <p:ph type="body" idx="4294967295"/>
          </p:nvPr>
        </p:nvSpPr>
        <p:spPr>
          <a:xfrm>
            <a:off x="0" y="0"/>
            <a:ext cx="11436625" cy="5638800"/>
          </a:xfrm>
        </p:spPr>
        <p:txBody>
          <a:bodyPr>
            <a:noAutofit/>
          </a:bodyPr>
          <a:lstStyle/>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第二段和第三段说明：</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急流轴高度等于电码</a:t>
            </a:r>
            <a:r>
              <a:rPr lang="en-US" altLang="zh-CN" sz="2400" dirty="0">
                <a:solidFill>
                  <a:schemeClr val="tx1"/>
                </a:solidFill>
                <a:latin typeface="Times New Roman" panose="02020603050405020304" pitchFamily="18" charset="0"/>
                <a:ea typeface="微软雅黑" pitchFamily="34" charset="-122"/>
              </a:rPr>
              <a:t>×300</a:t>
            </a:r>
            <a:r>
              <a:rPr lang="zh-CN" altLang="en-US" sz="2400" dirty="0">
                <a:solidFill>
                  <a:schemeClr val="tx1"/>
                </a:solidFill>
                <a:latin typeface="Times New Roman" panose="02020603050405020304" pitchFamily="18" charset="0"/>
                <a:ea typeface="微软雅黑" pitchFamily="34" charset="-122"/>
              </a:rPr>
              <a:t>米；</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最大风速高度等于电码</a:t>
            </a:r>
            <a:r>
              <a:rPr lang="en-US" altLang="zh-CN" sz="2400" dirty="0">
                <a:solidFill>
                  <a:schemeClr val="tx1"/>
                </a:solidFill>
                <a:latin typeface="Times New Roman" panose="02020603050405020304" pitchFamily="18" charset="0"/>
                <a:ea typeface="微软雅黑" pitchFamily="34" charset="-122"/>
              </a:rPr>
              <a:t>×300</a:t>
            </a:r>
            <a:r>
              <a:rPr lang="zh-CN" altLang="en-US" sz="2400" dirty="0">
                <a:solidFill>
                  <a:schemeClr val="tx1"/>
                </a:solidFill>
                <a:latin typeface="Times New Roman" panose="02020603050405020304" pitchFamily="18" charset="0"/>
                <a:ea typeface="微软雅黑" pitchFamily="34" charset="-122"/>
              </a:rPr>
              <a:t>米或</a:t>
            </a:r>
            <a:r>
              <a:rPr lang="en-US" altLang="zh-CN" sz="2400" dirty="0">
                <a:solidFill>
                  <a:schemeClr val="tx1"/>
                </a:solidFill>
                <a:latin typeface="Times New Roman" panose="02020603050405020304" pitchFamily="18" charset="0"/>
                <a:ea typeface="微软雅黑" pitchFamily="34" charset="-122"/>
              </a:rPr>
              <a:t>1000</a:t>
            </a:r>
            <a:r>
              <a:rPr lang="zh-CN" altLang="en-US" sz="2400" dirty="0">
                <a:solidFill>
                  <a:schemeClr val="tx1"/>
                </a:solidFill>
                <a:latin typeface="Times New Roman" panose="02020603050405020304" pitchFamily="18" charset="0"/>
                <a:ea typeface="微软雅黑" pitchFamily="34" charset="-122"/>
              </a:rPr>
              <a:t>英尺</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风向等于电码</a:t>
            </a:r>
            <a:r>
              <a:rPr lang="en-US" altLang="zh-CN" sz="2400" dirty="0">
                <a:solidFill>
                  <a:schemeClr val="tx1"/>
                </a:solidFill>
                <a:latin typeface="Times New Roman" panose="02020603050405020304" pitchFamily="18" charset="0"/>
                <a:ea typeface="微软雅黑" pitchFamily="34" charset="-122"/>
              </a:rPr>
              <a:t>×10</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垂直风切变的单位（</a:t>
            </a:r>
            <a:r>
              <a:rPr lang="en-US" altLang="zh-CN" sz="2400" dirty="0">
                <a:solidFill>
                  <a:schemeClr val="tx1"/>
                </a:solidFill>
                <a:latin typeface="Times New Roman" panose="02020603050405020304" pitchFamily="18" charset="0"/>
                <a:ea typeface="微软雅黑" pitchFamily="34" charset="-122"/>
              </a:rPr>
              <a:t>KM/H</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/300M</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第四段 </a:t>
            </a:r>
            <a:r>
              <a:rPr lang="en-US" altLang="zh-CN" sz="2400" dirty="0">
                <a:solidFill>
                  <a:schemeClr val="tx1"/>
                </a:solidFill>
                <a:latin typeface="Times New Roman" panose="02020603050405020304" pitchFamily="18" charset="0"/>
                <a:ea typeface="微软雅黑" pitchFamily="34" charset="-122"/>
              </a:rPr>
              <a:t>9i3nnn</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 </a:t>
            </a:r>
            <a:r>
              <a:rPr lang="zh-CN" altLang="en-US" sz="2400" dirty="0">
                <a:solidFill>
                  <a:schemeClr val="tx1"/>
                </a:solidFill>
                <a:latin typeface="Times New Roman" panose="02020603050405020304" pitchFamily="18" charset="0"/>
                <a:ea typeface="微软雅黑" pitchFamily="34" charset="-122"/>
              </a:rPr>
              <a:t>该组用来表示预报内容的补充说明或变化</a:t>
            </a:r>
            <a:r>
              <a:rPr lang="en-US" altLang="zh-CN" sz="2400" dirty="0">
                <a:solidFill>
                  <a:schemeClr val="tx1"/>
                </a:solidFill>
                <a:latin typeface="Times New Roman" panose="02020603050405020304" pitchFamily="18" charset="0"/>
                <a:ea typeface="微软雅黑" pitchFamily="34" charset="-122"/>
              </a:rPr>
              <a:t>258  11—13</a:t>
            </a:r>
          </a:p>
          <a:p>
            <a:pPr>
              <a:lnSpc>
                <a:spcPct val="150000"/>
              </a:lnSpc>
              <a:buFontTx/>
              <a:buNone/>
            </a:pPr>
            <a:r>
              <a:rPr lang="en-US" altLang="zh-CN" sz="2400" dirty="0">
                <a:solidFill>
                  <a:schemeClr val="tx1"/>
                </a:solidFill>
                <a:latin typeface="Times New Roman" panose="02020603050405020304" pitchFamily="18" charset="0"/>
                <a:ea typeface="微软雅黑" pitchFamily="34" charset="-122"/>
              </a:rPr>
              <a:t>91</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92</a:t>
            </a:r>
            <a:r>
              <a:rPr lang="zh-CN" altLang="en-US" sz="2400" dirty="0">
                <a:solidFill>
                  <a:schemeClr val="tx1"/>
                </a:solidFill>
                <a:latin typeface="Times New Roman" panose="02020603050405020304" pitchFamily="18" charset="0"/>
                <a:ea typeface="微软雅黑" pitchFamily="34" charset="-122"/>
              </a:rPr>
              <a:t>、</a:t>
            </a:r>
            <a:r>
              <a:rPr lang="en-US" altLang="zh-CN" sz="2400" dirty="0">
                <a:solidFill>
                  <a:schemeClr val="tx1"/>
                </a:solidFill>
                <a:latin typeface="Times New Roman" panose="02020603050405020304" pitchFamily="18" charset="0"/>
                <a:ea typeface="微软雅黑" pitchFamily="34" charset="-122"/>
              </a:rPr>
              <a:t>93</a:t>
            </a:r>
            <a:r>
              <a:rPr lang="zh-CN" altLang="en-US" sz="2400" dirty="0">
                <a:solidFill>
                  <a:schemeClr val="tx1"/>
                </a:solidFill>
                <a:latin typeface="Times New Roman" panose="02020603050405020304" pitchFamily="18" charset="0"/>
                <a:ea typeface="微软雅黑" pitchFamily="34" charset="-122"/>
              </a:rPr>
              <a:t>和</a:t>
            </a:r>
            <a:r>
              <a:rPr lang="en-US" altLang="zh-CN" sz="2400" dirty="0">
                <a:solidFill>
                  <a:schemeClr val="tx1"/>
                </a:solidFill>
                <a:latin typeface="Times New Roman" panose="02020603050405020304" pitchFamily="18" charset="0"/>
                <a:ea typeface="微软雅黑" pitchFamily="34" charset="-122"/>
              </a:rPr>
              <a:t>94</a:t>
            </a:r>
            <a:r>
              <a:rPr lang="zh-CN" altLang="en-US" sz="2400" dirty="0">
                <a:solidFill>
                  <a:schemeClr val="tx1"/>
                </a:solidFill>
                <a:latin typeface="Times New Roman" panose="02020603050405020304" pitchFamily="18" charset="0"/>
                <a:ea typeface="微软雅黑" pitchFamily="34" charset="-122"/>
              </a:rPr>
              <a:t>放在航路报的有关部分的末</a:t>
            </a:r>
          </a:p>
          <a:p>
            <a:pPr>
              <a:lnSpc>
                <a:spcPct val="150000"/>
              </a:lnSpc>
              <a:buFontTx/>
              <a:buNone/>
            </a:pPr>
            <a:r>
              <a:rPr lang="zh-CN" altLang="en-US" sz="2400" dirty="0">
                <a:solidFill>
                  <a:schemeClr val="tx1"/>
                </a:solidFill>
                <a:latin typeface="Times New Roman" panose="02020603050405020304" pitchFamily="18" charset="0"/>
                <a:ea typeface="微软雅黑" pitchFamily="34" charset="-122"/>
              </a:rPr>
              <a:t>尾，</a:t>
            </a:r>
            <a:r>
              <a:rPr lang="en-US" altLang="zh-CN" sz="2400" dirty="0">
                <a:solidFill>
                  <a:schemeClr val="tx1"/>
                </a:solidFill>
                <a:latin typeface="Times New Roman" panose="02020603050405020304" pitchFamily="18" charset="0"/>
                <a:ea typeface="微软雅黑" pitchFamily="34" charset="-122"/>
              </a:rPr>
              <a:t>96</a:t>
            </a:r>
            <a:r>
              <a:rPr lang="zh-CN" altLang="en-US" sz="2400" dirty="0">
                <a:solidFill>
                  <a:schemeClr val="tx1"/>
                </a:solidFill>
                <a:latin typeface="Times New Roman" panose="02020603050405020304" pitchFamily="18" charset="0"/>
                <a:ea typeface="微软雅黑" pitchFamily="34" charset="-122"/>
              </a:rPr>
              <a:t>组后所描述要素情况在</a:t>
            </a:r>
            <a:r>
              <a:rPr lang="en-US" altLang="zh-CN" sz="2400" dirty="0">
                <a:solidFill>
                  <a:schemeClr val="tx1"/>
                </a:solidFill>
                <a:latin typeface="Times New Roman" panose="02020603050405020304" pitchFamily="18" charset="0"/>
                <a:ea typeface="微软雅黑" pitchFamily="34" charset="-122"/>
              </a:rPr>
              <a:t>GP</a:t>
            </a:r>
            <a:r>
              <a:rPr lang="zh-CN" altLang="en-US" sz="2400" dirty="0">
                <a:solidFill>
                  <a:schemeClr val="tx1"/>
                </a:solidFill>
                <a:latin typeface="Times New Roman" panose="02020603050405020304" pitchFamily="18" charset="0"/>
                <a:ea typeface="微软雅黑" pitchFamily="34" charset="-122"/>
              </a:rPr>
              <a:t>时段结束后仍然有效，直到第</a:t>
            </a:r>
            <a:r>
              <a:rPr lang="en-US" altLang="zh-CN" sz="2400" dirty="0">
                <a:solidFill>
                  <a:schemeClr val="tx1"/>
                </a:solidFill>
                <a:latin typeface="Times New Roman" panose="02020603050405020304" pitchFamily="18" charset="0"/>
                <a:ea typeface="微软雅黑" pitchFamily="34" charset="-122"/>
              </a:rPr>
              <a:t>2</a:t>
            </a:r>
            <a:r>
              <a:rPr lang="zh-CN" altLang="en-US" sz="2400" dirty="0">
                <a:solidFill>
                  <a:schemeClr val="tx1"/>
                </a:solidFill>
                <a:latin typeface="Times New Roman" panose="02020603050405020304" pitchFamily="18" charset="0"/>
                <a:ea typeface="微软雅黑" pitchFamily="34" charset="-122"/>
              </a:rPr>
              <a:t>个变化组出现时止。</a:t>
            </a:r>
          </a:p>
        </p:txBody>
      </p:sp>
    </p:spTree>
    <p:extLst>
      <p:ext uri="{BB962C8B-B14F-4D97-AF65-F5344CB8AC3E}">
        <p14:creationId xmlns:p14="http://schemas.microsoft.com/office/powerpoint/2010/main" val="34456514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02EA793-F2A2-4A76-935E-8E10DB7CC558}"/>
              </a:ext>
            </a:extLst>
          </p:cNvPr>
          <p:cNvSpPr txBox="1"/>
          <p:nvPr/>
        </p:nvSpPr>
        <p:spPr>
          <a:xfrm>
            <a:off x="384312" y="0"/>
            <a:ext cx="10787271" cy="5886227"/>
          </a:xfrm>
          <a:prstGeom prst="rect">
            <a:avLst/>
          </a:prstGeom>
          <a:noFill/>
        </p:spPr>
        <p:txBody>
          <a:bodyPr wrap="square" rtlCol="0">
            <a:spAutoFit/>
          </a:bodyPr>
          <a:lstStyle/>
          <a:p>
            <a:pPr>
              <a:lnSpc>
                <a:spcPct val="200000"/>
              </a:lnSpc>
            </a:pPr>
            <a:r>
              <a:rPr lang="zh-CN" altLang="en-US" sz="2400" dirty="0">
                <a:latin typeface="Times New Roman" panose="02020603050405020304" pitchFamily="18" charset="0"/>
                <a:ea typeface="微软雅黑" panose="020B0503020204020204" pitchFamily="34" charset="-122"/>
              </a:rPr>
              <a:t>举例</a:t>
            </a:r>
          </a:p>
          <a:p>
            <a:pPr>
              <a:lnSpc>
                <a:spcPct val="200000"/>
              </a:lnSpc>
            </a:pPr>
            <a:r>
              <a:rPr lang="en-US" altLang="zh-CN" sz="2400" dirty="0">
                <a:solidFill>
                  <a:schemeClr val="accent5"/>
                </a:solidFill>
                <a:latin typeface="Times New Roman" panose="02020603050405020304" pitchFamily="18" charset="0"/>
                <a:ea typeface="微软雅黑" panose="020B0503020204020204" pitchFamily="34" charset="-122"/>
              </a:rPr>
              <a:t>ROFOR 022006 KMH ZUUU ZBAA BKN070 7140150 OVC120 7180///621602 4160M07 25075</a:t>
            </a:r>
          </a:p>
          <a:p>
            <a:pPr>
              <a:lnSpc>
                <a:spcPct val="200000"/>
              </a:lnSpc>
            </a:pPr>
            <a:r>
              <a:rPr lang="zh-CN" altLang="en-US" sz="2400" dirty="0">
                <a:latin typeface="Times New Roman" panose="02020603050405020304" pitchFamily="18" charset="0"/>
                <a:ea typeface="微软雅黑" panose="020B0503020204020204" pitchFamily="34" charset="-122"/>
              </a:rPr>
              <a:t>预报有效时间为</a:t>
            </a:r>
            <a:r>
              <a:rPr lang="en-US" altLang="zh-CN" sz="2400" dirty="0">
                <a:latin typeface="Times New Roman" panose="02020603050405020304" pitchFamily="18" charset="0"/>
                <a:ea typeface="微软雅黑" panose="020B0503020204020204" pitchFamily="34" charset="-122"/>
              </a:rPr>
              <a:t>02</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22:00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）至次日</a:t>
            </a:r>
            <a:r>
              <a:rPr lang="en-US" altLang="zh-CN" sz="2400" dirty="0">
                <a:latin typeface="Times New Roman" panose="02020603050405020304" pitchFamily="18" charset="0"/>
                <a:ea typeface="微软雅黑" panose="020B0503020204020204" pitchFamily="34" charset="-122"/>
              </a:rPr>
              <a:t>06:00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），成都双流机场到首都国际机场的航路天气预报，有</a:t>
            </a:r>
            <a:r>
              <a:rPr lang="en-US" altLang="zh-CN" sz="2400" dirty="0">
                <a:latin typeface="Times New Roman" panose="02020603050405020304" pitchFamily="18" charset="0"/>
                <a:ea typeface="微软雅黑" panose="020B0503020204020204" pitchFamily="34" charset="-122"/>
              </a:rPr>
              <a:t>5/8-7/8</a:t>
            </a:r>
            <a:r>
              <a:rPr lang="zh-CN" altLang="en-US" sz="2400" dirty="0">
                <a:latin typeface="Times New Roman" panose="02020603050405020304" pitchFamily="18" charset="0"/>
                <a:ea typeface="微软雅黑" panose="020B0503020204020204" pitchFamily="34" charset="-122"/>
              </a:rPr>
              <a:t>的云量（或者多云），云底高</a:t>
            </a:r>
            <a:r>
              <a:rPr lang="en-US" altLang="zh-CN" sz="2400" dirty="0">
                <a:latin typeface="Times New Roman" panose="02020603050405020304" pitchFamily="18" charset="0"/>
                <a:ea typeface="微软雅黑" panose="020B0503020204020204" pitchFamily="34" charset="-122"/>
              </a:rPr>
              <a:t>2100m</a:t>
            </a:r>
            <a:r>
              <a:rPr lang="zh-CN" altLang="en-US" sz="2400" dirty="0">
                <a:latin typeface="Times New Roman" panose="02020603050405020304" pitchFamily="18" charset="0"/>
                <a:ea typeface="微软雅黑" panose="020B0503020204020204" pitchFamily="34" charset="-122"/>
              </a:rPr>
              <a:t>；云顶高为</a:t>
            </a:r>
            <a:r>
              <a:rPr lang="en-US" altLang="zh-CN" sz="2400" dirty="0">
                <a:latin typeface="Times New Roman" panose="02020603050405020304" pitchFamily="18" charset="0"/>
                <a:ea typeface="微软雅黑" panose="020B0503020204020204" pitchFamily="34" charset="-122"/>
              </a:rPr>
              <a:t>4200m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层高为</a:t>
            </a:r>
            <a:r>
              <a:rPr lang="en-US" altLang="zh-CN" sz="2400" dirty="0">
                <a:latin typeface="Times New Roman" panose="02020603050405020304" pitchFamily="18" charset="0"/>
                <a:ea typeface="微软雅黑" panose="020B0503020204020204" pitchFamily="34" charset="-122"/>
              </a:rPr>
              <a:t>4500m</a:t>
            </a:r>
            <a:r>
              <a:rPr lang="zh-CN" altLang="en-US" sz="2400" dirty="0">
                <a:latin typeface="Times New Roman" panose="02020603050405020304" pitchFamily="18" charset="0"/>
                <a:ea typeface="微软雅黑" panose="020B0503020204020204" pitchFamily="34" charset="-122"/>
              </a:rPr>
              <a:t>；有</a:t>
            </a:r>
            <a:r>
              <a:rPr lang="en-US" altLang="zh-CN" sz="2400" dirty="0">
                <a:latin typeface="Times New Roman" panose="02020603050405020304" pitchFamily="18" charset="0"/>
                <a:ea typeface="微软雅黑" panose="020B0503020204020204" pitchFamily="34" charset="-122"/>
              </a:rPr>
              <a:t>8/8</a:t>
            </a:r>
            <a:r>
              <a:rPr lang="zh-CN" altLang="en-US" sz="2400" dirty="0">
                <a:latin typeface="Times New Roman" panose="02020603050405020304" pitchFamily="18" charset="0"/>
                <a:ea typeface="微软雅黑" panose="020B0503020204020204" pitchFamily="34" charset="-122"/>
              </a:rPr>
              <a:t>的云量（或者阴天），云底高</a:t>
            </a:r>
            <a:r>
              <a:rPr lang="en-US" altLang="zh-CN" sz="2400" dirty="0">
                <a:latin typeface="Times New Roman" panose="02020603050405020304" pitchFamily="18" charset="0"/>
                <a:ea typeface="微软雅黑" panose="020B0503020204020204" pitchFamily="34" charset="-122"/>
              </a:rPr>
              <a:t>3600m</a:t>
            </a:r>
            <a:r>
              <a:rPr lang="zh-CN" altLang="en-US" sz="2400" dirty="0">
                <a:latin typeface="Times New Roman" panose="02020603050405020304" pitchFamily="18" charset="0"/>
                <a:ea typeface="微软雅黑" panose="020B0503020204020204" pitchFamily="34" charset="-122"/>
              </a:rPr>
              <a:t>；云顶高为</a:t>
            </a:r>
            <a:r>
              <a:rPr lang="en-US" altLang="zh-CN" sz="2400" dirty="0">
                <a:latin typeface="Times New Roman" panose="02020603050405020304" pitchFamily="18" charset="0"/>
                <a:ea typeface="微软雅黑" panose="020B0503020204020204" pitchFamily="34" charset="-122"/>
              </a:rPr>
              <a:t>5400m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层高为</a:t>
            </a:r>
            <a:r>
              <a:rPr lang="en-US" altLang="zh-CN" sz="2400" dirty="0">
                <a:latin typeface="Times New Roman" panose="02020603050405020304" pitchFamily="18" charset="0"/>
                <a:ea typeface="微软雅黑" panose="020B0503020204020204" pitchFamily="34" charset="-122"/>
              </a:rPr>
              <a:t>4500m</a:t>
            </a:r>
            <a:r>
              <a:rPr lang="zh-CN" altLang="en-US" sz="2400" dirty="0">
                <a:latin typeface="Times New Roman" panose="02020603050405020304" pitchFamily="18" charset="0"/>
                <a:ea typeface="微软雅黑" panose="020B0503020204020204" pitchFamily="34" charset="-122"/>
              </a:rPr>
              <a:t>，云中有轻度积冰，积冰层底的高度为</a:t>
            </a:r>
            <a:r>
              <a:rPr lang="en-US" altLang="zh-CN" sz="2400" dirty="0">
                <a:latin typeface="Times New Roman" panose="02020603050405020304" pitchFamily="18" charset="0"/>
                <a:ea typeface="微软雅黑" panose="020B0503020204020204" pitchFamily="34" charset="-122"/>
              </a:rPr>
              <a:t>4800m</a:t>
            </a:r>
            <a:r>
              <a:rPr lang="zh-CN" altLang="en-US" sz="2400" dirty="0">
                <a:latin typeface="Times New Roman" panose="02020603050405020304" pitchFamily="18" charset="0"/>
                <a:ea typeface="微软雅黑" panose="020B0503020204020204" pitchFamily="34" charset="-122"/>
              </a:rPr>
              <a:t>，积冰厚度为</a:t>
            </a:r>
            <a:r>
              <a:rPr lang="en-US" altLang="zh-CN" sz="2400" dirty="0">
                <a:latin typeface="Times New Roman" panose="02020603050405020304" pitchFamily="18" charset="0"/>
                <a:ea typeface="微软雅黑" panose="020B0503020204020204" pitchFamily="34" charset="-122"/>
              </a:rPr>
              <a:t>600m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4800m</a:t>
            </a:r>
            <a:r>
              <a:rPr lang="zh-CN" altLang="en-US" sz="2400" dirty="0">
                <a:latin typeface="Times New Roman" panose="02020603050405020304" pitchFamily="18" charset="0"/>
                <a:ea typeface="微软雅黑" panose="020B0503020204020204" pitchFamily="34" charset="-122"/>
              </a:rPr>
              <a:t>高度上气温为</a:t>
            </a:r>
            <a:r>
              <a:rPr lang="en-US" altLang="zh-CN" sz="2400" dirty="0">
                <a:latin typeface="Times New Roman" panose="02020603050405020304" pitchFamily="18" charset="0"/>
                <a:ea typeface="微软雅黑" panose="020B0503020204020204" pitchFamily="34" charset="-122"/>
              </a:rPr>
              <a:t>-7℃</a:t>
            </a:r>
            <a:r>
              <a:rPr lang="zh-CN" altLang="en-US" sz="2400" dirty="0">
                <a:latin typeface="Times New Roman" panose="02020603050405020304" pitchFamily="18" charset="0"/>
                <a:ea typeface="微软雅黑" panose="020B0503020204020204" pitchFamily="34" charset="-122"/>
              </a:rPr>
              <a:t>，风向</a:t>
            </a:r>
            <a:r>
              <a:rPr lang="en-US" altLang="zh-CN" sz="2400" dirty="0">
                <a:latin typeface="Times New Roman" panose="02020603050405020304" pitchFamily="18" charset="0"/>
                <a:ea typeface="微软雅黑" panose="020B0503020204020204" pitchFamily="34" charset="-122"/>
              </a:rPr>
              <a:t>250°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75 km/h</a:t>
            </a:r>
          </a:p>
        </p:txBody>
      </p:sp>
    </p:spTree>
    <p:extLst>
      <p:ext uri="{BB962C8B-B14F-4D97-AF65-F5344CB8AC3E}">
        <p14:creationId xmlns:p14="http://schemas.microsoft.com/office/powerpoint/2010/main" val="27599484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FD325DF-A8BB-4405-9F44-A886F8764C46}"/>
              </a:ext>
            </a:extLst>
          </p:cNvPr>
          <p:cNvSpPr txBox="1"/>
          <p:nvPr/>
        </p:nvSpPr>
        <p:spPr>
          <a:xfrm>
            <a:off x="424070" y="119270"/>
            <a:ext cx="10800522" cy="6120843"/>
          </a:xfrm>
          <a:prstGeom prst="rect">
            <a:avLst/>
          </a:prstGeom>
          <a:noFill/>
        </p:spPr>
        <p:txBody>
          <a:bodyPr wrap="square" rtlCol="0">
            <a:spAutoFit/>
          </a:bodyPr>
          <a:lstStyle/>
          <a:p>
            <a:pPr>
              <a:lnSpc>
                <a:spcPct val="150000"/>
              </a:lnSpc>
            </a:pPr>
            <a:r>
              <a:rPr lang="zh-CN" altLang="en-US" sz="2400">
                <a:latin typeface="Times New Roman" panose="02020603050405020304" pitchFamily="18" charset="0"/>
                <a:ea typeface="微软雅黑" panose="020B0503020204020204" pitchFamily="34" charset="-122"/>
              </a:rPr>
              <a:t>四、航空区域天气预报</a:t>
            </a:r>
          </a:p>
          <a:p>
            <a:pPr>
              <a:lnSpc>
                <a:spcPct val="150000"/>
              </a:lnSpc>
            </a:pPr>
            <a:r>
              <a:rPr lang="zh-CN" altLang="en-US" sz="2400">
                <a:latin typeface="Times New Roman" panose="02020603050405020304" pitchFamily="18" charset="0"/>
                <a:ea typeface="微软雅黑" panose="020B0503020204020204" pitchFamily="34" charset="-122"/>
              </a:rPr>
              <a:t>区域天气预报是指对某一区域的天气预报和预告，一般为中低空航线提供。</a:t>
            </a:r>
          </a:p>
          <a:p>
            <a:pPr>
              <a:lnSpc>
                <a:spcPct val="150000"/>
              </a:lnSpc>
            </a:pPr>
            <a:r>
              <a:rPr lang="zh-CN" altLang="en-US" sz="2400">
                <a:latin typeface="Times New Roman" panose="02020603050405020304" pitchFamily="18" charset="0"/>
                <a:ea typeface="微软雅黑" panose="020B0503020204020204" pitchFamily="34" charset="-122"/>
              </a:rPr>
              <a:t>内容包括：云、天气现象、飞机颠簸、飞机积冰、飞行高度上的风、气温等。</a:t>
            </a:r>
          </a:p>
          <a:p>
            <a:pPr>
              <a:lnSpc>
                <a:spcPct val="150000"/>
              </a:lnSpc>
            </a:pPr>
            <a:r>
              <a:rPr lang="zh-CN" altLang="en-US" sz="2400">
                <a:latin typeface="Times New Roman" panose="02020603050405020304" pitchFamily="18" charset="0"/>
                <a:ea typeface="微软雅黑" panose="020B0503020204020204" pitchFamily="34" charset="-122"/>
              </a:rPr>
              <a:t>（一）</a:t>
            </a:r>
            <a:r>
              <a:rPr lang="en-US" altLang="zh-CN" sz="2400">
                <a:latin typeface="Times New Roman" panose="02020603050405020304" pitchFamily="18" charset="0"/>
                <a:ea typeface="微软雅黑" panose="020B0503020204020204" pitchFamily="34" charset="-122"/>
              </a:rPr>
              <a:t>ARFOR</a:t>
            </a:r>
            <a:r>
              <a:rPr lang="zh-CN" altLang="en-US" sz="2400">
                <a:latin typeface="Times New Roman" panose="02020603050405020304" pitchFamily="18" charset="0"/>
                <a:ea typeface="微软雅黑" panose="020B0503020204020204" pitchFamily="34" charset="-122"/>
              </a:rPr>
              <a:t>电码型式</a:t>
            </a:r>
          </a:p>
          <a:p>
            <a:pPr>
              <a:lnSpc>
                <a:spcPct val="150000"/>
              </a:lnSpc>
            </a:pPr>
            <a:r>
              <a:rPr lang="zh-CN" altLang="en-US" sz="2400">
                <a:latin typeface="Times New Roman" panose="02020603050405020304" pitchFamily="18" charset="0"/>
                <a:ea typeface="微软雅黑" panose="020B0503020204020204" pitchFamily="34" charset="-122"/>
              </a:rPr>
              <a:t>第一段： </a:t>
            </a:r>
          </a:p>
          <a:p>
            <a:pPr>
              <a:lnSpc>
                <a:spcPct val="150000"/>
              </a:lnSpc>
            </a:pPr>
            <a:r>
              <a:rPr lang="zh-CN" altLang="en-US" sz="2400">
                <a:latin typeface="Times New Roman" panose="02020603050405020304" pitchFamily="18" charset="0"/>
                <a:ea typeface="微软雅黑" panose="020B0503020204020204" pitchFamily="34" charset="-122"/>
              </a:rPr>
              <a:t>某高度气温 某高度风向风速  对流层顶高度及气温 </a:t>
            </a:r>
          </a:p>
          <a:p>
            <a:pPr>
              <a:lnSpc>
                <a:spcPct val="150000"/>
              </a:lnSpc>
            </a:pPr>
            <a:r>
              <a:rPr lang="zh-CN" altLang="en-US" sz="2400">
                <a:latin typeface="Times New Roman" panose="02020603050405020304" pitchFamily="18" charset="0"/>
                <a:ea typeface="微软雅黑" panose="020B0503020204020204" pitchFamily="34" charset="-122"/>
              </a:rPr>
              <a:t>第二段： </a:t>
            </a:r>
          </a:p>
          <a:p>
            <a:pPr>
              <a:lnSpc>
                <a:spcPct val="150000"/>
              </a:lnSpc>
            </a:pPr>
            <a:r>
              <a:rPr lang="zh-CN" altLang="en-US" sz="2400">
                <a:latin typeface="Times New Roman" panose="02020603050405020304" pitchFamily="18" charset="0"/>
                <a:ea typeface="微软雅黑" panose="020B0503020204020204" pitchFamily="34" charset="-122"/>
              </a:rPr>
              <a:t>   高空急流  急流轴位置  急流轴高度和风速 </a:t>
            </a:r>
          </a:p>
          <a:p>
            <a:pPr>
              <a:lnSpc>
                <a:spcPct val="150000"/>
              </a:lnSpc>
            </a:pPr>
            <a:r>
              <a:rPr lang="zh-CN" altLang="en-US" sz="2400">
                <a:latin typeface="Times New Roman" panose="02020603050405020304" pitchFamily="18" charset="0"/>
                <a:ea typeface="微软雅黑" panose="020B0503020204020204" pitchFamily="34" charset="-122"/>
              </a:rPr>
              <a:t>第三段： </a:t>
            </a:r>
          </a:p>
          <a:p>
            <a:pPr>
              <a:lnSpc>
                <a:spcPct val="150000"/>
              </a:lnSpc>
            </a:pPr>
            <a:r>
              <a:rPr lang="zh-CN" altLang="en-US" sz="2400">
                <a:latin typeface="Times New Roman" panose="02020603050405020304" pitchFamily="18" charset="0"/>
                <a:ea typeface="微软雅黑" panose="020B0503020204020204" pitchFamily="34" charset="-122"/>
              </a:rPr>
              <a:t>   风组指示码  某高度最大风速 风向和垂直风切变 </a:t>
            </a:r>
          </a:p>
          <a:p>
            <a:pPr>
              <a:lnSpc>
                <a:spcPct val="150000"/>
              </a:lnSpc>
            </a:pPr>
            <a:r>
              <a:rPr lang="zh-CN" altLang="en-US" sz="2400">
                <a:latin typeface="Times New Roman" panose="02020603050405020304" pitchFamily="18" charset="0"/>
                <a:ea typeface="微软雅黑" panose="020B0503020204020204" pitchFamily="34" charset="-122"/>
              </a:rPr>
              <a:t>第四段： </a:t>
            </a:r>
            <a:r>
              <a:rPr lang="en-US" altLang="zh-CN" sz="2400">
                <a:latin typeface="Times New Roman" panose="02020603050405020304" pitchFamily="18" charset="0"/>
                <a:ea typeface="微软雅黑" panose="020B0503020204020204" pitchFamily="34" charset="-122"/>
              </a:rPr>
              <a:t>9i3nnn</a:t>
            </a:r>
            <a:r>
              <a:rPr lang="zh-CN" altLang="en-US" sz="2400">
                <a:latin typeface="Times New Roman" panose="02020603050405020304" pitchFamily="18" charset="0"/>
                <a:ea typeface="微软雅黑" panose="020B0503020204020204" pitchFamily="34" charset="-122"/>
              </a:rPr>
              <a:t>（补充现象组）</a:t>
            </a:r>
            <a:endParaRPr lang="zh-CN" altLang="en-US" sz="24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2825241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27B4A48-CFE8-41BD-B575-CE76404A6F8B}"/>
              </a:ext>
            </a:extLst>
          </p:cNvPr>
          <p:cNvSpPr txBox="1"/>
          <p:nvPr/>
        </p:nvSpPr>
        <p:spPr>
          <a:xfrm>
            <a:off x="569843" y="-145774"/>
            <a:ext cx="11317357" cy="6674841"/>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（二）电码说明</a:t>
            </a:r>
          </a:p>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1.</a:t>
            </a:r>
            <a:r>
              <a:rPr lang="zh-CN" altLang="en-US" sz="2400" dirty="0">
                <a:latin typeface="Times New Roman" panose="02020603050405020304" pitchFamily="18" charset="0"/>
                <a:ea typeface="微软雅黑" panose="020B0503020204020204" pitchFamily="34" charset="-122"/>
              </a:rPr>
              <a:t>以上各组编译方法和航路预报</a:t>
            </a:r>
            <a:r>
              <a:rPr lang="en-US" altLang="zh-CN" sz="2400" dirty="0">
                <a:latin typeface="Times New Roman" panose="02020603050405020304" pitchFamily="18" charset="0"/>
                <a:ea typeface="微软雅黑" panose="020B0503020204020204" pitchFamily="34" charset="-122"/>
              </a:rPr>
              <a:t>ROFOR</a:t>
            </a:r>
            <a:r>
              <a:rPr lang="zh-CN" altLang="en-US" sz="2400" dirty="0">
                <a:latin typeface="Times New Roman" panose="02020603050405020304" pitchFamily="18" charset="0"/>
                <a:ea typeface="微软雅黑" panose="020B0503020204020204" pitchFamily="34" charset="-122"/>
              </a:rPr>
              <a:t>中相关组相同。</a:t>
            </a:r>
          </a:p>
          <a:p>
            <a:pPr>
              <a:lnSpc>
                <a:spcPct val="150000"/>
              </a:lnSpc>
            </a:pP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2.AAAAA</a:t>
            </a:r>
            <a:r>
              <a:rPr lang="zh-CN" altLang="en-US" sz="2400" dirty="0">
                <a:latin typeface="Times New Roman" panose="02020603050405020304" pitchFamily="18" charset="0"/>
                <a:ea typeface="微软雅黑" panose="020B0503020204020204" pitchFamily="34" charset="-122"/>
              </a:rPr>
              <a:t>为区域组，一般可用简明语，如可用纬度</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经度表示。</a:t>
            </a:r>
          </a:p>
          <a:p>
            <a:pPr>
              <a:lnSpc>
                <a:spcPct val="150000"/>
              </a:lnSpc>
            </a:pPr>
            <a:r>
              <a:rPr lang="zh-CN" altLang="en-US" sz="2400" dirty="0">
                <a:latin typeface="Times New Roman" panose="02020603050405020304" pitchFamily="18" charset="0"/>
                <a:ea typeface="微软雅黑" panose="020B0503020204020204" pitchFamily="34" charset="-122"/>
              </a:rPr>
              <a:t>（三）举例</a:t>
            </a:r>
          </a:p>
          <a:p>
            <a:pPr>
              <a:lnSpc>
                <a:spcPct val="150000"/>
              </a:lnSpc>
            </a:pPr>
            <a:r>
              <a:rPr lang="en-US" altLang="zh-CN" sz="2400" dirty="0">
                <a:solidFill>
                  <a:schemeClr val="accent5"/>
                </a:solidFill>
                <a:latin typeface="Times New Roman" panose="02020603050405020304" pitchFamily="18" charset="0"/>
                <a:ea typeface="微软雅黑" panose="020B0503020204020204" pitchFamily="34" charset="-122"/>
              </a:rPr>
              <a:t>ARFOR 152409 KMH 40N90E 40N100E 25N100E 25N90E BKN060 7120140 OVC120 7180/// 621602 51//// 4160M04 24065 =</a:t>
            </a:r>
          </a:p>
          <a:p>
            <a:pPr>
              <a:lnSpc>
                <a:spcPct val="150000"/>
              </a:lnSpc>
            </a:pPr>
            <a:r>
              <a:rPr lang="zh-CN" altLang="en-US" sz="2400" dirty="0">
                <a:latin typeface="Times New Roman" panose="02020603050405020304" pitchFamily="18" charset="0"/>
                <a:ea typeface="微软雅黑" panose="020B0503020204020204" pitchFamily="34" charset="-122"/>
              </a:rPr>
              <a:t>区域天气预报，预报有效时间</a:t>
            </a:r>
            <a:r>
              <a:rPr lang="en-US" altLang="zh-CN" sz="2400" dirty="0">
                <a:latin typeface="Times New Roman" panose="02020603050405020304" pitchFamily="18" charset="0"/>
                <a:ea typeface="微软雅黑" panose="020B0503020204020204" pitchFamily="34" charset="-122"/>
              </a:rPr>
              <a:t>15</a:t>
            </a:r>
            <a:r>
              <a:rPr lang="zh-CN" altLang="en-US" sz="2400" dirty="0">
                <a:latin typeface="Times New Roman" panose="02020603050405020304" pitchFamily="18" charset="0"/>
                <a:ea typeface="微软雅黑" panose="020B0503020204020204" pitchFamily="34" charset="-122"/>
              </a:rPr>
              <a:t>号</a:t>
            </a:r>
            <a:r>
              <a:rPr lang="en-US" altLang="zh-CN" sz="2400" dirty="0">
                <a:latin typeface="Times New Roman" panose="02020603050405020304" pitchFamily="18" charset="0"/>
                <a:ea typeface="微软雅黑" panose="020B0503020204020204" pitchFamily="34" charset="-122"/>
              </a:rPr>
              <a:t>24</a:t>
            </a:r>
            <a:r>
              <a:rPr lang="zh-CN" altLang="en-US" sz="2400" dirty="0">
                <a:latin typeface="Times New Roman" panose="02020603050405020304" pitchFamily="18" charset="0"/>
                <a:ea typeface="微软雅黑" panose="020B0503020204020204" pitchFamily="34" charset="-122"/>
              </a:rPr>
              <a:t>时到</a:t>
            </a:r>
            <a:r>
              <a:rPr lang="en-US" altLang="zh-CN" sz="2400" dirty="0">
                <a:latin typeface="Times New Roman" panose="02020603050405020304" pitchFamily="18" charset="0"/>
                <a:ea typeface="微软雅黑" panose="020B0503020204020204" pitchFamily="34" charset="-122"/>
              </a:rPr>
              <a:t>16</a:t>
            </a:r>
            <a:r>
              <a:rPr lang="zh-CN" altLang="en-US" sz="2400" dirty="0">
                <a:latin typeface="Times New Roman" panose="02020603050405020304" pitchFamily="18" charset="0"/>
                <a:ea typeface="微软雅黑" panose="020B0503020204020204" pitchFamily="34" charset="-122"/>
              </a:rPr>
              <a:t>号</a:t>
            </a:r>
            <a:r>
              <a:rPr lang="en-US" altLang="zh-CN" sz="2400" dirty="0">
                <a:latin typeface="Times New Roman" panose="02020603050405020304" pitchFamily="18" charset="0"/>
                <a:ea typeface="微软雅黑" panose="020B0503020204020204" pitchFamily="34" charset="-122"/>
              </a:rPr>
              <a:t>09</a:t>
            </a:r>
            <a:r>
              <a:rPr lang="zh-CN" altLang="en-US" sz="2400" dirty="0">
                <a:latin typeface="Times New Roman" panose="02020603050405020304" pitchFamily="18" charset="0"/>
                <a:ea typeface="微软雅黑" panose="020B0503020204020204" pitchFamily="34" charset="-122"/>
              </a:rPr>
              <a:t>时（</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），单位为</a:t>
            </a:r>
            <a:r>
              <a:rPr lang="en-US" altLang="zh-CN" sz="2400" dirty="0">
                <a:latin typeface="Times New Roman" panose="02020603050405020304" pitchFamily="18" charset="0"/>
                <a:ea typeface="微软雅黑" panose="020B0503020204020204" pitchFamily="34" charset="-122"/>
              </a:rPr>
              <a:t>km/h</a:t>
            </a:r>
            <a:r>
              <a:rPr lang="zh-CN" altLang="en-US" sz="2400" dirty="0">
                <a:latin typeface="Times New Roman" panose="02020603050405020304" pitchFamily="18" charset="0"/>
                <a:ea typeface="微软雅黑" panose="020B0503020204020204" pitchFamily="34" charset="-122"/>
              </a:rPr>
              <a:t>，预报的区域为北纬</a:t>
            </a:r>
            <a:r>
              <a:rPr lang="en-US" altLang="zh-CN" sz="2400" dirty="0">
                <a:latin typeface="Times New Roman" panose="02020603050405020304" pitchFamily="18" charset="0"/>
                <a:ea typeface="微软雅黑" panose="020B0503020204020204" pitchFamily="34" charset="-122"/>
              </a:rPr>
              <a:t>40 °</a:t>
            </a:r>
            <a:r>
              <a:rPr lang="zh-CN" altLang="en-US" sz="2400" dirty="0">
                <a:latin typeface="Times New Roman" panose="02020603050405020304" pitchFamily="18" charset="0"/>
                <a:ea typeface="微软雅黑" panose="020B0503020204020204" pitchFamily="34" charset="-122"/>
              </a:rPr>
              <a:t>东经</a:t>
            </a:r>
            <a:r>
              <a:rPr lang="en-US" altLang="zh-CN" sz="2400" dirty="0">
                <a:latin typeface="Times New Roman" panose="02020603050405020304" pitchFamily="18" charset="0"/>
                <a:ea typeface="微软雅黑" panose="020B0503020204020204" pitchFamily="34" charset="-122"/>
              </a:rPr>
              <a:t>90 °</a:t>
            </a:r>
            <a:r>
              <a:rPr lang="zh-CN" altLang="en-US" sz="2400" dirty="0">
                <a:latin typeface="Times New Roman" panose="02020603050405020304" pitchFamily="18" charset="0"/>
                <a:ea typeface="微软雅黑" panose="020B0503020204020204" pitchFamily="34" charset="-122"/>
              </a:rPr>
              <a:t>，到北纬</a:t>
            </a:r>
            <a:r>
              <a:rPr lang="en-US" altLang="zh-CN" sz="2400" dirty="0">
                <a:latin typeface="Times New Roman" panose="02020603050405020304" pitchFamily="18" charset="0"/>
                <a:ea typeface="微软雅黑" panose="020B0503020204020204" pitchFamily="34" charset="-122"/>
              </a:rPr>
              <a:t>40 °</a:t>
            </a:r>
            <a:r>
              <a:rPr lang="zh-CN" altLang="en-US" sz="2400" dirty="0">
                <a:latin typeface="Times New Roman" panose="02020603050405020304" pitchFamily="18" charset="0"/>
                <a:ea typeface="微软雅黑" panose="020B0503020204020204" pitchFamily="34" charset="-122"/>
              </a:rPr>
              <a:t>东经</a:t>
            </a:r>
            <a:r>
              <a:rPr lang="en-US" altLang="zh-CN" sz="2400" dirty="0">
                <a:latin typeface="Times New Roman" panose="02020603050405020304" pitchFamily="18" charset="0"/>
                <a:ea typeface="微软雅黑" panose="020B0503020204020204" pitchFamily="34" charset="-122"/>
              </a:rPr>
              <a:t>100 °</a:t>
            </a:r>
            <a:r>
              <a:rPr lang="zh-CN" altLang="en-US" sz="2400" dirty="0">
                <a:latin typeface="Times New Roman" panose="02020603050405020304" pitchFamily="18" charset="0"/>
                <a:ea typeface="微软雅黑" panose="020B0503020204020204" pitchFamily="34" charset="-122"/>
              </a:rPr>
              <a:t>，到北纬</a:t>
            </a:r>
            <a:r>
              <a:rPr lang="en-US" altLang="zh-CN" sz="2400" dirty="0">
                <a:latin typeface="Times New Roman" panose="02020603050405020304" pitchFamily="18" charset="0"/>
                <a:ea typeface="微软雅黑" panose="020B0503020204020204" pitchFamily="34" charset="-122"/>
              </a:rPr>
              <a:t>25 °</a:t>
            </a:r>
            <a:r>
              <a:rPr lang="zh-CN" altLang="en-US" sz="2400" dirty="0">
                <a:latin typeface="Times New Roman" panose="02020603050405020304" pitchFamily="18" charset="0"/>
                <a:ea typeface="微软雅黑" panose="020B0503020204020204" pitchFamily="34" charset="-122"/>
              </a:rPr>
              <a:t>东经</a:t>
            </a:r>
            <a:r>
              <a:rPr lang="en-US" altLang="zh-CN" sz="2400" dirty="0">
                <a:latin typeface="Times New Roman" panose="02020603050405020304" pitchFamily="18" charset="0"/>
                <a:ea typeface="微软雅黑" panose="020B0503020204020204" pitchFamily="34" charset="-122"/>
              </a:rPr>
              <a:t>100 °</a:t>
            </a:r>
            <a:r>
              <a:rPr lang="zh-CN" altLang="en-US" sz="2400" dirty="0">
                <a:latin typeface="Times New Roman" panose="02020603050405020304" pitchFamily="18" charset="0"/>
                <a:ea typeface="微软雅黑" panose="020B0503020204020204" pitchFamily="34" charset="-122"/>
              </a:rPr>
              <a:t>，到北纬</a:t>
            </a:r>
            <a:r>
              <a:rPr lang="en-US" altLang="zh-CN" sz="2400" dirty="0">
                <a:latin typeface="Times New Roman" panose="02020603050405020304" pitchFamily="18" charset="0"/>
                <a:ea typeface="微软雅黑" panose="020B0503020204020204" pitchFamily="34" charset="-122"/>
              </a:rPr>
              <a:t>25 °</a:t>
            </a:r>
            <a:r>
              <a:rPr lang="zh-CN" altLang="en-US" sz="2400" dirty="0">
                <a:latin typeface="Times New Roman" panose="02020603050405020304" pitchFamily="18" charset="0"/>
                <a:ea typeface="微软雅黑" panose="020B0503020204020204" pitchFamily="34" charset="-122"/>
              </a:rPr>
              <a:t>东经</a:t>
            </a:r>
            <a:r>
              <a:rPr lang="en-US" altLang="zh-CN" sz="2400" dirty="0">
                <a:latin typeface="Times New Roman" panose="02020603050405020304" pitchFamily="18" charset="0"/>
                <a:ea typeface="微软雅黑" panose="020B0503020204020204" pitchFamily="34" charset="-122"/>
              </a:rPr>
              <a:t>90 °</a:t>
            </a:r>
            <a:r>
              <a:rPr lang="zh-CN" altLang="en-US" sz="2400" dirty="0">
                <a:latin typeface="Times New Roman" panose="02020603050405020304" pitchFamily="18" charset="0"/>
                <a:ea typeface="微软雅黑" panose="020B0503020204020204" pitchFamily="34" charset="-122"/>
              </a:rPr>
              <a:t>。多云，云底高</a:t>
            </a:r>
            <a:r>
              <a:rPr lang="en-US" altLang="zh-CN" sz="2400" dirty="0">
                <a:latin typeface="Times New Roman" panose="02020603050405020304" pitchFamily="18" charset="0"/>
                <a:ea typeface="微软雅黑" panose="020B0503020204020204" pitchFamily="34" charset="-122"/>
              </a:rPr>
              <a:t>1800m</a:t>
            </a:r>
            <a:r>
              <a:rPr lang="zh-CN" altLang="en-US" sz="2400" dirty="0">
                <a:latin typeface="Times New Roman" panose="02020603050405020304" pitchFamily="18" charset="0"/>
                <a:ea typeface="微软雅黑" panose="020B0503020204020204" pitchFamily="34" charset="-122"/>
              </a:rPr>
              <a:t>，云顶高</a:t>
            </a:r>
            <a:r>
              <a:rPr lang="en-US" altLang="zh-CN" sz="2400" dirty="0">
                <a:latin typeface="Times New Roman" panose="02020603050405020304" pitchFamily="18" charset="0"/>
                <a:ea typeface="微软雅黑" panose="020B0503020204020204" pitchFamily="34" charset="-122"/>
              </a:rPr>
              <a:t>3600m</a:t>
            </a:r>
            <a:r>
              <a:rPr lang="zh-CN" altLang="en-US" sz="2400" dirty="0">
                <a:latin typeface="Times New Roman" panose="02020603050405020304" pitchFamily="18" charset="0"/>
                <a:ea typeface="微软雅黑" panose="020B0503020204020204" pitchFamily="34" charset="-122"/>
              </a:rPr>
              <a:t>，零度层高度</a:t>
            </a:r>
            <a:r>
              <a:rPr lang="en-US" altLang="zh-CN" sz="2400" dirty="0">
                <a:latin typeface="Times New Roman" panose="02020603050405020304" pitchFamily="18" charset="0"/>
                <a:ea typeface="微软雅黑" panose="020B0503020204020204" pitchFamily="34" charset="-122"/>
              </a:rPr>
              <a:t>4200m</a:t>
            </a:r>
            <a:r>
              <a:rPr lang="zh-CN" altLang="en-US" sz="2400" dirty="0">
                <a:latin typeface="Times New Roman" panose="02020603050405020304" pitchFamily="18" charset="0"/>
                <a:ea typeface="微软雅黑" panose="020B0503020204020204" pitchFamily="34" charset="-122"/>
              </a:rPr>
              <a:t>，阴天，云底高</a:t>
            </a:r>
            <a:r>
              <a:rPr lang="en-US" altLang="zh-CN" sz="2400" dirty="0">
                <a:latin typeface="Times New Roman" panose="02020603050405020304" pitchFamily="18" charset="0"/>
                <a:ea typeface="微软雅黑" panose="020B0503020204020204" pitchFamily="34" charset="-122"/>
              </a:rPr>
              <a:t>3600m</a:t>
            </a:r>
            <a:r>
              <a:rPr lang="zh-CN" altLang="en-US" sz="2400" dirty="0">
                <a:latin typeface="Times New Roman" panose="02020603050405020304" pitchFamily="18" charset="0"/>
                <a:ea typeface="微软雅黑" panose="020B0503020204020204" pitchFamily="34" charset="-122"/>
              </a:rPr>
              <a:t>，云顶高</a:t>
            </a:r>
            <a:r>
              <a:rPr lang="en-US" altLang="zh-CN" sz="2400" dirty="0">
                <a:latin typeface="Times New Roman" panose="02020603050405020304" pitchFamily="18" charset="0"/>
                <a:ea typeface="微软雅黑" panose="020B0503020204020204" pitchFamily="34" charset="-122"/>
              </a:rPr>
              <a:t>5400m</a:t>
            </a:r>
            <a:r>
              <a:rPr lang="zh-CN" altLang="en-US" sz="2400" dirty="0">
                <a:latin typeface="Times New Roman" panose="02020603050405020304" pitchFamily="18" charset="0"/>
                <a:ea typeface="微软雅黑" panose="020B0503020204020204" pitchFamily="34" charset="-122"/>
              </a:rPr>
              <a:t>，零度层高度</a:t>
            </a:r>
            <a:r>
              <a:rPr lang="en-US" altLang="zh-CN" sz="2400" dirty="0">
                <a:latin typeface="Times New Roman" panose="02020603050405020304" pitchFamily="18" charset="0"/>
                <a:ea typeface="微软雅黑" panose="020B0503020204020204" pitchFamily="34" charset="-122"/>
              </a:rPr>
              <a:t>4200m</a:t>
            </a:r>
            <a:r>
              <a:rPr lang="zh-CN" altLang="en-US" sz="2400" dirty="0">
                <a:latin typeface="Times New Roman" panose="02020603050405020304" pitchFamily="18" charset="0"/>
                <a:ea typeface="微软雅黑" panose="020B0503020204020204" pitchFamily="34" charset="-122"/>
              </a:rPr>
              <a:t>，云中轻度积冰，积冰层底高</a:t>
            </a:r>
            <a:r>
              <a:rPr lang="en-US" altLang="zh-CN" sz="2400" dirty="0">
                <a:latin typeface="Times New Roman" panose="02020603050405020304" pitchFamily="18" charset="0"/>
                <a:ea typeface="微软雅黑" panose="020B0503020204020204" pitchFamily="34" charset="-122"/>
              </a:rPr>
              <a:t>4800m</a:t>
            </a:r>
            <a:r>
              <a:rPr lang="zh-CN" altLang="en-US" sz="2400" dirty="0">
                <a:latin typeface="Times New Roman" panose="02020603050405020304" pitchFamily="18" charset="0"/>
                <a:ea typeface="微软雅黑" panose="020B0503020204020204" pitchFamily="34" charset="-122"/>
              </a:rPr>
              <a:t>，厚</a:t>
            </a:r>
            <a:r>
              <a:rPr lang="en-US" altLang="zh-CN" sz="2400" dirty="0">
                <a:latin typeface="Times New Roman" panose="02020603050405020304" pitchFamily="18" charset="0"/>
                <a:ea typeface="微软雅黑" panose="020B0503020204020204" pitchFamily="34" charset="-122"/>
              </a:rPr>
              <a:t>600m</a:t>
            </a:r>
            <a:r>
              <a:rPr lang="zh-CN" altLang="en-US" sz="2400" dirty="0">
                <a:latin typeface="Times New Roman" panose="02020603050405020304" pitchFamily="18" charset="0"/>
                <a:ea typeface="微软雅黑" panose="020B0503020204020204" pitchFamily="34" charset="-122"/>
              </a:rPr>
              <a:t>，有轻度颠簸，高度和厚度不明，</a:t>
            </a:r>
            <a:r>
              <a:rPr lang="en-US" altLang="zh-CN" sz="2400" dirty="0">
                <a:latin typeface="Times New Roman" panose="02020603050405020304" pitchFamily="18" charset="0"/>
                <a:ea typeface="微软雅黑" panose="020B0503020204020204" pitchFamily="34" charset="-122"/>
              </a:rPr>
              <a:t>4800m</a:t>
            </a:r>
            <a:r>
              <a:rPr lang="zh-CN" altLang="en-US" sz="2400" dirty="0">
                <a:latin typeface="Times New Roman" panose="02020603050405020304" pitchFamily="18" charset="0"/>
                <a:ea typeface="微软雅黑" panose="020B0503020204020204" pitchFamily="34" charset="-122"/>
              </a:rPr>
              <a:t>高度气温为</a:t>
            </a:r>
            <a:r>
              <a:rPr lang="en-US" altLang="zh-CN" sz="2400" dirty="0">
                <a:latin typeface="Times New Roman" panose="02020603050405020304" pitchFamily="18" charset="0"/>
                <a:ea typeface="微软雅黑" panose="020B0503020204020204" pitchFamily="34" charset="-122"/>
              </a:rPr>
              <a:t>-4℃</a:t>
            </a:r>
            <a:r>
              <a:rPr lang="zh-CN" altLang="en-US" sz="2400" dirty="0">
                <a:latin typeface="Times New Roman" panose="02020603050405020304" pitchFamily="18" charset="0"/>
                <a:ea typeface="微软雅黑" panose="020B0503020204020204" pitchFamily="34" charset="-122"/>
              </a:rPr>
              <a:t>，风向</a:t>
            </a:r>
            <a:r>
              <a:rPr lang="en-US" altLang="zh-CN" sz="2400" dirty="0">
                <a:latin typeface="Times New Roman" panose="02020603050405020304" pitchFamily="18" charset="0"/>
                <a:ea typeface="微软雅黑" panose="020B0503020204020204" pitchFamily="34" charset="-122"/>
              </a:rPr>
              <a:t>240 °</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65km</a:t>
            </a:r>
            <a:r>
              <a:rPr lang="zh-CN" altLang="en-US" sz="2400" dirty="0">
                <a:latin typeface="Times New Roman" panose="02020603050405020304" pitchFamily="18" charset="0"/>
                <a:ea typeface="微软雅黑" panose="020B0503020204020204" pitchFamily="34" charset="-122"/>
              </a:rPr>
              <a:t>。</a:t>
            </a:r>
          </a:p>
        </p:txBody>
      </p:sp>
    </p:spTree>
    <p:extLst>
      <p:ext uri="{BB962C8B-B14F-4D97-AF65-F5344CB8AC3E}">
        <p14:creationId xmlns:p14="http://schemas.microsoft.com/office/powerpoint/2010/main" val="11977298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6C85D08-64F0-4675-87BF-DFFFB3EA93DF}"/>
              </a:ext>
            </a:extLst>
          </p:cNvPr>
          <p:cNvSpPr txBox="1"/>
          <p:nvPr/>
        </p:nvSpPr>
        <p:spPr>
          <a:xfrm>
            <a:off x="636104" y="344557"/>
            <a:ext cx="10575235" cy="1687963"/>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ROFOR 180010 KMH ZBAA 23518 ZSSS 01235 SCT030(CB) 7300210 BKN230 7240/// 541208 420001 18090 03ZSSS SCT026 7050220 </a:t>
            </a:r>
            <a:r>
              <a:rPr lang="en-US" altLang="zh-CN" sz="2400" dirty="0">
                <a:solidFill>
                  <a:srgbClr val="FF0000"/>
                </a:solidFill>
                <a:latin typeface="Times New Roman" panose="02020603050405020304" pitchFamily="18" charset="0"/>
                <a:ea typeface="微软雅黑" panose="020B0503020204020204" pitchFamily="34" charset="-122"/>
              </a:rPr>
              <a:t>96062</a:t>
            </a:r>
            <a:r>
              <a:rPr lang="en-US" altLang="zh-CN" sz="2400" dirty="0">
                <a:latin typeface="Times New Roman" panose="02020603050405020304" pitchFamily="18" charset="0"/>
                <a:ea typeface="微软雅黑" panose="020B0503020204020204" pitchFamily="34" charset="-122"/>
              </a:rPr>
              <a:t> BKN050 7120/// 418005 21060</a:t>
            </a:r>
          </a:p>
        </p:txBody>
      </p:sp>
      <p:sp>
        <p:nvSpPr>
          <p:cNvPr id="3" name="文本框 2">
            <a:extLst>
              <a:ext uri="{FF2B5EF4-FFF2-40B4-BE49-F238E27FC236}">
                <a16:creationId xmlns:a16="http://schemas.microsoft.com/office/drawing/2014/main" id="{B8BB925B-0198-41A5-AC2E-C312FCDFCD39}"/>
              </a:ext>
            </a:extLst>
          </p:cNvPr>
          <p:cNvSpPr txBox="1"/>
          <p:nvPr/>
        </p:nvSpPr>
        <p:spPr>
          <a:xfrm>
            <a:off x="609600" y="2173357"/>
            <a:ext cx="10959548" cy="4454233"/>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航路天气预报，有效时间</a:t>
            </a:r>
            <a:r>
              <a:rPr lang="en-US" altLang="zh-CN" sz="2400" dirty="0">
                <a:latin typeface="Times New Roman" panose="02020603050405020304" pitchFamily="18" charset="0"/>
                <a:ea typeface="微软雅黑" panose="020B0503020204020204" pitchFamily="34" charset="-122"/>
              </a:rPr>
              <a:t>18</a:t>
            </a:r>
            <a:r>
              <a:rPr lang="zh-CN" altLang="en-US" sz="2400" dirty="0">
                <a:latin typeface="Times New Roman" panose="02020603050405020304" pitchFamily="18" charset="0"/>
                <a:ea typeface="微软雅黑" panose="020B0503020204020204" pitchFamily="34" charset="-122"/>
              </a:rPr>
              <a:t>号</a:t>
            </a:r>
            <a:r>
              <a:rPr lang="en-US" altLang="zh-CN" sz="2400" dirty="0">
                <a:latin typeface="Times New Roman" panose="02020603050405020304" pitchFamily="18" charset="0"/>
                <a:ea typeface="微软雅黑" panose="020B0503020204020204" pitchFamily="34" charset="-122"/>
              </a:rPr>
              <a:t>00</a:t>
            </a:r>
            <a:r>
              <a:rPr lang="zh-CN" altLang="en-US" sz="2400" dirty="0">
                <a:latin typeface="Times New Roman" panose="02020603050405020304" pitchFamily="18" charset="0"/>
                <a:ea typeface="微软雅黑" panose="020B0503020204020204" pitchFamily="34" charset="-122"/>
              </a:rPr>
              <a:t>时到</a:t>
            </a:r>
            <a:r>
              <a:rPr lang="en-US" altLang="zh-CN" sz="2400" dirty="0">
                <a:latin typeface="Times New Roman" panose="02020603050405020304" pitchFamily="18" charset="0"/>
                <a:ea typeface="微软雅黑" panose="020B0503020204020204" pitchFamily="34" charset="-122"/>
              </a:rPr>
              <a:t>10</a:t>
            </a:r>
            <a:r>
              <a:rPr lang="zh-CN" altLang="en-US" sz="2400" dirty="0">
                <a:latin typeface="Times New Roman" panose="02020603050405020304" pitchFamily="18" charset="0"/>
                <a:ea typeface="微软雅黑" panose="020B0503020204020204" pitchFamily="34" charset="-122"/>
              </a:rPr>
              <a:t>时（</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），风速使用单位为</a:t>
            </a:r>
            <a:r>
              <a:rPr lang="en-US" altLang="zh-CN" sz="2400" dirty="0">
                <a:latin typeface="Times New Roman" panose="02020603050405020304" pitchFamily="18" charset="0"/>
                <a:ea typeface="微软雅黑" panose="020B0503020204020204" pitchFamily="34" charset="-122"/>
              </a:rPr>
              <a:t>km/h</a:t>
            </a:r>
            <a:r>
              <a:rPr lang="zh-CN" altLang="en-US" sz="2400" dirty="0">
                <a:latin typeface="Times New Roman" panose="02020603050405020304" pitchFamily="18" charset="0"/>
                <a:ea typeface="微软雅黑" panose="020B0503020204020204" pitchFamily="34" charset="-122"/>
              </a:rPr>
              <a:t>，航线：北京过</a:t>
            </a:r>
            <a:r>
              <a:rPr lang="en-US" altLang="zh-CN" sz="2400" dirty="0">
                <a:latin typeface="Times New Roman" panose="02020603050405020304" pitchFamily="18" charset="0"/>
                <a:ea typeface="微软雅黑" panose="020B0503020204020204" pitchFamily="34" charset="-122"/>
              </a:rPr>
              <a:t>35°N 118°E</a:t>
            </a:r>
            <a:r>
              <a:rPr lang="zh-CN" altLang="en-US" sz="2400" dirty="0">
                <a:latin typeface="Times New Roman" panose="02020603050405020304" pitchFamily="18" charset="0"/>
                <a:ea typeface="微软雅黑" panose="020B0503020204020204" pitchFamily="34" charset="-122"/>
              </a:rPr>
              <a:t>至上海；北京到</a:t>
            </a:r>
            <a:r>
              <a:rPr lang="en-US" altLang="zh-CN" sz="2400" dirty="0">
                <a:latin typeface="Times New Roman" panose="02020603050405020304" pitchFamily="18" charset="0"/>
                <a:ea typeface="微软雅黑" panose="020B0503020204020204" pitchFamily="34" charset="-122"/>
              </a:rPr>
              <a:t>35°N</a:t>
            </a:r>
            <a:r>
              <a:rPr lang="zh-CN" altLang="en-US" sz="2400" dirty="0">
                <a:latin typeface="Times New Roman" panose="02020603050405020304" pitchFamily="18" charset="0"/>
                <a:ea typeface="微软雅黑" panose="020B0503020204020204" pitchFamily="34" charset="-122"/>
              </a:rPr>
              <a:t>航段上：有</a:t>
            </a:r>
            <a:r>
              <a:rPr lang="en-US" altLang="zh-CN" sz="2400" dirty="0">
                <a:latin typeface="Times New Roman" panose="02020603050405020304" pitchFamily="18" charset="0"/>
                <a:ea typeface="微软雅黑" panose="020B0503020204020204" pitchFamily="34" charset="-122"/>
              </a:rPr>
              <a:t>3-4</a:t>
            </a:r>
            <a:r>
              <a:rPr lang="zh-CN" altLang="en-US" sz="2400" dirty="0">
                <a:latin typeface="Times New Roman" panose="02020603050405020304" pitchFamily="18" charset="0"/>
                <a:ea typeface="微软雅黑" panose="020B0503020204020204" pitchFamily="34" charset="-122"/>
              </a:rPr>
              <a:t>个积雨云，云底高</a:t>
            </a:r>
            <a:r>
              <a:rPr lang="en-US" altLang="zh-CN" sz="2400" dirty="0">
                <a:latin typeface="Times New Roman" panose="02020603050405020304" pitchFamily="18" charset="0"/>
                <a:ea typeface="微软雅黑" panose="020B0503020204020204" pitchFamily="34" charset="-122"/>
              </a:rPr>
              <a:t>900m</a:t>
            </a:r>
            <a:r>
              <a:rPr lang="zh-CN" altLang="en-US" sz="2400" dirty="0">
                <a:latin typeface="Times New Roman" panose="02020603050405020304" pitchFamily="18" charset="0"/>
                <a:ea typeface="微软雅黑" panose="020B0503020204020204" pitchFamily="34" charset="-122"/>
              </a:rPr>
              <a:t>，云顶高</a:t>
            </a:r>
            <a:r>
              <a:rPr lang="en-US" altLang="zh-CN" sz="2400" dirty="0">
                <a:latin typeface="Times New Roman" panose="02020603050405020304" pitchFamily="18" charset="0"/>
                <a:ea typeface="微软雅黑" panose="020B0503020204020204" pitchFamily="34" charset="-122"/>
              </a:rPr>
              <a:t>9000m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℃层高度</a:t>
            </a:r>
            <a:r>
              <a:rPr lang="en-US" altLang="zh-CN" sz="2400" dirty="0">
                <a:latin typeface="Times New Roman" panose="02020603050405020304" pitchFamily="18" charset="0"/>
                <a:ea typeface="微软雅黑" panose="020B0503020204020204" pitchFamily="34" charset="-122"/>
              </a:rPr>
              <a:t>6300m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5-7</a:t>
            </a:r>
            <a:r>
              <a:rPr lang="zh-CN" altLang="en-US" sz="2400" dirty="0">
                <a:latin typeface="Times New Roman" panose="02020603050405020304" pitchFamily="18" charset="0"/>
                <a:ea typeface="微软雅黑" panose="020B0503020204020204" pitchFamily="34" charset="-122"/>
              </a:rPr>
              <a:t>个云量，云底高</a:t>
            </a:r>
            <a:r>
              <a:rPr lang="en-US" altLang="zh-CN" sz="2400" dirty="0">
                <a:latin typeface="Times New Roman" panose="02020603050405020304" pitchFamily="18" charset="0"/>
                <a:ea typeface="微软雅黑" panose="020B0503020204020204" pitchFamily="34" charset="-122"/>
              </a:rPr>
              <a:t>6900m</a:t>
            </a:r>
            <a:r>
              <a:rPr lang="zh-CN" altLang="en-US" sz="2400" dirty="0">
                <a:latin typeface="Times New Roman" panose="02020603050405020304" pitchFamily="18" charset="0"/>
                <a:ea typeface="微软雅黑" panose="020B0503020204020204" pitchFamily="34" charset="-122"/>
              </a:rPr>
              <a:t>，云顶高</a:t>
            </a:r>
            <a:r>
              <a:rPr lang="en-US" altLang="zh-CN" sz="2400" dirty="0">
                <a:latin typeface="Times New Roman" panose="02020603050405020304" pitchFamily="18" charset="0"/>
                <a:ea typeface="微软雅黑" panose="020B0503020204020204" pitchFamily="34" charset="-122"/>
              </a:rPr>
              <a:t>7200m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 0</a:t>
            </a:r>
            <a:r>
              <a:rPr lang="zh-CN" altLang="en-US" sz="2400" dirty="0">
                <a:latin typeface="Times New Roman" panose="02020603050405020304" pitchFamily="18" charset="0"/>
                <a:ea typeface="微软雅黑" panose="020B0503020204020204" pitchFamily="34" charset="-122"/>
              </a:rPr>
              <a:t>℃层高度</a:t>
            </a:r>
            <a:r>
              <a:rPr lang="en-US" altLang="zh-CN" sz="2400" dirty="0">
                <a:latin typeface="Times New Roman" panose="02020603050405020304" pitchFamily="18" charset="0"/>
                <a:ea typeface="微软雅黑" panose="020B0503020204020204" pitchFamily="34" charset="-122"/>
              </a:rPr>
              <a:t>6300m</a:t>
            </a:r>
            <a:r>
              <a:rPr lang="zh-CN" altLang="en-US" sz="2400" dirty="0">
                <a:latin typeface="Times New Roman" panose="02020603050405020304" pitchFamily="18" charset="0"/>
                <a:ea typeface="微软雅黑" panose="020B0503020204020204" pitchFamily="34" charset="-122"/>
              </a:rPr>
              <a:t>；云中中度颠簸，不频繁，颠簸层底高</a:t>
            </a:r>
            <a:r>
              <a:rPr lang="en-US" altLang="zh-CN" sz="2400" dirty="0">
                <a:latin typeface="Times New Roman" panose="02020603050405020304" pitchFamily="18" charset="0"/>
                <a:ea typeface="微软雅黑" panose="020B0503020204020204" pitchFamily="34" charset="-122"/>
              </a:rPr>
              <a:t>3600m</a:t>
            </a:r>
            <a:r>
              <a:rPr lang="zh-CN" altLang="en-US" sz="2400" dirty="0">
                <a:latin typeface="Times New Roman" panose="02020603050405020304" pitchFamily="18" charset="0"/>
                <a:ea typeface="微软雅黑" panose="020B0503020204020204" pitchFamily="34" charset="-122"/>
              </a:rPr>
              <a:t>，厚</a:t>
            </a:r>
            <a:r>
              <a:rPr lang="en-US" altLang="zh-CN" sz="2400" dirty="0">
                <a:latin typeface="Times New Roman" panose="02020603050405020304" pitchFamily="18" charset="0"/>
                <a:ea typeface="微软雅黑" panose="020B0503020204020204" pitchFamily="34" charset="-122"/>
              </a:rPr>
              <a:t>2400m</a:t>
            </a:r>
            <a:r>
              <a:rPr lang="zh-CN" altLang="en-US" sz="2400" dirty="0">
                <a:latin typeface="Times New Roman" panose="02020603050405020304" pitchFamily="18" charset="0"/>
                <a:ea typeface="微软雅黑" panose="020B0503020204020204" pitchFamily="34" charset="-122"/>
              </a:rPr>
              <a:t>；在</a:t>
            </a:r>
            <a:r>
              <a:rPr lang="en-US" altLang="zh-CN" sz="2400" dirty="0">
                <a:latin typeface="Times New Roman" panose="02020603050405020304" pitchFamily="18" charset="0"/>
                <a:ea typeface="微软雅黑" panose="020B0503020204020204" pitchFamily="34" charset="-122"/>
              </a:rPr>
              <a:t>6000m</a:t>
            </a:r>
            <a:r>
              <a:rPr lang="zh-CN" altLang="en-US" sz="2400" dirty="0">
                <a:latin typeface="Times New Roman" panose="02020603050405020304" pitchFamily="18" charset="0"/>
                <a:ea typeface="微软雅黑" panose="020B0503020204020204" pitchFamily="34" charset="-122"/>
              </a:rPr>
              <a:t>高度上气温为</a:t>
            </a:r>
            <a:r>
              <a:rPr lang="en-US" altLang="zh-CN" sz="2400" dirty="0">
                <a:latin typeface="Times New Roman" panose="02020603050405020304" pitchFamily="18" charset="0"/>
                <a:ea typeface="微软雅黑" panose="020B0503020204020204" pitchFamily="34" charset="-122"/>
              </a:rPr>
              <a:t>1</a:t>
            </a:r>
            <a:r>
              <a:rPr lang="zh-CN" altLang="en-US" sz="2400" dirty="0">
                <a:latin typeface="Times New Roman" panose="02020603050405020304" pitchFamily="18" charset="0"/>
                <a:ea typeface="微软雅黑" panose="020B0503020204020204" pitchFamily="34" charset="-122"/>
              </a:rPr>
              <a:t>℃，风向</a:t>
            </a:r>
            <a:r>
              <a:rPr lang="en-US" altLang="zh-CN" sz="2400" dirty="0">
                <a:latin typeface="Times New Roman" panose="02020603050405020304" pitchFamily="18" charset="0"/>
                <a:ea typeface="微软雅黑" panose="020B0503020204020204" pitchFamily="34" charset="-122"/>
              </a:rPr>
              <a:t>180°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90km/h</a:t>
            </a:r>
            <a:r>
              <a:rPr lang="zh-CN" altLang="en-US" sz="2400" dirty="0">
                <a:latin typeface="Times New Roman" panose="02020603050405020304" pitchFamily="18" charset="0"/>
                <a:ea typeface="微软雅黑" panose="020B0503020204020204" pitchFamily="34" charset="-122"/>
              </a:rPr>
              <a:t>。从</a:t>
            </a:r>
            <a:r>
              <a:rPr lang="en-US" altLang="zh-CN" sz="2400" dirty="0">
                <a:latin typeface="Times New Roman" panose="02020603050405020304" pitchFamily="18" charset="0"/>
                <a:ea typeface="微软雅黑" panose="020B0503020204020204" pitchFamily="34" charset="-122"/>
              </a:rPr>
              <a:t>35°N</a:t>
            </a:r>
            <a:r>
              <a:rPr lang="zh-CN" altLang="en-US" sz="2400" dirty="0">
                <a:latin typeface="Times New Roman" panose="02020603050405020304" pitchFamily="18" charset="0"/>
                <a:ea typeface="微软雅黑" panose="020B0503020204020204" pitchFamily="34" charset="-122"/>
              </a:rPr>
              <a:t>至上海航段，有</a:t>
            </a:r>
            <a:r>
              <a:rPr lang="en-US" altLang="zh-CN" sz="2400" dirty="0">
                <a:latin typeface="Times New Roman" panose="02020603050405020304" pitchFamily="18" charset="0"/>
                <a:ea typeface="微软雅黑" panose="020B0503020204020204" pitchFamily="34" charset="-122"/>
              </a:rPr>
              <a:t>3-4</a:t>
            </a:r>
            <a:r>
              <a:rPr lang="zh-CN" altLang="en-US" sz="2400" dirty="0">
                <a:latin typeface="Times New Roman" panose="02020603050405020304" pitchFamily="18" charset="0"/>
                <a:ea typeface="微软雅黑" panose="020B0503020204020204" pitchFamily="34" charset="-122"/>
              </a:rPr>
              <a:t>个量的云，云底高为</a:t>
            </a:r>
            <a:r>
              <a:rPr lang="en-US" altLang="zh-CN" sz="2400" dirty="0">
                <a:latin typeface="Times New Roman" panose="02020603050405020304" pitchFamily="18" charset="0"/>
                <a:ea typeface="微软雅黑" panose="020B0503020204020204" pitchFamily="34" charset="-122"/>
              </a:rPr>
              <a:t>780m</a:t>
            </a:r>
            <a:r>
              <a:rPr lang="zh-CN" altLang="en-US" sz="2400" dirty="0">
                <a:latin typeface="Times New Roman" panose="02020603050405020304" pitchFamily="18" charset="0"/>
                <a:ea typeface="微软雅黑" panose="020B0503020204020204" pitchFamily="34" charset="-122"/>
              </a:rPr>
              <a:t>，云顶高</a:t>
            </a:r>
            <a:r>
              <a:rPr lang="en-US" altLang="zh-CN" sz="2400" dirty="0">
                <a:latin typeface="Times New Roman" panose="02020603050405020304" pitchFamily="18" charset="0"/>
                <a:ea typeface="微软雅黑" panose="020B0503020204020204" pitchFamily="34" charset="-122"/>
              </a:rPr>
              <a:t>1500m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℃层高度</a:t>
            </a:r>
            <a:r>
              <a:rPr lang="en-US" altLang="zh-CN" sz="2400" dirty="0">
                <a:latin typeface="Times New Roman" panose="02020603050405020304" pitchFamily="18" charset="0"/>
                <a:ea typeface="微软雅黑" panose="020B0503020204020204" pitchFamily="34" charset="-122"/>
              </a:rPr>
              <a:t>6600m</a:t>
            </a:r>
            <a:r>
              <a:rPr lang="zh-CN" altLang="en-US" sz="2400" dirty="0">
                <a:latin typeface="Times New Roman" panose="02020603050405020304" pitchFamily="18" charset="0"/>
                <a:ea typeface="微软雅黑" panose="020B0503020204020204" pitchFamily="34" charset="-122"/>
              </a:rPr>
              <a:t>；</a:t>
            </a:r>
            <a:r>
              <a:rPr lang="zh-CN" altLang="en-US" sz="2400" dirty="0">
                <a:solidFill>
                  <a:srgbClr val="FF0000"/>
                </a:solidFill>
                <a:latin typeface="Times New Roman" panose="02020603050405020304" pitchFamily="18" charset="0"/>
                <a:ea typeface="微软雅黑" panose="020B0503020204020204" pitchFamily="34" charset="-122"/>
              </a:rPr>
              <a:t>从</a:t>
            </a:r>
            <a:r>
              <a:rPr lang="en-US" altLang="zh-CN" sz="2400" dirty="0">
                <a:solidFill>
                  <a:srgbClr val="FF0000"/>
                </a:solidFill>
                <a:latin typeface="Times New Roman" panose="02020603050405020304" pitchFamily="18" charset="0"/>
                <a:ea typeface="微软雅黑" panose="020B0503020204020204" pitchFamily="34" charset="-122"/>
              </a:rPr>
              <a:t>06</a:t>
            </a:r>
            <a:r>
              <a:rPr lang="zh-CN" altLang="en-US" sz="2400" dirty="0">
                <a:solidFill>
                  <a:srgbClr val="FF0000"/>
                </a:solidFill>
                <a:latin typeface="Times New Roman" panose="02020603050405020304" pitchFamily="18" charset="0"/>
                <a:ea typeface="微软雅黑" panose="020B0503020204020204" pitchFamily="34" charset="-122"/>
              </a:rPr>
              <a:t>时至</a:t>
            </a:r>
            <a:r>
              <a:rPr lang="en-US" altLang="zh-CN" sz="2400" dirty="0">
                <a:solidFill>
                  <a:srgbClr val="FF0000"/>
                </a:solidFill>
                <a:latin typeface="Times New Roman" panose="02020603050405020304" pitchFamily="18" charset="0"/>
                <a:ea typeface="微软雅黑" panose="020B0503020204020204" pitchFamily="34" charset="-122"/>
              </a:rPr>
              <a:t>08</a:t>
            </a:r>
            <a:r>
              <a:rPr lang="zh-CN" altLang="en-US" sz="2400" dirty="0">
                <a:solidFill>
                  <a:srgbClr val="FF0000"/>
                </a:solidFill>
                <a:latin typeface="Times New Roman" panose="02020603050405020304" pitchFamily="18" charset="0"/>
                <a:ea typeface="微软雅黑" panose="020B0503020204020204" pitchFamily="34" charset="-122"/>
              </a:rPr>
              <a:t>时</a:t>
            </a:r>
            <a:r>
              <a:rPr lang="zh-CN" altLang="en-US" sz="2400" dirty="0">
                <a:latin typeface="Times New Roman" panose="02020603050405020304" pitchFamily="18" charset="0"/>
                <a:ea typeface="微软雅黑" panose="020B0503020204020204" pitchFamily="34" charset="-122"/>
              </a:rPr>
              <a:t>，将变化为多云，云底高</a:t>
            </a:r>
            <a:r>
              <a:rPr lang="en-US" altLang="zh-CN" sz="2400" dirty="0">
                <a:latin typeface="Times New Roman" panose="02020603050405020304" pitchFamily="18" charset="0"/>
                <a:ea typeface="微软雅黑" panose="020B0503020204020204" pitchFamily="34" charset="-122"/>
              </a:rPr>
              <a:t>1500m</a:t>
            </a:r>
            <a:r>
              <a:rPr lang="zh-CN" altLang="en-US" sz="2400" dirty="0">
                <a:latin typeface="Times New Roman" panose="02020603050405020304" pitchFamily="18" charset="0"/>
                <a:ea typeface="微软雅黑" panose="020B0503020204020204" pitchFamily="34" charset="-122"/>
              </a:rPr>
              <a:t>，云顶高</a:t>
            </a:r>
            <a:r>
              <a:rPr lang="en-US" altLang="zh-CN" sz="2400" dirty="0">
                <a:latin typeface="Times New Roman" panose="02020603050405020304" pitchFamily="18" charset="0"/>
                <a:ea typeface="微软雅黑" panose="020B0503020204020204" pitchFamily="34" charset="-122"/>
              </a:rPr>
              <a:t>3600m</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0</a:t>
            </a:r>
            <a:r>
              <a:rPr lang="zh-CN" altLang="en-US" sz="2400" dirty="0">
                <a:latin typeface="Times New Roman" panose="02020603050405020304" pitchFamily="18" charset="0"/>
                <a:ea typeface="微软雅黑" panose="020B0503020204020204" pitchFamily="34" charset="-122"/>
              </a:rPr>
              <a:t>℃层高度同前；</a:t>
            </a:r>
            <a:r>
              <a:rPr lang="en-US" altLang="zh-CN" sz="2400" dirty="0">
                <a:latin typeface="Times New Roman" panose="02020603050405020304" pitchFamily="18" charset="0"/>
                <a:ea typeface="微软雅黑" panose="020B0503020204020204" pitchFamily="34" charset="-122"/>
              </a:rPr>
              <a:t>5400m</a:t>
            </a:r>
            <a:r>
              <a:rPr lang="zh-CN" altLang="en-US" sz="2400" dirty="0">
                <a:latin typeface="Times New Roman" panose="02020603050405020304" pitchFamily="18" charset="0"/>
                <a:ea typeface="微软雅黑" panose="020B0503020204020204" pitchFamily="34" charset="-122"/>
              </a:rPr>
              <a:t>高度上气温为</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℃，风向</a:t>
            </a:r>
            <a:r>
              <a:rPr lang="en-US" altLang="zh-CN" sz="2400" dirty="0">
                <a:latin typeface="Times New Roman" panose="02020603050405020304" pitchFamily="18" charset="0"/>
                <a:ea typeface="微软雅黑" panose="020B0503020204020204" pitchFamily="34" charset="-122"/>
              </a:rPr>
              <a:t>210°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60km/h</a:t>
            </a:r>
            <a:r>
              <a:rPr lang="zh-CN" altLang="en-US" sz="2400" dirty="0">
                <a:latin typeface="Times New Roman" panose="02020603050405020304" pitchFamily="18" charset="0"/>
                <a:ea typeface="微软雅黑" panose="020B0503020204020204" pitchFamily="34" charset="-122"/>
              </a:rPr>
              <a:t>。</a:t>
            </a:r>
          </a:p>
        </p:txBody>
      </p:sp>
    </p:spTree>
    <p:extLst>
      <p:ext uri="{BB962C8B-B14F-4D97-AF65-F5344CB8AC3E}">
        <p14:creationId xmlns:p14="http://schemas.microsoft.com/office/powerpoint/2010/main" val="314337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1D8515F-59C6-4FA6-BC48-77D05246FA81}"/>
              </a:ext>
            </a:extLst>
          </p:cNvPr>
          <p:cNvSpPr txBox="1"/>
          <p:nvPr/>
        </p:nvSpPr>
        <p:spPr>
          <a:xfrm>
            <a:off x="742122" y="344557"/>
            <a:ext cx="9382539" cy="1133965"/>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METAR ZPPP 020600Z 19004MPS 4000 SHRA FEW010 SCT023TCU OVC036 12/11 Q1025 BECMG FM0700 9999 NSW</a:t>
            </a:r>
            <a:endParaRPr lang="zh-CN" altLang="en-US" sz="2400" dirty="0">
              <a:latin typeface="Times New Roman" panose="02020603050405020304" pitchFamily="18" charset="0"/>
              <a:ea typeface="微软雅黑" panose="020B0503020204020204" pitchFamily="34" charset="-122"/>
            </a:endParaRPr>
          </a:p>
        </p:txBody>
      </p:sp>
      <p:sp>
        <p:nvSpPr>
          <p:cNvPr id="3" name="文本框 2">
            <a:extLst>
              <a:ext uri="{FF2B5EF4-FFF2-40B4-BE49-F238E27FC236}">
                <a16:creationId xmlns:a16="http://schemas.microsoft.com/office/drawing/2014/main" id="{D043ED1F-5C52-4D36-A479-1F2BDA7A52F6}"/>
              </a:ext>
            </a:extLst>
          </p:cNvPr>
          <p:cNvSpPr txBox="1"/>
          <p:nvPr/>
        </p:nvSpPr>
        <p:spPr>
          <a:xfrm>
            <a:off x="940904" y="1789043"/>
            <a:ext cx="8971722" cy="2796856"/>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机场例行报，昆明，</a:t>
            </a:r>
            <a:r>
              <a:rPr lang="en-US" altLang="zh-CN" sz="2400" dirty="0">
                <a:latin typeface="Times New Roman" panose="02020603050405020304" pitchFamily="18" charset="0"/>
                <a:ea typeface="微软雅黑" panose="020B0503020204020204" pitchFamily="34" charset="-122"/>
              </a:rPr>
              <a:t>2</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14</a:t>
            </a:r>
            <a:r>
              <a:rPr lang="zh-CN" altLang="en-US" sz="2400" dirty="0">
                <a:latin typeface="Times New Roman" panose="02020603050405020304" pitchFamily="18" charset="0"/>
                <a:ea typeface="微软雅黑" panose="020B0503020204020204" pitchFamily="34" charset="-122"/>
              </a:rPr>
              <a:t>时，地面风向</a:t>
            </a:r>
            <a:r>
              <a:rPr lang="en-US" altLang="zh-CN" sz="2400" dirty="0">
                <a:latin typeface="Times New Roman" panose="02020603050405020304" pitchFamily="18" charset="0"/>
                <a:ea typeface="微软雅黑" panose="020B0503020204020204" pitchFamily="34" charset="-122"/>
              </a:rPr>
              <a:t>190°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4m/s</a:t>
            </a:r>
            <a:r>
              <a:rPr lang="zh-CN" altLang="en-US" sz="2400" dirty="0">
                <a:latin typeface="Times New Roman" panose="02020603050405020304" pitchFamily="18" charset="0"/>
                <a:ea typeface="微软雅黑" panose="020B0503020204020204" pitchFamily="34" charset="-122"/>
              </a:rPr>
              <a:t>，能见度</a:t>
            </a:r>
            <a:r>
              <a:rPr lang="en-US" altLang="zh-CN" sz="2400" dirty="0">
                <a:latin typeface="Times New Roman" panose="02020603050405020304" pitchFamily="18" charset="0"/>
                <a:ea typeface="微软雅黑" panose="020B0503020204020204" pitchFamily="34" charset="-122"/>
              </a:rPr>
              <a:t>4000m</a:t>
            </a:r>
            <a:r>
              <a:rPr lang="zh-CN" altLang="en-US" sz="2400" dirty="0">
                <a:latin typeface="Times New Roman" panose="02020603050405020304" pitchFamily="18" charset="0"/>
                <a:ea typeface="微软雅黑" panose="020B0503020204020204" pitchFamily="34" charset="-122"/>
              </a:rPr>
              <a:t>，中阵雨，少云，云底高</a:t>
            </a:r>
            <a:r>
              <a:rPr lang="en-US" altLang="zh-CN" sz="2400" dirty="0">
                <a:latin typeface="Times New Roman" panose="02020603050405020304" pitchFamily="18" charset="0"/>
                <a:ea typeface="微软雅黑" panose="020B0503020204020204" pitchFamily="34" charset="-122"/>
              </a:rPr>
              <a:t>300m</a:t>
            </a:r>
            <a:r>
              <a:rPr lang="zh-CN" altLang="en-US" sz="2400" dirty="0">
                <a:latin typeface="Times New Roman" panose="02020603050405020304" pitchFamily="18" charset="0"/>
                <a:ea typeface="微软雅黑" panose="020B0503020204020204" pitchFamily="34" charset="-122"/>
              </a:rPr>
              <a:t>；浓积云，云底高</a:t>
            </a:r>
            <a:r>
              <a:rPr lang="en-US" altLang="zh-CN" sz="2400" dirty="0">
                <a:latin typeface="Times New Roman" panose="02020603050405020304" pitchFamily="18" charset="0"/>
                <a:ea typeface="微软雅黑" panose="020B0503020204020204" pitchFamily="34" charset="-122"/>
              </a:rPr>
              <a:t>690m</a:t>
            </a:r>
            <a:r>
              <a:rPr lang="zh-CN" altLang="en-US" sz="2400" dirty="0">
                <a:latin typeface="Times New Roman" panose="02020603050405020304" pitchFamily="18" charset="0"/>
                <a:ea typeface="微软雅黑" panose="020B0503020204020204" pitchFamily="34" charset="-122"/>
              </a:rPr>
              <a:t>，疏云；阴天，云底高</a:t>
            </a:r>
            <a:r>
              <a:rPr lang="en-US" altLang="zh-CN" sz="2400" dirty="0">
                <a:latin typeface="Times New Roman" panose="02020603050405020304" pitchFamily="18" charset="0"/>
                <a:ea typeface="微软雅黑" panose="020B0503020204020204" pitchFamily="34" charset="-122"/>
              </a:rPr>
              <a:t>1100m</a:t>
            </a:r>
            <a:r>
              <a:rPr lang="zh-CN" altLang="en-US" sz="2400" dirty="0">
                <a:latin typeface="Times New Roman" panose="02020603050405020304" pitchFamily="18" charset="0"/>
                <a:ea typeface="微软雅黑" panose="020B0503020204020204" pitchFamily="34" charset="-122"/>
              </a:rPr>
              <a:t>；气温</a:t>
            </a:r>
            <a:r>
              <a:rPr lang="en-US" altLang="zh-CN" sz="2400" dirty="0">
                <a:latin typeface="Times New Roman" panose="02020603050405020304" pitchFamily="18" charset="0"/>
                <a:ea typeface="微软雅黑" panose="020B0503020204020204" pitchFamily="34" charset="-122"/>
              </a:rPr>
              <a:t>12</a:t>
            </a:r>
            <a:r>
              <a:rPr lang="zh-CN" altLang="en-US" sz="2400" dirty="0">
                <a:latin typeface="Times New Roman" panose="02020603050405020304" pitchFamily="18" charset="0"/>
                <a:ea typeface="微软雅黑" panose="020B0503020204020204" pitchFamily="34" charset="-122"/>
              </a:rPr>
              <a:t>℃；露点温度</a:t>
            </a:r>
            <a:r>
              <a:rPr lang="en-US" altLang="zh-CN" sz="2400" dirty="0">
                <a:latin typeface="Times New Roman" panose="02020603050405020304" pitchFamily="18" charset="0"/>
                <a:ea typeface="微软雅黑" panose="020B0503020204020204" pitchFamily="34" charset="-122"/>
              </a:rPr>
              <a:t>11</a:t>
            </a:r>
            <a:r>
              <a:rPr lang="zh-CN" altLang="en-US" sz="2400" dirty="0">
                <a:latin typeface="Times New Roman" panose="02020603050405020304" pitchFamily="18" charset="0"/>
                <a:ea typeface="微软雅黑" panose="020B0503020204020204" pitchFamily="34" charset="-122"/>
              </a:rPr>
              <a:t>℃；修正海平面气压</a:t>
            </a:r>
            <a:r>
              <a:rPr lang="en-US" altLang="zh-CN" sz="2400" dirty="0">
                <a:latin typeface="Times New Roman" panose="02020603050405020304" pitchFamily="18" charset="0"/>
                <a:ea typeface="微软雅黑" panose="020B0503020204020204" pitchFamily="34" charset="-122"/>
              </a:rPr>
              <a:t>1025hPa</a:t>
            </a:r>
            <a:r>
              <a:rPr lang="zh-CN" altLang="en-US" sz="2400" dirty="0">
                <a:latin typeface="Times New Roman" panose="02020603050405020304" pitchFamily="18" charset="0"/>
                <a:ea typeface="微软雅黑" panose="020B0503020204020204" pitchFamily="34" charset="-122"/>
              </a:rPr>
              <a:t>；未来</a:t>
            </a:r>
            <a:r>
              <a:rPr lang="en-US" altLang="zh-CN" sz="2400" dirty="0">
                <a:latin typeface="Times New Roman" panose="02020603050405020304" pitchFamily="18" charset="0"/>
                <a:ea typeface="微软雅黑" panose="020B0503020204020204" pitchFamily="34" charset="-122"/>
              </a:rPr>
              <a:t>2h</a:t>
            </a:r>
            <a:r>
              <a:rPr lang="zh-CN" altLang="en-US" sz="2400" dirty="0">
                <a:latin typeface="Times New Roman" panose="02020603050405020304" pitchFamily="18" charset="0"/>
                <a:ea typeface="微软雅黑" panose="020B0503020204020204" pitchFamily="34" charset="-122"/>
              </a:rPr>
              <a:t>发展趋势：从世界时</a:t>
            </a:r>
            <a:r>
              <a:rPr lang="en-US" altLang="zh-CN" sz="2400" dirty="0">
                <a:latin typeface="Times New Roman" panose="02020603050405020304" pitchFamily="18" charset="0"/>
                <a:ea typeface="微软雅黑" panose="020B0503020204020204" pitchFamily="34" charset="-122"/>
              </a:rPr>
              <a:t>0700</a:t>
            </a:r>
            <a:r>
              <a:rPr lang="zh-CN" altLang="en-US" sz="2400" dirty="0">
                <a:latin typeface="Times New Roman" panose="02020603050405020304" pitchFamily="18" charset="0"/>
                <a:ea typeface="微软雅黑" panose="020B0503020204020204" pitchFamily="34" charset="-122"/>
              </a:rPr>
              <a:t>点到</a:t>
            </a:r>
            <a:r>
              <a:rPr lang="en-US" altLang="zh-CN" sz="2400" dirty="0">
                <a:latin typeface="Times New Roman" panose="02020603050405020304" pitchFamily="18" charset="0"/>
                <a:ea typeface="微软雅黑" panose="020B0503020204020204" pitchFamily="34" charset="-122"/>
              </a:rPr>
              <a:t>0800</a:t>
            </a:r>
            <a:r>
              <a:rPr lang="zh-CN" altLang="en-US" sz="2400" dirty="0">
                <a:latin typeface="Times New Roman" panose="02020603050405020304" pitchFamily="18" charset="0"/>
                <a:ea typeface="微软雅黑" panose="020B0503020204020204" pitchFamily="34" charset="-122"/>
              </a:rPr>
              <a:t>点渐变为能见度大于等于</a:t>
            </a:r>
            <a:r>
              <a:rPr lang="en-US" altLang="zh-CN" sz="2400" dirty="0">
                <a:latin typeface="Times New Roman" panose="02020603050405020304" pitchFamily="18" charset="0"/>
                <a:ea typeface="微软雅黑" panose="020B0503020204020204" pitchFamily="34" charset="-122"/>
              </a:rPr>
              <a:t>10km</a:t>
            </a:r>
            <a:r>
              <a:rPr lang="zh-CN" altLang="en-US" sz="2400" dirty="0">
                <a:latin typeface="Times New Roman" panose="02020603050405020304" pitchFamily="18" charset="0"/>
                <a:ea typeface="微软雅黑" panose="020B0503020204020204" pitchFamily="34" charset="-122"/>
              </a:rPr>
              <a:t>；重要天气现象结束。</a:t>
            </a:r>
          </a:p>
        </p:txBody>
      </p:sp>
    </p:spTree>
    <p:extLst>
      <p:ext uri="{BB962C8B-B14F-4D97-AF65-F5344CB8AC3E}">
        <p14:creationId xmlns:p14="http://schemas.microsoft.com/office/powerpoint/2010/main" val="42094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1D8515F-59C6-4FA6-BC48-77D05246FA81}"/>
              </a:ext>
            </a:extLst>
          </p:cNvPr>
          <p:cNvSpPr txBox="1"/>
          <p:nvPr/>
        </p:nvSpPr>
        <p:spPr>
          <a:xfrm>
            <a:off x="742122" y="344557"/>
            <a:ext cx="9382539" cy="1133965"/>
          </a:xfrm>
          <a:prstGeom prst="rect">
            <a:avLst/>
          </a:prstGeom>
          <a:noFill/>
        </p:spPr>
        <p:txBody>
          <a:bodyPr wrap="square" rtlCol="0">
            <a:spAutoFit/>
          </a:bodyPr>
          <a:lstStyle/>
          <a:p>
            <a:pPr>
              <a:lnSpc>
                <a:spcPct val="150000"/>
              </a:lnSpc>
            </a:pPr>
            <a:r>
              <a:rPr lang="en-US" altLang="zh-CN" sz="2400" dirty="0">
                <a:latin typeface="Times New Roman" panose="02020603050405020304" pitchFamily="18" charset="0"/>
                <a:ea typeface="微软雅黑" panose="020B0503020204020204" pitchFamily="34" charset="-122"/>
              </a:rPr>
              <a:t>TAF ZUUU 050300Z 050606 35003MPS 5000 BR SCT030 TX20/07Z TN12/23Z</a:t>
            </a:r>
            <a:endParaRPr lang="zh-CN" altLang="en-US" sz="2400" dirty="0">
              <a:latin typeface="Times New Roman" panose="02020603050405020304" pitchFamily="18" charset="0"/>
              <a:ea typeface="微软雅黑" panose="020B0503020204020204" pitchFamily="34" charset="-122"/>
            </a:endParaRPr>
          </a:p>
        </p:txBody>
      </p:sp>
      <p:sp>
        <p:nvSpPr>
          <p:cNvPr id="3" name="文本框 2">
            <a:extLst>
              <a:ext uri="{FF2B5EF4-FFF2-40B4-BE49-F238E27FC236}">
                <a16:creationId xmlns:a16="http://schemas.microsoft.com/office/drawing/2014/main" id="{D043ED1F-5C52-4D36-A479-1F2BDA7A52F6}"/>
              </a:ext>
            </a:extLst>
          </p:cNvPr>
          <p:cNvSpPr txBox="1"/>
          <p:nvPr/>
        </p:nvSpPr>
        <p:spPr>
          <a:xfrm>
            <a:off x="940904" y="1789043"/>
            <a:ext cx="8971722" cy="2242858"/>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微软雅黑" panose="020B0503020204020204" pitchFamily="34" charset="-122"/>
              </a:rPr>
              <a:t>机场天气预报，发报时间</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03:00</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UTC</a:t>
            </a:r>
            <a:r>
              <a:rPr lang="zh-CN" altLang="en-US" sz="2400" dirty="0">
                <a:latin typeface="Times New Roman" panose="02020603050405020304" pitchFamily="18" charset="0"/>
                <a:ea typeface="微软雅黑" panose="020B0503020204020204" pitchFamily="34" charset="-122"/>
              </a:rPr>
              <a:t>），有效时间为</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日世界时</a:t>
            </a:r>
            <a:r>
              <a:rPr lang="en-US" altLang="zh-CN" sz="2400" dirty="0">
                <a:latin typeface="Times New Roman" panose="02020603050405020304" pitchFamily="18" charset="0"/>
                <a:ea typeface="微软雅黑" panose="020B0503020204020204" pitchFamily="34" charset="-122"/>
              </a:rPr>
              <a:t>0600</a:t>
            </a:r>
            <a:r>
              <a:rPr lang="zh-CN" altLang="en-US" sz="2400" dirty="0">
                <a:latin typeface="Times New Roman" panose="02020603050405020304" pitchFamily="18" charset="0"/>
                <a:ea typeface="微软雅黑" panose="020B0503020204020204" pitchFamily="34" charset="-122"/>
              </a:rPr>
              <a:t>到</a:t>
            </a:r>
            <a:r>
              <a:rPr lang="en-US" altLang="zh-CN" sz="2400" dirty="0">
                <a:latin typeface="Times New Roman" panose="02020603050405020304" pitchFamily="18" charset="0"/>
                <a:ea typeface="微软雅黑" panose="020B0503020204020204" pitchFamily="34" charset="-122"/>
              </a:rPr>
              <a:t>6</a:t>
            </a:r>
            <a:r>
              <a:rPr lang="zh-CN" altLang="en-US" sz="2400" dirty="0">
                <a:latin typeface="Times New Roman" panose="02020603050405020304" pitchFamily="18" charset="0"/>
                <a:ea typeface="微软雅黑" panose="020B0503020204020204" pitchFamily="34" charset="-122"/>
              </a:rPr>
              <a:t>日</a:t>
            </a:r>
            <a:r>
              <a:rPr lang="en-US" altLang="zh-CN" sz="2400" dirty="0">
                <a:latin typeface="Times New Roman" panose="02020603050405020304" pitchFamily="18" charset="0"/>
                <a:ea typeface="微软雅黑" panose="020B0503020204020204" pitchFamily="34" charset="-122"/>
              </a:rPr>
              <a:t>0600</a:t>
            </a:r>
            <a:r>
              <a:rPr lang="zh-CN" altLang="en-US" sz="2400" dirty="0">
                <a:latin typeface="Times New Roman" panose="02020603050405020304" pitchFamily="18" charset="0"/>
                <a:ea typeface="微软雅黑" panose="020B0503020204020204" pitchFamily="34" charset="-122"/>
              </a:rPr>
              <a:t>；风向</a:t>
            </a:r>
            <a:r>
              <a:rPr lang="en-US" altLang="zh-CN" sz="2400" dirty="0">
                <a:latin typeface="Times New Roman" panose="02020603050405020304" pitchFamily="18" charset="0"/>
                <a:ea typeface="微软雅黑" panose="020B0503020204020204" pitchFamily="34" charset="-122"/>
              </a:rPr>
              <a:t>350°</a:t>
            </a:r>
            <a:r>
              <a:rPr lang="zh-CN" altLang="en-US" sz="2400" dirty="0">
                <a:latin typeface="Times New Roman" panose="02020603050405020304" pitchFamily="18" charset="0"/>
                <a:ea typeface="微软雅黑" panose="020B0503020204020204" pitchFamily="34" charset="-122"/>
              </a:rPr>
              <a:t>，风速</a:t>
            </a:r>
            <a:r>
              <a:rPr lang="en-US" altLang="zh-CN" sz="2400" dirty="0">
                <a:latin typeface="Times New Roman" panose="02020603050405020304" pitchFamily="18" charset="0"/>
                <a:ea typeface="微软雅黑" panose="020B0503020204020204" pitchFamily="34" charset="-122"/>
              </a:rPr>
              <a:t>3m/s</a:t>
            </a:r>
            <a:r>
              <a:rPr lang="zh-CN" altLang="en-US" sz="2400" dirty="0">
                <a:latin typeface="Times New Roman" panose="02020603050405020304" pitchFamily="18" charset="0"/>
                <a:ea typeface="微软雅黑" panose="020B0503020204020204" pitchFamily="34" charset="-122"/>
              </a:rPr>
              <a:t>，能见度</a:t>
            </a:r>
            <a:r>
              <a:rPr lang="en-US" altLang="zh-CN" sz="2400" dirty="0">
                <a:latin typeface="Times New Roman" panose="02020603050405020304" pitchFamily="18" charset="0"/>
                <a:ea typeface="微软雅黑" panose="020B0503020204020204" pitchFamily="34" charset="-122"/>
              </a:rPr>
              <a:t>5000m</a:t>
            </a:r>
            <a:r>
              <a:rPr lang="zh-CN" altLang="en-US" sz="2400" dirty="0">
                <a:latin typeface="Times New Roman" panose="02020603050405020304" pitchFamily="18" charset="0"/>
                <a:ea typeface="微软雅黑" panose="020B0503020204020204" pitchFamily="34" charset="-122"/>
              </a:rPr>
              <a:t>，轻雾，云量疏云，云底高</a:t>
            </a:r>
            <a:r>
              <a:rPr lang="en-US" altLang="zh-CN" sz="2400" dirty="0">
                <a:latin typeface="Times New Roman" panose="02020603050405020304" pitchFamily="18" charset="0"/>
                <a:ea typeface="微软雅黑" panose="020B0503020204020204" pitchFamily="34" charset="-122"/>
              </a:rPr>
              <a:t>900m</a:t>
            </a:r>
            <a:r>
              <a:rPr lang="zh-CN" altLang="en-US" sz="2400" dirty="0">
                <a:latin typeface="Times New Roman" panose="02020603050405020304" pitchFamily="18" charset="0"/>
                <a:ea typeface="微软雅黑" panose="020B0503020204020204" pitchFamily="34" charset="-122"/>
              </a:rPr>
              <a:t>，最高气温</a:t>
            </a:r>
            <a:r>
              <a:rPr lang="en-US" altLang="zh-CN" sz="2400" dirty="0">
                <a:latin typeface="Times New Roman" panose="02020603050405020304" pitchFamily="18" charset="0"/>
                <a:ea typeface="微软雅黑" panose="020B0503020204020204" pitchFamily="34" charset="-122"/>
              </a:rPr>
              <a:t>07</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:00</a:t>
            </a:r>
            <a:r>
              <a:rPr lang="zh-CN" altLang="en-US" sz="2400" dirty="0">
                <a:latin typeface="Times New Roman" panose="02020603050405020304" pitchFamily="18" charset="0"/>
                <a:ea typeface="微软雅黑" panose="020B0503020204020204" pitchFamily="34" charset="-122"/>
                <a:sym typeface="Wingdings" panose="05000000000000000000" pitchFamily="2" charset="2"/>
              </a:rPr>
              <a:t>（</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UTC</a:t>
            </a:r>
            <a:r>
              <a:rPr lang="zh-CN" altLang="en-US" sz="2400" dirty="0">
                <a:latin typeface="Times New Roman" panose="02020603050405020304" pitchFamily="18" charset="0"/>
                <a:ea typeface="微软雅黑" panose="020B0503020204020204" pitchFamily="34" charset="-122"/>
                <a:sym typeface="Wingdings" panose="05000000000000000000" pitchFamily="2" charset="2"/>
              </a:rPr>
              <a:t>）为</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20</a:t>
            </a:r>
            <a:r>
              <a:rPr lang="zh-CN" altLang="en-US" sz="2400" dirty="0">
                <a:latin typeface="Times New Roman" panose="02020603050405020304" pitchFamily="18" charset="0"/>
                <a:ea typeface="微软雅黑" panose="020B0503020204020204" pitchFamily="34" charset="-122"/>
                <a:sym typeface="Wingdings" panose="05000000000000000000" pitchFamily="2" charset="2"/>
              </a:rPr>
              <a:t>℃，最低气温</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23:00</a:t>
            </a:r>
            <a:r>
              <a:rPr lang="zh-CN" altLang="en-US" sz="2400" dirty="0">
                <a:latin typeface="Times New Roman" panose="02020603050405020304" pitchFamily="18" charset="0"/>
                <a:ea typeface="微软雅黑" panose="020B0503020204020204" pitchFamily="34" charset="-122"/>
                <a:sym typeface="Wingdings" panose="05000000000000000000" pitchFamily="2" charset="2"/>
              </a:rPr>
              <a:t>（</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UTC</a:t>
            </a:r>
            <a:r>
              <a:rPr lang="zh-CN" altLang="en-US" sz="2400" dirty="0">
                <a:latin typeface="Times New Roman" panose="02020603050405020304" pitchFamily="18" charset="0"/>
                <a:ea typeface="微软雅黑" panose="020B0503020204020204" pitchFamily="34" charset="-122"/>
                <a:sym typeface="Wingdings" panose="05000000000000000000" pitchFamily="2" charset="2"/>
              </a:rPr>
              <a:t>）为</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12</a:t>
            </a:r>
            <a:r>
              <a:rPr lang="zh-CN" altLang="en-US" sz="2400" dirty="0">
                <a:latin typeface="Times New Roman" panose="02020603050405020304" pitchFamily="18" charset="0"/>
                <a:ea typeface="微软雅黑" panose="020B0503020204020204" pitchFamily="34" charset="-122"/>
                <a:sym typeface="Wingdings" panose="05000000000000000000" pitchFamily="2" charset="2"/>
              </a:rPr>
              <a:t>℃。</a:t>
            </a:r>
            <a:endParaRPr lang="zh-CN" altLang="en-US" sz="24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158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16C577E-C2A6-46AD-99BA-80851C8039D6}"/>
              </a:ext>
            </a:extLst>
          </p:cNvPr>
          <p:cNvSpPr txBox="1"/>
          <p:nvPr/>
        </p:nvSpPr>
        <p:spPr>
          <a:xfrm>
            <a:off x="-86497" y="-98854"/>
            <a:ext cx="10181968" cy="1047210"/>
          </a:xfrm>
          <a:prstGeom prst="rect">
            <a:avLst/>
          </a:prstGeom>
          <a:noFill/>
        </p:spPr>
        <p:txBody>
          <a:bodyPr wrap="square" rtlCol="0">
            <a:spAutoFit/>
          </a:bodyPr>
          <a:lstStyle/>
          <a:p>
            <a:pPr>
              <a:lnSpc>
                <a:spcPct val="150000"/>
              </a:lnSpc>
            </a:pPr>
            <a:r>
              <a:rPr lang="zh-CN" altLang="en-US" sz="2200" dirty="0">
                <a:latin typeface="Times New Roman" panose="02020603050405020304" pitchFamily="18" charset="0"/>
                <a:ea typeface="微软雅黑" panose="020B0503020204020204" pitchFamily="34" charset="-122"/>
              </a:rPr>
              <a:t>重要气象情报（</a:t>
            </a:r>
            <a:r>
              <a:rPr lang="en-US" altLang="zh-CN" sz="2200" dirty="0">
                <a:latin typeface="Times New Roman" panose="02020603050405020304" pitchFamily="18" charset="0"/>
                <a:ea typeface="微软雅黑" panose="020B0503020204020204" pitchFamily="34" charset="-122"/>
              </a:rPr>
              <a:t>SIGMET</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150000"/>
              </a:lnSpc>
            </a:pPr>
            <a:endParaRPr lang="zh-CN" altLang="en-US" sz="2200" dirty="0">
              <a:latin typeface="Times New Roman" panose="02020603050405020304" pitchFamily="18" charset="0"/>
              <a:ea typeface="微软雅黑" panose="020B0503020204020204" pitchFamily="34" charset="-122"/>
            </a:endParaRPr>
          </a:p>
        </p:txBody>
      </p:sp>
      <p:pic>
        <p:nvPicPr>
          <p:cNvPr id="3" name="图片 2">
            <a:extLst>
              <a:ext uri="{FF2B5EF4-FFF2-40B4-BE49-F238E27FC236}">
                <a16:creationId xmlns:a16="http://schemas.microsoft.com/office/drawing/2014/main" id="{F7255A90-F098-4D45-8B0B-080FA196F387}"/>
              </a:ext>
            </a:extLst>
          </p:cNvPr>
          <p:cNvPicPr>
            <a:picLocks noChangeAspect="1"/>
          </p:cNvPicPr>
          <p:nvPr/>
        </p:nvPicPr>
        <p:blipFill>
          <a:blip r:embed="rId2"/>
          <a:stretch>
            <a:fillRect/>
          </a:stretch>
        </p:blipFill>
        <p:spPr>
          <a:xfrm>
            <a:off x="1334529" y="630196"/>
            <a:ext cx="6956854" cy="5770604"/>
          </a:xfrm>
          <a:prstGeom prst="rect">
            <a:avLst/>
          </a:prstGeom>
        </p:spPr>
      </p:pic>
    </p:spTree>
    <p:extLst>
      <p:ext uri="{BB962C8B-B14F-4D97-AF65-F5344CB8AC3E}">
        <p14:creationId xmlns:p14="http://schemas.microsoft.com/office/powerpoint/2010/main" val="4089721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0" y="0"/>
            <a:ext cx="11796584" cy="5406865"/>
          </a:xfrm>
          <a:prstGeom prst="rect">
            <a:avLst/>
          </a:prstGeom>
          <a:noFill/>
        </p:spPr>
        <p:txBody>
          <a:bodyPr wrap="square" rtlCol="0">
            <a:spAutoFit/>
          </a:bodyPr>
          <a:lstStyle/>
          <a:p>
            <a:pPr>
              <a:lnSpc>
                <a:spcPct val="200000"/>
              </a:lnSpc>
            </a:pPr>
            <a:r>
              <a:rPr lang="zh-CN" altLang="en-US" sz="2200" dirty="0">
                <a:latin typeface="Times New Roman" panose="02020603050405020304" pitchFamily="18" charset="0"/>
                <a:ea typeface="微软雅黑" panose="020B0503020204020204" pitchFamily="34" charset="-122"/>
              </a:rPr>
              <a:t>电码格式及说明</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a:t>
            </a:r>
            <a:r>
              <a:rPr lang="zh-CN" altLang="en-US" sz="2200" dirty="0">
                <a:latin typeface="Times New Roman" panose="02020603050405020304" pitchFamily="18" charset="0"/>
                <a:ea typeface="微软雅黑" panose="020B0503020204020204" pitchFamily="34" charset="-122"/>
              </a:rPr>
              <a:t>）第一组，服务于重要气象情报涉及的飞行情报区或管制区域服务的空中交通服务单位的地名代码，如</a:t>
            </a:r>
            <a:r>
              <a:rPr lang="en-US" altLang="zh-CN" sz="2200" dirty="0">
                <a:latin typeface="Times New Roman" panose="02020603050405020304" pitchFamily="18" charset="0"/>
                <a:ea typeface="微软雅黑" panose="020B0503020204020204" pitchFamily="34" charset="-122"/>
              </a:rPr>
              <a:t>ZBAA</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ZSSS</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2</a:t>
            </a:r>
            <a:r>
              <a:rPr lang="zh-CN" altLang="en-US" sz="2200" dirty="0">
                <a:latin typeface="Times New Roman" panose="02020603050405020304" pitchFamily="18" charset="0"/>
                <a:ea typeface="微软雅黑" panose="020B0503020204020204" pitchFamily="34" charset="-122"/>
              </a:rPr>
              <a:t>）第二组，电报指示码和序号。为亚音速飞机提供重要气象情报必须用“</a:t>
            </a:r>
            <a:r>
              <a:rPr lang="en-US" altLang="zh-CN" sz="2200" dirty="0">
                <a:latin typeface="Times New Roman" panose="02020603050405020304" pitchFamily="18" charset="0"/>
                <a:ea typeface="微软雅黑" panose="020B0503020204020204" pitchFamily="34" charset="-122"/>
              </a:rPr>
              <a:t>SIGMET</a:t>
            </a:r>
            <a:r>
              <a:rPr lang="zh-CN" altLang="en-US" sz="2200" dirty="0">
                <a:latin typeface="Times New Roman" panose="02020603050405020304" pitchFamily="18" charset="0"/>
                <a:ea typeface="微软雅黑" panose="020B0503020204020204" pitchFamily="34" charset="-122"/>
              </a:rPr>
              <a:t>”标明，为超音速飞机在跨音速和超音速飞行阶段提供的重要情报必须用“</a:t>
            </a:r>
            <a:r>
              <a:rPr lang="en-US" altLang="zh-CN" sz="2200" dirty="0">
                <a:latin typeface="Times New Roman" panose="02020603050405020304" pitchFamily="18" charset="0"/>
                <a:ea typeface="微软雅黑" panose="020B0503020204020204" pitchFamily="34" charset="-122"/>
              </a:rPr>
              <a:t>SIGMET SST</a:t>
            </a:r>
            <a:r>
              <a:rPr lang="zh-CN" altLang="en-US" sz="2200" dirty="0">
                <a:latin typeface="Times New Roman" panose="02020603050405020304" pitchFamily="18" charset="0"/>
                <a:ea typeface="微软雅黑" panose="020B0503020204020204" pitchFamily="34" charset="-122"/>
              </a:rPr>
              <a:t>”标明，如“</a:t>
            </a:r>
            <a:r>
              <a:rPr lang="en-US" altLang="zh-CN" sz="2200" dirty="0">
                <a:latin typeface="Times New Roman" panose="02020603050405020304" pitchFamily="18" charset="0"/>
                <a:ea typeface="微软雅黑" panose="020B0503020204020204" pitchFamily="34" charset="-122"/>
              </a:rPr>
              <a:t>SIGMET 5</a:t>
            </a:r>
            <a:r>
              <a:rPr lang="zh-CN" altLang="en-US" sz="2200" dirty="0">
                <a:latin typeface="Times New Roman" panose="02020603050405020304" pitchFamily="18" charset="0"/>
                <a:ea typeface="微软雅黑" panose="020B0503020204020204" pitchFamily="34" charset="-122"/>
              </a:rPr>
              <a:t>”即为亚音速飞机提供的第</a:t>
            </a:r>
            <a:r>
              <a:rPr lang="en-US" altLang="zh-CN" sz="2200" dirty="0">
                <a:latin typeface="Times New Roman" panose="02020603050405020304" pitchFamily="18" charset="0"/>
                <a:ea typeface="微软雅黑" panose="020B0503020204020204" pitchFamily="34" charset="-122"/>
              </a:rPr>
              <a:t>5</a:t>
            </a:r>
            <a:r>
              <a:rPr lang="zh-CN" altLang="en-US" sz="2200" dirty="0">
                <a:latin typeface="Times New Roman" panose="02020603050405020304" pitchFamily="18" charset="0"/>
                <a:ea typeface="微软雅黑" panose="020B0503020204020204" pitchFamily="34" charset="-122"/>
              </a:rPr>
              <a:t>号重要气象情报。</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en-US" altLang="zh-CN" sz="2200" dirty="0">
                <a:latin typeface="Times New Roman" panose="02020603050405020304" pitchFamily="18" charset="0"/>
                <a:ea typeface="微软雅黑" panose="020B0503020204020204" pitchFamily="34" charset="-122"/>
              </a:rPr>
              <a:t>(3)</a:t>
            </a:r>
            <a:r>
              <a:rPr lang="zh-CN" altLang="en-US" sz="2200" dirty="0">
                <a:latin typeface="Times New Roman" panose="02020603050405020304" pitchFamily="18" charset="0"/>
                <a:ea typeface="微软雅黑" panose="020B0503020204020204" pitchFamily="34" charset="-122"/>
              </a:rPr>
              <a:t>第三组，有效时间组，用世界时表明的有效时间。</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如“</a:t>
            </a:r>
            <a:r>
              <a:rPr lang="en-US" altLang="zh-CN" sz="2200" dirty="0">
                <a:solidFill>
                  <a:schemeClr val="accent5"/>
                </a:solidFill>
                <a:latin typeface="Times New Roman" panose="02020603050405020304" pitchFamily="18" charset="0"/>
                <a:ea typeface="微软雅黑" panose="020B0503020204020204" pitchFamily="34" charset="-122"/>
              </a:rPr>
              <a:t>VALID  221215/221600</a:t>
            </a:r>
            <a:r>
              <a:rPr lang="zh-CN" altLang="en-US" sz="2200" dirty="0">
                <a:latin typeface="Times New Roman" panose="02020603050405020304" pitchFamily="18" charset="0"/>
                <a:ea typeface="微软雅黑" panose="020B0503020204020204" pitchFamily="34" charset="-122"/>
              </a:rPr>
              <a:t>”表示：“有效时间</a:t>
            </a:r>
            <a:r>
              <a:rPr lang="en-US" altLang="zh-CN" sz="2200" dirty="0">
                <a:latin typeface="Times New Roman" panose="02020603050405020304" pitchFamily="18" charset="0"/>
                <a:ea typeface="微软雅黑" panose="020B0503020204020204" pitchFamily="34" charset="-122"/>
              </a:rPr>
              <a:t>22</a:t>
            </a:r>
            <a:r>
              <a:rPr lang="zh-CN" altLang="en-US" sz="2200" dirty="0">
                <a:latin typeface="Times New Roman" panose="02020603050405020304" pitchFamily="18" charset="0"/>
                <a:ea typeface="微软雅黑" panose="020B0503020204020204" pitchFamily="34" charset="-122"/>
              </a:rPr>
              <a:t>号</a:t>
            </a:r>
            <a:r>
              <a:rPr lang="en-US" altLang="zh-CN" sz="2200" dirty="0">
                <a:latin typeface="Times New Roman" panose="02020603050405020304" pitchFamily="18" charset="0"/>
                <a:ea typeface="微软雅黑" panose="020B0503020204020204" pitchFamily="34" charset="-122"/>
              </a:rPr>
              <a:t>12</a:t>
            </a:r>
            <a:r>
              <a:rPr lang="zh-CN" altLang="en-US" sz="2200" dirty="0">
                <a:latin typeface="Times New Roman" panose="02020603050405020304" pitchFamily="18" charset="0"/>
                <a:ea typeface="微软雅黑" panose="020B0503020204020204" pitchFamily="34" charset="-122"/>
              </a:rPr>
              <a:t>时</a:t>
            </a:r>
            <a:r>
              <a:rPr lang="en-US" altLang="zh-CN" sz="2200" dirty="0">
                <a:latin typeface="Times New Roman" panose="02020603050405020304" pitchFamily="18" charset="0"/>
                <a:ea typeface="微软雅黑" panose="020B0503020204020204" pitchFamily="34" charset="-122"/>
              </a:rPr>
              <a:t>15</a:t>
            </a:r>
            <a:r>
              <a:rPr lang="zh-CN" altLang="en-US" sz="2200" dirty="0">
                <a:latin typeface="Times New Roman" panose="02020603050405020304" pitchFamily="18" charset="0"/>
                <a:ea typeface="微软雅黑" panose="020B0503020204020204" pitchFamily="34" charset="-122"/>
              </a:rPr>
              <a:t>分到</a:t>
            </a:r>
            <a:r>
              <a:rPr lang="en-US" altLang="zh-CN" sz="2200" dirty="0">
                <a:latin typeface="Times New Roman" panose="02020603050405020304" pitchFamily="18" charset="0"/>
                <a:ea typeface="微软雅黑" panose="020B0503020204020204" pitchFamily="34" charset="-122"/>
              </a:rPr>
              <a:t>16</a:t>
            </a:r>
            <a:r>
              <a:rPr lang="zh-CN" altLang="en-US" sz="2200" dirty="0">
                <a:latin typeface="Times New Roman" panose="02020603050405020304" pitchFamily="18" charset="0"/>
                <a:ea typeface="微软雅黑" panose="020B0503020204020204" pitchFamily="34" charset="-122"/>
              </a:rPr>
              <a:t>时”</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0791124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0" y="0"/>
            <a:ext cx="11796584" cy="6761082"/>
          </a:xfrm>
          <a:prstGeom prst="rect">
            <a:avLst/>
          </a:prstGeom>
          <a:noFill/>
        </p:spPr>
        <p:txBody>
          <a:bodyPr wrap="square" rtlCol="0">
            <a:spAutoFit/>
          </a:bodyPr>
          <a:lstStyle/>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4</a:t>
            </a:r>
            <a:r>
              <a:rPr lang="zh-CN" altLang="en-US" sz="2200" dirty="0">
                <a:latin typeface="Times New Roman" panose="02020603050405020304" pitchFamily="18" charset="0"/>
                <a:ea typeface="微软雅黑" panose="020B0503020204020204" pitchFamily="34" charset="-122"/>
              </a:rPr>
              <a:t>）第四组，始发电报的气象监视台的地名代号，后面紧随连字号“</a:t>
            </a:r>
            <a:r>
              <a:rPr lang="en-US" altLang="zh-CN" sz="2200" dirty="0">
                <a:latin typeface="Times New Roman" panose="02020603050405020304" pitchFamily="18" charset="0"/>
                <a:ea typeface="微软雅黑" panose="020B0503020204020204" pitchFamily="34" charset="-122"/>
              </a:rPr>
              <a:t>-</a:t>
            </a:r>
            <a:r>
              <a:rPr lang="zh-CN" altLang="en-US" sz="2200" dirty="0">
                <a:latin typeface="Times New Roman" panose="02020603050405020304" pitchFamily="18" charset="0"/>
                <a:ea typeface="微软雅黑" panose="020B0503020204020204" pitchFamily="34" charset="-122"/>
              </a:rPr>
              <a:t>”将报头与电文分开，电文写在下一行，如“</a:t>
            </a:r>
            <a:r>
              <a:rPr lang="en-US" altLang="zh-CN" sz="2200" dirty="0">
                <a:latin typeface="Times New Roman" panose="02020603050405020304" pitchFamily="18" charset="0"/>
                <a:ea typeface="微软雅黑" panose="020B0503020204020204" pitchFamily="34" charset="-122"/>
              </a:rPr>
              <a:t>ZUUU-</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5</a:t>
            </a:r>
            <a:r>
              <a:rPr lang="zh-CN" altLang="en-US" sz="2200" dirty="0">
                <a:latin typeface="Times New Roman" panose="02020603050405020304" pitchFamily="18" charset="0"/>
                <a:ea typeface="微软雅黑" panose="020B0503020204020204" pitchFamily="34" charset="-122"/>
              </a:rPr>
              <a:t>）第五组，重要气象情报为之发布的飞行情报区或管制区的名称。</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6</a:t>
            </a:r>
            <a:r>
              <a:rPr lang="zh-CN" altLang="en-US" sz="2200" dirty="0">
                <a:latin typeface="Times New Roman" panose="02020603050405020304" pitchFamily="18" charset="0"/>
                <a:ea typeface="微软雅黑" panose="020B0503020204020204" pitchFamily="34" charset="-122"/>
              </a:rPr>
              <a:t>）第六组，重要天气现象和现象的描述。</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7</a:t>
            </a:r>
            <a:r>
              <a:rPr lang="zh-CN" altLang="en-US" sz="2200" dirty="0">
                <a:latin typeface="Times New Roman" panose="02020603050405020304" pitchFamily="18" charset="0"/>
                <a:ea typeface="微软雅黑" panose="020B0503020204020204" pitchFamily="34" charset="-122"/>
              </a:rPr>
              <a:t>）第七组，说明以上重要天气现象是观测到的（</a:t>
            </a:r>
            <a:r>
              <a:rPr lang="en-US" altLang="zh-CN" sz="2200" dirty="0">
                <a:latin typeface="Times New Roman" panose="02020603050405020304" pitchFamily="18" charset="0"/>
                <a:ea typeface="微软雅黑" panose="020B0503020204020204" pitchFamily="34" charset="-122"/>
              </a:rPr>
              <a:t>OBS</a:t>
            </a:r>
            <a:r>
              <a:rPr lang="zh-CN" altLang="en-US" sz="2200" dirty="0">
                <a:latin typeface="Times New Roman" panose="02020603050405020304" pitchFamily="18" charset="0"/>
                <a:ea typeface="微软雅黑" panose="020B0503020204020204" pitchFamily="34" charset="-122"/>
              </a:rPr>
              <a:t>）还是预报的（</a:t>
            </a:r>
            <a:r>
              <a:rPr lang="en-US" altLang="zh-CN" sz="2200" dirty="0">
                <a:latin typeface="Times New Roman" panose="02020603050405020304" pitchFamily="18" charset="0"/>
                <a:ea typeface="微软雅黑" panose="020B0503020204020204" pitchFamily="34" charset="-122"/>
              </a:rPr>
              <a:t>FCST</a:t>
            </a:r>
            <a:r>
              <a:rPr lang="zh-CN" altLang="en-US" sz="2200" dirty="0">
                <a:latin typeface="Times New Roman" panose="02020603050405020304" pitchFamily="18" charset="0"/>
                <a:ea typeface="微软雅黑" panose="020B0503020204020204" pitchFamily="34" charset="-122"/>
              </a:rPr>
              <a:t>），以及出现的时间（</a:t>
            </a:r>
            <a:r>
              <a:rPr lang="en-US" altLang="zh-CN" sz="2200" dirty="0">
                <a:latin typeface="Times New Roman" panose="02020603050405020304" pitchFamily="18" charset="0"/>
                <a:ea typeface="微软雅黑" panose="020B0503020204020204" pitchFamily="34" charset="-122"/>
              </a:rPr>
              <a:t>UTC</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8</a:t>
            </a:r>
            <a:r>
              <a:rPr lang="zh-CN" altLang="en-US" sz="2200" dirty="0">
                <a:latin typeface="Times New Roman" panose="02020603050405020304" pitchFamily="18" charset="0"/>
                <a:ea typeface="微软雅黑" panose="020B0503020204020204" pitchFamily="34" charset="-122"/>
              </a:rPr>
              <a:t>）第八组，重要天气现象出现的位置（可用纬度和经度表示，也可用国际上熟知的位置或地理特征）和高度层（用“</a:t>
            </a:r>
            <a:r>
              <a:rPr lang="en-US" altLang="zh-CN" sz="2200" dirty="0">
                <a:latin typeface="Times New Roman" panose="02020603050405020304" pitchFamily="18" charset="0"/>
                <a:ea typeface="微软雅黑" panose="020B0503020204020204" pitchFamily="34" charset="-122"/>
              </a:rPr>
              <a:t>FL</a:t>
            </a:r>
            <a:r>
              <a:rPr lang="zh-CN" altLang="en-US" sz="2200" dirty="0">
                <a:latin typeface="Times New Roman" panose="02020603050405020304" pitchFamily="18" charset="0"/>
                <a:ea typeface="微软雅黑" panose="020B0503020204020204" pitchFamily="34" charset="-122"/>
              </a:rPr>
              <a:t>”）表示。</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solidFill>
                  <a:schemeClr val="accent5"/>
                </a:solidFill>
                <a:latin typeface="Times New Roman" panose="02020603050405020304" pitchFamily="18" charset="0"/>
                <a:ea typeface="微软雅黑" panose="020B0503020204020204" pitchFamily="34" charset="-122"/>
              </a:rPr>
              <a:t>FCST TOPS FL390 S OF 54 DEG  N</a:t>
            </a:r>
            <a:r>
              <a:rPr lang="zh-CN" altLang="en-US" sz="2200" dirty="0">
                <a:latin typeface="Times New Roman" panose="02020603050405020304" pitchFamily="18" charset="0"/>
                <a:ea typeface="微软雅黑" panose="020B0503020204020204" pitchFamily="34" charset="-122"/>
              </a:rPr>
              <a:t>”表示“预报云顶高度为飞行高度层</a:t>
            </a:r>
            <a:r>
              <a:rPr lang="en-US" altLang="zh-CN" sz="2200" dirty="0">
                <a:latin typeface="Times New Roman" panose="02020603050405020304" pitchFamily="18" charset="0"/>
                <a:ea typeface="微软雅黑" panose="020B0503020204020204" pitchFamily="34" charset="-122"/>
              </a:rPr>
              <a:t>39000</a:t>
            </a:r>
            <a:r>
              <a:rPr lang="zh-CN" altLang="en-US" sz="2200" dirty="0">
                <a:latin typeface="Times New Roman" panose="02020603050405020304" pitchFamily="18" charset="0"/>
                <a:ea typeface="微软雅黑" panose="020B0503020204020204" pitchFamily="34" charset="-122"/>
              </a:rPr>
              <a:t>英尺，北纬</a:t>
            </a:r>
            <a:r>
              <a:rPr lang="en-US" altLang="zh-CN" sz="2200" dirty="0">
                <a:latin typeface="Times New Roman" panose="02020603050405020304" pitchFamily="18" charset="0"/>
                <a:ea typeface="微软雅黑" panose="020B0503020204020204" pitchFamily="34" charset="-122"/>
              </a:rPr>
              <a:t>54°</a:t>
            </a:r>
            <a:r>
              <a:rPr lang="zh-CN" altLang="en-US" sz="2200" dirty="0">
                <a:latin typeface="Times New Roman" panose="02020603050405020304" pitchFamily="18" charset="0"/>
                <a:ea typeface="微软雅黑" panose="020B0503020204020204" pitchFamily="34" charset="-122"/>
              </a:rPr>
              <a:t>以南”</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4719386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0" y="0"/>
            <a:ext cx="11796584" cy="4052648"/>
          </a:xfrm>
          <a:prstGeom prst="rect">
            <a:avLst/>
          </a:prstGeom>
          <a:noFill/>
        </p:spPr>
        <p:txBody>
          <a:bodyPr wrap="square" rtlCol="0">
            <a:spAutoFit/>
          </a:bodyPr>
          <a:lstStyle/>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9</a:t>
            </a:r>
            <a:r>
              <a:rPr lang="zh-CN" altLang="en-US" sz="2200" dirty="0">
                <a:latin typeface="Times New Roman" panose="02020603050405020304" pitchFamily="18" charset="0"/>
                <a:ea typeface="微软雅黑" panose="020B0503020204020204" pitchFamily="34" charset="-122"/>
              </a:rPr>
              <a:t>）第九组，移动情况或预期移动情况，单位用</a:t>
            </a:r>
            <a:r>
              <a:rPr lang="en-US" altLang="zh-CN" sz="2200" dirty="0">
                <a:latin typeface="Times New Roman" panose="02020603050405020304" pitchFamily="18" charset="0"/>
                <a:ea typeface="微软雅黑" panose="020B0503020204020204" pitchFamily="34" charset="-122"/>
              </a:rPr>
              <a:t>km/h</a:t>
            </a:r>
            <a:r>
              <a:rPr lang="zh-CN" altLang="en-US" sz="2200" dirty="0">
                <a:latin typeface="Times New Roman" panose="02020603050405020304" pitchFamily="18" charset="0"/>
                <a:ea typeface="微软雅黑" panose="020B0503020204020204" pitchFamily="34" charset="-122"/>
              </a:rPr>
              <a:t>或</a:t>
            </a:r>
            <a:r>
              <a:rPr lang="en-US" altLang="zh-CN" sz="2200" dirty="0">
                <a:latin typeface="Times New Roman" panose="02020603050405020304" pitchFamily="18" charset="0"/>
                <a:ea typeface="微软雅黑" panose="020B0503020204020204" pitchFamily="34" charset="-122"/>
              </a:rPr>
              <a:t>KT</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solidFill>
                  <a:schemeClr val="accent5"/>
                </a:solidFill>
                <a:latin typeface="Times New Roman" panose="02020603050405020304" pitchFamily="18" charset="0"/>
                <a:ea typeface="微软雅黑" panose="020B0503020204020204" pitchFamily="34" charset="-122"/>
              </a:rPr>
              <a:t>MOV E 40KMH</a:t>
            </a:r>
            <a:r>
              <a:rPr lang="zh-CN" altLang="en-US" sz="2200" dirty="0">
                <a:latin typeface="Times New Roman" panose="02020603050405020304" pitchFamily="18" charset="0"/>
                <a:ea typeface="微软雅黑" panose="020B0503020204020204" pitchFamily="34" charset="-122"/>
              </a:rPr>
              <a:t>”表示“向东以</a:t>
            </a:r>
            <a:r>
              <a:rPr lang="en-US" altLang="zh-CN" sz="2200" dirty="0">
                <a:latin typeface="Times New Roman" panose="02020603050405020304" pitchFamily="18" charset="0"/>
                <a:ea typeface="微软雅黑" panose="020B0503020204020204" pitchFamily="34" charset="-122"/>
              </a:rPr>
              <a:t>40km/h</a:t>
            </a:r>
            <a:r>
              <a:rPr lang="zh-CN" altLang="en-US" sz="2200" dirty="0">
                <a:latin typeface="Times New Roman" panose="02020603050405020304" pitchFamily="18" charset="0"/>
                <a:ea typeface="微软雅黑" panose="020B0503020204020204" pitchFamily="34" charset="-122"/>
              </a:rPr>
              <a:t>的速度移动”。</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10</a:t>
            </a:r>
            <a:r>
              <a:rPr lang="zh-CN" altLang="en-US" sz="2200" dirty="0">
                <a:latin typeface="Times New Roman" panose="02020603050405020304" pitchFamily="18" charset="0"/>
                <a:ea typeface="微软雅黑" panose="020B0503020204020204" pitchFamily="34" charset="-122"/>
              </a:rPr>
              <a:t>）第十组，强度变化情况。用缩写“</a:t>
            </a:r>
            <a:r>
              <a:rPr lang="en-US" altLang="zh-CN" sz="2200" dirty="0">
                <a:latin typeface="Times New Roman" panose="02020603050405020304" pitchFamily="18" charset="0"/>
                <a:ea typeface="微软雅黑" panose="020B0503020204020204" pitchFamily="34" charset="-122"/>
              </a:rPr>
              <a:t>INTSF</a:t>
            </a:r>
            <a:r>
              <a:rPr lang="zh-CN" altLang="en-US" sz="2200" dirty="0">
                <a:latin typeface="Times New Roman" panose="02020603050405020304" pitchFamily="18" charset="0"/>
                <a:ea typeface="微软雅黑" panose="020B0503020204020204" pitchFamily="34" charset="-122"/>
              </a:rPr>
              <a:t>”（加强）、“</a:t>
            </a:r>
            <a:r>
              <a:rPr lang="en-US" altLang="zh-CN" sz="2200" dirty="0">
                <a:latin typeface="Times New Roman" panose="02020603050405020304" pitchFamily="18" charset="0"/>
                <a:ea typeface="微软雅黑" panose="020B0503020204020204" pitchFamily="34" charset="-122"/>
              </a:rPr>
              <a:t>WKN</a:t>
            </a:r>
            <a:r>
              <a:rPr lang="zh-CN" altLang="en-US" sz="2200" dirty="0">
                <a:latin typeface="Times New Roman" panose="02020603050405020304" pitchFamily="18" charset="0"/>
                <a:ea typeface="微软雅黑" panose="020B0503020204020204" pitchFamily="34" charset="-122"/>
              </a:rPr>
              <a:t>”（减弱）或“</a:t>
            </a:r>
            <a:r>
              <a:rPr lang="en-US" altLang="zh-CN" sz="2200" dirty="0">
                <a:latin typeface="Times New Roman" panose="02020603050405020304" pitchFamily="18" charset="0"/>
                <a:ea typeface="微软雅黑" panose="020B0503020204020204" pitchFamily="34" charset="-122"/>
              </a:rPr>
              <a:t>NC</a:t>
            </a:r>
            <a:r>
              <a:rPr lang="zh-CN" altLang="en-US" sz="2200" dirty="0">
                <a:latin typeface="Times New Roman" panose="02020603050405020304" pitchFamily="18" charset="0"/>
                <a:ea typeface="微软雅黑" panose="020B0503020204020204" pitchFamily="34" charset="-122"/>
              </a:rPr>
              <a:t>”（无变化）表示。</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11</a:t>
            </a:r>
            <a:r>
              <a:rPr lang="zh-CN" altLang="en-US" sz="2200" dirty="0">
                <a:latin typeface="Times New Roman" panose="02020603050405020304" pitchFamily="18" charset="0"/>
                <a:ea typeface="微软雅黑" panose="020B0503020204020204" pitchFamily="34" charset="-122"/>
              </a:rPr>
              <a:t>）第十一组，（转下一行）提供上述第三组项规定的有效时期以外的火山灰云轨迹和热带气旋中心的位置和展望（电码</a:t>
            </a:r>
            <a:r>
              <a:rPr lang="en-US" altLang="zh-CN" sz="2200" dirty="0">
                <a:latin typeface="Times New Roman" panose="02020603050405020304" pitchFamily="18" charset="0"/>
                <a:ea typeface="微软雅黑" panose="020B0503020204020204" pitchFamily="34" charset="-122"/>
              </a:rPr>
              <a:t>OTLK</a:t>
            </a:r>
            <a:r>
              <a:rPr lang="zh-CN" altLang="en-US" sz="2200" dirty="0">
                <a:latin typeface="Times New Roman" panose="02020603050405020304" pitchFamily="18" charset="0"/>
                <a:ea typeface="微软雅黑" panose="020B0503020204020204" pitchFamily="34" charset="-122"/>
              </a:rPr>
              <a:t>，即</a:t>
            </a:r>
            <a:r>
              <a:rPr lang="en-US" altLang="zh-CN" sz="2200" dirty="0">
                <a:latin typeface="Times New Roman" panose="02020603050405020304" pitchFamily="18" charset="0"/>
                <a:ea typeface="微软雅黑" panose="020B0503020204020204" pitchFamily="34" charset="-122"/>
              </a:rPr>
              <a:t>:Outlook</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0811044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0" y="0"/>
            <a:ext cx="11796584" cy="4052648"/>
          </a:xfrm>
          <a:prstGeom prst="rect">
            <a:avLst/>
          </a:prstGeom>
          <a:noFill/>
        </p:spPr>
        <p:txBody>
          <a:bodyPr wrap="square" rtlCol="0">
            <a:spAutoFit/>
          </a:bodyPr>
          <a:lstStyle/>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9</a:t>
            </a:r>
            <a:r>
              <a:rPr lang="zh-CN" altLang="en-US" sz="2200" dirty="0">
                <a:latin typeface="Times New Roman" panose="02020603050405020304" pitchFamily="18" charset="0"/>
                <a:ea typeface="微软雅黑" panose="020B0503020204020204" pitchFamily="34" charset="-122"/>
              </a:rPr>
              <a:t>）第九组，移动情况或预期移动情况，单位用</a:t>
            </a:r>
            <a:r>
              <a:rPr lang="en-US" altLang="zh-CN" sz="2200" dirty="0">
                <a:latin typeface="Times New Roman" panose="02020603050405020304" pitchFamily="18" charset="0"/>
                <a:ea typeface="微软雅黑" panose="020B0503020204020204" pitchFamily="34" charset="-122"/>
              </a:rPr>
              <a:t>km/h</a:t>
            </a:r>
            <a:r>
              <a:rPr lang="zh-CN" altLang="en-US" sz="2200" dirty="0">
                <a:latin typeface="Times New Roman" panose="02020603050405020304" pitchFamily="18" charset="0"/>
                <a:ea typeface="微软雅黑" panose="020B0503020204020204" pitchFamily="34" charset="-122"/>
              </a:rPr>
              <a:t>或</a:t>
            </a:r>
            <a:r>
              <a:rPr lang="en-US" altLang="zh-CN" sz="2200" dirty="0">
                <a:latin typeface="Times New Roman" panose="02020603050405020304" pitchFamily="18" charset="0"/>
                <a:ea typeface="微软雅黑" panose="020B0503020204020204" pitchFamily="34" charset="-122"/>
              </a:rPr>
              <a:t>KT</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solidFill>
                  <a:schemeClr val="accent5"/>
                </a:solidFill>
                <a:latin typeface="Times New Roman" panose="02020603050405020304" pitchFamily="18" charset="0"/>
                <a:ea typeface="微软雅黑" panose="020B0503020204020204" pitchFamily="34" charset="-122"/>
              </a:rPr>
              <a:t>MOV E 40KMH</a:t>
            </a:r>
            <a:r>
              <a:rPr lang="zh-CN" altLang="en-US" sz="2200" dirty="0">
                <a:latin typeface="Times New Roman" panose="02020603050405020304" pitchFamily="18" charset="0"/>
                <a:ea typeface="微软雅黑" panose="020B0503020204020204" pitchFamily="34" charset="-122"/>
              </a:rPr>
              <a:t>”表示“向东以</a:t>
            </a:r>
            <a:r>
              <a:rPr lang="en-US" altLang="zh-CN" sz="2200" dirty="0">
                <a:latin typeface="Times New Roman" panose="02020603050405020304" pitchFamily="18" charset="0"/>
                <a:ea typeface="微软雅黑" panose="020B0503020204020204" pitchFamily="34" charset="-122"/>
              </a:rPr>
              <a:t>40km/h</a:t>
            </a:r>
            <a:r>
              <a:rPr lang="zh-CN" altLang="en-US" sz="2200" dirty="0">
                <a:latin typeface="Times New Roman" panose="02020603050405020304" pitchFamily="18" charset="0"/>
                <a:ea typeface="微软雅黑" panose="020B0503020204020204" pitchFamily="34" charset="-122"/>
              </a:rPr>
              <a:t>的速度移动”。</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10</a:t>
            </a:r>
            <a:r>
              <a:rPr lang="zh-CN" altLang="en-US" sz="2200" dirty="0">
                <a:latin typeface="Times New Roman" panose="02020603050405020304" pitchFamily="18" charset="0"/>
                <a:ea typeface="微软雅黑" panose="020B0503020204020204" pitchFamily="34" charset="-122"/>
              </a:rPr>
              <a:t>）第十组，强度变化情况。用缩写“</a:t>
            </a:r>
            <a:r>
              <a:rPr lang="en-US" altLang="zh-CN" sz="2200" dirty="0">
                <a:latin typeface="Times New Roman" panose="02020603050405020304" pitchFamily="18" charset="0"/>
                <a:ea typeface="微软雅黑" panose="020B0503020204020204" pitchFamily="34" charset="-122"/>
              </a:rPr>
              <a:t>INTSF</a:t>
            </a:r>
            <a:r>
              <a:rPr lang="zh-CN" altLang="en-US" sz="2200" dirty="0">
                <a:latin typeface="Times New Roman" panose="02020603050405020304" pitchFamily="18" charset="0"/>
                <a:ea typeface="微软雅黑" panose="020B0503020204020204" pitchFamily="34" charset="-122"/>
              </a:rPr>
              <a:t>”（加强）、“</a:t>
            </a:r>
            <a:r>
              <a:rPr lang="en-US" altLang="zh-CN" sz="2200" dirty="0">
                <a:latin typeface="Times New Roman" panose="02020603050405020304" pitchFamily="18" charset="0"/>
                <a:ea typeface="微软雅黑" panose="020B0503020204020204" pitchFamily="34" charset="-122"/>
              </a:rPr>
              <a:t>WKN</a:t>
            </a:r>
            <a:r>
              <a:rPr lang="zh-CN" altLang="en-US" sz="2200" dirty="0">
                <a:latin typeface="Times New Roman" panose="02020603050405020304" pitchFamily="18" charset="0"/>
                <a:ea typeface="微软雅黑" panose="020B0503020204020204" pitchFamily="34" charset="-122"/>
              </a:rPr>
              <a:t>”（减弱）或“</a:t>
            </a:r>
            <a:r>
              <a:rPr lang="en-US" altLang="zh-CN" sz="2200" dirty="0">
                <a:latin typeface="Times New Roman" panose="02020603050405020304" pitchFamily="18" charset="0"/>
                <a:ea typeface="微软雅黑" panose="020B0503020204020204" pitchFamily="34" charset="-122"/>
              </a:rPr>
              <a:t>NC</a:t>
            </a:r>
            <a:r>
              <a:rPr lang="zh-CN" altLang="en-US" sz="2200" dirty="0">
                <a:latin typeface="Times New Roman" panose="02020603050405020304" pitchFamily="18" charset="0"/>
                <a:ea typeface="微软雅黑" panose="020B0503020204020204" pitchFamily="34" charset="-122"/>
              </a:rPr>
              <a:t>”（无变化）表示。</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11</a:t>
            </a:r>
            <a:r>
              <a:rPr lang="zh-CN" altLang="en-US" sz="2200" dirty="0">
                <a:latin typeface="Times New Roman" panose="02020603050405020304" pitchFamily="18" charset="0"/>
                <a:ea typeface="微软雅黑" panose="020B0503020204020204" pitchFamily="34" charset="-122"/>
              </a:rPr>
              <a:t>）第十一组，（转下一行）提供上述第三组项规定的有效时期以外的火山灰云轨迹和热带气旋中心的位置和展望（电码</a:t>
            </a:r>
            <a:r>
              <a:rPr lang="en-US" altLang="zh-CN" sz="2200" dirty="0">
                <a:latin typeface="Times New Roman" panose="02020603050405020304" pitchFamily="18" charset="0"/>
                <a:ea typeface="微软雅黑" panose="020B0503020204020204" pitchFamily="34" charset="-122"/>
              </a:rPr>
              <a:t>OTLK</a:t>
            </a:r>
            <a:r>
              <a:rPr lang="zh-CN" altLang="en-US" sz="2200" dirty="0">
                <a:latin typeface="Times New Roman" panose="02020603050405020304" pitchFamily="18" charset="0"/>
                <a:ea typeface="微软雅黑" panose="020B0503020204020204" pitchFamily="34" charset="-122"/>
              </a:rPr>
              <a:t>，即</a:t>
            </a:r>
            <a:r>
              <a:rPr lang="en-US" altLang="zh-CN" sz="2200" dirty="0">
                <a:latin typeface="Times New Roman" panose="02020603050405020304" pitchFamily="18" charset="0"/>
                <a:ea typeface="微软雅黑" panose="020B0503020204020204" pitchFamily="34" charset="-122"/>
              </a:rPr>
              <a:t>:Outlook</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9578634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0" y="0"/>
            <a:ext cx="11796584" cy="4729756"/>
          </a:xfrm>
          <a:prstGeom prst="rect">
            <a:avLst/>
          </a:prstGeom>
          <a:noFill/>
        </p:spPr>
        <p:txBody>
          <a:bodyPr wrap="square" rtlCol="0">
            <a:spAutoFit/>
          </a:bodyPr>
          <a:lstStyle/>
          <a:p>
            <a:pPr>
              <a:lnSpc>
                <a:spcPct val="200000"/>
              </a:lnSpc>
            </a:pPr>
            <a:r>
              <a:rPr lang="en-US" altLang="zh-CN" sz="2200" dirty="0">
                <a:latin typeface="Times New Roman" panose="02020603050405020304" pitchFamily="18" charset="0"/>
                <a:ea typeface="微软雅黑" panose="020B0503020204020204" pitchFamily="34" charset="-122"/>
              </a:rPr>
              <a:t>ZBPE  SIGMET  2  VALID  221230/221600  ZBAA-</a:t>
            </a:r>
          </a:p>
          <a:p>
            <a:pPr>
              <a:lnSpc>
                <a:spcPct val="200000"/>
              </a:lnSpc>
            </a:pPr>
            <a:r>
              <a:rPr lang="en-US" altLang="zh-CN" sz="2200" dirty="0">
                <a:latin typeface="Times New Roman" panose="02020603050405020304" pitchFamily="18" charset="0"/>
                <a:ea typeface="微软雅黑" panose="020B0503020204020204" pitchFamily="34" charset="-122"/>
              </a:rPr>
              <a:t>ZBPE  BEIJING  FIR  OBSC  TS  OBS  AT  1210Z  NW  OF  ZBAA  TOP   FL250  MOV  E  40  KMH  WKN</a:t>
            </a:r>
          </a:p>
          <a:p>
            <a:pPr>
              <a:lnSpc>
                <a:spcPct val="200000"/>
              </a:lnSpc>
            </a:pPr>
            <a:r>
              <a:rPr lang="zh-CN" altLang="en-US" sz="2200" dirty="0">
                <a:latin typeface="Times New Roman" panose="02020603050405020304" pitchFamily="18" charset="0"/>
                <a:ea typeface="微软雅黑" panose="020B0503020204020204" pitchFamily="34" charset="-122"/>
              </a:rPr>
              <a:t>北京飞行情报区气象监视台（</a:t>
            </a:r>
            <a:r>
              <a:rPr lang="en-US" altLang="zh-CN" sz="2200" dirty="0">
                <a:latin typeface="Times New Roman" panose="02020603050405020304" pitchFamily="18" charset="0"/>
                <a:ea typeface="微软雅黑" panose="020B0503020204020204" pitchFamily="34" charset="-122"/>
              </a:rPr>
              <a:t>ZBAA</a:t>
            </a:r>
            <a:r>
              <a:rPr lang="zh-CN" altLang="en-US" sz="2200" dirty="0">
                <a:latin typeface="Times New Roman" panose="02020603050405020304" pitchFamily="18" charset="0"/>
                <a:ea typeface="微软雅黑" panose="020B0503020204020204" pitchFamily="34" charset="-122"/>
              </a:rPr>
              <a:t>）发布的有关北京飞行情报区（</a:t>
            </a:r>
            <a:r>
              <a:rPr lang="en-US" altLang="zh-CN" sz="2200" dirty="0">
                <a:latin typeface="Times New Roman" panose="02020603050405020304" pitchFamily="18" charset="0"/>
                <a:ea typeface="微软雅黑" panose="020B0503020204020204" pitchFamily="34" charset="-122"/>
              </a:rPr>
              <a:t>ZBPE</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22</a:t>
            </a:r>
            <a:r>
              <a:rPr lang="zh-CN" altLang="en-US" sz="2200" dirty="0">
                <a:latin typeface="Times New Roman" panose="02020603050405020304" pitchFamily="18" charset="0"/>
                <a:ea typeface="微软雅黑" panose="020B0503020204020204" pitchFamily="34" charset="-122"/>
              </a:rPr>
              <a:t>日第</a:t>
            </a:r>
            <a:r>
              <a:rPr lang="en-US" altLang="zh-CN" sz="2200" dirty="0">
                <a:latin typeface="Times New Roman" panose="02020603050405020304" pitchFamily="18" charset="0"/>
                <a:ea typeface="微软雅黑" panose="020B0503020204020204" pitchFamily="34" charset="-122"/>
              </a:rPr>
              <a:t>2</a:t>
            </a:r>
            <a:r>
              <a:rPr lang="zh-CN" altLang="en-US" sz="2200" dirty="0">
                <a:latin typeface="Times New Roman" panose="02020603050405020304" pitchFamily="18" charset="0"/>
                <a:ea typeface="微软雅黑" panose="020B0503020204020204" pitchFamily="34" charset="-122"/>
              </a:rPr>
              <a:t>份重要气象情报，报文有效时段自</a:t>
            </a:r>
            <a:r>
              <a:rPr lang="en-US" altLang="zh-CN" sz="2200" dirty="0">
                <a:latin typeface="Times New Roman" panose="02020603050405020304" pitchFamily="18" charset="0"/>
                <a:ea typeface="微软雅黑" panose="020B0503020204020204" pitchFamily="34" charset="-122"/>
              </a:rPr>
              <a:t>22</a:t>
            </a:r>
            <a:r>
              <a:rPr lang="zh-CN" altLang="en-US" sz="2200" dirty="0">
                <a:latin typeface="Times New Roman" panose="02020603050405020304" pitchFamily="18" charset="0"/>
                <a:ea typeface="微软雅黑" panose="020B0503020204020204" pitchFamily="34" charset="-122"/>
              </a:rPr>
              <a:t>日</a:t>
            </a:r>
            <a:r>
              <a:rPr lang="en-US" altLang="zh-CN" sz="2200" dirty="0">
                <a:latin typeface="Times New Roman" panose="02020603050405020304" pitchFamily="18" charset="0"/>
                <a:ea typeface="微软雅黑" panose="020B0503020204020204" pitchFamily="34" charset="-122"/>
              </a:rPr>
              <a:t>12:30</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UTC</a:t>
            </a:r>
            <a:r>
              <a:rPr lang="zh-CN" altLang="en-US" sz="2200" dirty="0">
                <a:latin typeface="Times New Roman" panose="02020603050405020304" pitchFamily="18" charset="0"/>
                <a:ea typeface="微软雅黑" panose="020B0503020204020204" pitchFamily="34" charset="-122"/>
              </a:rPr>
              <a:t>）至</a:t>
            </a:r>
            <a:r>
              <a:rPr lang="en-US" altLang="zh-CN" sz="2200" dirty="0">
                <a:latin typeface="Times New Roman" panose="02020603050405020304" pitchFamily="18" charset="0"/>
                <a:ea typeface="微软雅黑" panose="020B0503020204020204" pitchFamily="34" charset="-122"/>
              </a:rPr>
              <a:t>16:00</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UTC</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在北京飞行情报区，于</a:t>
            </a:r>
            <a:r>
              <a:rPr lang="en-US" altLang="zh-CN" sz="2200" dirty="0">
                <a:latin typeface="Times New Roman" panose="02020603050405020304" pitchFamily="18" charset="0"/>
                <a:ea typeface="微软雅黑" panose="020B0503020204020204" pitchFamily="34" charset="-122"/>
              </a:rPr>
              <a:t>12:10</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UTC</a:t>
            </a:r>
            <a:r>
              <a:rPr lang="zh-CN" altLang="en-US" sz="2200" dirty="0">
                <a:latin typeface="Times New Roman" panose="02020603050405020304" pitchFamily="18" charset="0"/>
                <a:ea typeface="微软雅黑" panose="020B0503020204020204" pitchFamily="34" charset="-122"/>
              </a:rPr>
              <a:t>）观测到模糊不清的雷暴，位于北京首都机场西北方向，雷暴顶高为飞行高度层</a:t>
            </a:r>
            <a:r>
              <a:rPr lang="en-US" altLang="zh-CN" sz="2200" dirty="0">
                <a:latin typeface="Times New Roman" panose="02020603050405020304" pitchFamily="18" charset="0"/>
                <a:ea typeface="微软雅黑" panose="020B0503020204020204" pitchFamily="34" charset="-122"/>
              </a:rPr>
              <a:t>250</a:t>
            </a:r>
            <a:r>
              <a:rPr lang="zh-CN" altLang="en-US" sz="2200" dirty="0">
                <a:latin typeface="Times New Roman" panose="02020603050405020304" pitchFamily="18" charset="0"/>
                <a:ea typeface="微软雅黑" panose="020B0503020204020204" pitchFamily="34" charset="-122"/>
              </a:rPr>
              <a:t>，以</a:t>
            </a:r>
            <a:r>
              <a:rPr lang="en-US" altLang="zh-CN" sz="2200" dirty="0">
                <a:latin typeface="Times New Roman" panose="02020603050405020304" pitchFamily="18" charset="0"/>
                <a:ea typeface="微软雅黑" panose="020B0503020204020204" pitchFamily="34" charset="-122"/>
              </a:rPr>
              <a:t>40km/h</a:t>
            </a:r>
            <a:r>
              <a:rPr lang="zh-CN" altLang="en-US" sz="2200" dirty="0">
                <a:latin typeface="Times New Roman" panose="02020603050405020304" pitchFamily="18" charset="0"/>
                <a:ea typeface="微软雅黑" panose="020B0503020204020204" pitchFamily="34" charset="-122"/>
              </a:rPr>
              <a:t>的速度向东移动，强度减弱。</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2348116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0" y="0"/>
            <a:ext cx="11796584" cy="1343445"/>
          </a:xfrm>
          <a:prstGeom prst="rect">
            <a:avLst/>
          </a:prstGeom>
          <a:noFill/>
        </p:spPr>
        <p:txBody>
          <a:bodyPr wrap="square" rtlCol="0">
            <a:spAutoFit/>
          </a:bodyPr>
          <a:lstStyle/>
          <a:p>
            <a:pPr>
              <a:lnSpc>
                <a:spcPct val="200000"/>
              </a:lnSpc>
            </a:pPr>
            <a:r>
              <a:rPr lang="zh-CN" altLang="en-US" sz="2200" dirty="0">
                <a:latin typeface="Times New Roman" panose="02020603050405020304" pitchFamily="18" charset="0"/>
                <a:ea typeface="微软雅黑" panose="020B0503020204020204" pitchFamily="34" charset="-122"/>
              </a:rPr>
              <a:t>低空重要气象情报的报告内容</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低空重要气象情报涉及的内容一般是发生在低于</a:t>
            </a:r>
            <a:r>
              <a:rPr lang="en-US" altLang="zh-CN" sz="2200" dirty="0">
                <a:latin typeface="Times New Roman" panose="02020603050405020304" pitchFamily="18" charset="0"/>
                <a:ea typeface="微软雅黑" panose="020B0503020204020204" pitchFamily="34" charset="-122"/>
              </a:rPr>
              <a:t>FL100</a:t>
            </a:r>
            <a:r>
              <a:rPr lang="zh-CN" altLang="en-US" sz="2200" dirty="0">
                <a:latin typeface="Times New Roman" panose="02020603050405020304" pitchFamily="18" charset="0"/>
                <a:ea typeface="微软雅黑" panose="020B0503020204020204" pitchFamily="34" charset="-122"/>
              </a:rPr>
              <a:t>（在山区低于</a:t>
            </a:r>
            <a:r>
              <a:rPr lang="en-US" altLang="zh-CN" sz="2200" dirty="0">
                <a:latin typeface="Times New Roman" panose="02020603050405020304" pitchFamily="18" charset="0"/>
                <a:ea typeface="微软雅黑" panose="020B0503020204020204" pitchFamily="34" charset="-122"/>
              </a:rPr>
              <a:t>450m</a:t>
            </a:r>
            <a:r>
              <a:rPr lang="zh-CN" altLang="en-US" sz="2200" dirty="0">
                <a:latin typeface="Times New Roman" panose="02020603050405020304" pitchFamily="18" charset="0"/>
                <a:ea typeface="微软雅黑" panose="020B0503020204020204" pitchFamily="34" charset="-122"/>
              </a:rPr>
              <a:t>）巡航高度点</a:t>
            </a:r>
            <a:endParaRPr lang="en-US" altLang="zh-CN" sz="2200" dirty="0">
              <a:latin typeface="Times New Roman" panose="02020603050405020304" pitchFamily="18" charset="0"/>
              <a:ea typeface="微软雅黑" panose="020B0503020204020204" pitchFamily="34" charset="-122"/>
            </a:endParaRPr>
          </a:p>
        </p:txBody>
      </p:sp>
      <p:pic>
        <p:nvPicPr>
          <p:cNvPr id="3" name="图片 2">
            <a:extLst>
              <a:ext uri="{FF2B5EF4-FFF2-40B4-BE49-F238E27FC236}">
                <a16:creationId xmlns:a16="http://schemas.microsoft.com/office/drawing/2014/main" id="{D51BC3BD-9972-460F-8150-759AD1BD45AB}"/>
              </a:ext>
            </a:extLst>
          </p:cNvPr>
          <p:cNvPicPr>
            <a:picLocks noChangeAspect="1"/>
          </p:cNvPicPr>
          <p:nvPr/>
        </p:nvPicPr>
        <p:blipFill>
          <a:blip r:embed="rId2"/>
          <a:stretch>
            <a:fillRect/>
          </a:stretch>
        </p:blipFill>
        <p:spPr>
          <a:xfrm>
            <a:off x="1878227" y="1482811"/>
            <a:ext cx="6820930" cy="4942703"/>
          </a:xfrm>
          <a:prstGeom prst="rect">
            <a:avLst/>
          </a:prstGeom>
        </p:spPr>
      </p:pic>
    </p:spTree>
    <p:extLst>
      <p:ext uri="{BB962C8B-B14F-4D97-AF65-F5344CB8AC3E}">
        <p14:creationId xmlns:p14="http://schemas.microsoft.com/office/powerpoint/2010/main" val="38514165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1" y="0"/>
            <a:ext cx="12072551" cy="6083204"/>
          </a:xfrm>
          <a:prstGeom prst="rect">
            <a:avLst/>
          </a:prstGeom>
          <a:noFill/>
        </p:spPr>
        <p:txBody>
          <a:bodyPr wrap="square" rtlCol="0">
            <a:spAutoFit/>
          </a:bodyPr>
          <a:lstStyle/>
          <a:p>
            <a:pPr>
              <a:lnSpc>
                <a:spcPct val="200000"/>
              </a:lnSpc>
            </a:pPr>
            <a:r>
              <a:rPr lang="en-US" altLang="zh-CN" sz="2200" dirty="0">
                <a:latin typeface="Times New Roman" panose="02020603050405020304" pitchFamily="18" charset="0"/>
                <a:ea typeface="微软雅黑" panose="020B0503020204020204" pitchFamily="34" charset="-122"/>
              </a:rPr>
              <a:t>AIRMET</a:t>
            </a:r>
            <a:r>
              <a:rPr lang="zh-CN" altLang="en-US" sz="2200" dirty="0">
                <a:latin typeface="Times New Roman" panose="02020603050405020304" pitchFamily="18" charset="0"/>
                <a:ea typeface="微软雅黑" panose="020B0503020204020204" pitchFamily="34" charset="-122"/>
              </a:rPr>
              <a:t>的报告格式</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a:t>
            </a:r>
            <a:r>
              <a:rPr lang="zh-CN" altLang="en-US" sz="2200" dirty="0">
                <a:latin typeface="Times New Roman" panose="02020603050405020304" pitchFamily="18" charset="0"/>
                <a:ea typeface="微软雅黑" panose="020B0503020204020204" pitchFamily="34" charset="-122"/>
              </a:rPr>
              <a:t>）第一组，低空气象情报发往的飞行情报区的空中交通服务部门的地名代码，例如“</a:t>
            </a:r>
            <a:r>
              <a:rPr lang="en-US" altLang="zh-CN" sz="2200" dirty="0">
                <a:latin typeface="Times New Roman" panose="02020603050405020304" pitchFamily="18" charset="0"/>
                <a:ea typeface="微软雅黑" panose="020B0503020204020204" pitchFamily="34" charset="-122"/>
              </a:rPr>
              <a:t>YUCC</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2</a:t>
            </a:r>
            <a:r>
              <a:rPr lang="zh-CN" altLang="en-US" sz="2200" dirty="0">
                <a:latin typeface="Times New Roman" panose="02020603050405020304" pitchFamily="18" charset="0"/>
                <a:ea typeface="微软雅黑" panose="020B0503020204020204" pitchFamily="34" charset="-122"/>
              </a:rPr>
              <a:t>）第二组，信息标识符和序号，如“</a:t>
            </a:r>
            <a:r>
              <a:rPr lang="en-US" altLang="zh-CN" sz="2200" dirty="0">
                <a:latin typeface="Times New Roman" panose="02020603050405020304" pitchFamily="18" charset="0"/>
                <a:ea typeface="微软雅黑" panose="020B0503020204020204" pitchFamily="34" charset="-122"/>
              </a:rPr>
              <a:t>AIRMET2</a:t>
            </a:r>
            <a:r>
              <a:rPr lang="zh-CN" altLang="en-US" sz="2200" dirty="0">
                <a:latin typeface="Times New Roman" panose="02020603050405020304" pitchFamily="18" charset="0"/>
                <a:ea typeface="微软雅黑" panose="020B0503020204020204" pitchFamily="34" charset="-122"/>
              </a:rPr>
              <a:t>”第</a:t>
            </a:r>
            <a:r>
              <a:rPr lang="en-US" altLang="zh-CN" sz="2200" dirty="0">
                <a:latin typeface="Times New Roman" panose="02020603050405020304" pitchFamily="18" charset="0"/>
                <a:ea typeface="微软雅黑" panose="020B0503020204020204" pitchFamily="34" charset="-122"/>
              </a:rPr>
              <a:t>2</a:t>
            </a:r>
            <a:r>
              <a:rPr lang="zh-CN" altLang="en-US" sz="2200" dirty="0">
                <a:latin typeface="Times New Roman" panose="02020603050405020304" pitchFamily="18" charset="0"/>
                <a:ea typeface="微软雅黑" panose="020B0503020204020204" pitchFamily="34" charset="-122"/>
              </a:rPr>
              <a:t>号低空气象情报。</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3</a:t>
            </a:r>
            <a:r>
              <a:rPr lang="zh-CN" altLang="en-US" sz="2200" dirty="0">
                <a:latin typeface="Times New Roman" panose="02020603050405020304" pitchFamily="18" charset="0"/>
                <a:ea typeface="微软雅黑" panose="020B0503020204020204" pitchFamily="34" charset="-122"/>
              </a:rPr>
              <a:t>）第三组，有效时间段，用世界时。如“</a:t>
            </a:r>
            <a:r>
              <a:rPr lang="en-US" altLang="zh-CN" sz="2200" dirty="0">
                <a:latin typeface="Times New Roman" panose="02020603050405020304" pitchFamily="18" charset="0"/>
                <a:ea typeface="微软雅黑" panose="020B0503020204020204" pitchFamily="34" charset="-122"/>
              </a:rPr>
              <a:t>VALID 221215/221600</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4</a:t>
            </a:r>
            <a:r>
              <a:rPr lang="zh-CN" altLang="en-US" sz="2200" dirty="0">
                <a:latin typeface="Times New Roman" panose="02020603050405020304" pitchFamily="18" charset="0"/>
                <a:ea typeface="微软雅黑" panose="020B0503020204020204" pitchFamily="34" charset="-122"/>
              </a:rPr>
              <a:t>）第四组，最初发布信息的气象监视台的地名代码，之后用“</a:t>
            </a:r>
            <a:r>
              <a:rPr lang="en-US" altLang="zh-CN" sz="2200" dirty="0">
                <a:latin typeface="Times New Roman" panose="02020603050405020304" pitchFamily="18" charset="0"/>
                <a:ea typeface="微软雅黑" panose="020B0503020204020204" pitchFamily="34" charset="-122"/>
              </a:rPr>
              <a:t>-</a:t>
            </a:r>
            <a:r>
              <a:rPr lang="zh-CN" altLang="en-US" sz="2200" dirty="0">
                <a:latin typeface="Times New Roman" panose="02020603050405020304" pitchFamily="18" charset="0"/>
                <a:ea typeface="微软雅黑" panose="020B0503020204020204" pitchFamily="34" charset="-122"/>
              </a:rPr>
              <a:t>”将报文内容分开，如“</a:t>
            </a:r>
            <a:r>
              <a:rPr lang="en-US" altLang="zh-CN" sz="2200" dirty="0">
                <a:latin typeface="Times New Roman" panose="02020603050405020304" pitchFamily="18" charset="0"/>
                <a:ea typeface="微软雅黑" panose="020B0503020204020204" pitchFamily="34" charset="-122"/>
              </a:rPr>
              <a:t>YUDO-</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5</a:t>
            </a:r>
            <a:r>
              <a:rPr lang="zh-CN" altLang="en-US" sz="2200" dirty="0">
                <a:latin typeface="Times New Roman" panose="02020603050405020304" pitchFamily="18" charset="0"/>
                <a:ea typeface="微软雅黑" panose="020B0503020204020204" pitchFamily="34" charset="-122"/>
              </a:rPr>
              <a:t>）第五组，（转下一行）低空气象情报为之发布的飞行情报区或分区的名字。</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6</a:t>
            </a:r>
            <a:r>
              <a:rPr lang="zh-CN" altLang="en-US" sz="2200" dirty="0">
                <a:latin typeface="Times New Roman" panose="02020603050405020304" pitchFamily="18" charset="0"/>
                <a:ea typeface="微软雅黑" panose="020B0503020204020204" pitchFamily="34" charset="-122"/>
              </a:rPr>
              <a:t>）第六组，引起发布</a:t>
            </a:r>
            <a:r>
              <a:rPr lang="en-US" altLang="zh-CN" sz="2200" dirty="0">
                <a:latin typeface="Times New Roman" panose="02020603050405020304" pitchFamily="18" charset="0"/>
                <a:ea typeface="微软雅黑" panose="020B0503020204020204" pitchFamily="34" charset="-122"/>
              </a:rPr>
              <a:t>AIRMET</a:t>
            </a:r>
            <a:r>
              <a:rPr lang="zh-CN" altLang="en-US" sz="2200" dirty="0">
                <a:latin typeface="Times New Roman" panose="02020603050405020304" pitchFamily="18" charset="0"/>
                <a:ea typeface="微软雅黑" panose="020B0503020204020204" pitchFamily="34" charset="-122"/>
              </a:rPr>
              <a:t>的天气现象及天气描述。</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7</a:t>
            </a:r>
            <a:r>
              <a:rPr lang="zh-CN" altLang="en-US" sz="2200" dirty="0">
                <a:latin typeface="Times New Roman" panose="02020603050405020304" pitchFamily="18" charset="0"/>
                <a:ea typeface="微软雅黑" panose="020B0503020204020204" pitchFamily="34" charset="-122"/>
              </a:rPr>
              <a:t>）第七组，说明是观测到的（</a:t>
            </a:r>
            <a:r>
              <a:rPr lang="en-US" altLang="zh-CN" sz="2200" dirty="0">
                <a:latin typeface="Times New Roman" panose="02020603050405020304" pitchFamily="18" charset="0"/>
                <a:ea typeface="微软雅黑" panose="020B0503020204020204" pitchFamily="34" charset="-122"/>
              </a:rPr>
              <a:t>OBS</a:t>
            </a:r>
            <a:r>
              <a:rPr lang="zh-CN" altLang="en-US" sz="2200" dirty="0">
                <a:latin typeface="Times New Roman" panose="02020603050405020304" pitchFamily="18" charset="0"/>
                <a:ea typeface="微软雅黑" panose="020B0503020204020204" pitchFamily="34" charset="-122"/>
              </a:rPr>
              <a:t>）或是预报的</a:t>
            </a:r>
            <a:r>
              <a:rPr lang="en-US" altLang="zh-CN" sz="2200" dirty="0">
                <a:latin typeface="Times New Roman" panose="02020603050405020304" pitchFamily="18" charset="0"/>
                <a:ea typeface="微软雅黑" panose="020B0503020204020204" pitchFamily="34" charset="-122"/>
              </a:rPr>
              <a:t>FCST</a:t>
            </a:r>
            <a:r>
              <a:rPr lang="zh-CN" altLang="en-US" sz="2200" dirty="0">
                <a:latin typeface="Times New Roman" panose="02020603050405020304" pitchFamily="18" charset="0"/>
                <a:ea typeface="微软雅黑" panose="020B0503020204020204" pitchFamily="34" charset="-122"/>
              </a:rPr>
              <a:t>，以及观测时间。</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5035111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1" y="0"/>
            <a:ext cx="12072551" cy="5406095"/>
          </a:xfrm>
          <a:prstGeom prst="rect">
            <a:avLst/>
          </a:prstGeom>
          <a:noFill/>
        </p:spPr>
        <p:txBody>
          <a:bodyPr wrap="square" rtlCol="0">
            <a:spAutoFit/>
          </a:bodyPr>
          <a:lstStyle/>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8</a:t>
            </a:r>
            <a:r>
              <a:rPr lang="zh-CN" altLang="en-US" sz="2200" dirty="0">
                <a:latin typeface="Times New Roman" panose="02020603050405020304" pitchFamily="18" charset="0"/>
                <a:ea typeface="微软雅黑" panose="020B0503020204020204" pitchFamily="34" charset="-122"/>
              </a:rPr>
              <a:t>）第八组，位置（用经纬度表示或国际通用的位置或地理特征）和高度。</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solidFill>
                  <a:schemeClr val="accent5"/>
                </a:solidFill>
                <a:latin typeface="Times New Roman" panose="02020603050405020304" pitchFamily="18" charset="0"/>
                <a:ea typeface="微软雅黑" panose="020B0503020204020204" pitchFamily="34" charset="-122"/>
              </a:rPr>
              <a:t>OBS 48.0 DEG N 10.0 DEG E AT FL080</a:t>
            </a:r>
            <a:r>
              <a:rPr lang="zh-CN" altLang="en-US" sz="2200" dirty="0">
                <a:latin typeface="Times New Roman" panose="02020603050405020304" pitchFamily="18" charset="0"/>
                <a:ea typeface="微软雅黑" panose="020B0503020204020204" pitchFamily="34" charset="-122"/>
              </a:rPr>
              <a:t>”观测到的在北纬</a:t>
            </a:r>
            <a:r>
              <a:rPr lang="en-US" altLang="zh-CN" sz="2200" dirty="0">
                <a:latin typeface="Times New Roman" panose="02020603050405020304" pitchFamily="18" charset="0"/>
                <a:ea typeface="微软雅黑" panose="020B0503020204020204" pitchFamily="34" charset="-122"/>
              </a:rPr>
              <a:t>48.0°</a:t>
            </a:r>
            <a:r>
              <a:rPr lang="zh-CN" altLang="en-US" sz="2200" dirty="0">
                <a:latin typeface="Times New Roman" panose="02020603050405020304" pitchFamily="18" charset="0"/>
                <a:ea typeface="微软雅黑" panose="020B0503020204020204" pitchFamily="34" charset="-122"/>
              </a:rPr>
              <a:t>，东经</a:t>
            </a:r>
            <a:r>
              <a:rPr lang="en-US" altLang="zh-CN" sz="2200" dirty="0">
                <a:latin typeface="Times New Roman" panose="02020603050405020304" pitchFamily="18" charset="0"/>
                <a:ea typeface="微软雅黑" panose="020B0503020204020204" pitchFamily="34" charset="-122"/>
              </a:rPr>
              <a:t>10.0°</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2400m</a:t>
            </a:r>
            <a:r>
              <a:rPr lang="zh-CN" altLang="en-US" sz="2200" dirty="0">
                <a:latin typeface="Times New Roman" panose="02020603050405020304" pitchFamily="18" charset="0"/>
                <a:ea typeface="微软雅黑" panose="020B0503020204020204" pitchFamily="34" charset="-122"/>
              </a:rPr>
              <a:t>的高度上。</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9</a:t>
            </a:r>
            <a:r>
              <a:rPr lang="zh-CN" altLang="en-US" sz="2200" dirty="0">
                <a:latin typeface="Times New Roman" panose="02020603050405020304" pitchFamily="18" charset="0"/>
                <a:ea typeface="微软雅黑" panose="020B0503020204020204" pitchFamily="34" charset="-122"/>
              </a:rPr>
              <a:t>）第九组，用罗盘八方位和速度（</a:t>
            </a:r>
            <a:r>
              <a:rPr lang="en-US" altLang="zh-CN" sz="2200" dirty="0">
                <a:latin typeface="Times New Roman" panose="02020603050405020304" pitchFamily="18" charset="0"/>
                <a:ea typeface="微软雅黑" panose="020B0503020204020204" pitchFamily="34" charset="-122"/>
              </a:rPr>
              <a:t>km/h</a:t>
            </a:r>
            <a:r>
              <a:rPr lang="zh-CN" altLang="en-US" sz="2200" dirty="0">
                <a:latin typeface="Times New Roman" panose="02020603050405020304" pitchFamily="18" charset="0"/>
                <a:ea typeface="微软雅黑" panose="020B0503020204020204" pitchFamily="34" charset="-122"/>
              </a:rPr>
              <a:t>或</a:t>
            </a:r>
            <a:r>
              <a:rPr lang="en-US" altLang="zh-CN" sz="2200" dirty="0">
                <a:latin typeface="Times New Roman" panose="02020603050405020304" pitchFamily="18" charset="0"/>
                <a:ea typeface="微软雅黑" panose="020B0503020204020204" pitchFamily="34" charset="-122"/>
              </a:rPr>
              <a:t>KT</a:t>
            </a:r>
            <a:r>
              <a:rPr lang="zh-CN" altLang="en-US" sz="2200" dirty="0">
                <a:latin typeface="Times New Roman" panose="02020603050405020304" pitchFamily="18" charset="0"/>
                <a:ea typeface="微软雅黑" panose="020B0503020204020204" pitchFamily="34" charset="-122"/>
              </a:rPr>
              <a:t>）表示移动或预期移动的方向和移速或静止，如：“</a:t>
            </a:r>
            <a:r>
              <a:rPr lang="en-US" altLang="zh-CN" sz="2200" dirty="0">
                <a:latin typeface="Times New Roman" panose="02020603050405020304" pitchFamily="18" charset="0"/>
                <a:ea typeface="微软雅黑" panose="020B0503020204020204" pitchFamily="34" charset="-122"/>
              </a:rPr>
              <a:t>STNR</a:t>
            </a:r>
            <a:r>
              <a:rPr lang="zh-CN" altLang="en-US" sz="2200" dirty="0">
                <a:latin typeface="Times New Roman" panose="02020603050405020304" pitchFamily="18" charset="0"/>
                <a:ea typeface="微软雅黑" panose="020B0503020204020204" pitchFamily="34" charset="-122"/>
              </a:rPr>
              <a:t>”（静止）。</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10</a:t>
            </a:r>
            <a:r>
              <a:rPr lang="zh-CN" altLang="en-US" sz="2200" dirty="0">
                <a:latin typeface="Times New Roman" panose="02020603050405020304" pitchFamily="18" charset="0"/>
                <a:ea typeface="微软雅黑" panose="020B0503020204020204" pitchFamily="34" charset="-122"/>
              </a:rPr>
              <a:t>）第十组，强度变化情况。用缩写“</a:t>
            </a:r>
            <a:r>
              <a:rPr lang="en-US" altLang="zh-CN" sz="2200" dirty="0">
                <a:latin typeface="Times New Roman" panose="02020603050405020304" pitchFamily="18" charset="0"/>
                <a:ea typeface="微软雅黑" panose="020B0503020204020204" pitchFamily="34" charset="-122"/>
              </a:rPr>
              <a:t>INTSF”</a:t>
            </a:r>
            <a:r>
              <a:rPr lang="zh-CN" altLang="en-US" sz="2200" dirty="0">
                <a:latin typeface="Times New Roman" panose="02020603050405020304" pitchFamily="18" charset="0"/>
                <a:ea typeface="微软雅黑" panose="020B0503020204020204" pitchFamily="34" charset="-122"/>
              </a:rPr>
              <a:t>（加强）、“</a:t>
            </a:r>
            <a:r>
              <a:rPr lang="en-US" altLang="zh-CN" sz="2200" dirty="0">
                <a:latin typeface="Times New Roman" panose="02020603050405020304" pitchFamily="18" charset="0"/>
                <a:ea typeface="微软雅黑" panose="020B0503020204020204" pitchFamily="34" charset="-122"/>
              </a:rPr>
              <a:t>WKN”</a:t>
            </a:r>
            <a:r>
              <a:rPr lang="zh-CN" altLang="en-US" sz="2200" dirty="0">
                <a:latin typeface="Times New Roman" panose="02020603050405020304" pitchFamily="18" charset="0"/>
                <a:ea typeface="微软雅黑" panose="020B0503020204020204" pitchFamily="34" charset="-122"/>
              </a:rPr>
              <a:t>（减弱）或“</a:t>
            </a:r>
            <a:r>
              <a:rPr lang="en-US" altLang="zh-CN" sz="2200" dirty="0">
                <a:latin typeface="Times New Roman" panose="02020603050405020304" pitchFamily="18" charset="0"/>
                <a:ea typeface="微软雅黑" panose="020B0503020204020204" pitchFamily="34" charset="-122"/>
              </a:rPr>
              <a:t>NC”</a:t>
            </a:r>
            <a:r>
              <a:rPr lang="zh-CN" altLang="en-US" sz="2200" dirty="0">
                <a:latin typeface="Times New Roman" panose="02020603050405020304" pitchFamily="18" charset="0"/>
                <a:ea typeface="微软雅黑" panose="020B0503020204020204" pitchFamily="34" charset="-122"/>
              </a:rPr>
              <a:t>（无变化）表示。</a:t>
            </a:r>
          </a:p>
          <a:p>
            <a:pPr>
              <a:lnSpc>
                <a:spcPct val="200000"/>
              </a:lnSpc>
            </a:pPr>
            <a:endParaRPr lang="en-US" altLang="zh-CN" sz="2200" dirty="0">
              <a:latin typeface="Times New Roman" panose="02020603050405020304" pitchFamily="18" charset="0"/>
              <a:ea typeface="微软雅黑" panose="020B0503020204020204" pitchFamily="34" charset="-122"/>
            </a:endParaRPr>
          </a:p>
          <a:p>
            <a:pPr>
              <a:lnSpc>
                <a:spcPct val="200000"/>
              </a:lnSpc>
            </a:pP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1796103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E3B0A0-CE69-4507-96DB-8E40E2EB6D50}"/>
              </a:ext>
            </a:extLst>
          </p:cNvPr>
          <p:cNvSpPr txBox="1"/>
          <p:nvPr/>
        </p:nvSpPr>
        <p:spPr>
          <a:xfrm>
            <a:off x="-1" y="0"/>
            <a:ext cx="12072551" cy="4052648"/>
          </a:xfrm>
          <a:prstGeom prst="rect">
            <a:avLst/>
          </a:prstGeom>
          <a:noFill/>
        </p:spPr>
        <p:txBody>
          <a:bodyPr wrap="square" rtlCol="0">
            <a:spAutoFit/>
          </a:bodyPr>
          <a:lstStyle/>
          <a:p>
            <a:pPr>
              <a:lnSpc>
                <a:spcPct val="200000"/>
              </a:lnSpc>
            </a:pPr>
            <a:r>
              <a:rPr lang="en-US" altLang="zh-CN" sz="2200" dirty="0">
                <a:latin typeface="Times New Roman" panose="02020603050405020304" pitchFamily="18" charset="0"/>
                <a:ea typeface="微软雅黑" panose="020B0503020204020204" pitchFamily="34" charset="-122"/>
              </a:rPr>
              <a:t>YUDD  AIRMET  1  VALID  151520/15  1800  YUSO-</a:t>
            </a:r>
          </a:p>
          <a:p>
            <a:pPr>
              <a:lnSpc>
                <a:spcPct val="200000"/>
              </a:lnSpc>
            </a:pPr>
            <a:r>
              <a:rPr lang="en-US" altLang="zh-CN" sz="2200" dirty="0">
                <a:latin typeface="Times New Roman" panose="02020603050405020304" pitchFamily="18" charset="0"/>
                <a:ea typeface="微软雅黑" panose="020B0503020204020204" pitchFamily="34" charset="-122"/>
              </a:rPr>
              <a:t>YUDD  SHANLON  FIR  ISOL  TS  OBS  N  OF  S50  TOP   ABV  FL100  STNR  WKN</a:t>
            </a:r>
          </a:p>
          <a:p>
            <a:pPr>
              <a:lnSpc>
                <a:spcPct val="200000"/>
              </a:lnSpc>
            </a:pPr>
            <a:r>
              <a:rPr lang="zh-CN" altLang="en-US" sz="2200" dirty="0">
                <a:latin typeface="Times New Roman" panose="02020603050405020304" pitchFamily="18" charset="0"/>
                <a:ea typeface="微软雅黑" panose="020B0503020204020204" pitchFamily="34" charset="-122"/>
              </a:rPr>
              <a:t>气象监视台（</a:t>
            </a:r>
            <a:r>
              <a:rPr lang="en-US" altLang="zh-CN" sz="2200" dirty="0">
                <a:latin typeface="Times New Roman" panose="02020603050405020304" pitchFamily="18" charset="0"/>
                <a:ea typeface="微软雅黑" panose="020B0503020204020204" pitchFamily="34" charset="-122"/>
              </a:rPr>
              <a:t>YUSO</a:t>
            </a:r>
            <a:r>
              <a:rPr lang="zh-CN" altLang="en-US" sz="2200" dirty="0">
                <a:latin typeface="Times New Roman" panose="02020603050405020304" pitchFamily="18" charset="0"/>
                <a:ea typeface="微软雅黑" panose="020B0503020204020204" pitchFamily="34" charset="-122"/>
              </a:rPr>
              <a:t>）为</a:t>
            </a:r>
            <a:r>
              <a:rPr lang="en-US" altLang="zh-CN" sz="2200" dirty="0">
                <a:latin typeface="Times New Roman" panose="02020603050405020304" pitchFamily="18" charset="0"/>
                <a:ea typeface="微软雅黑" panose="020B0503020204020204" pitchFamily="34" charset="-122"/>
              </a:rPr>
              <a:t>SHANLON</a:t>
            </a:r>
            <a:r>
              <a:rPr lang="zh-CN" altLang="en-US" sz="2200" dirty="0">
                <a:latin typeface="Times New Roman" panose="02020603050405020304" pitchFamily="18" charset="0"/>
                <a:ea typeface="微软雅黑" panose="020B0503020204020204" pitchFamily="34" charset="-122"/>
              </a:rPr>
              <a:t>飞行情报区（以</a:t>
            </a:r>
            <a:r>
              <a:rPr lang="en-US" altLang="zh-CN" sz="2200" dirty="0" err="1">
                <a:latin typeface="Times New Roman" panose="02020603050405020304" pitchFamily="18" charset="0"/>
                <a:ea typeface="微软雅黑" panose="020B0503020204020204" pitchFamily="34" charset="-122"/>
              </a:rPr>
              <a:t>Shanlon</a:t>
            </a:r>
            <a:r>
              <a:rPr lang="zh-CN" altLang="en-US" sz="2200" dirty="0">
                <a:latin typeface="Times New Roman" panose="02020603050405020304" pitchFamily="18" charset="0"/>
                <a:ea typeface="微软雅黑" panose="020B0503020204020204" pitchFamily="34" charset="-122"/>
              </a:rPr>
              <a:t>区域管制中心的代码</a:t>
            </a:r>
            <a:r>
              <a:rPr lang="en-US" altLang="zh-CN" sz="2200" dirty="0">
                <a:latin typeface="Times New Roman" panose="02020603050405020304" pitchFamily="18" charset="0"/>
                <a:ea typeface="微软雅黑" panose="020B0503020204020204" pitchFamily="34" charset="-122"/>
              </a:rPr>
              <a:t>YUDD</a:t>
            </a:r>
            <a:r>
              <a:rPr lang="zh-CN" altLang="en-US" sz="2200" dirty="0">
                <a:latin typeface="Times New Roman" panose="02020603050405020304" pitchFamily="18" charset="0"/>
                <a:ea typeface="微软雅黑" panose="020B0503020204020204" pitchFamily="34" charset="-122"/>
              </a:rPr>
              <a:t>标识）发布的</a:t>
            </a:r>
            <a:r>
              <a:rPr lang="en-US" altLang="zh-CN" sz="2200" dirty="0">
                <a:latin typeface="Times New Roman" panose="02020603050405020304" pitchFamily="18" charset="0"/>
                <a:ea typeface="微软雅黑" panose="020B0503020204020204" pitchFamily="34" charset="-122"/>
              </a:rPr>
              <a:t>15</a:t>
            </a:r>
            <a:r>
              <a:rPr lang="zh-CN" altLang="en-US" sz="2200" dirty="0">
                <a:latin typeface="Times New Roman" panose="02020603050405020304" pitchFamily="18" charset="0"/>
                <a:ea typeface="微软雅黑" panose="020B0503020204020204" pitchFamily="34" charset="-122"/>
              </a:rPr>
              <a:t>日第</a:t>
            </a:r>
            <a:r>
              <a:rPr lang="en-US" altLang="zh-CN" sz="2200" dirty="0">
                <a:latin typeface="Times New Roman" panose="02020603050405020304" pitchFamily="18" charset="0"/>
                <a:ea typeface="微软雅黑" panose="020B0503020204020204" pitchFamily="34" charset="-122"/>
              </a:rPr>
              <a:t>1</a:t>
            </a:r>
            <a:r>
              <a:rPr lang="zh-CN" altLang="en-US" sz="2200" dirty="0">
                <a:latin typeface="Times New Roman" panose="02020603050405020304" pitchFamily="18" charset="0"/>
                <a:ea typeface="微软雅黑" panose="020B0503020204020204" pitchFamily="34" charset="-122"/>
              </a:rPr>
              <a:t>份</a:t>
            </a:r>
            <a:r>
              <a:rPr lang="en-US" altLang="zh-CN" sz="2200" dirty="0">
                <a:latin typeface="Times New Roman" panose="02020603050405020304" pitchFamily="18" charset="0"/>
                <a:ea typeface="微软雅黑" panose="020B0503020204020204" pitchFamily="34" charset="-122"/>
              </a:rPr>
              <a:t>AIRMET</a:t>
            </a:r>
            <a:r>
              <a:rPr lang="zh-CN" altLang="en-US" sz="2200" dirty="0">
                <a:latin typeface="Times New Roman" panose="02020603050405020304" pitchFamily="18" charset="0"/>
                <a:ea typeface="微软雅黑" panose="020B0503020204020204" pitchFamily="34" charset="-122"/>
              </a:rPr>
              <a:t>报，报文有效时段自</a:t>
            </a:r>
            <a:r>
              <a:rPr lang="en-US" altLang="zh-CN" sz="2200" dirty="0">
                <a:latin typeface="Times New Roman" panose="02020603050405020304" pitchFamily="18" charset="0"/>
                <a:ea typeface="微软雅黑" panose="020B0503020204020204" pitchFamily="34" charset="-122"/>
              </a:rPr>
              <a:t>15</a:t>
            </a:r>
            <a:r>
              <a:rPr lang="zh-CN" altLang="en-US" sz="2200" dirty="0">
                <a:latin typeface="Times New Roman" panose="02020603050405020304" pitchFamily="18" charset="0"/>
                <a:ea typeface="微软雅黑" panose="020B0503020204020204" pitchFamily="34" charset="-122"/>
              </a:rPr>
              <a:t>日</a:t>
            </a:r>
            <a:r>
              <a:rPr lang="en-US" altLang="zh-CN" sz="2200" dirty="0">
                <a:latin typeface="Times New Roman" panose="02020603050405020304" pitchFamily="18" charset="0"/>
                <a:ea typeface="微软雅黑" panose="020B0503020204020204" pitchFamily="34" charset="-122"/>
              </a:rPr>
              <a:t>15:20</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UTC</a:t>
            </a:r>
            <a:r>
              <a:rPr lang="zh-CN" altLang="en-US" sz="2200" dirty="0">
                <a:latin typeface="Times New Roman" panose="02020603050405020304" pitchFamily="18" charset="0"/>
                <a:ea typeface="微软雅黑" panose="020B0503020204020204" pitchFamily="34" charset="-122"/>
              </a:rPr>
              <a:t>）到</a:t>
            </a:r>
            <a:r>
              <a:rPr lang="en-US" altLang="zh-CN" sz="2200" dirty="0">
                <a:latin typeface="Times New Roman" panose="02020603050405020304" pitchFamily="18" charset="0"/>
                <a:ea typeface="微软雅黑" panose="020B0503020204020204" pitchFamily="34" charset="-122"/>
              </a:rPr>
              <a:t>18:00</a:t>
            </a:r>
            <a:r>
              <a:rPr lang="zh-CN" altLang="en-US" sz="2200" dirty="0">
                <a:latin typeface="Times New Roman" panose="02020603050405020304" pitchFamily="18" charset="0"/>
                <a:ea typeface="微软雅黑" panose="020B0503020204020204" pitchFamily="34" charset="-122"/>
              </a:rPr>
              <a:t>（</a:t>
            </a:r>
            <a:r>
              <a:rPr lang="en-US" altLang="zh-CN" sz="2200" dirty="0">
                <a:latin typeface="Times New Roman" panose="02020603050405020304" pitchFamily="18" charset="0"/>
                <a:ea typeface="微软雅黑" panose="020B0503020204020204" pitchFamily="34" charset="-122"/>
              </a:rPr>
              <a:t>UTC</a:t>
            </a:r>
            <a:r>
              <a:rPr lang="zh-CN" altLang="en-US" sz="2200" dirty="0">
                <a:latin typeface="Times New Roman" panose="02020603050405020304" pitchFamily="18" charset="0"/>
                <a:ea typeface="微软雅黑" panose="020B0503020204020204" pitchFamily="34" charset="-122"/>
              </a:rPr>
              <a:t>）。</a:t>
            </a:r>
            <a:endParaRPr lang="en-US" altLang="zh-CN" sz="2200" dirty="0">
              <a:latin typeface="Times New Roman" panose="02020603050405020304" pitchFamily="18" charset="0"/>
              <a:ea typeface="微软雅黑" panose="020B0503020204020204" pitchFamily="34" charset="-122"/>
            </a:endParaRPr>
          </a:p>
          <a:p>
            <a:pPr>
              <a:lnSpc>
                <a:spcPct val="200000"/>
              </a:lnSpc>
            </a:pPr>
            <a:r>
              <a:rPr lang="zh-CN" altLang="en-US" sz="2200" dirty="0">
                <a:latin typeface="Times New Roman" panose="02020603050405020304" pitchFamily="18" charset="0"/>
                <a:ea typeface="微软雅黑" panose="020B0503020204020204" pitchFamily="34" charset="-122"/>
              </a:rPr>
              <a:t>在</a:t>
            </a:r>
            <a:r>
              <a:rPr lang="en-US" altLang="zh-CN" sz="2200" dirty="0">
                <a:latin typeface="Times New Roman" panose="02020603050405020304" pitchFamily="18" charset="0"/>
                <a:ea typeface="微软雅黑" panose="020B0503020204020204" pitchFamily="34" charset="-122"/>
              </a:rPr>
              <a:t>SHANLON</a:t>
            </a:r>
            <a:r>
              <a:rPr lang="zh-CN" altLang="en-US" sz="2200" dirty="0">
                <a:latin typeface="Times New Roman" panose="02020603050405020304" pitchFamily="18" charset="0"/>
                <a:ea typeface="微软雅黑" panose="020B0503020204020204" pitchFamily="34" charset="-122"/>
              </a:rPr>
              <a:t>飞行情报区，观测到孤立的雷暴，位置在南纬</a:t>
            </a:r>
            <a:r>
              <a:rPr lang="en-US" altLang="zh-CN" sz="2200" dirty="0">
                <a:latin typeface="Times New Roman" panose="02020603050405020304" pitchFamily="18" charset="0"/>
                <a:ea typeface="微软雅黑" panose="020B0503020204020204" pitchFamily="34" charset="-122"/>
              </a:rPr>
              <a:t>50°</a:t>
            </a:r>
            <a:r>
              <a:rPr lang="zh-CN" altLang="en-US" sz="2200" dirty="0">
                <a:latin typeface="Times New Roman" panose="02020603050405020304" pitchFamily="18" charset="0"/>
                <a:ea typeface="微软雅黑" panose="020B0503020204020204" pitchFamily="34" charset="-122"/>
              </a:rPr>
              <a:t>以北，顶高在飞行高度层</a:t>
            </a:r>
            <a:r>
              <a:rPr lang="en-US" altLang="zh-CN" sz="2200" dirty="0">
                <a:latin typeface="Times New Roman" panose="02020603050405020304" pitchFamily="18" charset="0"/>
                <a:ea typeface="微软雅黑" panose="020B0503020204020204" pitchFamily="34" charset="-122"/>
              </a:rPr>
              <a:t>100</a:t>
            </a:r>
            <a:r>
              <a:rPr lang="zh-CN" altLang="en-US" sz="2200" dirty="0">
                <a:latin typeface="Times New Roman" panose="02020603050405020304" pitchFamily="18" charset="0"/>
                <a:ea typeface="微软雅黑" panose="020B0503020204020204" pitchFamily="34" charset="-122"/>
              </a:rPr>
              <a:t>以上，预计稳定少动，强度减弱。</a:t>
            </a:r>
            <a:endParaRPr lang="en-US" altLang="zh-CN" sz="2200"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1292413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BCD4D2A7-2F48-4C11-AC05-759E2A758E34}"/>
              </a:ext>
            </a:extLst>
          </p:cNvPr>
          <p:cNvGrpSpPr>
            <a:grpSpLocks/>
          </p:cNvGrpSpPr>
          <p:nvPr/>
        </p:nvGrpSpPr>
        <p:grpSpPr bwMode="auto">
          <a:xfrm>
            <a:off x="4073525" y="2393950"/>
            <a:ext cx="4629150" cy="1841500"/>
            <a:chOff x="4267201" y="2576514"/>
            <a:chExt cx="3767138" cy="1497511"/>
          </a:xfrm>
        </p:grpSpPr>
        <p:sp>
          <p:nvSpPr>
            <p:cNvPr id="87043" name="TextBox 1">
              <a:extLst>
                <a:ext uri="{FF2B5EF4-FFF2-40B4-BE49-F238E27FC236}">
                  <a16:creationId xmlns:a16="http://schemas.microsoft.com/office/drawing/2014/main" id="{1D0F4E39-2740-436A-B775-9C92708BA065}"/>
                </a:ext>
              </a:extLst>
            </p:cNvPr>
            <p:cNvSpPr txBox="1">
              <a:spLocks noChangeArrowheads="1"/>
            </p:cNvSpPr>
            <p:nvPr/>
          </p:nvSpPr>
          <p:spPr bwMode="auto">
            <a:xfrm>
              <a:off x="4267201" y="2816225"/>
              <a:ext cx="3197469" cy="976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2900">
                <a:spcBef>
                  <a:spcPts val="750"/>
                </a:spcBef>
                <a:buClr>
                  <a:schemeClr val="accent1"/>
                </a:buClr>
                <a:buSzPct val="80000"/>
                <a:buFont typeface="Wingdings 3" panose="05040102010807070707" pitchFamily="18" charset="2"/>
                <a:buChar char=""/>
                <a:defRPr sz="1300">
                  <a:solidFill>
                    <a:srgbClr val="404040"/>
                  </a:solidFill>
                  <a:latin typeface="Trebuchet MS" panose="020B0603020202090204" pitchFamily="34" charset="0"/>
                  <a:ea typeface="华文新魏" panose="02010800040101010101" pitchFamily="2" charset="-122"/>
                </a:defRPr>
              </a:lvl1pPr>
              <a:lvl2pPr marL="742950" indent="-285750" defTabSz="342900">
                <a:spcBef>
                  <a:spcPts val="750"/>
                </a:spcBef>
                <a:buClr>
                  <a:schemeClr val="accent1"/>
                </a:buClr>
                <a:buSzPct val="80000"/>
                <a:buFont typeface="Wingdings 3" panose="05040102010807070707" pitchFamily="18" charset="2"/>
                <a:buChar char=""/>
                <a:defRPr sz="1200">
                  <a:solidFill>
                    <a:srgbClr val="404040"/>
                  </a:solidFill>
                  <a:latin typeface="Trebuchet MS" panose="020B0603020202090204" pitchFamily="34" charset="0"/>
                  <a:ea typeface="华文新魏" panose="02010800040101010101" pitchFamily="2" charset="-122"/>
                </a:defRPr>
              </a:lvl2pPr>
              <a:lvl3pPr marL="1143000" indent="-228600" defTabSz="342900">
                <a:spcBef>
                  <a:spcPts val="750"/>
                </a:spcBef>
                <a:buClr>
                  <a:schemeClr val="accent1"/>
                </a:buClr>
                <a:buSzPct val="80000"/>
                <a:buFont typeface="Wingdings 3" panose="05040102010807070707" pitchFamily="18" charset="2"/>
                <a:buChar char=""/>
                <a:defRPr sz="1000">
                  <a:solidFill>
                    <a:srgbClr val="404040"/>
                  </a:solidFill>
                  <a:latin typeface="Trebuchet MS" panose="020B0603020202090204" pitchFamily="34" charset="0"/>
                  <a:ea typeface="华文新魏" panose="02010800040101010101" pitchFamily="2" charset="-122"/>
                </a:defRPr>
              </a:lvl3pPr>
              <a:lvl4pPr marL="1600200" indent="-228600" defTabSz="342900">
                <a:spcBef>
                  <a:spcPts val="750"/>
                </a:spcBef>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4pPr>
              <a:lvl5pPr marL="2057400" indent="-228600" defTabSz="342900">
                <a:spcBef>
                  <a:spcPts val="750"/>
                </a:spcBef>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5pPr>
              <a:lvl6pPr marL="25146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6pPr>
              <a:lvl7pPr marL="29718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7pPr>
              <a:lvl8pPr marL="34290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8pPr>
              <a:lvl9pPr marL="38862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9pPr>
            </a:lstStyle>
            <a:p>
              <a:pPr marL="0" marR="0" lvl="0" indent="0" algn="l" defTabSz="342900" rtl="0" eaLnBrk="1" fontAlgn="auto" latinLnBrk="0" hangingPunct="1">
                <a:lnSpc>
                  <a:spcPct val="100000"/>
                </a:lnSpc>
                <a:spcBef>
                  <a:spcPct val="0"/>
                </a:spcBef>
                <a:spcAft>
                  <a:spcPts val="0"/>
                </a:spcAft>
                <a:buClrTx/>
                <a:buSzTx/>
                <a:buFontTx/>
                <a:buNone/>
                <a:tabLst/>
                <a:defRPr/>
              </a:pPr>
              <a:r>
                <a:rPr kumimoji="0" lang="en-US" altLang="zh-CN" sz="7200" b="0" i="0" u="none" strike="noStrike" kern="1200" cap="none" spc="0" normalizeH="0" baseline="0" noProof="0">
                  <a:ln>
                    <a:noFill/>
                  </a:ln>
                  <a:solidFill>
                    <a:srgbClr val="004F8A"/>
                  </a:solidFill>
                  <a:effectLst/>
                  <a:uLnTx/>
                  <a:uFillTx/>
                  <a:latin typeface="Arial" panose="020B0604020202020204" pitchFamily="34" charset="0"/>
                  <a:ea typeface="Kozuka Gothic Pr6N B"/>
                  <a:cs typeface="Arial" panose="020B0604020202020204" pitchFamily="34" charset="0"/>
                </a:rPr>
                <a:t>THANKS</a:t>
              </a:r>
            </a:p>
          </p:txBody>
        </p:sp>
        <p:sp>
          <p:nvSpPr>
            <p:cNvPr id="3" name="空心弧 2">
              <a:extLst>
                <a:ext uri="{FF2B5EF4-FFF2-40B4-BE49-F238E27FC236}">
                  <a16:creationId xmlns:a16="http://schemas.microsoft.com/office/drawing/2014/main" id="{BEAD9517-42E8-4C3A-972D-9A49D1B6A02D}"/>
                </a:ext>
              </a:extLst>
            </p:cNvPr>
            <p:cNvSpPr/>
            <p:nvPr/>
          </p:nvSpPr>
          <p:spPr bwMode="auto">
            <a:xfrm rot="7086271">
              <a:off x="6551141" y="2576627"/>
              <a:ext cx="1483311" cy="1483085"/>
            </a:xfrm>
            <a:prstGeom prst="blockArc">
              <a:avLst>
                <a:gd name="adj1" fmla="val 5502533"/>
                <a:gd name="adj2" fmla="val 1980318"/>
                <a:gd name="adj3" fmla="val 1053"/>
              </a:avLst>
            </a:prstGeom>
            <a:solidFill>
              <a:srgbClr val="004F8A"/>
            </a:solidFill>
            <a:ln w="3175">
              <a:solidFill>
                <a:srgbClr val="004F8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CN" altLang="en-US" sz="2700" b="0" i="0" u="none" strike="noStrike" kern="1200" cap="none" spc="0" normalizeH="0" baseline="0" noProof="0">
                <a:ln>
                  <a:noFill/>
                </a:ln>
                <a:solidFill>
                  <a:prstClr val="black"/>
                </a:solidFill>
                <a:effectLst/>
                <a:uLnTx/>
                <a:uFillTx/>
                <a:latin typeface="Trebuchet MS" panose="020B0603020202020204"/>
                <a:ea typeface="华文新魏" panose="02010800040101010101" pitchFamily="2" charset="-122"/>
                <a:cs typeface="+mn-cs"/>
              </a:endParaRPr>
            </a:p>
          </p:txBody>
        </p:sp>
        <p:sp>
          <p:nvSpPr>
            <p:cNvPr id="87045" name="TextBox 8">
              <a:extLst>
                <a:ext uri="{FF2B5EF4-FFF2-40B4-BE49-F238E27FC236}">
                  <a16:creationId xmlns:a16="http://schemas.microsoft.com/office/drawing/2014/main" id="{170D951F-C63D-4A41-B490-2B950B0452AD}"/>
                </a:ext>
              </a:extLst>
            </p:cNvPr>
            <p:cNvSpPr txBox="1">
              <a:spLocks noChangeArrowheads="1"/>
            </p:cNvSpPr>
            <p:nvPr/>
          </p:nvSpPr>
          <p:spPr bwMode="auto">
            <a:xfrm>
              <a:off x="4414839" y="3660775"/>
              <a:ext cx="2192337" cy="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342900">
                <a:spcBef>
                  <a:spcPts val="750"/>
                </a:spcBef>
                <a:buClr>
                  <a:schemeClr val="accent1"/>
                </a:buClr>
                <a:buSzPct val="80000"/>
                <a:buFont typeface="Wingdings 3" panose="05040102010807070707" pitchFamily="18" charset="2"/>
                <a:buChar char=""/>
                <a:defRPr sz="1300">
                  <a:solidFill>
                    <a:srgbClr val="404040"/>
                  </a:solidFill>
                  <a:latin typeface="Trebuchet MS" panose="020B0603020202090204" pitchFamily="34" charset="0"/>
                  <a:ea typeface="华文新魏" panose="02010800040101010101" pitchFamily="2" charset="-122"/>
                </a:defRPr>
              </a:lvl1pPr>
              <a:lvl2pPr marL="742950" indent="-285750" defTabSz="342900">
                <a:spcBef>
                  <a:spcPts val="750"/>
                </a:spcBef>
                <a:buClr>
                  <a:schemeClr val="accent1"/>
                </a:buClr>
                <a:buSzPct val="80000"/>
                <a:buFont typeface="Wingdings 3" panose="05040102010807070707" pitchFamily="18" charset="2"/>
                <a:buChar char=""/>
                <a:defRPr sz="1200">
                  <a:solidFill>
                    <a:srgbClr val="404040"/>
                  </a:solidFill>
                  <a:latin typeface="Trebuchet MS" panose="020B0603020202090204" pitchFamily="34" charset="0"/>
                  <a:ea typeface="华文新魏" panose="02010800040101010101" pitchFamily="2" charset="-122"/>
                </a:defRPr>
              </a:lvl2pPr>
              <a:lvl3pPr marL="1143000" indent="-228600" defTabSz="342900">
                <a:spcBef>
                  <a:spcPts val="750"/>
                </a:spcBef>
                <a:buClr>
                  <a:schemeClr val="accent1"/>
                </a:buClr>
                <a:buSzPct val="80000"/>
                <a:buFont typeface="Wingdings 3" panose="05040102010807070707" pitchFamily="18" charset="2"/>
                <a:buChar char=""/>
                <a:defRPr sz="1000">
                  <a:solidFill>
                    <a:srgbClr val="404040"/>
                  </a:solidFill>
                  <a:latin typeface="Trebuchet MS" panose="020B0603020202090204" pitchFamily="34" charset="0"/>
                  <a:ea typeface="华文新魏" panose="02010800040101010101" pitchFamily="2" charset="-122"/>
                </a:defRPr>
              </a:lvl3pPr>
              <a:lvl4pPr marL="1600200" indent="-228600" defTabSz="342900">
                <a:spcBef>
                  <a:spcPts val="750"/>
                </a:spcBef>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4pPr>
              <a:lvl5pPr marL="2057400" indent="-228600" defTabSz="342900">
                <a:spcBef>
                  <a:spcPts val="750"/>
                </a:spcBef>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5pPr>
              <a:lvl6pPr marL="25146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6pPr>
              <a:lvl7pPr marL="29718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7pPr>
              <a:lvl8pPr marL="34290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8pPr>
              <a:lvl9pPr marL="3886200" indent="-228600" defTabSz="342900" eaLnBrk="0" fontAlgn="base" hangingPunct="0">
                <a:spcBef>
                  <a:spcPts val="750"/>
                </a:spcBef>
                <a:spcAft>
                  <a:spcPct val="0"/>
                </a:spcAft>
                <a:buClr>
                  <a:schemeClr val="accent1"/>
                </a:buClr>
                <a:buSzPct val="80000"/>
                <a:buFont typeface="Wingdings 3" panose="05040102010807070707" pitchFamily="18" charset="2"/>
                <a:buChar char=""/>
                <a:defRPr sz="900">
                  <a:solidFill>
                    <a:srgbClr val="404040"/>
                  </a:solidFill>
                  <a:latin typeface="Trebuchet MS" panose="020B0603020202090204" pitchFamily="34" charset="0"/>
                  <a:ea typeface="华文新魏" panose="02010800040101010101" pitchFamily="2" charset="-122"/>
                </a:defRPr>
              </a:lvl9pPr>
            </a:lstStyle>
            <a:p>
              <a:pPr marL="0" marR="0" lvl="0" indent="0" algn="dist" defTabSz="342900" rtl="0" eaLnBrk="1" fontAlgn="auto" latinLnBrk="0" hangingPunct="1">
                <a:lnSpc>
                  <a:spcPct val="100000"/>
                </a:lnSpc>
                <a:spcBef>
                  <a:spcPct val="0"/>
                </a:spcBef>
                <a:spcAft>
                  <a:spcPts val="0"/>
                </a:spcAft>
                <a:buClrTx/>
                <a:buSzTx/>
                <a:buFontTx/>
                <a:buNone/>
                <a:tabLst/>
                <a:defRPr/>
              </a:pPr>
              <a:r>
                <a:rPr kumimoji="0" lang="zh-CN" altLang="en-US" sz="2700" b="0" i="0" u="none" strike="noStrike" kern="1200" cap="none" spc="0" normalizeH="0" baseline="0" noProof="0">
                  <a:ln>
                    <a:noFill/>
                  </a:ln>
                  <a:solidFill>
                    <a:srgbClr val="404040"/>
                  </a:solidFill>
                  <a:effectLst/>
                  <a:uLnTx/>
                  <a:uFillTx/>
                  <a:latin typeface="微软雅黑" panose="020B0503020204020204" pitchFamily="34" charset="-122"/>
                  <a:ea typeface="微软雅黑" panose="020B0503020204020204" pitchFamily="34" charset="-122"/>
                  <a:cs typeface="+mn-cs"/>
                </a:rPr>
                <a:t>谢谢聆听</a:t>
              </a:r>
            </a:p>
          </p:txBody>
        </p:sp>
      </p:grpSp>
    </p:spTree>
    <p:extLst>
      <p:ext uri="{BB962C8B-B14F-4D97-AF65-F5344CB8AC3E}">
        <p14:creationId xmlns:p14="http://schemas.microsoft.com/office/powerpoint/2010/main" val="247455426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otalTime>738</TotalTime>
  <Words>7108</Words>
  <Application>Microsoft Office PowerPoint</Application>
  <PresentationFormat>宽屏</PresentationFormat>
  <Paragraphs>589</Paragraphs>
  <Slides>97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97</vt:i4>
      </vt:variant>
    </vt:vector>
  </HeadingPairs>
  <TitlesOfParts>
    <vt:vector size="108" baseType="lpstr">
      <vt:lpstr>Lucida Sans Unicode</vt:lpstr>
      <vt:lpstr>方正姚体</vt:lpstr>
      <vt:lpstr>黑体</vt:lpstr>
      <vt:lpstr>宋体</vt:lpstr>
      <vt:lpstr>微软雅黑</vt:lpstr>
      <vt:lpstr>Arial</vt:lpstr>
      <vt:lpstr>Cambria Math</vt:lpstr>
      <vt:lpstr>Times New Roman</vt:lpstr>
      <vt:lpstr>Trebuchet MS</vt:lpstr>
      <vt:lpstr>Wingdings 3</vt:lpstr>
      <vt:lpstr>平面</vt:lpstr>
      <vt:lpstr>第十二章：常用航空气象资料</vt:lpstr>
      <vt:lpstr>PowerPoint 演示文稿</vt:lpstr>
      <vt:lpstr>PowerPoint 演示文稿</vt:lpstr>
      <vt:lpstr>第一节   飞行气象图表</vt:lpstr>
      <vt:lpstr>PowerPoint 演示文稿</vt:lpstr>
      <vt:lpstr>PowerPoint 演示文稿</vt:lpstr>
      <vt:lpstr>练习1</vt:lpstr>
      <vt:lpstr>PowerPoint 演示文稿</vt:lpstr>
      <vt:lpstr>PowerPoint 演示文稿</vt:lpstr>
      <vt:lpstr>PowerPoint 演示文稿</vt:lpstr>
      <vt:lpstr>PowerPoint 演示文稿</vt:lpstr>
      <vt:lpstr>PowerPoint 演示文稿</vt:lpstr>
      <vt:lpstr>PowerPoint 演示文稿</vt:lpstr>
      <vt:lpstr>（1） 重要天气的种类和符号 </vt:lpstr>
      <vt:lpstr>（2） 重要 天气 系统 符号 </vt:lpstr>
      <vt:lpstr>（3）与重要天气相伴的云</vt:lpstr>
      <vt:lpstr>低层重要天气预报图举例</vt:lpstr>
      <vt:lpstr>2.中层（FL100至FL250）重要天气预报图 </vt:lpstr>
      <vt:lpstr>PowerPoint 演示文稿</vt:lpstr>
      <vt:lpstr> 中层重要天气预报图举例</vt:lpstr>
      <vt:lpstr>3.高层重要天气预报图 </vt:lpstr>
      <vt:lpstr>高层重要天气预报图举例</vt:lpstr>
      <vt:lpstr>高层重要天气预报图举例</vt:lpstr>
      <vt:lpstr>（三）等压面预报图 </vt:lpstr>
      <vt:lpstr>200hPa 等压面 预报图 </vt:lpstr>
      <vt:lpstr>（四）空中风和温度预报图 </vt:lpstr>
      <vt:lpstr>PowerPoint 演示文稿</vt:lpstr>
      <vt:lpstr>PowerPoint 演示文稿</vt:lpstr>
      <vt:lpstr>表格式的空中风和温度预报图</vt:lpstr>
      <vt:lpstr>第二节   航空气象电报</vt:lpstr>
      <vt:lpstr>PowerPoint 演示文稿</vt:lpstr>
      <vt:lpstr>PowerPoint 演示文稿</vt:lpstr>
      <vt:lpstr>PowerPoint 演示文稿</vt:lpstr>
      <vt:lpstr>PowerPoint 演示文稿</vt:lpstr>
      <vt:lpstr>      YY、GG、gg表示统一规定的天气报告的日、时、分（世界时）</vt:lpstr>
      <vt:lpstr>PowerPoint 演示文稿</vt:lpstr>
      <vt:lpstr>PowerPoint 演示文稿</vt:lpstr>
      <vt:lpstr>电报的正文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第十二章：常用航空气象资料</dc:title>
  <dc:creator>long lilan</dc:creator>
  <cp:lastModifiedBy>long lilan</cp:lastModifiedBy>
  <cp:revision>86</cp:revision>
  <dcterms:created xsi:type="dcterms:W3CDTF">2018-11-01T05:59:50Z</dcterms:created>
  <dcterms:modified xsi:type="dcterms:W3CDTF">2019-03-05T09:31:52Z</dcterms:modified>
</cp:coreProperties>
</file>