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23"/>
  </p:handoutMasterIdLst>
  <p:sldIdLst>
    <p:sldId id="256" r:id="rId3"/>
    <p:sldId id="1323" r:id="rId4"/>
    <p:sldId id="1140" r:id="rId6"/>
    <p:sldId id="1201" r:id="rId7"/>
    <p:sldId id="1202" r:id="rId8"/>
    <p:sldId id="1561" r:id="rId9"/>
    <p:sldId id="1309" r:id="rId10"/>
    <p:sldId id="1310" r:id="rId11"/>
    <p:sldId id="1587" r:id="rId12"/>
    <p:sldId id="1311" r:id="rId13"/>
    <p:sldId id="1312" r:id="rId14"/>
    <p:sldId id="1638" r:id="rId15"/>
    <p:sldId id="1640" r:id="rId16"/>
    <p:sldId id="1641" r:id="rId17"/>
    <p:sldId id="1642" r:id="rId18"/>
    <p:sldId id="1313" r:id="rId19"/>
    <p:sldId id="1314" r:id="rId20"/>
    <p:sldId id="1588" r:id="rId21"/>
    <p:sldId id="1639" r:id="rId22"/>
  </p:sldIdLst>
  <p:sldSz cx="9144000" cy="5143500" type="screen16x9"/>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55" userDrawn="1">
          <p15:clr>
            <a:srgbClr val="A4A3A4"/>
          </p15:clr>
        </p15:guide>
        <p15:guide id="2" pos="29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41C"/>
    <a:srgbClr val="D70B19"/>
    <a:srgbClr val="E98514"/>
    <a:srgbClr val="F8C71E"/>
    <a:srgbClr val="FFCC66"/>
    <a:srgbClr val="E47112"/>
    <a:srgbClr val="E26313"/>
    <a:srgbClr val="DE451B"/>
    <a:srgbClr val="FEF2E8"/>
    <a:srgbClr val="F8C4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20" autoAdjust="0"/>
    <p:restoredTop sz="96387" autoAdjust="0"/>
  </p:normalViewPr>
  <p:slideViewPr>
    <p:cSldViewPr showGuides="1">
      <p:cViewPr>
        <p:scale>
          <a:sx n="171" d="100"/>
          <a:sy n="171" d="100"/>
        </p:scale>
        <p:origin x="-114" y="84"/>
      </p:cViewPr>
      <p:guideLst>
        <p:guide orient="horz" pos="1655"/>
        <p:guide pos="2918"/>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54" d="100"/>
          <a:sy n="54" d="100"/>
        </p:scale>
        <p:origin x="-2916" y="-84"/>
      </p:cViewPr>
      <p:guideLst>
        <p:guide orient="horz" pos="2942"/>
        <p:guide pos="2189"/>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9.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2DBDD07-6F6D-4603-B993-2EE57CB1F535}" type="datetime1">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0D3A3D2-A08A-443A-87A4-DFAD31844A4A}"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9868D5-8953-41E7-8A32-EB0237F5B587}" type="datetime1">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7CBCF6-835A-4ED0-82B6-6F203D6FCFFA}"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fld id="{C29868D5-8953-41E7-8A32-EB0237F5B587}" type="datetime1">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
        <p:nvSpPr>
          <p:cNvPr id="6" name="灯片编号占位符 5"/>
          <p:cNvSpPr>
            <a:spLocks noGrp="1"/>
          </p:cNvSpPr>
          <p:nvPr>
            <p:ph type="sldNum" sz="quarter" idx="5"/>
          </p:nvPr>
        </p:nvSpPr>
        <p:spPr/>
        <p:txBody>
          <a:bodyPr/>
          <a:lstStyle/>
          <a:p>
            <a:fld id="{A47CBCF6-835A-4ED0-82B6-6F203D6FCFF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0"/>
          </p:nvPr>
        </p:nvSpPr>
        <p:spPr/>
        <p:txBody>
          <a:bodyPr/>
          <a:lstStyle/>
          <a:p>
            <a:fld id="{F3DE42AB-32A4-4739-AA6E-F4612D3670B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0"/>
          </p:nvPr>
        </p:nvSpPr>
        <p:spPr/>
        <p:txBody>
          <a:bodyPr/>
          <a:lstStyle/>
          <a:p>
            <a:fld id="{F3DE42AB-32A4-4739-AA6E-F4612D3670B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0"/>
          </p:nvPr>
        </p:nvSpPr>
        <p:spPr/>
        <p:txBody>
          <a:bodyPr/>
          <a:lstStyle/>
          <a:p>
            <a:fld id="{F3DE42AB-32A4-4739-AA6E-F4612D3670B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0"/>
          </p:nvPr>
        </p:nvSpPr>
        <p:spPr/>
        <p:txBody>
          <a:bodyPr/>
          <a:lstStyle/>
          <a:p>
            <a:fld id="{F3DE42AB-32A4-4739-AA6E-F4612D3670B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0"/>
          </p:nvPr>
        </p:nvSpPr>
        <p:spPr/>
        <p:txBody>
          <a:bodyPr/>
          <a:lstStyle/>
          <a:p>
            <a:fld id="{F3DE42AB-32A4-4739-AA6E-F4612D3670B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9" name="TextBox 8"/>
          <p:cNvSpPr txBox="1"/>
          <p:nvPr userDrawn="1"/>
        </p:nvSpPr>
        <p:spPr>
          <a:xfrm>
            <a:off x="107504" y="4818196"/>
            <a:ext cx="1440160" cy="307777"/>
          </a:xfrm>
          <a:prstGeom prst="rect">
            <a:avLst/>
          </a:prstGeom>
          <a:noFill/>
        </p:spPr>
        <p:txBody>
          <a:bodyPr wrap="square" rtlCol="0">
            <a:spAutoFit/>
          </a:bodyPr>
          <a:lstStyle/>
          <a:p>
            <a:fld id="{48E45BA6-F109-4A32-83D3-ED6708ADD040}" type="datetime1">
              <a:rPr lang="zh-CN" altLang="en-US" sz="1400" smtClean="0">
                <a:solidFill>
                  <a:schemeClr val="bg1"/>
                </a:solidFill>
              </a:rPr>
            </a:fld>
            <a:endParaRPr lang="zh-CN" altLang="en-US" sz="1400" dirty="0">
              <a:solidFill>
                <a:schemeClr val="bg1"/>
              </a:solidFill>
            </a:endParaRPr>
          </a:p>
        </p:txBody>
      </p:sp>
      <p:sp>
        <p:nvSpPr>
          <p:cNvPr id="10" name="TextBox 9"/>
          <p:cNvSpPr txBox="1"/>
          <p:nvPr userDrawn="1"/>
        </p:nvSpPr>
        <p:spPr>
          <a:xfrm>
            <a:off x="8100392" y="4856261"/>
            <a:ext cx="936104" cy="276999"/>
          </a:xfrm>
          <a:prstGeom prst="rect">
            <a:avLst/>
          </a:prstGeom>
          <a:noFill/>
        </p:spPr>
        <p:txBody>
          <a:bodyPr wrap="square" rtlCol="0">
            <a:spAutoFit/>
          </a:bodyPr>
          <a:lstStyle/>
          <a:p>
            <a:pPr algn="r"/>
            <a:fld id="{1F9BFA7C-AE17-4BCF-B7C5-EC8A3D027A39}" type="slidenum">
              <a:rPr lang="zh-CN" altLang="en-US" sz="1200" smtClean="0">
                <a:solidFill>
                  <a:schemeClr val="bg1"/>
                </a:solidFill>
              </a:rPr>
            </a:fld>
            <a:endParaRPr lang="zh-CN" altLang="en-US" sz="1200" dirty="0">
              <a:solidFill>
                <a:schemeClr val="bg1"/>
              </a:solidFill>
            </a:endParaRPr>
          </a:p>
        </p:txBody>
      </p:sp>
      <p:sp>
        <p:nvSpPr>
          <p:cNvPr id="2" name="日期占位符 1"/>
          <p:cNvSpPr>
            <a:spLocks noGrp="1"/>
          </p:cNvSpPr>
          <p:nvPr>
            <p:ph type="dt" sz="half" idx="10"/>
          </p:nvPr>
        </p:nvSpPr>
        <p:spPr/>
        <p:txBody>
          <a:bodyPr/>
          <a:lstStyle/>
          <a:p>
            <a:fld id="{988541EC-97D6-441E-ABF7-7D2B7F6B444A}" type="datetime1">
              <a:rPr lang="zh-CN" altLang="en-US" smtClean="0"/>
            </a:fld>
            <a:endParaRPr lang="zh-CN" altLang="en-US" dirty="0"/>
          </a:p>
        </p:txBody>
      </p:sp>
      <p:sp>
        <p:nvSpPr>
          <p:cNvPr id="3" name="灯片编号占位符 2"/>
          <p:cNvSpPr>
            <a:spLocks noGrp="1"/>
          </p:cNvSpPr>
          <p:nvPr>
            <p:ph type="sldNum" sz="quarter" idx="11"/>
          </p:nvPr>
        </p:nvSpPr>
        <p:spPr/>
        <p:txBody>
          <a:bodyPr/>
          <a:lstStyle/>
          <a:p>
            <a:fld id="{0C913308-F349-4B6D-A68A-DD1791B4A57B}"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4808" y="346348"/>
            <a:ext cx="7005464" cy="78524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21196" y="1347614"/>
            <a:ext cx="8301608" cy="332246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4"/>
          </p:nvPr>
        </p:nvSpPr>
        <p:spPr>
          <a:xfrm>
            <a:off x="8604448" y="4803998"/>
            <a:ext cx="511967" cy="273844"/>
          </a:xfrm>
          <a:prstGeom prst="rect">
            <a:avLst/>
          </a:prstGeom>
        </p:spPr>
        <p:txBody>
          <a:bodyPr vert="horz" lIns="91440" tIns="45720" rIns="91440" bIns="45720" rtlCol="0" anchor="ctr"/>
          <a:lstStyle>
            <a:lvl1pPr algn="r">
              <a:defRPr sz="1400" b="1">
                <a:solidFill>
                  <a:schemeClr val="bg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defRPr>
            </a:lvl1pPr>
          </a:lstStyle>
          <a:p>
            <a:fld id="{0C913308-F349-4B6D-A68A-DD1791B4A57B}" type="slidenum">
              <a:rPr lang="zh-CN" altLang="en-US" smtClean="0"/>
            </a:fld>
            <a:endParaRPr lang="zh-CN" altLang="en-US" dirty="0"/>
          </a:p>
        </p:txBody>
      </p:sp>
      <p:sp>
        <p:nvSpPr>
          <p:cNvPr id="8" name="日期占位符 1"/>
          <p:cNvSpPr>
            <a:spLocks noGrp="1"/>
          </p:cNvSpPr>
          <p:nvPr>
            <p:ph type="dt" sz="half" idx="2"/>
          </p:nvPr>
        </p:nvSpPr>
        <p:spPr>
          <a:xfrm>
            <a:off x="179512" y="4803998"/>
            <a:ext cx="1008112" cy="267494"/>
          </a:xfrm>
          <a:prstGeom prst="rect">
            <a:avLst/>
          </a:prstGeom>
        </p:spPr>
        <p:txBody>
          <a:bodyPr/>
          <a:lstStyle>
            <a:lvl1pPr>
              <a:defRPr sz="1400" b="1" i="0">
                <a:solidFill>
                  <a:schemeClr val="bg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defRPr>
            </a:lvl1pPr>
          </a:lstStyle>
          <a:p>
            <a:fld id="{988541EC-97D6-441E-ABF7-7D2B7F6B444A}" type="datetime1">
              <a:rPr lang="zh-CN" altLang="en-US" smtClean="0"/>
            </a:fld>
            <a:endParaRPr lang="zh-CN" altLang="en-US" dirty="0"/>
          </a:p>
        </p:txBody>
      </p:sp>
      <p:cxnSp>
        <p:nvCxnSpPr>
          <p:cNvPr id="5" name="直接连接符 4"/>
          <p:cNvCxnSpPr/>
          <p:nvPr userDrawn="1"/>
        </p:nvCxnSpPr>
        <p:spPr>
          <a:xfrm>
            <a:off x="0" y="355425"/>
            <a:ext cx="6933456" cy="0"/>
          </a:xfrm>
          <a:prstGeom prst="line">
            <a:avLst/>
          </a:prstGeom>
        </p:spPr>
        <p:style>
          <a:lnRef idx="1">
            <a:schemeClr val="accent6"/>
          </a:lnRef>
          <a:fillRef idx="0">
            <a:schemeClr val="accent6"/>
          </a:fillRef>
          <a:effectRef idx="0">
            <a:schemeClr val="accent6"/>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hf sldNum="0"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2.png"/><Relationship Id="rId15" Type="http://schemas.openxmlformats.org/officeDocument/2006/relationships/slideLayout" Target="../slideLayouts/slideLayout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6874" y="1481902"/>
            <a:ext cx="8404860" cy="1198880"/>
          </a:xfrm>
          <a:prstGeom prst="rect">
            <a:avLst/>
          </a:prstGeom>
          <a:noFill/>
        </p:spPr>
        <p:txBody>
          <a:bodyPr wrap="square" rtlCol="0" anchor="ctr" anchorCtr="0">
            <a:spAutoFit/>
          </a:bodyPr>
          <a:lstStyle/>
          <a:p>
            <a:pPr algn="ctr"/>
            <a:r>
              <a:rPr lang="zh-CN" altLang="en-US" sz="3600" b="1" dirty="0">
                <a:solidFill>
                  <a:schemeClr val="tx2">
                    <a:lumMod val="50000"/>
                  </a:schemeClr>
                </a:solidFill>
                <a:latin typeface="+mn-ea"/>
              </a:rPr>
              <a:t>中原龙浩航空</a:t>
            </a:r>
            <a:endParaRPr lang="en-US" altLang="zh-CN" sz="3600" b="1" dirty="0">
              <a:solidFill>
                <a:schemeClr val="tx2">
                  <a:lumMod val="50000"/>
                </a:schemeClr>
              </a:solidFill>
              <a:latin typeface="+mn-ea"/>
              <a:sym typeface="+mn-ea"/>
            </a:endParaRPr>
          </a:p>
          <a:p>
            <a:pPr algn="ctr"/>
            <a:r>
              <a:rPr lang="zh-CN" altLang="en-US" sz="3600" b="1" dirty="0">
                <a:solidFill>
                  <a:schemeClr val="tx2">
                    <a:lumMod val="50000"/>
                  </a:schemeClr>
                </a:solidFill>
                <a:latin typeface="+mn-ea"/>
                <a:sym typeface="+mn-ea"/>
              </a:rPr>
              <a:t>郑州</a:t>
            </a:r>
            <a:r>
              <a:rPr lang="en-US" altLang="zh-CN" sz="3600" b="1" dirty="0">
                <a:solidFill>
                  <a:schemeClr val="tx2">
                    <a:lumMod val="50000"/>
                  </a:schemeClr>
                </a:solidFill>
                <a:latin typeface="+mn-ea"/>
                <a:sym typeface="+mn-ea"/>
              </a:rPr>
              <a:t>=</a:t>
            </a:r>
            <a:r>
              <a:rPr lang="zh-CN" altLang="en-US" sz="3600" b="1" dirty="0">
                <a:solidFill>
                  <a:schemeClr val="tx2">
                    <a:lumMod val="50000"/>
                  </a:schemeClr>
                </a:solidFill>
                <a:latin typeface="+mn-ea"/>
                <a:sym typeface="+mn-ea"/>
              </a:rPr>
              <a:t>列日新增备降机场培训</a:t>
            </a:r>
            <a:endParaRPr lang="en-US" altLang="zh-CN" sz="3600" b="1" dirty="0">
              <a:solidFill>
                <a:schemeClr val="tx2">
                  <a:lumMod val="50000"/>
                </a:schemeClr>
              </a:solidFill>
              <a:latin typeface="+mn-ea"/>
              <a:sym typeface="+mn-ea"/>
            </a:endParaRPr>
          </a:p>
        </p:txBody>
      </p:sp>
      <p:sp>
        <p:nvSpPr>
          <p:cNvPr id="4" name="TextBox 3"/>
          <p:cNvSpPr txBox="1"/>
          <p:nvPr/>
        </p:nvSpPr>
        <p:spPr>
          <a:xfrm>
            <a:off x="6729945" y="3363838"/>
            <a:ext cx="2068195" cy="706755"/>
          </a:xfrm>
          <a:prstGeom prst="rect">
            <a:avLst/>
          </a:prstGeom>
          <a:noFill/>
        </p:spPr>
        <p:txBody>
          <a:bodyPr wrap="square" rtlCol="0">
            <a:spAutoFit/>
          </a:bodyPr>
          <a:lstStyle/>
          <a:p>
            <a:pPr algn="ctr"/>
            <a:r>
              <a:rPr lang="zh-CN" altLang="en-US" sz="2000" dirty="0">
                <a:solidFill>
                  <a:schemeClr val="tx2">
                    <a:lumMod val="50000"/>
                  </a:schemeClr>
                </a:solidFill>
              </a:rPr>
              <a:t>运行控制部  </a:t>
            </a:r>
            <a:endParaRPr lang="zh-CN" altLang="en-US" sz="2000" dirty="0">
              <a:solidFill>
                <a:schemeClr val="tx2">
                  <a:lumMod val="50000"/>
                </a:schemeClr>
              </a:solidFill>
            </a:endParaRPr>
          </a:p>
          <a:p>
            <a:pPr algn="ctr"/>
            <a:fld id="{BB962C8B-B14F-4D97-AF65-F5344CB8AC3E}" type="datetime2">
              <a:rPr lang="zh-CN" altLang="en-US" sz="2000" dirty="0">
                <a:solidFill>
                  <a:schemeClr val="tx2">
                    <a:lumMod val="50000"/>
                  </a:schemeClr>
                </a:solidFill>
              </a:rPr>
            </a:fld>
            <a:endParaRPr lang="zh-CN" altLang="en-US" sz="2000" dirty="0">
              <a:solidFill>
                <a:schemeClr val="tx2">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9723" y="1018054"/>
            <a:ext cx="8280920" cy="3107690"/>
          </a:xfrm>
          <a:prstGeom prst="rect">
            <a:avLst/>
          </a:prstGeom>
          <a:noFill/>
        </p:spPr>
        <p:txBody>
          <a:bodyPr wrap="square">
            <a:spAutoFit/>
          </a:bodyPr>
          <a:lstStyle/>
          <a:p>
            <a:pPr algn="l"/>
            <a:r>
              <a:rPr lang="zh-CN" altLang="en-US" sz="1200" b="1" dirty="0">
                <a:latin typeface="微软雅黑" panose="020B0503020204020204" charset="-122"/>
                <a:ea typeface="微软雅黑" panose="020B0503020204020204" charset="-122"/>
              </a:rPr>
              <a:t>郑州</a:t>
            </a:r>
            <a:r>
              <a:rPr lang="en-US" altLang="zh-CN" sz="1200" b="1" dirty="0">
                <a:latin typeface="微软雅黑" panose="020B0503020204020204" charset="-122"/>
                <a:ea typeface="微软雅黑" panose="020B0503020204020204" charset="-122"/>
              </a:rPr>
              <a:t>=</a:t>
            </a:r>
            <a:r>
              <a:rPr lang="zh-CN" altLang="en-US" sz="1200" b="1" dirty="0">
                <a:latin typeface="微软雅黑" panose="020B0503020204020204" charset="-122"/>
                <a:ea typeface="微软雅黑" panose="020B0503020204020204" charset="-122"/>
              </a:rPr>
              <a:t>列日航线涉及新增备降机场 、加油机场如下：</a:t>
            </a:r>
            <a:endParaRPr lang="en-US" altLang="zh-CN" sz="1200" b="1" dirty="0">
              <a:latin typeface="微软雅黑" panose="020B0503020204020204" charset="-122"/>
              <a:ea typeface="微软雅黑" panose="020B0503020204020204" charset="-122"/>
            </a:endParaRPr>
          </a:p>
          <a:p>
            <a:pPr algn="l"/>
            <a:endParaRPr lang="en-US" altLang="zh-CN" sz="1200" b="1" dirty="0">
              <a:latin typeface="微软雅黑" panose="020B0503020204020204" charset="-122"/>
              <a:ea typeface="微软雅黑" panose="020B0503020204020204" charset="-122"/>
            </a:endParaRPr>
          </a:p>
          <a:p>
            <a:pPr algn="l"/>
            <a:endParaRPr lang="en-US" altLang="zh-CN" sz="1200" dirty="0">
              <a:latin typeface="微软雅黑" panose="020B0503020204020204" charset="-122"/>
              <a:ea typeface="微软雅黑" panose="020B0503020204020204" charset="-122"/>
            </a:endParaRPr>
          </a:p>
          <a:p>
            <a:pPr algn="l"/>
            <a:r>
              <a:rPr lang="zh-CN" altLang="en-US" sz="1200" b="1" dirty="0">
                <a:latin typeface="微软雅黑" panose="020B0503020204020204" charset="-122"/>
                <a:ea typeface="微软雅黑" panose="020B0503020204020204" charset="-122"/>
              </a:rPr>
              <a:t>新增目的地备降机场（</a:t>
            </a:r>
            <a:r>
              <a:rPr lang="en-US" altLang="zh-CN" sz="1200" b="1" dirty="0">
                <a:latin typeface="微软雅黑" panose="020B0503020204020204" charset="-122"/>
                <a:ea typeface="微软雅黑" panose="020B0503020204020204" charset="-122"/>
              </a:rPr>
              <a:t>F/A</a:t>
            </a:r>
            <a:r>
              <a:rPr lang="zh-CN" altLang="en-US" sz="1200" b="1"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a:t>
            </a:r>
            <a:endParaRPr lang="zh-CN" altLang="en-US" sz="1200" dirty="0">
              <a:latin typeface="微软雅黑" panose="020B0503020204020204" charset="-122"/>
              <a:ea typeface="微软雅黑" panose="020B0503020204020204" charset="-122"/>
            </a:endParaRPr>
          </a:p>
          <a:p>
            <a:pPr algn="l"/>
            <a:endParaRPr sz="1200" dirty="0">
              <a:latin typeface="微软雅黑" panose="020B0503020204020204" charset="-122"/>
              <a:ea typeface="微软雅黑" panose="020B0503020204020204" charset="-122"/>
            </a:endParaRPr>
          </a:p>
          <a:p>
            <a:pPr algn="l"/>
            <a:r>
              <a:rPr sz="1200" dirty="0">
                <a:latin typeface="微软雅黑" panose="020B0503020204020204" charset="-122"/>
                <a:ea typeface="微软雅黑" panose="020B0503020204020204" charset="-122"/>
                <a:sym typeface="+mn-ea"/>
              </a:rPr>
              <a:t>ED</a:t>
            </a:r>
            <a:r>
              <a:rPr lang="en-US" sz="1200" dirty="0">
                <a:latin typeface="微软雅黑" panose="020B0503020204020204" charset="-122"/>
                <a:ea typeface="微软雅黑" panose="020B0503020204020204" charset="-122"/>
                <a:sym typeface="+mn-ea"/>
              </a:rPr>
              <a:t>FH</a:t>
            </a:r>
            <a:r>
              <a:rPr sz="1200" dirty="0">
                <a:latin typeface="微软雅黑" panose="020B0503020204020204" charset="-122"/>
                <a:ea typeface="微软雅黑" panose="020B0503020204020204" charset="-122"/>
                <a:sym typeface="+mn-ea"/>
              </a:rPr>
              <a:t>(</a:t>
            </a:r>
            <a:r>
              <a:rPr sz="1200" dirty="0">
                <a:latin typeface="微软雅黑" panose="020B0503020204020204" charset="-122"/>
                <a:ea typeface="微软雅黑" panose="020B0503020204020204" charset="-122"/>
              </a:rPr>
              <a:t>法兰克福</a:t>
            </a:r>
            <a:r>
              <a:rPr lang="zh-CN" sz="1200" dirty="0">
                <a:latin typeface="微软雅黑" panose="020B0503020204020204" charset="-122"/>
                <a:ea typeface="微软雅黑" panose="020B0503020204020204" charset="-122"/>
              </a:rPr>
              <a:t>哈恩</a:t>
            </a:r>
            <a:r>
              <a:rPr sz="1200" dirty="0">
                <a:latin typeface="微软雅黑" panose="020B0503020204020204" charset="-122"/>
                <a:ea typeface="微软雅黑" panose="020B0503020204020204" charset="-122"/>
              </a:rPr>
              <a:t>机场)</a:t>
            </a:r>
            <a:endParaRPr sz="1200" dirty="0">
              <a:latin typeface="微软雅黑" panose="020B0503020204020204" charset="-122"/>
              <a:ea typeface="微软雅黑" panose="020B0503020204020204" charset="-122"/>
            </a:endParaRPr>
          </a:p>
          <a:p>
            <a:pPr algn="l"/>
            <a:endParaRPr lang="zh-CN" altLang="en-US" sz="1200" dirty="0">
              <a:latin typeface="微软雅黑" panose="020B0503020204020204" charset="-122"/>
              <a:ea typeface="微软雅黑" panose="020B0503020204020204" charset="-122"/>
            </a:endParaRPr>
          </a:p>
          <a:p>
            <a:pPr algn="l"/>
            <a:r>
              <a:rPr lang="zh-CN" altLang="en-US" sz="1200" b="1" dirty="0">
                <a:latin typeface="微软雅黑" panose="020B0503020204020204" charset="-122"/>
                <a:ea typeface="微软雅黑" panose="020B0503020204020204" charset="-122"/>
              </a:rPr>
              <a:t>新增初始目的地机场（</a:t>
            </a:r>
            <a:r>
              <a:rPr lang="en-US" altLang="zh-CN" sz="1200" b="1" dirty="0">
                <a:latin typeface="微软雅黑" panose="020B0503020204020204" charset="-122"/>
                <a:ea typeface="微软雅黑" panose="020B0503020204020204" charset="-122"/>
              </a:rPr>
              <a:t>F/A)</a:t>
            </a:r>
            <a:r>
              <a:rPr lang="zh-CN" altLang="en-US" sz="1200" b="1" dirty="0">
                <a:latin typeface="微软雅黑" panose="020B0503020204020204" charset="-122"/>
                <a:ea typeface="微软雅黑" panose="020B0503020204020204" charset="-122"/>
              </a:rPr>
              <a:t>：</a:t>
            </a:r>
            <a:endParaRPr lang="zh-CN" altLang="en-US" sz="1200" b="1" dirty="0">
              <a:latin typeface="微软雅黑" panose="020B0503020204020204" charset="-122"/>
              <a:ea typeface="微软雅黑" panose="020B0503020204020204" charset="-122"/>
            </a:endParaRPr>
          </a:p>
          <a:p>
            <a:pPr algn="l"/>
            <a:endParaRPr lang="zh-CN" altLang="en-US" sz="1200" b="1" dirty="0">
              <a:latin typeface="微软雅黑" panose="020B0503020204020204" charset="-122"/>
              <a:ea typeface="微软雅黑" panose="020B0503020204020204" charset="-122"/>
            </a:endParaRPr>
          </a:p>
          <a:p>
            <a:pPr algn="l"/>
            <a:r>
              <a:rPr lang="zh-CN" altLang="en-US" sz="1200" dirty="0">
                <a:latin typeface="微软雅黑" panose="020B0503020204020204" charset="-122"/>
                <a:ea typeface="微软雅黑" panose="020B0503020204020204" charset="-122"/>
              </a:rPr>
              <a:t>瑞典：</a:t>
            </a:r>
            <a:r>
              <a:rPr lang="en-US" altLang="zh-CN" sz="1200" dirty="0">
                <a:latin typeface="微软雅黑" panose="020B0503020204020204" charset="-122"/>
                <a:ea typeface="微软雅黑" panose="020B0503020204020204" charset="-122"/>
              </a:rPr>
              <a:t>ESMS(</a:t>
            </a:r>
            <a:r>
              <a:rPr lang="zh-CN" altLang="en-US" sz="1200" dirty="0">
                <a:latin typeface="微软雅黑" panose="020B0503020204020204" charset="-122"/>
                <a:ea typeface="微软雅黑" panose="020B0503020204020204" charset="-122"/>
              </a:rPr>
              <a:t>马尔默</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a:t>
            </a:r>
            <a:r>
              <a:rPr lang="en-US" altLang="zh-CN" sz="1200" dirty="0">
                <a:latin typeface="微软雅黑" panose="020B0503020204020204" charset="-122"/>
                <a:ea typeface="微软雅黑" panose="020B0503020204020204" charset="-122"/>
              </a:rPr>
              <a:t>ESSA(</a:t>
            </a:r>
            <a:r>
              <a:rPr lang="zh-CN" altLang="en-US" sz="1200" dirty="0">
                <a:latin typeface="微软雅黑" panose="020B0503020204020204" charset="-122"/>
                <a:ea typeface="微软雅黑" panose="020B0503020204020204" charset="-122"/>
              </a:rPr>
              <a:t>斯德哥尔摩阿兰达</a:t>
            </a:r>
            <a:r>
              <a:rPr lang="en-US" altLang="zh-CN" sz="1200" dirty="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a:p>
            <a:pPr algn="l"/>
            <a:r>
              <a:rPr lang="zh-CN" altLang="en-US" sz="1200" dirty="0">
                <a:latin typeface="微软雅黑" panose="020B0503020204020204" charset="-122"/>
                <a:ea typeface="微软雅黑" panose="020B0503020204020204" charset="-122"/>
              </a:rPr>
              <a:t>德国：</a:t>
            </a:r>
            <a:r>
              <a:rPr lang="en-US" altLang="zh-CN" sz="1200" dirty="0">
                <a:latin typeface="微软雅黑" panose="020B0503020204020204" charset="-122"/>
                <a:ea typeface="微软雅黑" panose="020B0503020204020204" charset="-122"/>
              </a:rPr>
              <a:t>EDDV(</a:t>
            </a:r>
            <a:r>
              <a:rPr lang="zh-CN" altLang="en-US" sz="1200" dirty="0">
                <a:latin typeface="微软雅黑" panose="020B0503020204020204" charset="-122"/>
                <a:ea typeface="微软雅黑" panose="020B0503020204020204" charset="-122"/>
              </a:rPr>
              <a:t>汉诺威</a:t>
            </a:r>
            <a:r>
              <a:rPr lang="en-US" altLang="zh-CN" sz="1200" dirty="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a:p>
            <a:pPr algn="l"/>
            <a:r>
              <a:rPr lang="zh-CN" altLang="en-US" sz="1200" dirty="0">
                <a:latin typeface="微软雅黑" panose="020B0503020204020204" charset="-122"/>
                <a:ea typeface="微软雅黑" panose="020B0503020204020204" charset="-122"/>
              </a:rPr>
              <a:t>荷兰：</a:t>
            </a:r>
            <a:r>
              <a:rPr lang="en-US" altLang="zh-CN" sz="1200" dirty="0">
                <a:latin typeface="微软雅黑" panose="020B0503020204020204" charset="-122"/>
                <a:ea typeface="微软雅黑" panose="020B0503020204020204" charset="-122"/>
              </a:rPr>
              <a:t>EHAM</a:t>
            </a:r>
            <a:r>
              <a:rPr lang="zh-CN" altLang="en-US" sz="1200" dirty="0">
                <a:latin typeface="微软雅黑" panose="020B0503020204020204" charset="-122"/>
                <a:ea typeface="微软雅黑" panose="020B0503020204020204" charset="-122"/>
              </a:rPr>
              <a:t>（阿姆斯特丹）</a:t>
            </a:r>
            <a:endParaRPr lang="zh-CN" altLang="en-US" sz="1200" b="1" dirty="0">
              <a:latin typeface="微软雅黑" panose="020B0503020204020204" charset="-122"/>
              <a:ea typeface="微软雅黑" panose="020B0503020204020204" charset="-122"/>
            </a:endParaRPr>
          </a:p>
          <a:p>
            <a:pPr algn="l"/>
            <a:endParaRPr lang="zh-CN" altLang="en-US" sz="1200" b="1" dirty="0">
              <a:latin typeface="微软雅黑" panose="020B0503020204020204" charset="-122"/>
              <a:ea typeface="微软雅黑" panose="020B0503020204020204" charset="-122"/>
            </a:endParaRPr>
          </a:p>
          <a:p>
            <a:br>
              <a:rPr lang="zh-CN" altLang="en-US" sz="2000" b="0" i="0" dirty="0">
                <a:solidFill>
                  <a:srgbClr val="000000"/>
                </a:solidFill>
                <a:effectLst/>
                <a:latin typeface="lucida Grande"/>
              </a:rPr>
            </a:br>
            <a:endParaRPr lang="zh-CN"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7474" y="483518"/>
            <a:ext cx="4145280" cy="460375"/>
          </a:xfrm>
          <a:prstGeom prst="rect">
            <a:avLst/>
          </a:prstGeom>
          <a:noFill/>
        </p:spPr>
        <p:txBody>
          <a:bodyPr wrap="none" rtlCol="0" anchor="t">
            <a:spAutoFit/>
          </a:bodyPr>
          <a:lstStyle/>
          <a:p>
            <a:pPr lvl="0" algn="ctr"/>
            <a:r>
              <a:rPr lang="zh-CN" altLang="en-US" sz="2400" b="1" dirty="0">
                <a:latin typeface="微软雅黑" panose="020B0503020204020204" charset="-122"/>
                <a:ea typeface="微软雅黑" panose="020B0503020204020204" charset="-122"/>
                <a:sym typeface="+mn-ea"/>
              </a:rPr>
              <a:t>目的地备降场及加油机场分布</a:t>
            </a:r>
            <a:endParaRPr lang="zh-CN" altLang="en-US" sz="2400" b="1" dirty="0">
              <a:latin typeface="微软雅黑" panose="020B0503020204020204" charset="-122"/>
              <a:ea typeface="微软雅黑" panose="020B0503020204020204" charset="-122"/>
              <a:sym typeface="+mn-ea"/>
            </a:endParaRPr>
          </a:p>
        </p:txBody>
      </p:sp>
      <p:graphicFrame>
        <p:nvGraphicFramePr>
          <p:cNvPr id="5" name="表格 4"/>
          <p:cNvGraphicFramePr>
            <a:graphicFrameLocks noGrp="1"/>
          </p:cNvGraphicFramePr>
          <p:nvPr>
            <p:custDataLst>
              <p:tags r:id="rId1"/>
            </p:custDataLst>
          </p:nvPr>
        </p:nvGraphicFramePr>
        <p:xfrm>
          <a:off x="683260" y="1118870"/>
          <a:ext cx="2964180" cy="3422650"/>
        </p:xfrm>
        <a:graphic>
          <a:graphicData uri="http://schemas.openxmlformats.org/drawingml/2006/table">
            <a:tbl>
              <a:tblPr firstRow="1" firstCol="1" bandRow="1">
                <a:tableStyleId>{93296810-A885-4BE3-A3E7-6D5BEEA58F35}</a:tableStyleId>
              </a:tblPr>
              <a:tblGrid>
                <a:gridCol w="755015"/>
                <a:gridCol w="1106170"/>
                <a:gridCol w="1102995"/>
              </a:tblGrid>
              <a:tr h="854710">
                <a:tc>
                  <a:txBody>
                    <a:bodyPr/>
                    <a:lstStyle/>
                    <a:p>
                      <a:pPr algn="ctr">
                        <a:spcAft>
                          <a:spcPts val="0"/>
                        </a:spcAft>
                      </a:pPr>
                      <a:r>
                        <a:rPr lang="zh-CN" altLang="en-US" sz="1200" kern="100" dirty="0">
                          <a:effectLst>
                            <a:outerShdw blurRad="38100" dist="38100" dir="2700000" algn="tl">
                              <a:srgbClr val="000000">
                                <a:alpha val="43137"/>
                              </a:srgbClr>
                            </a:outerShdw>
                          </a:effectLst>
                        </a:rPr>
                        <a:t>目的</a:t>
                      </a:r>
                      <a:r>
                        <a:rPr lang="zh-CN" sz="1200" kern="100" dirty="0">
                          <a:effectLst>
                            <a:outerShdw blurRad="38100" dist="38100" dir="2700000" algn="tl">
                              <a:srgbClr val="000000">
                                <a:alpha val="43137"/>
                              </a:srgbClr>
                            </a:outerShdw>
                          </a:effectLst>
                        </a:rPr>
                        <a:t>机场</a:t>
                      </a:r>
                      <a:endParaRPr lang="zh-CN" sz="1200" kern="100" dirty="0">
                        <a:effectLst>
                          <a:outerShdw blurRad="38100" dist="38100" dir="2700000" algn="tl">
                            <a:srgbClr val="000000">
                              <a:alpha val="43137"/>
                            </a:srgbClr>
                          </a:outerShdw>
                        </a:effectLst>
                        <a:latin typeface="+mn-ea"/>
                        <a:ea typeface="+mn-ea"/>
                      </a:endParaRPr>
                    </a:p>
                  </a:txBody>
                  <a:tcPr marL="0" marR="0" marT="0" marB="0" anchor="ctr"/>
                </a:tc>
                <a:tc>
                  <a:txBody>
                    <a:bodyPr/>
                    <a:lstStyle/>
                    <a:p>
                      <a:pPr algn="ctr">
                        <a:spcAft>
                          <a:spcPts val="0"/>
                        </a:spcAft>
                      </a:pPr>
                      <a:r>
                        <a:rPr lang="zh-CN" sz="1100" kern="100" dirty="0">
                          <a:effectLst>
                            <a:outerShdw blurRad="38100" dist="38100" dir="2700000" algn="tl">
                              <a:srgbClr val="000000">
                                <a:alpha val="43137"/>
                              </a:srgbClr>
                            </a:outerShdw>
                          </a:effectLst>
                        </a:rPr>
                        <a:t>备降机场</a:t>
                      </a:r>
                      <a:endParaRPr lang="zh-CN" sz="1100" kern="100" dirty="0">
                        <a:effectLst>
                          <a:outerShdw blurRad="38100" dist="38100" dir="2700000" algn="tl">
                            <a:srgbClr val="000000">
                              <a:alpha val="43137"/>
                            </a:srgbClr>
                          </a:outerShdw>
                        </a:effectLst>
                        <a:latin typeface="+mn-ea"/>
                        <a:ea typeface="+mn-ea"/>
                      </a:endParaRPr>
                    </a:p>
                  </a:txBody>
                  <a:tcPr marL="0" marR="0" marT="0" marB="0" anchor="ctr"/>
                </a:tc>
                <a:tc>
                  <a:txBody>
                    <a:bodyPr/>
                    <a:lstStyle/>
                    <a:p>
                      <a:pPr algn="ctr">
                        <a:spcAft>
                          <a:spcPts val="0"/>
                        </a:spcAft>
                        <a:buNone/>
                      </a:pPr>
                      <a:r>
                        <a:rPr lang="zh-CN" altLang="en-US" sz="1100" kern="100" dirty="0">
                          <a:effectLst>
                            <a:outerShdw blurRad="38100" dist="38100" dir="2700000" algn="tl">
                              <a:srgbClr val="000000">
                                <a:alpha val="43137"/>
                              </a:srgbClr>
                            </a:outerShdw>
                          </a:effectLst>
                          <a:latin typeface="+mn-ea"/>
                          <a:ea typeface="+mn-ea"/>
                        </a:rPr>
                        <a:t>初始目的地机场</a:t>
                      </a:r>
                      <a:endParaRPr lang="zh-CN" altLang="en-US" sz="1100" kern="100" dirty="0">
                        <a:effectLst>
                          <a:outerShdw blurRad="38100" dist="38100" dir="2700000" algn="tl">
                            <a:srgbClr val="000000">
                              <a:alpha val="43137"/>
                            </a:srgbClr>
                          </a:outerShdw>
                        </a:effectLst>
                        <a:latin typeface="+mn-ea"/>
                        <a:ea typeface="+mn-ea"/>
                      </a:endParaRPr>
                    </a:p>
                  </a:txBody>
                  <a:tcPr marL="0" marR="0" marT="0" marB="0" anchor="ctr"/>
                </a:tc>
              </a:tr>
              <a:tr h="487680">
                <a:tc rowSpan="4">
                  <a:txBody>
                    <a:bodyPr/>
                    <a:lstStyle/>
                    <a:p>
                      <a:pPr algn="ctr" fontAlgn="b">
                        <a:spcAft>
                          <a:spcPts val="0"/>
                        </a:spcAft>
                      </a:pPr>
                      <a:r>
                        <a:rPr lang="en-US" altLang="zh-CN" sz="1200" kern="100" dirty="0">
                          <a:effectLst>
                            <a:outerShdw blurRad="38100" dist="38100" dir="2700000" algn="tl">
                              <a:srgbClr val="000000">
                                <a:alpha val="43137"/>
                              </a:srgbClr>
                            </a:outerShdw>
                          </a:effectLst>
                          <a:latin typeface="+mn-ea"/>
                          <a:ea typeface="+mn-ea"/>
                        </a:rPr>
                        <a:t>EBLG</a:t>
                      </a:r>
                      <a:endParaRPr lang="en-US" altLang="zh-CN" sz="1200" kern="100" dirty="0">
                        <a:effectLst>
                          <a:outerShdw blurRad="38100" dist="38100" dir="2700000" algn="tl">
                            <a:srgbClr val="000000">
                              <a:alpha val="43137"/>
                            </a:srgbClr>
                          </a:outerShdw>
                        </a:effectLst>
                        <a:latin typeface="+mn-ea"/>
                        <a:ea typeface="+mn-ea"/>
                      </a:endParaRPr>
                    </a:p>
                  </a:txBody>
                  <a:tcPr marL="0" marR="0" marT="0" marB="0" anchor="ctr"/>
                </a:tc>
                <a:tc>
                  <a:txBody>
                    <a:bodyPr/>
                    <a:lstStyle/>
                    <a:p>
                      <a:pPr marL="0" algn="ctr" defTabSz="914400" rtl="0" eaLnBrk="1" fontAlgn="b" latinLnBrk="0" hangingPunct="1">
                        <a:spcAft>
                          <a:spcPts val="0"/>
                        </a:spcAft>
                        <a:buClrTx/>
                        <a:buSzTx/>
                        <a:buFontTx/>
                      </a:pPr>
                      <a:r>
                        <a:rPr sz="1200" dirty="0">
                          <a:latin typeface="微软雅黑" panose="020B0503020204020204" charset="-122"/>
                          <a:ea typeface="微软雅黑" panose="020B0503020204020204" charset="-122"/>
                          <a:sym typeface="+mn-ea"/>
                        </a:rPr>
                        <a:t>E</a:t>
                      </a:r>
                      <a:r>
                        <a:rPr lang="en-US" sz="1200" dirty="0">
                          <a:latin typeface="微软雅黑" panose="020B0503020204020204" charset="-122"/>
                          <a:ea typeface="微软雅黑" panose="020B0503020204020204" charset="-122"/>
                          <a:sym typeface="+mn-ea"/>
                        </a:rPr>
                        <a:t>DFH</a:t>
                      </a:r>
                      <a:endParaRPr lang="en-US" sz="1200" b="1" kern="0" dirty="0">
                        <a:solidFill>
                          <a:srgbClr val="000000"/>
                        </a:solidFill>
                        <a:effectLst/>
                        <a:latin typeface="微软雅黑" panose="020B0503020204020204" charset="-122"/>
                        <a:ea typeface="微软雅黑" panose="020B0503020204020204" charset="-122"/>
                        <a:cs typeface="Calibri" panose="020F0502020204030204" charset="0"/>
                        <a:sym typeface="+mn-ea"/>
                      </a:endParaRPr>
                    </a:p>
                  </a:txBody>
                  <a:tcPr marL="0" marR="0" marT="0" marB="0" anchor="ctr" anchorCtr="1"/>
                </a:tc>
                <a:tc>
                  <a:txBody>
                    <a:bodyPr/>
                    <a:lstStyle/>
                    <a:p>
                      <a:pPr algn="ctr" fontAlgn="b">
                        <a:spcAft>
                          <a:spcPts val="0"/>
                        </a:spcAft>
                        <a:buClrTx/>
                        <a:buSzTx/>
                        <a:buFontTx/>
                        <a:buNone/>
                      </a:pPr>
                      <a:r>
                        <a:rPr lang="zh-CN" altLang="en-US" sz="1200" dirty="0">
                          <a:latin typeface="微软雅黑" panose="020B0503020204020204" charset="-122"/>
                          <a:ea typeface="微软雅黑" panose="020B0503020204020204" charset="-122"/>
                          <a:sym typeface="+mn-ea"/>
                        </a:rPr>
                        <a:t>E</a:t>
                      </a:r>
                      <a:r>
                        <a:rPr lang="en-US" altLang="zh-CN" sz="1200" dirty="0">
                          <a:latin typeface="微软雅黑" panose="020B0503020204020204" charset="-122"/>
                          <a:ea typeface="微软雅黑" panose="020B0503020204020204" charset="-122"/>
                          <a:sym typeface="+mn-ea"/>
                        </a:rPr>
                        <a:t>SMS</a:t>
                      </a:r>
                      <a:endParaRPr lang="en-US" altLang="zh-CN" sz="1200" b="1" kern="0" dirty="0">
                        <a:effectLst/>
                        <a:latin typeface="微软雅黑" panose="020B0503020204020204" charset="-122"/>
                        <a:ea typeface="微软雅黑" panose="020B0503020204020204" charset="-122"/>
                        <a:sym typeface="+mn-ea"/>
                      </a:endParaRPr>
                    </a:p>
                  </a:txBody>
                  <a:tcPr marL="0" marR="0" marT="0" marB="0" anchor="ctr" anchorCtr="1"/>
                </a:tc>
              </a:tr>
              <a:tr h="404495">
                <a:tc vMerge="1">
                  <a:tcPr marL="0" marR="0" marT="0" marB="0" anchor="ctr"/>
                </a:tc>
                <a:tc>
                  <a:txBody>
                    <a:bodyPr/>
                    <a:lstStyle/>
                    <a:p>
                      <a:pPr marL="0" algn="ctr" defTabSz="914400" rtl="0" eaLnBrk="1" fontAlgn="b" latinLnBrk="0" hangingPunct="1">
                        <a:spcAft>
                          <a:spcPts val="0"/>
                        </a:spcAft>
                        <a:buClrTx/>
                        <a:buSzTx/>
                        <a:buFontTx/>
                      </a:pPr>
                      <a:endParaRPr lang="zh-CN" sz="1200" b="1" kern="0" dirty="0">
                        <a:solidFill>
                          <a:srgbClr val="000000"/>
                        </a:solidFill>
                        <a:effectLst/>
                        <a:latin typeface="Calibri" panose="020F0502020204030204" charset="0"/>
                        <a:ea typeface="宋体" panose="02010600030101010101" pitchFamily="2" charset="-122"/>
                        <a:cs typeface="Calibri" panose="020F0502020204030204" charset="0"/>
                      </a:endParaRPr>
                    </a:p>
                  </a:txBody>
                  <a:tcPr marL="0" marR="0" marT="0" marB="0" anchor="ctr" anchorCtr="1"/>
                </a:tc>
                <a:tc>
                  <a:txBody>
                    <a:bodyPr/>
                    <a:lstStyle/>
                    <a:p>
                      <a:pPr algn="ctr" fontAlgn="b">
                        <a:spcAft>
                          <a:spcPts val="0"/>
                        </a:spcAft>
                        <a:buNone/>
                      </a:pPr>
                      <a:r>
                        <a:rPr lang="zh-CN" altLang="en-US" sz="1200" dirty="0">
                          <a:latin typeface="微软雅黑" panose="020B0503020204020204" charset="-122"/>
                          <a:ea typeface="微软雅黑" panose="020B0503020204020204" charset="-122"/>
                          <a:sym typeface="+mn-ea"/>
                        </a:rPr>
                        <a:t>E</a:t>
                      </a:r>
                      <a:r>
                        <a:rPr lang="en-US" altLang="zh-CN" sz="1200" dirty="0">
                          <a:latin typeface="微软雅黑" panose="020B0503020204020204" charset="-122"/>
                          <a:ea typeface="微软雅黑" panose="020B0503020204020204" charset="-122"/>
                          <a:sym typeface="+mn-ea"/>
                        </a:rPr>
                        <a:t>SSA</a:t>
                      </a:r>
                      <a:endParaRPr lang="en-US" altLang="zh-CN" sz="1200" b="1" kern="100" dirty="0">
                        <a:effectLst/>
                        <a:latin typeface="微软雅黑" panose="020B0503020204020204" charset="-122"/>
                        <a:ea typeface="微软雅黑" panose="020B0503020204020204" charset="-122"/>
                        <a:sym typeface="+mn-ea"/>
                      </a:endParaRPr>
                    </a:p>
                  </a:txBody>
                  <a:tcPr marL="0" marR="0" marT="0" marB="0" anchor="ctr" anchorCtr="1"/>
                </a:tc>
              </a:tr>
              <a:tr h="404495">
                <a:tc vMerge="1">
                  <a:tcPr marL="0" marR="0" marT="0" marB="0" anchor="ctr"/>
                </a:tc>
                <a:tc>
                  <a:txBody>
                    <a:bodyPr/>
                    <a:lstStyle/>
                    <a:p>
                      <a:pPr marL="0" algn="ctr" defTabSz="914400" rtl="0" eaLnBrk="1" fontAlgn="b" latinLnBrk="0" hangingPunct="1">
                        <a:spcAft>
                          <a:spcPts val="0"/>
                        </a:spcAft>
                        <a:buClrTx/>
                        <a:buSzTx/>
                        <a:buFontTx/>
                      </a:pPr>
                      <a:endParaRPr lang="zh-CN" sz="1200" b="1" kern="0" dirty="0">
                        <a:solidFill>
                          <a:srgbClr val="000000"/>
                        </a:solidFill>
                        <a:effectLst/>
                        <a:latin typeface="Calibri" panose="020F0502020204030204" charset="0"/>
                        <a:ea typeface="宋体" panose="02010600030101010101" pitchFamily="2" charset="-122"/>
                        <a:cs typeface="Calibri" panose="020F0502020204030204" charset="0"/>
                      </a:endParaRPr>
                    </a:p>
                  </a:txBody>
                  <a:tcPr marL="0" marR="0" marT="0" marB="0" anchor="ctr" anchorCtr="1"/>
                </a:tc>
                <a:tc>
                  <a:txBody>
                    <a:bodyPr/>
                    <a:lstStyle/>
                    <a:p>
                      <a:pPr algn="ctr" fontAlgn="b">
                        <a:spcAft>
                          <a:spcPts val="0"/>
                        </a:spcAft>
                        <a:buNone/>
                      </a:pPr>
                      <a:r>
                        <a:rPr lang="zh-CN" altLang="en-US" sz="1200" dirty="0">
                          <a:latin typeface="微软雅黑" panose="020B0503020204020204" charset="-122"/>
                          <a:ea typeface="微软雅黑" panose="020B0503020204020204" charset="-122"/>
                          <a:sym typeface="+mn-ea"/>
                        </a:rPr>
                        <a:t>E</a:t>
                      </a:r>
                      <a:r>
                        <a:rPr lang="en-US" altLang="zh-CN" sz="1200" dirty="0">
                          <a:latin typeface="微软雅黑" panose="020B0503020204020204" charset="-122"/>
                          <a:ea typeface="微软雅黑" panose="020B0503020204020204" charset="-122"/>
                          <a:sym typeface="+mn-ea"/>
                        </a:rPr>
                        <a:t>DDV</a:t>
                      </a:r>
                      <a:endParaRPr lang="en-US" altLang="zh-CN" sz="1200" b="1" kern="100" dirty="0">
                        <a:effectLst/>
                        <a:latin typeface="微软雅黑" panose="020B0503020204020204" charset="-122"/>
                        <a:ea typeface="微软雅黑" panose="020B0503020204020204" charset="-122"/>
                        <a:sym typeface="+mn-ea"/>
                      </a:endParaRPr>
                    </a:p>
                  </a:txBody>
                  <a:tcPr marL="0" marR="0" marT="0" marB="0" anchor="ctr" anchorCtr="1"/>
                </a:tc>
              </a:tr>
              <a:tr h="403860">
                <a:tc vMerge="1">
                  <a:tcPr marL="0" marR="0" marT="0" marB="0" anchor="ctr"/>
                </a:tc>
                <a:tc>
                  <a:txBody>
                    <a:bodyPr/>
                    <a:lstStyle/>
                    <a:p>
                      <a:pPr marL="0" algn="ctr" defTabSz="914400" rtl="0" eaLnBrk="1" fontAlgn="b" latinLnBrk="0" hangingPunct="1">
                        <a:spcAft>
                          <a:spcPts val="0"/>
                        </a:spcAft>
                        <a:buClrTx/>
                        <a:buSzTx/>
                        <a:buFontTx/>
                        <a:buNone/>
                      </a:pPr>
                      <a:endParaRPr lang="en-US" altLang="zh-CN" sz="1200" b="1" kern="0" dirty="0">
                        <a:solidFill>
                          <a:srgbClr val="000000"/>
                        </a:solidFill>
                        <a:effectLst/>
                        <a:latin typeface="Calibri" panose="020F0502020204030204" charset="0"/>
                        <a:ea typeface="宋体" panose="02010600030101010101" pitchFamily="2" charset="-122"/>
                        <a:cs typeface="Calibri" panose="020F0502020204030204" charset="0"/>
                      </a:endParaRPr>
                    </a:p>
                  </a:txBody>
                  <a:tcPr marL="0" marR="0" marT="0" marB="0" anchor="ctr" anchorCtr="1"/>
                </a:tc>
                <a:tc>
                  <a:txBody>
                    <a:bodyPr/>
                    <a:lstStyle/>
                    <a:p>
                      <a:pPr algn="ctr" fontAlgn="b">
                        <a:spcAft>
                          <a:spcPts val="0"/>
                        </a:spcAft>
                        <a:buNone/>
                      </a:pPr>
                      <a:r>
                        <a:rPr lang="zh-CN" altLang="en-US" sz="1200" dirty="0">
                          <a:latin typeface="微软雅黑" panose="020B0503020204020204" charset="-122"/>
                          <a:ea typeface="微软雅黑" panose="020B0503020204020204" charset="-122"/>
                          <a:sym typeface="+mn-ea"/>
                        </a:rPr>
                        <a:t>E</a:t>
                      </a:r>
                      <a:r>
                        <a:rPr lang="en-US" altLang="zh-CN" sz="1200" dirty="0">
                          <a:latin typeface="微软雅黑" panose="020B0503020204020204" charset="-122"/>
                          <a:ea typeface="微软雅黑" panose="020B0503020204020204" charset="-122"/>
                          <a:sym typeface="+mn-ea"/>
                        </a:rPr>
                        <a:t>HAM</a:t>
                      </a:r>
                      <a:endParaRPr lang="en-US" altLang="zh-CN" sz="1200" b="1" kern="100" dirty="0">
                        <a:effectLst/>
                        <a:latin typeface="微软雅黑" panose="020B0503020204020204" charset="-122"/>
                        <a:ea typeface="微软雅黑" panose="020B0503020204020204" charset="-122"/>
                        <a:sym typeface="+mn-ea"/>
                      </a:endParaRPr>
                    </a:p>
                  </a:txBody>
                  <a:tcPr marL="0" marR="0" marT="0" marB="0" anchor="ctr" anchorCtr="1"/>
                </a:tc>
              </a:tr>
            </a:tbl>
          </a:graphicData>
        </a:graphic>
      </p:graphicFrame>
      <p:pic>
        <p:nvPicPr>
          <p:cNvPr id="3" name="图片 2"/>
          <p:cNvPicPr>
            <a:picLocks noChangeAspect="1"/>
          </p:cNvPicPr>
          <p:nvPr/>
        </p:nvPicPr>
        <p:blipFill>
          <a:blip r:embed="rId2"/>
          <a:stretch>
            <a:fillRect/>
          </a:stretch>
        </p:blipFill>
        <p:spPr>
          <a:xfrm>
            <a:off x="4235450" y="1078865"/>
            <a:ext cx="3921760" cy="3374390"/>
          </a:xfrm>
          <a:prstGeom prst="rect">
            <a:avLst/>
          </a:prstGeom>
        </p:spPr>
      </p:pic>
      <p:sp>
        <p:nvSpPr>
          <p:cNvPr id="17" name="椭圆 16"/>
          <p:cNvSpPr/>
          <p:nvPr>
            <p:custDataLst>
              <p:tags r:id="rId3"/>
            </p:custDataLst>
          </p:nvPr>
        </p:nvSpPr>
        <p:spPr>
          <a:xfrm>
            <a:off x="6260078" y="2468880"/>
            <a:ext cx="76200" cy="76200"/>
          </a:xfrm>
          <a:prstGeom prst="ellipse">
            <a:avLst/>
          </a:prstGeom>
          <a:solidFill>
            <a:schemeClr val="accent2"/>
          </a:solidFill>
          <a:ln w="50800">
            <a:solidFill>
              <a:srgbClr val="DE45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custDataLst>
              <p:tags r:id="rId4"/>
            </p:custDataLst>
          </p:nvPr>
        </p:nvSpPr>
        <p:spPr>
          <a:xfrm>
            <a:off x="5676764" y="2193229"/>
            <a:ext cx="702945" cy="275590"/>
          </a:xfrm>
          <a:prstGeom prst="rect">
            <a:avLst/>
          </a:prstGeom>
          <a:noFill/>
        </p:spPr>
        <p:txBody>
          <a:bodyPr wrap="square" rtlCol="0" anchor="t">
            <a:spAutoFit/>
          </a:bodyPr>
          <a:p>
            <a:pPr algn="ctr" fontAlgn="b">
              <a:spcAft>
                <a:spcPts val="0"/>
              </a:spcAft>
              <a:buClrTx/>
              <a:buSzTx/>
              <a:buFontTx/>
            </a:pPr>
            <a:r>
              <a:rPr lang="en-US" altLang="en-US" sz="1200" b="1" kern="0" dirty="0">
                <a:solidFill>
                  <a:srgbClr val="FF0000"/>
                </a:solidFill>
                <a:effectLst/>
                <a:sym typeface="+mn-ea"/>
              </a:rPr>
              <a:t>ESMS</a:t>
            </a:r>
            <a:endParaRPr lang="en-US" altLang="en-US" sz="1200" b="1" kern="0" dirty="0">
              <a:solidFill>
                <a:srgbClr val="FF0000"/>
              </a:solidFill>
              <a:effectLst/>
              <a:sym typeface="+mn-ea"/>
            </a:endParaRPr>
          </a:p>
        </p:txBody>
      </p:sp>
      <p:sp>
        <p:nvSpPr>
          <p:cNvPr id="6" name="椭圆 5"/>
          <p:cNvSpPr/>
          <p:nvPr>
            <p:custDataLst>
              <p:tags r:id="rId5"/>
            </p:custDataLst>
          </p:nvPr>
        </p:nvSpPr>
        <p:spPr>
          <a:xfrm>
            <a:off x="7055733" y="1226185"/>
            <a:ext cx="76200" cy="76200"/>
          </a:xfrm>
          <a:prstGeom prst="ellipse">
            <a:avLst/>
          </a:prstGeom>
          <a:solidFill>
            <a:schemeClr val="accent2"/>
          </a:solidFill>
          <a:ln w="50800">
            <a:solidFill>
              <a:srgbClr val="DE45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custDataLst>
              <p:tags r:id="rId6"/>
            </p:custDataLst>
          </p:nvPr>
        </p:nvSpPr>
        <p:spPr>
          <a:xfrm>
            <a:off x="6507344" y="1226124"/>
            <a:ext cx="702945" cy="275590"/>
          </a:xfrm>
          <a:prstGeom prst="rect">
            <a:avLst/>
          </a:prstGeom>
          <a:noFill/>
        </p:spPr>
        <p:txBody>
          <a:bodyPr wrap="square" rtlCol="0" anchor="t">
            <a:spAutoFit/>
          </a:bodyPr>
          <a:p>
            <a:pPr algn="ctr" fontAlgn="b">
              <a:spcAft>
                <a:spcPts val="0"/>
              </a:spcAft>
              <a:buClrTx/>
              <a:buSzTx/>
              <a:buFontTx/>
            </a:pPr>
            <a:r>
              <a:rPr lang="en-US" altLang="en-US" sz="1200" b="1" kern="0" dirty="0">
                <a:solidFill>
                  <a:srgbClr val="FF0000"/>
                </a:solidFill>
                <a:effectLst/>
                <a:sym typeface="+mn-ea"/>
              </a:rPr>
              <a:t>ESSA</a:t>
            </a:r>
            <a:endParaRPr lang="en-US" altLang="en-US" sz="1200" b="1" kern="0" dirty="0">
              <a:solidFill>
                <a:srgbClr val="FF0000"/>
              </a:solidFill>
              <a:effectLst/>
              <a:sym typeface="+mn-ea"/>
            </a:endParaRPr>
          </a:p>
        </p:txBody>
      </p:sp>
      <p:sp>
        <p:nvSpPr>
          <p:cNvPr id="11" name="椭圆 10"/>
          <p:cNvSpPr/>
          <p:nvPr>
            <p:custDataLst>
              <p:tags r:id="rId7"/>
            </p:custDataLst>
          </p:nvPr>
        </p:nvSpPr>
        <p:spPr>
          <a:xfrm>
            <a:off x="5677148" y="3385185"/>
            <a:ext cx="76200" cy="76200"/>
          </a:xfrm>
          <a:prstGeom prst="ellipse">
            <a:avLst/>
          </a:prstGeom>
          <a:solidFill>
            <a:schemeClr val="accent2"/>
          </a:solidFill>
          <a:ln w="50800">
            <a:solidFill>
              <a:srgbClr val="DE45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custDataLst>
              <p:tags r:id="rId8"/>
            </p:custDataLst>
          </p:nvPr>
        </p:nvSpPr>
        <p:spPr>
          <a:xfrm>
            <a:off x="5632949" y="3285429"/>
            <a:ext cx="702945" cy="275590"/>
          </a:xfrm>
          <a:prstGeom prst="rect">
            <a:avLst/>
          </a:prstGeom>
          <a:noFill/>
        </p:spPr>
        <p:txBody>
          <a:bodyPr wrap="square" rtlCol="0" anchor="t">
            <a:spAutoFit/>
          </a:bodyPr>
          <a:p>
            <a:pPr algn="ctr" fontAlgn="b">
              <a:spcAft>
                <a:spcPts val="0"/>
              </a:spcAft>
              <a:buClrTx/>
              <a:buSzTx/>
              <a:buFontTx/>
            </a:pPr>
            <a:r>
              <a:rPr lang="en-US" altLang="en-US" sz="1200" b="1" kern="0" dirty="0">
                <a:solidFill>
                  <a:srgbClr val="FF0000"/>
                </a:solidFill>
                <a:effectLst/>
                <a:sym typeface="+mn-ea"/>
              </a:rPr>
              <a:t>EDDV</a:t>
            </a:r>
            <a:endParaRPr lang="en-US" altLang="en-US" sz="1200" b="1" kern="0" dirty="0">
              <a:solidFill>
                <a:srgbClr val="FF0000"/>
              </a:solidFill>
              <a:effectLst/>
              <a:sym typeface="+mn-ea"/>
            </a:endParaRPr>
          </a:p>
        </p:txBody>
      </p:sp>
      <p:sp>
        <p:nvSpPr>
          <p:cNvPr id="13" name="椭圆 12"/>
          <p:cNvSpPr/>
          <p:nvPr>
            <p:custDataLst>
              <p:tags r:id="rId9"/>
            </p:custDataLst>
          </p:nvPr>
        </p:nvSpPr>
        <p:spPr>
          <a:xfrm>
            <a:off x="5287893" y="4060825"/>
            <a:ext cx="76200" cy="76200"/>
          </a:xfrm>
          <a:prstGeom prst="ellipse">
            <a:avLst/>
          </a:prstGeom>
          <a:solidFill>
            <a:schemeClr val="accent2"/>
          </a:solidFill>
          <a:ln w="50800">
            <a:solidFill>
              <a:srgbClr val="DE45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custDataLst>
              <p:tags r:id="rId10"/>
            </p:custDataLst>
          </p:nvPr>
        </p:nvSpPr>
        <p:spPr>
          <a:xfrm>
            <a:off x="5205594" y="4060764"/>
            <a:ext cx="702945" cy="275590"/>
          </a:xfrm>
          <a:prstGeom prst="rect">
            <a:avLst/>
          </a:prstGeom>
          <a:noFill/>
        </p:spPr>
        <p:txBody>
          <a:bodyPr wrap="square" rtlCol="0" anchor="t">
            <a:spAutoFit/>
          </a:bodyPr>
          <a:p>
            <a:pPr algn="ctr" fontAlgn="b">
              <a:spcAft>
                <a:spcPts val="0"/>
              </a:spcAft>
              <a:buClrTx/>
              <a:buSzTx/>
              <a:buFontTx/>
            </a:pPr>
            <a:r>
              <a:rPr lang="en-US" altLang="en-US" sz="1200" b="1" kern="0" dirty="0">
                <a:solidFill>
                  <a:srgbClr val="FF0000"/>
                </a:solidFill>
                <a:effectLst/>
                <a:sym typeface="+mn-ea"/>
              </a:rPr>
              <a:t>EDFH</a:t>
            </a:r>
            <a:endParaRPr lang="en-US" altLang="en-US" sz="1200" b="1" kern="0" dirty="0">
              <a:solidFill>
                <a:srgbClr val="FF0000"/>
              </a:solidFill>
              <a:effectLst/>
              <a:sym typeface="+mn-ea"/>
            </a:endParaRPr>
          </a:p>
        </p:txBody>
      </p:sp>
      <p:sp>
        <p:nvSpPr>
          <p:cNvPr id="16" name="椭圆 15"/>
          <p:cNvSpPr/>
          <p:nvPr>
            <p:custDataLst>
              <p:tags r:id="rId11"/>
            </p:custDataLst>
          </p:nvPr>
        </p:nvSpPr>
        <p:spPr>
          <a:xfrm>
            <a:off x="4898003" y="3385185"/>
            <a:ext cx="76200" cy="76200"/>
          </a:xfrm>
          <a:prstGeom prst="ellipse">
            <a:avLst/>
          </a:prstGeom>
          <a:solidFill>
            <a:schemeClr val="accent2"/>
          </a:solidFill>
          <a:ln w="50800">
            <a:solidFill>
              <a:srgbClr val="DE45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custDataLst>
              <p:tags r:id="rId12"/>
            </p:custDataLst>
          </p:nvPr>
        </p:nvSpPr>
        <p:spPr>
          <a:xfrm>
            <a:off x="4270874" y="3254949"/>
            <a:ext cx="702945" cy="275590"/>
          </a:xfrm>
          <a:prstGeom prst="rect">
            <a:avLst/>
          </a:prstGeom>
          <a:noFill/>
        </p:spPr>
        <p:txBody>
          <a:bodyPr wrap="square" rtlCol="0" anchor="t">
            <a:spAutoFit/>
          </a:bodyPr>
          <a:p>
            <a:pPr algn="ctr" fontAlgn="b">
              <a:spcAft>
                <a:spcPts val="0"/>
              </a:spcAft>
              <a:buClrTx/>
              <a:buSzTx/>
              <a:buFontTx/>
            </a:pPr>
            <a:r>
              <a:rPr lang="en-US" altLang="en-US" sz="1200" b="1" kern="0" dirty="0">
                <a:solidFill>
                  <a:srgbClr val="FF0000"/>
                </a:solidFill>
                <a:effectLst/>
                <a:sym typeface="+mn-ea"/>
              </a:rPr>
              <a:t>EHAM</a:t>
            </a:r>
            <a:endParaRPr lang="en-US" altLang="en-US" sz="1200" b="1" kern="0" dirty="0">
              <a:solidFill>
                <a:srgbClr val="FF0000"/>
              </a:solidFill>
              <a:effectLst/>
              <a:sym typeface="+mn-ea"/>
            </a:endParaRPr>
          </a:p>
        </p:txBody>
      </p:sp>
      <p:sp>
        <p:nvSpPr>
          <p:cNvPr id="23" name="椭圆 22"/>
          <p:cNvSpPr/>
          <p:nvPr>
            <p:custDataLst>
              <p:tags r:id="rId13"/>
            </p:custDataLst>
          </p:nvPr>
        </p:nvSpPr>
        <p:spPr>
          <a:xfrm>
            <a:off x="4973800" y="3876333"/>
            <a:ext cx="76200" cy="76200"/>
          </a:xfrm>
          <a:prstGeom prst="ellipse">
            <a:avLst/>
          </a:prstGeom>
          <a:gradFill>
            <a:gsLst>
              <a:gs pos="0">
                <a:srgbClr val="012D86"/>
              </a:gs>
              <a:gs pos="100000">
                <a:srgbClr val="0E2557"/>
              </a:gs>
            </a:gsLst>
            <a:lin ang="5400000" scaled="0"/>
          </a:gradFill>
          <a:ln w="508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0000"/>
              </a:solidFill>
              <a:highlight>
                <a:srgbClr val="FF0000"/>
              </a:highlight>
            </a:endParaRPr>
          </a:p>
        </p:txBody>
      </p:sp>
      <p:sp>
        <p:nvSpPr>
          <p:cNvPr id="10" name="文本框 9"/>
          <p:cNvSpPr txBox="1"/>
          <p:nvPr>
            <p:custDataLst>
              <p:tags r:id="rId14"/>
            </p:custDataLst>
          </p:nvPr>
        </p:nvSpPr>
        <p:spPr>
          <a:xfrm>
            <a:off x="4399662" y="3830464"/>
            <a:ext cx="702945" cy="306705"/>
          </a:xfrm>
          <a:prstGeom prst="rect">
            <a:avLst/>
          </a:prstGeom>
          <a:noFill/>
        </p:spPr>
        <p:txBody>
          <a:bodyPr wrap="square" rtlCol="0" anchor="t">
            <a:spAutoFit/>
          </a:bodyPr>
          <a:lstStyle/>
          <a:p>
            <a:pPr algn="ctr" fontAlgn="b">
              <a:spcAft>
                <a:spcPts val="0"/>
              </a:spcAft>
              <a:buClrTx/>
              <a:buSzTx/>
              <a:buFontTx/>
            </a:pPr>
            <a:r>
              <a:rPr lang="en-US" altLang="en-US" sz="1400" b="1" kern="0" dirty="0">
                <a:effectLst/>
                <a:sym typeface="+mn-ea"/>
              </a:rPr>
              <a:t>EBLG</a:t>
            </a:r>
            <a:endParaRPr lang="en-US" altLang="en-US" sz="1400" b="1" kern="0" dirty="0">
              <a:effectLst/>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13671" y="381893"/>
            <a:ext cx="2011680" cy="460375"/>
          </a:xfrm>
          <a:prstGeom prst="rect">
            <a:avLst/>
          </a:prstGeom>
          <a:noFill/>
        </p:spPr>
        <p:txBody>
          <a:bodyPr wrap="none" rtlCol="0" anchor="t">
            <a:spAutoFit/>
          </a:bodyPr>
          <a:lstStyle/>
          <a:p>
            <a:pPr algn="ctr"/>
            <a:r>
              <a:rPr lang="zh-CN" altLang="en-US" sz="2400" b="1" dirty="0">
                <a:latin typeface="微软雅黑" panose="020B0503020204020204" charset="-122"/>
                <a:ea typeface="微软雅黑" panose="020B0503020204020204" charset="-122"/>
                <a:sym typeface="+mn-ea"/>
              </a:rPr>
              <a:t>备降机场介绍</a:t>
            </a:r>
            <a:endParaRPr lang="zh-CN" altLang="en-US" sz="2400" b="1" dirty="0">
              <a:latin typeface="微软雅黑" panose="020B0503020204020204" charset="-122"/>
              <a:ea typeface="微软雅黑" panose="020B0503020204020204" charset="-122"/>
              <a:sym typeface="+mn-ea"/>
            </a:endParaRPr>
          </a:p>
        </p:txBody>
      </p:sp>
      <p:sp>
        <p:nvSpPr>
          <p:cNvPr id="3" name="TextBox 2"/>
          <p:cNvSpPr txBox="1"/>
          <p:nvPr/>
        </p:nvSpPr>
        <p:spPr>
          <a:xfrm>
            <a:off x="151314" y="799237"/>
            <a:ext cx="3931285" cy="3759835"/>
          </a:xfrm>
          <a:prstGeom prst="rect">
            <a:avLst/>
          </a:prstGeom>
          <a:noFill/>
          <a:ln w="12700" cmpd="sng">
            <a:noFill/>
            <a:prstDash val="solid"/>
          </a:ln>
        </p:spPr>
        <p:txBody>
          <a:bodyPr wrap="square" rtlCol="0">
            <a:spAutoFit/>
          </a:bodyPr>
          <a:lstStyle/>
          <a:p>
            <a:pPr marL="0" lvl="3" indent="-342900">
              <a:lnSpc>
                <a:spcPct val="140000"/>
              </a:lnSpc>
              <a:buFont typeface="Wingdings" panose="05000000000000000000" pitchFamily="2" charset="2"/>
              <a:buChar char="Ø"/>
            </a:pP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E</a:t>
            </a:r>
            <a:r>
              <a:rPr lang="en-US" altLang="zh-CN"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DFH</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法兰克福哈恩机场</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rPr>
              <a:t>简介</a:t>
            </a:r>
            <a:endParaRPr lang="zh-CN" altLang="en-US" dirty="0"/>
          </a:p>
          <a:p>
            <a:pPr marL="342900" indent="-342900" fontAlgn="auto">
              <a:lnSpc>
                <a:spcPct val="150000"/>
              </a:lnSpc>
              <a:buFont typeface="Arial" panose="020B0604020202020204" pitchFamily="34" charset="0"/>
              <a:buChar char="•"/>
            </a:pPr>
            <a:r>
              <a:rPr sz="1200" dirty="0">
                <a:latin typeface="微软雅黑" panose="020B0503020204020204" charset="-122"/>
                <a:ea typeface="微软雅黑" panose="020B0503020204020204" charset="-122"/>
              </a:rPr>
              <a:t>德国法兰克福-哈恩机场</a:t>
            </a:r>
            <a:r>
              <a:rPr lang="en-US" sz="1200" dirty="0">
                <a:latin typeface="微软雅黑" panose="020B0503020204020204" charset="-122"/>
                <a:ea typeface="微软雅黑" panose="020B0503020204020204" charset="-122"/>
              </a:rPr>
              <a:t>(Frankfurt-Hahn Airport)</a:t>
            </a:r>
            <a:r>
              <a:rPr sz="1200" dirty="0">
                <a:latin typeface="微软雅黑" panose="020B0503020204020204" charset="-122"/>
                <a:ea typeface="微软雅黑" panose="020B0503020204020204" charset="-122"/>
              </a:rPr>
              <a:t>位于德国西南部，海拔503米的洪斯吕克山上</a:t>
            </a:r>
            <a:r>
              <a:rPr lang="en-US" sz="1200" dirty="0">
                <a:latin typeface="微软雅黑" panose="020B0503020204020204" charset="-122"/>
                <a:ea typeface="微软雅黑" panose="020B0503020204020204" charset="-122"/>
              </a:rPr>
              <a:t>,</a:t>
            </a:r>
            <a:r>
              <a:rPr lang="zh-CN" sz="1200" dirty="0">
                <a:latin typeface="微软雅黑" panose="020B0503020204020204" charset="-122"/>
                <a:ea typeface="微软雅黑" panose="020B0503020204020204" charset="-122"/>
              </a:rPr>
              <a:t>距离法兰克福约120公里。哈恩机场作为德国最重要的货运机场之一，地理位置上，覆盖西欧大陆的飞行半径基本不超过两小时；飞行条件上能够满载起降空客A380等大型机型,是该区域内最具竞争优势的跨区域货运枢纽机场。 </a:t>
            </a:r>
            <a:endParaRPr 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机场标高</a:t>
            </a:r>
            <a:r>
              <a:rPr lang="en-US" altLang="zh-CN" sz="1200" dirty="0">
                <a:latin typeface="微软雅黑" panose="020B0503020204020204" charset="-122"/>
                <a:ea typeface="微软雅黑" panose="020B0503020204020204" charset="-122"/>
              </a:rPr>
              <a:t>1649ft </a:t>
            </a:r>
            <a:r>
              <a:rPr lang="zh-CN" altLang="en-US" sz="1200" dirty="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共一条跑道，跑道</a:t>
            </a:r>
            <a:r>
              <a:rPr lang="en-US" altLang="zh-CN" sz="1200" dirty="0">
                <a:latin typeface="微软雅黑" panose="020B0503020204020204" charset="-122"/>
                <a:ea typeface="微软雅黑" panose="020B0503020204020204" charset="-122"/>
              </a:rPr>
              <a:t>03/21</a:t>
            </a:r>
            <a:r>
              <a:rPr lang="zh-CN" altLang="en-US" sz="1200" dirty="0">
                <a:latin typeface="微软雅黑" panose="020B0503020204020204" charset="-122"/>
                <a:ea typeface="微软雅黑" panose="020B0503020204020204" charset="-122"/>
              </a:rPr>
              <a:t>，长</a:t>
            </a:r>
            <a:r>
              <a:rPr lang="en-US" altLang="zh-CN" sz="1200" dirty="0">
                <a:latin typeface="微软雅黑" panose="020B0503020204020204" charset="-122"/>
                <a:ea typeface="微软雅黑" panose="020B0503020204020204" charset="-122"/>
              </a:rPr>
              <a:t>3800</a:t>
            </a:r>
            <a:r>
              <a:rPr lang="zh-CN" altLang="en-US" sz="1200" dirty="0">
                <a:latin typeface="微软雅黑" panose="020B0503020204020204" charset="-122"/>
                <a:ea typeface="微软雅黑" panose="020B0503020204020204" charset="-122"/>
              </a:rPr>
              <a:t>米，宽</a:t>
            </a:r>
            <a:r>
              <a:rPr lang="en-US" altLang="zh-CN" sz="1200" dirty="0">
                <a:latin typeface="微软雅黑" panose="020B0503020204020204" charset="-122"/>
                <a:ea typeface="微软雅黑" panose="020B0503020204020204" charset="-122"/>
              </a:rPr>
              <a:t>45</a:t>
            </a:r>
            <a:r>
              <a:rPr lang="zh-CN" altLang="en-US" sz="1200" dirty="0">
                <a:latin typeface="微软雅黑" panose="020B0503020204020204" charset="-122"/>
                <a:ea typeface="微软雅黑" panose="020B0503020204020204" charset="-122"/>
              </a:rPr>
              <a:t>米；</a:t>
            </a:r>
            <a:endParaRPr lang="en-US" altLang="zh-CN" sz="1200" dirty="0">
              <a:latin typeface="微软雅黑" panose="020B0503020204020204" charset="-122"/>
              <a:ea typeface="微软雅黑" panose="020B0503020204020204" charset="-122"/>
            </a:endParaRPr>
          </a:p>
          <a:p>
            <a:pPr fontAlgn="auto">
              <a:lnSpc>
                <a:spcPct val="150000"/>
              </a:lnSpc>
            </a:pPr>
            <a:r>
              <a:rPr lang="zh-CN" altLang="en-US" sz="1200" dirty="0">
                <a:latin typeface="微软雅黑" panose="020B0503020204020204" charset="-122"/>
                <a:ea typeface="微软雅黑" panose="020B0503020204020204" charset="-122"/>
                <a:sym typeface="+mn-ea"/>
              </a:rPr>
              <a:t>        </a:t>
            </a:r>
            <a:r>
              <a:rPr lang="zh-CN" altLang="en-US" sz="1200" dirty="0">
                <a:latin typeface="微软雅黑" panose="020B0503020204020204" charset="-122"/>
                <a:ea typeface="微软雅黑" panose="020B0503020204020204" charset="-122"/>
              </a:rPr>
              <a:t>运行时间：</a:t>
            </a:r>
            <a:r>
              <a:rPr lang="en-US" altLang="zh-CN" sz="1200" dirty="0">
                <a:latin typeface="微软雅黑" panose="020B0503020204020204" charset="-122"/>
                <a:ea typeface="微软雅黑" panose="020B0503020204020204" charset="-122"/>
              </a:rPr>
              <a:t>H24   </a:t>
            </a:r>
            <a:r>
              <a:rPr lang="zh-CN" altLang="en-US" sz="1200" dirty="0">
                <a:latin typeface="微软雅黑" panose="020B0503020204020204" charset="-122"/>
                <a:ea typeface="微软雅黑" panose="020B0503020204020204" charset="-122"/>
                <a:sym typeface="+mn-ea"/>
              </a:rPr>
              <a:t>消防等级</a:t>
            </a:r>
            <a:r>
              <a:rPr lang="en-US" altLang="zh-CN" sz="1200" dirty="0">
                <a:latin typeface="微软雅黑" panose="020B0503020204020204" charset="-122"/>
                <a:ea typeface="微软雅黑" panose="020B0503020204020204" charset="-122"/>
                <a:sym typeface="+mn-ea"/>
              </a:rPr>
              <a:t>:10</a:t>
            </a:r>
            <a:r>
              <a:rPr lang="zh-CN" altLang="en-US" sz="1200" dirty="0">
                <a:latin typeface="微软雅黑" panose="020B0503020204020204" charset="-122"/>
                <a:ea typeface="微软雅黑" panose="020B0503020204020204" charset="-122"/>
                <a:sym typeface="+mn-ea"/>
              </a:rPr>
              <a:t>级。</a:t>
            </a:r>
            <a:endParaRPr lang="en-US" alt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有减燥程序规定</a:t>
            </a:r>
            <a:r>
              <a:rPr lang="en-US" altLang="zh-CN" sz="1200" dirty="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a:p>
            <a:pPr indent="0" fontAlgn="auto">
              <a:lnSpc>
                <a:spcPct val="150000"/>
              </a:lnSpc>
              <a:buFont typeface="Arial" panose="020B0604020202020204" pitchFamily="34" charset="0"/>
              <a:buNone/>
            </a:pPr>
            <a:endParaRPr lang="zh-CN" altLang="en-US" sz="1200"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4599305" y="842010"/>
            <a:ext cx="4072890" cy="38569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200785" y="542925"/>
            <a:ext cx="4544695" cy="46037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备降机场飞行程序</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713847" y="1351657"/>
            <a:ext cx="8469630" cy="10604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1400" dirty="0">
                <a:latin typeface="微软雅黑" panose="020B0503020204020204" charset="-122"/>
                <a:ea typeface="微软雅黑" panose="020B0503020204020204" charset="-122"/>
                <a:sym typeface="+mn-ea"/>
              </a:rPr>
              <a:t>法兰克福哈恩机场（</a:t>
            </a:r>
            <a:r>
              <a:rPr lang="en-US" altLang="zh-CN" sz="1400" dirty="0">
                <a:latin typeface="微软雅黑" panose="020B0503020204020204" charset="-122"/>
                <a:ea typeface="微软雅黑" panose="020B0503020204020204" charset="-122"/>
                <a:sym typeface="+mn-ea"/>
              </a:rPr>
              <a:t>EDFH</a:t>
            </a:r>
            <a:r>
              <a:rPr lang="zh-CN" altLang="en-US"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rPr>
              <a:t>飞行程序</a:t>
            </a:r>
            <a:endParaRPr lang="en-US" altLang="zh-CN" sz="1400" dirty="0">
              <a:latin typeface="微软雅黑" panose="020B0503020204020204" charset="-122"/>
              <a:ea typeface="微软雅黑" panose="020B0503020204020204" charset="-122"/>
            </a:endParaRPr>
          </a:p>
          <a:p>
            <a:pPr>
              <a:lnSpc>
                <a:spcPct val="150000"/>
              </a:lnSpc>
            </a:pPr>
            <a:r>
              <a:rPr lang="zh-CN" altLang="en-US" sz="1400" dirty="0">
                <a:latin typeface="微软雅黑" panose="020B0503020204020204" charset="-122"/>
                <a:ea typeface="微软雅黑" panose="020B0503020204020204" charset="-122"/>
                <a:sym typeface="+mn-ea"/>
              </a:rPr>
              <a:t>公布有</a:t>
            </a:r>
            <a:r>
              <a:rPr lang="en-US" altLang="zh-CN" sz="1400" dirty="0">
                <a:latin typeface="微软雅黑" panose="020B0503020204020204" charset="-122"/>
                <a:ea typeface="微软雅黑" panose="020B0503020204020204" charset="-122"/>
                <a:sym typeface="+mn-ea"/>
              </a:rPr>
              <a:t>RNAV1</a:t>
            </a:r>
            <a:r>
              <a:rPr lang="zh-CN" altLang="en-US" sz="1400" dirty="0">
                <a:latin typeface="微软雅黑" panose="020B0503020204020204" charset="-122"/>
                <a:ea typeface="微软雅黑" panose="020B0503020204020204" charset="-122"/>
                <a:sym typeface="+mn-ea"/>
              </a:rPr>
              <a:t>进离场程序，也公布了传统进离场程序。</a:t>
            </a:r>
            <a:endParaRPr lang="zh-CN" altLang="en-US" sz="1400" dirty="0">
              <a:latin typeface="微软雅黑" panose="020B0503020204020204" charset="-122"/>
              <a:ea typeface="微软雅黑" panose="020B0503020204020204" charset="-122"/>
              <a:sym typeface="+mn-ea"/>
            </a:endParaRPr>
          </a:p>
          <a:p>
            <a:pPr>
              <a:lnSpc>
                <a:spcPct val="150000"/>
              </a:lnSpc>
            </a:pPr>
            <a:r>
              <a:rPr lang="zh-CN" altLang="en-US" sz="1400" dirty="0">
                <a:latin typeface="微软雅黑" panose="020B0503020204020204" charset="-122"/>
                <a:ea typeface="微软雅黑" panose="020B0503020204020204" charset="-122"/>
                <a:sym typeface="+mn-ea"/>
              </a:rPr>
              <a:t>跑道均公布了</a:t>
            </a:r>
            <a:r>
              <a:rPr lang="en-US" altLang="zh-CN" sz="1400" dirty="0">
                <a:latin typeface="微软雅黑" panose="020B0503020204020204" charset="-122"/>
                <a:ea typeface="微软雅黑" panose="020B0503020204020204" charset="-122"/>
                <a:sym typeface="+mn-ea"/>
              </a:rPr>
              <a:t>ILS</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RNP APCH</a:t>
            </a:r>
            <a:r>
              <a:rPr lang="zh-CN" altLang="en-US" sz="1400" dirty="0">
                <a:latin typeface="微软雅黑" panose="020B0503020204020204" charset="-122"/>
                <a:ea typeface="微软雅黑" panose="020B0503020204020204" charset="-122"/>
                <a:sym typeface="+mn-ea"/>
              </a:rPr>
              <a:t>及</a:t>
            </a:r>
            <a:r>
              <a:rPr lang="en-US" altLang="zh-CN" sz="1400" dirty="0">
                <a:latin typeface="微软雅黑" panose="020B0503020204020204" charset="-122"/>
                <a:ea typeface="微软雅黑" panose="020B0503020204020204" charset="-122"/>
                <a:sym typeface="+mn-ea"/>
              </a:rPr>
              <a:t>NDB</a:t>
            </a:r>
            <a:r>
              <a:rPr lang="zh-CN" altLang="en-US" sz="1400" dirty="0">
                <a:latin typeface="微软雅黑" panose="020B0503020204020204" charset="-122"/>
                <a:ea typeface="微软雅黑" panose="020B0503020204020204" charset="-122"/>
                <a:sym typeface="+mn-ea"/>
              </a:rPr>
              <a:t>进近程序。</a:t>
            </a:r>
            <a:endParaRPr lang="en-US" altLang="zh-CN" sz="1400" dirty="0">
              <a:latin typeface="微软雅黑" panose="020B0503020204020204" charset="-122"/>
              <a:ea typeface="微软雅黑" panose="020B0503020204020204" charset="-122"/>
              <a:sym typeface="+mn-ea"/>
            </a:endParaRPr>
          </a:p>
        </p:txBody>
      </p:sp>
      <p:graphicFrame>
        <p:nvGraphicFramePr>
          <p:cNvPr id="6" name="表格 5"/>
          <p:cNvGraphicFramePr>
            <a:graphicFrameLocks noGrp="1"/>
          </p:cNvGraphicFramePr>
          <p:nvPr>
            <p:custDataLst>
              <p:tags r:id="rId1"/>
            </p:custDataLst>
          </p:nvPr>
        </p:nvGraphicFramePr>
        <p:xfrm>
          <a:off x="761926" y="2705224"/>
          <a:ext cx="6275278" cy="883920"/>
        </p:xfrm>
        <a:graphic>
          <a:graphicData uri="http://schemas.openxmlformats.org/drawingml/2006/table">
            <a:tbl>
              <a:tblPr firstRow="1" bandRow="1">
                <a:tableStyleId>{93296810-A885-4BE3-A3E7-6D5BEEA58F35}</a:tableStyleId>
              </a:tblPr>
              <a:tblGrid>
                <a:gridCol w="1007110"/>
                <a:gridCol w="1056005"/>
                <a:gridCol w="1082675"/>
                <a:gridCol w="915670"/>
                <a:gridCol w="1195124"/>
                <a:gridCol w="1018694"/>
              </a:tblGrid>
              <a:tr h="330679">
                <a:tc>
                  <a:txBody>
                    <a:bodyPr/>
                    <a:lstStyle/>
                    <a:p>
                      <a:pPr algn="ctr"/>
                      <a:r>
                        <a:rPr lang="zh-CN" altLang="en-US" dirty="0"/>
                        <a:t>离场</a:t>
                      </a:r>
                      <a:endParaRPr lang="zh-CN" altLang="en-US" dirty="0"/>
                    </a:p>
                  </a:txBody>
                  <a:tcPr/>
                </a:tc>
                <a:tc>
                  <a:txBody>
                    <a:bodyPr/>
                    <a:lstStyle/>
                    <a:p>
                      <a:pPr algn="ctr"/>
                      <a:r>
                        <a:rPr lang="zh-CN" altLang="en-US" dirty="0"/>
                        <a:t>进场</a:t>
                      </a:r>
                      <a:endParaRPr lang="zh-CN" altLang="en-US" dirty="0"/>
                    </a:p>
                  </a:txBody>
                  <a:tcPr/>
                </a:tc>
                <a:tc gridSpan="4">
                  <a:txBody>
                    <a:bodyPr/>
                    <a:lstStyle/>
                    <a:p>
                      <a:pPr algn="ctr"/>
                      <a:r>
                        <a:rPr lang="zh-CN" altLang="en-US" dirty="0"/>
                        <a:t>进近</a:t>
                      </a:r>
                      <a:endParaRPr lang="zh-CN" altLang="en-US" dirty="0"/>
                    </a:p>
                  </a:txBody>
                  <a:tcPr/>
                </a:tc>
                <a:tc hMerge="1">
                  <a:tcPr/>
                </a:tc>
                <a:tc hMerge="1">
                  <a:tcPr/>
                </a:tc>
                <a:tc hMerge="1">
                  <a:tcPr/>
                </a:tc>
              </a:tr>
              <a:tr h="426328">
                <a:tc>
                  <a:txBody>
                    <a:bodyPr/>
                    <a:lstStyle/>
                    <a:p>
                      <a:pPr algn="ctr"/>
                      <a:r>
                        <a:rPr lang="en-US" altLang="zh-CN" sz="1400" dirty="0">
                          <a:solidFill>
                            <a:schemeClr val="tx1"/>
                          </a:solidFill>
                        </a:rPr>
                        <a:t>RNAV1</a:t>
                      </a:r>
                      <a:endParaRPr lang="en-US" altLang="zh-CN" sz="1400" dirty="0">
                        <a:solidFill>
                          <a:schemeClr val="tx1"/>
                        </a:solidFill>
                      </a:endParaRPr>
                    </a:p>
                    <a:p>
                      <a:pPr algn="ctr"/>
                      <a:r>
                        <a:rPr lang="zh-CN" altLang="en-US" sz="1400" dirty="0">
                          <a:solidFill>
                            <a:schemeClr val="tx1"/>
                          </a:solidFill>
                        </a:rPr>
                        <a:t>传统</a:t>
                      </a:r>
                      <a:r>
                        <a:rPr lang="en-US" altLang="zh-CN" sz="1400" dirty="0">
                          <a:solidFill>
                            <a:schemeClr val="tx1"/>
                          </a:solidFill>
                        </a:rPr>
                        <a:t> </a:t>
                      </a:r>
                      <a:endParaRPr lang="zh-CN" altLang="en-US" sz="1400" dirty="0">
                        <a:solidFill>
                          <a:schemeClr val="tx1"/>
                        </a:solidFill>
                      </a:endParaRPr>
                    </a:p>
                  </a:txBody>
                  <a:tcPr anchor="ctr"/>
                </a:tc>
                <a:tc>
                  <a:txBody>
                    <a:bodyPr/>
                    <a:lstStyle/>
                    <a:p>
                      <a:pPr algn="ctr"/>
                      <a:r>
                        <a:rPr lang="en-US" altLang="zh-CN" sz="1400" dirty="0">
                          <a:solidFill>
                            <a:schemeClr val="tx1"/>
                          </a:solidFill>
                        </a:rPr>
                        <a:t>RNAV1</a:t>
                      </a:r>
                      <a:endParaRPr lang="en-US" altLang="zh-CN" sz="1400" dirty="0">
                        <a:solidFill>
                          <a:schemeClr val="tx1"/>
                        </a:solidFill>
                      </a:endParaRPr>
                    </a:p>
                    <a:p>
                      <a:pPr algn="ctr"/>
                      <a:r>
                        <a:rPr lang="zh-CN" altLang="en-US" sz="1400" dirty="0">
                          <a:solidFill>
                            <a:schemeClr val="tx1"/>
                          </a:solidFill>
                        </a:rPr>
                        <a:t>传统</a:t>
                      </a:r>
                      <a:endParaRPr lang="zh-CN" altLang="en-US" sz="1400" dirty="0">
                        <a:solidFill>
                          <a:schemeClr val="tx1"/>
                        </a:solidFill>
                      </a:endParaRPr>
                    </a:p>
                  </a:txBody>
                  <a:tcPr anchor="ctr"/>
                </a:tc>
                <a:tc>
                  <a:txBody>
                    <a:bodyPr/>
                    <a:lstStyle/>
                    <a:p>
                      <a:pPr algn="ctr"/>
                      <a:r>
                        <a:rPr lang="en-US" altLang="zh-CN" sz="1400" dirty="0"/>
                        <a:t>ILS</a:t>
                      </a:r>
                      <a:endParaRPr lang="zh-CN" altLang="en-US" sz="1400" dirty="0">
                        <a:solidFill>
                          <a:schemeClr val="tx1"/>
                        </a:solidFill>
                      </a:endParaRPr>
                    </a:p>
                  </a:txBody>
                  <a:tcPr anchor="ctr"/>
                </a:tc>
                <a:tc>
                  <a:txBody>
                    <a:bodyPr/>
                    <a:lstStyle/>
                    <a:p>
                      <a:pPr algn="ctr"/>
                      <a:r>
                        <a:rPr lang="en-US" altLang="zh-CN" sz="1400" dirty="0">
                          <a:solidFill>
                            <a:schemeClr val="tx1"/>
                          </a:solidFill>
                        </a:rPr>
                        <a:t>LOC</a:t>
                      </a:r>
                      <a:endParaRPr lang="zh-CN" altLang="en-US" sz="1400" dirty="0">
                        <a:solidFill>
                          <a:schemeClr val="tx1"/>
                        </a:solidFill>
                      </a:endParaRPr>
                    </a:p>
                  </a:txBody>
                  <a:tcPr anchor="ctr"/>
                </a:tc>
                <a:tc>
                  <a:txBody>
                    <a:bodyPr/>
                    <a:lstStyle/>
                    <a:p>
                      <a:pPr algn="ctr"/>
                      <a:r>
                        <a:rPr lang="en-US" altLang="zh-CN" sz="1400" dirty="0"/>
                        <a:t>RNP APCH</a:t>
                      </a:r>
                      <a:endParaRPr lang="zh-CN" altLang="en-US" sz="1400" dirty="0">
                        <a:solidFill>
                          <a:schemeClr val="tx1"/>
                        </a:solidFill>
                      </a:endParaRPr>
                    </a:p>
                  </a:txBody>
                  <a:tcPr anchor="ctr"/>
                </a:tc>
                <a:tc>
                  <a:txBody>
                    <a:bodyPr/>
                    <a:lstStyle/>
                    <a:p>
                      <a:pPr algn="ctr"/>
                      <a:r>
                        <a:rPr lang="en-US" altLang="zh-CN" sz="1400" dirty="0">
                          <a:solidFill>
                            <a:schemeClr val="tx1"/>
                          </a:solidFill>
                        </a:rPr>
                        <a:t>NDB</a:t>
                      </a:r>
                      <a:endParaRPr lang="en-US" altLang="zh-CN" sz="1400" dirty="0">
                        <a:solidFill>
                          <a:schemeClr val="tx1"/>
                        </a:solidFill>
                      </a:endParaRPr>
                    </a:p>
                  </a:txBody>
                  <a:tcPr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037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备降机场运行限制</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398887" y="1015742"/>
            <a:ext cx="8469630" cy="36461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sz="1400" dirty="0">
                <a:latin typeface="微软雅黑" panose="020B0503020204020204" charset="-122"/>
                <a:ea typeface="微软雅黑" panose="020B0503020204020204" charset="-122"/>
                <a:sym typeface="+mn-ea"/>
              </a:rPr>
              <a:t>1.</a:t>
            </a:r>
            <a:r>
              <a:rPr sz="1400" dirty="0">
                <a:latin typeface="微软雅黑" panose="020B0503020204020204" charset="-122"/>
                <a:ea typeface="微软雅黑" panose="020B0503020204020204" charset="-122"/>
                <a:sym typeface="+mn-ea"/>
              </a:rPr>
              <a:t>降落时，</a:t>
            </a:r>
            <a:r>
              <a:rPr lang="en-US" altLang="zh-CN" sz="1400" dirty="0">
                <a:latin typeface="微软雅黑" panose="020B0503020204020204" charset="-122"/>
                <a:ea typeface="微软雅黑" panose="020B0503020204020204" charset="-122"/>
                <a:sym typeface="+mn-ea"/>
              </a:rPr>
              <a:t>除怠速</a:t>
            </a:r>
            <a:r>
              <a:rPr lang="zh-CN" altLang="en-US" sz="1400" dirty="0">
                <a:latin typeface="微软雅黑" panose="020B0503020204020204" charset="-122"/>
                <a:ea typeface="微软雅黑" panose="020B0503020204020204" charset="-122"/>
                <a:sym typeface="+mn-ea"/>
              </a:rPr>
              <a:t>反</a:t>
            </a:r>
            <a:r>
              <a:rPr lang="en-US" altLang="zh-CN" sz="1400" dirty="0">
                <a:latin typeface="微软雅黑" panose="020B0503020204020204" charset="-122"/>
                <a:ea typeface="微软雅黑" panose="020B0503020204020204" charset="-122"/>
                <a:sym typeface="+mn-ea"/>
              </a:rPr>
              <a:t>推</a:t>
            </a:r>
            <a:r>
              <a:rPr lang="zh-CN"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idle reverse</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外，反推推力只能在必要安全原因下使用。</a:t>
            </a:r>
            <a:endParaRPr lang="zh-CN" altLang="en-US" sz="1400" dirty="0">
              <a:latin typeface="微软雅黑" panose="020B0503020204020204" charset="-122"/>
              <a:ea typeface="微软雅黑" panose="020B0503020204020204" charset="-122"/>
              <a:sym typeface="+mn-ea"/>
            </a:endParaRPr>
          </a:p>
          <a:p>
            <a:pPr algn="l">
              <a:lnSpc>
                <a:spcPct val="150000"/>
              </a:lnSpc>
            </a:pPr>
            <a:r>
              <a:rPr lang="en-US" altLang="zh-CN" sz="1400" dirty="0">
                <a:latin typeface="微软雅黑" panose="020B0503020204020204" charset="-122"/>
                <a:ea typeface="微软雅黑" panose="020B0503020204020204" charset="-122"/>
                <a:sym typeface="+mn-ea"/>
              </a:rPr>
              <a:t>2.</a:t>
            </a:r>
            <a:r>
              <a:rPr lang="zh-CN" altLang="en-US" sz="1400" dirty="0">
                <a:latin typeface="微软雅黑" panose="020B0503020204020204" charset="-122"/>
                <a:ea typeface="微软雅黑" panose="020B0503020204020204" charset="-122"/>
                <a:sym typeface="+mn-ea"/>
              </a:rPr>
              <a:t>夜间运行限制：</a:t>
            </a:r>
            <a:endParaRPr lang="zh-CN" altLang="en-US" sz="1400" dirty="0">
              <a:latin typeface="微软雅黑" panose="020B0503020204020204" charset="-122"/>
              <a:ea typeface="微软雅黑" panose="020B0503020204020204" charset="-122"/>
              <a:sym typeface="+mn-ea"/>
            </a:endParaRPr>
          </a:p>
          <a:p>
            <a:pPr algn="l">
              <a:lnSpc>
                <a:spcPct val="150000"/>
              </a:lnSpc>
            </a:pPr>
            <a:r>
              <a:rPr lang="zh-CN" altLang="en-US" sz="1200" dirty="0">
                <a:latin typeface="微软雅黑" panose="020B0503020204020204" charset="-122"/>
                <a:ea typeface="微软雅黑" panose="020B0503020204020204" charset="-122"/>
                <a:sym typeface="+mn-ea"/>
              </a:rPr>
              <a:t>在2200-0600LT期间，允许起飞和降落：</a:t>
            </a:r>
            <a:endParaRPr lang="zh-CN" altLang="en-US" sz="1200" dirty="0">
              <a:latin typeface="微软雅黑" panose="020B0503020204020204" charset="-122"/>
              <a:ea typeface="微软雅黑" panose="020B0503020204020204" charset="-122"/>
              <a:sym typeface="+mn-ea"/>
            </a:endParaRPr>
          </a:p>
          <a:p>
            <a:pPr algn="l">
              <a:lnSpc>
                <a:spcPct val="150000"/>
              </a:lnSpc>
            </a:pPr>
            <a:r>
              <a:rPr lang="zh-CN" altLang="en-US" sz="1200" dirty="0">
                <a:latin typeface="微软雅黑" panose="020B0503020204020204" charset="-122"/>
                <a:ea typeface="微软雅黑" panose="020B0503020204020204" charset="-122"/>
                <a:sym typeface="+mn-ea"/>
              </a:rPr>
              <a:t>- 使用按照国际民航组织附件16第1卷第3章获得噪音认证的喷气飞机；</a:t>
            </a:r>
            <a:endParaRPr lang="zh-CN" altLang="en-US" sz="1200" dirty="0">
              <a:latin typeface="微软雅黑" panose="020B0503020204020204" charset="-122"/>
              <a:ea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sym typeface="+mn-ea"/>
              </a:rPr>
              <a:t>-使用法兰克福-</a:t>
            </a:r>
            <a:r>
              <a:rPr lang="zh-CN" altLang="en-US" sz="1200" dirty="0">
                <a:latin typeface="微软雅黑" panose="020B0503020204020204" charset="-122"/>
                <a:ea typeface="微软雅黑" panose="020B0503020204020204" charset="-122"/>
                <a:sym typeface="+mn-ea"/>
              </a:rPr>
              <a:t>哈恩</a:t>
            </a:r>
            <a:r>
              <a:rPr lang="en-US" altLang="zh-CN" sz="1200" dirty="0">
                <a:latin typeface="微软雅黑" panose="020B0503020204020204" charset="-122"/>
                <a:ea typeface="微软雅黑" panose="020B0503020204020204" charset="-122"/>
                <a:sym typeface="+mn-ea"/>
              </a:rPr>
              <a:t>作为备降场的飞机进行降落，原因</a:t>
            </a:r>
            <a:r>
              <a:rPr lang="zh-CN" altLang="en-US" sz="1200" dirty="0">
                <a:latin typeface="微软雅黑" panose="020B0503020204020204" charset="-122"/>
                <a:ea typeface="微软雅黑" panose="020B0503020204020204" charset="-122"/>
                <a:sym typeface="+mn-ea"/>
              </a:rPr>
              <a:t>是基于</a:t>
            </a:r>
            <a:r>
              <a:rPr lang="en-US" altLang="zh-CN" sz="1200" dirty="0">
                <a:latin typeface="微软雅黑" panose="020B0503020204020204" charset="-122"/>
                <a:ea typeface="微软雅黑" panose="020B0503020204020204" charset="-122"/>
                <a:sym typeface="+mn-ea"/>
              </a:rPr>
              <a:t>天气、技术或其他可验证的安全原因；</a:t>
            </a:r>
            <a:endParaRPr lang="en-US" altLang="zh-CN" sz="1200" dirty="0">
              <a:latin typeface="微软雅黑" panose="020B0503020204020204" charset="-122"/>
              <a:ea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sym typeface="+mn-ea"/>
              </a:rPr>
              <a:t>-参与救灾和医疗援助飞行的起飞和降落；</a:t>
            </a:r>
            <a:endParaRPr lang="en-US" altLang="zh-CN" sz="1200" dirty="0">
              <a:latin typeface="微软雅黑" panose="020B0503020204020204" charset="-122"/>
              <a:ea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sym typeface="+mn-ea"/>
              </a:rPr>
              <a:t>-经主管机构即“Landesbetrieb Mobilitaet”批准的情况下，经过充分理由的特殊情况下为避免对航空交通造成重大干扰或基于特殊公共利益的其他紧迫原因批准的起飞和降落。</a:t>
            </a:r>
            <a:endParaRPr lang="en-US" altLang="zh-CN" sz="1200" dirty="0">
              <a:latin typeface="微软雅黑" panose="020B0503020204020204" charset="-122"/>
              <a:ea typeface="微软雅黑" panose="020B0503020204020204" charset="-122"/>
              <a:sym typeface="+mn-ea"/>
            </a:endParaRPr>
          </a:p>
          <a:p>
            <a:pPr algn="l">
              <a:lnSpc>
                <a:spcPct val="150000"/>
              </a:lnSpc>
            </a:pPr>
            <a:r>
              <a:rPr lang="en-US" altLang="zh-CN" sz="1200" dirty="0">
                <a:latin typeface="微软雅黑" panose="020B0503020204020204" charset="-122"/>
                <a:ea typeface="微软雅黑" panose="020B0503020204020204" charset="-122"/>
                <a:sym typeface="+mn-ea"/>
              </a:rPr>
              <a:t>在2200-0600LT期间，最大认证起飞重量超过14,000公斤（MTOM）的飞机不得进行目视进近（VFR）。</a:t>
            </a:r>
            <a:endParaRPr lang="en-US" altLang="zh-CN" sz="12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a:p>
            <a:pPr algn="l">
              <a:lnSpc>
                <a:spcPct val="150000"/>
              </a:lnSpc>
            </a:pPr>
            <a:endParaRPr lang="en-US" altLang="zh-CN" sz="14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13671" y="381893"/>
            <a:ext cx="2011680" cy="460375"/>
          </a:xfrm>
          <a:prstGeom prst="rect">
            <a:avLst/>
          </a:prstGeom>
          <a:noFill/>
        </p:spPr>
        <p:txBody>
          <a:bodyPr wrap="none" rtlCol="0" anchor="t">
            <a:spAutoFit/>
          </a:bodyPr>
          <a:lstStyle/>
          <a:p>
            <a:pPr algn="ctr"/>
            <a:r>
              <a:rPr lang="zh-CN" altLang="en-US" sz="2400" b="1" dirty="0">
                <a:latin typeface="微软雅黑" panose="020B0503020204020204" charset="-122"/>
                <a:ea typeface="微软雅黑" panose="020B0503020204020204" charset="-122"/>
                <a:sym typeface="+mn-ea"/>
              </a:rPr>
              <a:t>备降机场介绍</a:t>
            </a:r>
            <a:endParaRPr lang="zh-CN" altLang="en-US" sz="2400" b="1" dirty="0">
              <a:latin typeface="微软雅黑" panose="020B0503020204020204" charset="-122"/>
              <a:ea typeface="微软雅黑" panose="020B0503020204020204" charset="-122"/>
              <a:sym typeface="+mn-ea"/>
            </a:endParaRPr>
          </a:p>
        </p:txBody>
      </p:sp>
      <p:sp>
        <p:nvSpPr>
          <p:cNvPr id="3" name="TextBox 2"/>
          <p:cNvSpPr txBox="1"/>
          <p:nvPr/>
        </p:nvSpPr>
        <p:spPr>
          <a:xfrm>
            <a:off x="151130" y="699770"/>
            <a:ext cx="5212080" cy="3959860"/>
          </a:xfrm>
          <a:prstGeom prst="rect">
            <a:avLst/>
          </a:prstGeom>
          <a:noFill/>
          <a:ln w="12700" cmpd="sng">
            <a:noFill/>
            <a:prstDash val="solid"/>
          </a:ln>
        </p:spPr>
        <p:txBody>
          <a:bodyPr wrap="square" rtlCol="0">
            <a:noAutofit/>
          </a:bodyPr>
          <a:lstStyle/>
          <a:p>
            <a:pPr marL="0" lvl="3" indent="-342900">
              <a:lnSpc>
                <a:spcPct val="140000"/>
              </a:lnSpc>
              <a:buFont typeface="Wingdings" panose="05000000000000000000" pitchFamily="2" charset="2"/>
              <a:buChar char="Ø"/>
            </a:pPr>
            <a:r>
              <a:rPr lang="en-US" altLang="zh-CN"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EHAM</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阿姆斯特丹机场</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rPr>
              <a:t>简介</a:t>
            </a:r>
            <a:endParaRPr lang="zh-CN" altLang="en-US" dirty="0"/>
          </a:p>
          <a:p>
            <a:pPr marL="342900" indent="-342900" fontAlgn="auto">
              <a:lnSpc>
                <a:spcPct val="150000"/>
              </a:lnSpc>
              <a:buFont typeface="Arial" panose="020B0604020202020204" pitchFamily="34" charset="0"/>
              <a:buChar char="•"/>
            </a:pPr>
            <a:r>
              <a:rPr sz="1200" dirty="0">
                <a:latin typeface="微软雅黑" panose="020B0503020204020204" charset="-122"/>
                <a:ea typeface="微软雅黑" panose="020B0503020204020204" charset="-122"/>
              </a:rPr>
              <a:t>阿姆斯特丹史基浦机场（英语：Amsterdam Airport Schiphol，IATA：AMS，ICAO：EHAM），又译作阿姆斯特丹斯希普霍尔机场，也称阿姆斯特丹国际机场，位于荷兰王国北荷兰省哈莱默梅尔境内，东北距阿姆斯特丹市中心15千米，为4F级国际机场、大型国际枢纽机场，也是天合联盟的总部所在地</a:t>
            </a:r>
            <a:r>
              <a:rPr lang="zh-CN" altLang="en-US" sz="1200" dirty="0">
                <a:latin typeface="微软雅黑" panose="020B0503020204020204" charset="-122"/>
                <a:ea typeface="微软雅黑" panose="020B0503020204020204" charset="-122"/>
              </a:rPr>
              <a:t>。</a:t>
            </a:r>
            <a:endParaRPr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机场标高</a:t>
            </a:r>
            <a:r>
              <a:rPr lang="en-US" altLang="zh-CN" sz="1200" dirty="0">
                <a:latin typeface="微软雅黑" panose="020B0503020204020204" charset="-122"/>
                <a:ea typeface="微软雅黑" panose="020B0503020204020204" charset="-122"/>
              </a:rPr>
              <a:t>-11ft (</a:t>
            </a:r>
            <a:r>
              <a:rPr lang="zh-CN" altLang="en-US" sz="1200" dirty="0">
                <a:latin typeface="微软雅黑" panose="020B0503020204020204" charset="-122"/>
                <a:ea typeface="微软雅黑" panose="020B0503020204020204" charset="-122"/>
              </a:rPr>
              <a:t>海平面以下）。</a:t>
            </a:r>
            <a:endParaRPr lang="en-US" alt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共六条跑道，</a:t>
            </a:r>
            <a:endParaRPr lang="en-US" altLang="zh-CN" sz="1200" dirty="0">
              <a:latin typeface="微软雅黑" panose="020B0503020204020204" charset="-122"/>
              <a:ea typeface="微软雅黑" panose="020B0503020204020204" charset="-122"/>
            </a:endParaRPr>
          </a:p>
          <a:p>
            <a:pPr fontAlgn="auto">
              <a:lnSpc>
                <a:spcPct val="150000"/>
              </a:lnSpc>
            </a:pPr>
            <a:r>
              <a:rPr lang="zh-CN" altLang="en-US" sz="1200" dirty="0">
                <a:latin typeface="微软雅黑" panose="020B0503020204020204" charset="-122"/>
                <a:ea typeface="微软雅黑" panose="020B0503020204020204" charset="-122"/>
              </a:rPr>
              <a:t> 跑道</a:t>
            </a:r>
            <a:r>
              <a:rPr lang="en-US" altLang="zh-CN" sz="1200" dirty="0">
                <a:latin typeface="微软雅黑" panose="020B0503020204020204" charset="-122"/>
                <a:ea typeface="微软雅黑" panose="020B0503020204020204" charset="-122"/>
              </a:rPr>
              <a:t>04/22</a:t>
            </a:r>
            <a:r>
              <a:rPr lang="zh-CN" altLang="en-US" sz="1200" dirty="0">
                <a:latin typeface="微软雅黑" panose="020B0503020204020204" charset="-122"/>
                <a:ea typeface="微软雅黑" panose="020B0503020204020204" charset="-122"/>
              </a:rPr>
              <a:t>，长</a:t>
            </a:r>
            <a:r>
              <a:rPr lang="en-US" altLang="zh-CN" sz="1200" dirty="0">
                <a:latin typeface="微软雅黑" panose="020B0503020204020204" charset="-122"/>
                <a:ea typeface="微软雅黑" panose="020B0503020204020204" charset="-122"/>
              </a:rPr>
              <a:t>2020</a:t>
            </a:r>
            <a:r>
              <a:rPr lang="zh-CN" altLang="en-US" sz="1200" dirty="0">
                <a:latin typeface="微软雅黑" panose="020B0503020204020204" charset="-122"/>
                <a:ea typeface="微软雅黑" panose="020B0503020204020204" charset="-122"/>
              </a:rPr>
              <a:t>米，宽</a:t>
            </a:r>
            <a:r>
              <a:rPr lang="en-US" altLang="zh-CN" sz="1200" dirty="0">
                <a:latin typeface="微软雅黑" panose="020B0503020204020204" charset="-122"/>
                <a:ea typeface="微软雅黑" panose="020B0503020204020204" charset="-122"/>
              </a:rPr>
              <a:t>45</a:t>
            </a:r>
            <a:r>
              <a:rPr lang="zh-CN" altLang="en-US" sz="1200" dirty="0">
                <a:latin typeface="微软雅黑" panose="020B0503020204020204" charset="-122"/>
                <a:ea typeface="微软雅黑" panose="020B0503020204020204" charset="-122"/>
              </a:rPr>
              <a:t>米；</a:t>
            </a:r>
            <a:r>
              <a:rPr lang="zh-CN" altLang="en-US" sz="1200" dirty="0">
                <a:latin typeface="微软雅黑" panose="020B0503020204020204" charset="-122"/>
                <a:ea typeface="微软雅黑" panose="020B0503020204020204" charset="-122"/>
                <a:sym typeface="+mn-ea"/>
              </a:rPr>
              <a:t>跑道</a:t>
            </a:r>
            <a:r>
              <a:rPr lang="en-US" altLang="zh-CN" sz="1200" dirty="0">
                <a:latin typeface="微软雅黑" panose="020B0503020204020204" charset="-122"/>
                <a:ea typeface="微软雅黑" panose="020B0503020204020204" charset="-122"/>
                <a:sym typeface="+mn-ea"/>
              </a:rPr>
              <a:t>06/24</a:t>
            </a:r>
            <a:r>
              <a:rPr lang="zh-CN" altLang="en-US" sz="1200" dirty="0">
                <a:latin typeface="微软雅黑" panose="020B0503020204020204" charset="-122"/>
                <a:ea typeface="微软雅黑" panose="020B0503020204020204" charset="-122"/>
                <a:sym typeface="+mn-ea"/>
              </a:rPr>
              <a:t>，长</a:t>
            </a:r>
            <a:r>
              <a:rPr lang="en-US" altLang="zh-CN" sz="1200" dirty="0">
                <a:latin typeface="微软雅黑" panose="020B0503020204020204" charset="-122"/>
                <a:ea typeface="微软雅黑" panose="020B0503020204020204" charset="-122"/>
                <a:sym typeface="+mn-ea"/>
              </a:rPr>
              <a:t>3439</a:t>
            </a:r>
            <a:r>
              <a:rPr lang="zh-CN" altLang="en-US" sz="1200" dirty="0">
                <a:latin typeface="微软雅黑" panose="020B0503020204020204" charset="-122"/>
                <a:ea typeface="微软雅黑" panose="020B0503020204020204" charset="-122"/>
                <a:sym typeface="+mn-ea"/>
              </a:rPr>
              <a:t>米，宽</a:t>
            </a:r>
            <a:r>
              <a:rPr lang="en-US" altLang="zh-CN" sz="1200" dirty="0">
                <a:latin typeface="微软雅黑" panose="020B0503020204020204" charset="-122"/>
                <a:ea typeface="微软雅黑" panose="020B0503020204020204" charset="-122"/>
                <a:sym typeface="+mn-ea"/>
              </a:rPr>
              <a:t>45</a:t>
            </a:r>
            <a:r>
              <a:rPr lang="zh-CN" altLang="en-US" sz="1200" dirty="0">
                <a:latin typeface="微软雅黑" panose="020B0503020204020204" charset="-122"/>
                <a:ea typeface="微软雅黑" panose="020B0503020204020204" charset="-122"/>
                <a:sym typeface="+mn-ea"/>
              </a:rPr>
              <a:t>米；</a:t>
            </a:r>
            <a:endParaRPr lang="zh-CN" altLang="en-US" sz="1200" dirty="0">
              <a:latin typeface="微软雅黑" panose="020B0503020204020204" charset="-122"/>
              <a:ea typeface="微软雅黑" panose="020B0503020204020204" charset="-122"/>
              <a:sym typeface="+mn-ea"/>
            </a:endParaRPr>
          </a:p>
          <a:p>
            <a:pPr fontAlgn="auto">
              <a:lnSpc>
                <a:spcPct val="150000"/>
              </a:lnSpc>
            </a:pPr>
            <a:r>
              <a:rPr lang="en-US" altLang="zh-CN" sz="1200" dirty="0">
                <a:latin typeface="微软雅黑" panose="020B0503020204020204" charset="-122"/>
                <a:ea typeface="微软雅黑" panose="020B0503020204020204" charset="-122"/>
                <a:sym typeface="+mn-ea"/>
              </a:rPr>
              <a:t> </a:t>
            </a:r>
            <a:r>
              <a:rPr lang="zh-CN" altLang="en-US" sz="1200" dirty="0">
                <a:latin typeface="微软雅黑" panose="020B0503020204020204" charset="-122"/>
                <a:ea typeface="微软雅黑" panose="020B0503020204020204" charset="-122"/>
                <a:sym typeface="+mn-ea"/>
              </a:rPr>
              <a:t>跑道</a:t>
            </a:r>
            <a:r>
              <a:rPr lang="en-US" altLang="zh-CN" sz="1200" dirty="0">
                <a:latin typeface="微软雅黑" panose="020B0503020204020204" charset="-122"/>
                <a:ea typeface="微软雅黑" panose="020B0503020204020204" charset="-122"/>
                <a:sym typeface="+mn-ea"/>
              </a:rPr>
              <a:t>09/27</a:t>
            </a:r>
            <a:r>
              <a:rPr lang="zh-CN" altLang="en-US" sz="1200" dirty="0">
                <a:latin typeface="微软雅黑" panose="020B0503020204020204" charset="-122"/>
                <a:ea typeface="微软雅黑" panose="020B0503020204020204" charset="-122"/>
                <a:sym typeface="+mn-ea"/>
              </a:rPr>
              <a:t>，长</a:t>
            </a:r>
            <a:r>
              <a:rPr lang="en-US" altLang="zh-CN" sz="1200" dirty="0">
                <a:latin typeface="微软雅黑" panose="020B0503020204020204" charset="-122"/>
                <a:ea typeface="微软雅黑" panose="020B0503020204020204" charset="-122"/>
                <a:sym typeface="+mn-ea"/>
              </a:rPr>
              <a:t>3453</a:t>
            </a:r>
            <a:r>
              <a:rPr lang="zh-CN" altLang="en-US" sz="1200" dirty="0">
                <a:latin typeface="微软雅黑" panose="020B0503020204020204" charset="-122"/>
                <a:ea typeface="微软雅黑" panose="020B0503020204020204" charset="-122"/>
                <a:sym typeface="+mn-ea"/>
              </a:rPr>
              <a:t>米，宽</a:t>
            </a:r>
            <a:r>
              <a:rPr lang="en-US" altLang="zh-CN" sz="1200" dirty="0">
                <a:latin typeface="微软雅黑" panose="020B0503020204020204" charset="-122"/>
                <a:ea typeface="微软雅黑" panose="020B0503020204020204" charset="-122"/>
                <a:sym typeface="+mn-ea"/>
              </a:rPr>
              <a:t>45</a:t>
            </a:r>
            <a:r>
              <a:rPr lang="zh-CN" altLang="en-US" sz="1200" dirty="0">
                <a:latin typeface="微软雅黑" panose="020B0503020204020204" charset="-122"/>
                <a:ea typeface="微软雅黑" panose="020B0503020204020204" charset="-122"/>
                <a:sym typeface="+mn-ea"/>
              </a:rPr>
              <a:t>米；跑道</a:t>
            </a:r>
            <a:r>
              <a:rPr lang="en-US" altLang="zh-CN" sz="1200" dirty="0">
                <a:latin typeface="微软雅黑" panose="020B0503020204020204" charset="-122"/>
                <a:ea typeface="微软雅黑" panose="020B0503020204020204" charset="-122"/>
                <a:sym typeface="+mn-ea"/>
              </a:rPr>
              <a:t>18C/36C</a:t>
            </a:r>
            <a:r>
              <a:rPr lang="zh-CN" altLang="en-US" sz="1200" dirty="0">
                <a:latin typeface="微软雅黑" panose="020B0503020204020204" charset="-122"/>
                <a:ea typeface="微软雅黑" panose="020B0503020204020204" charset="-122"/>
                <a:sym typeface="+mn-ea"/>
              </a:rPr>
              <a:t>，长</a:t>
            </a:r>
            <a:r>
              <a:rPr lang="en-US" altLang="zh-CN" sz="1200" dirty="0">
                <a:latin typeface="微软雅黑" panose="020B0503020204020204" charset="-122"/>
                <a:ea typeface="微软雅黑" panose="020B0503020204020204" charset="-122"/>
                <a:sym typeface="+mn-ea"/>
              </a:rPr>
              <a:t>3300</a:t>
            </a:r>
            <a:r>
              <a:rPr lang="zh-CN" altLang="en-US" sz="1200" dirty="0">
                <a:latin typeface="微软雅黑" panose="020B0503020204020204" charset="-122"/>
                <a:ea typeface="微软雅黑" panose="020B0503020204020204" charset="-122"/>
                <a:sym typeface="+mn-ea"/>
              </a:rPr>
              <a:t>米，宽</a:t>
            </a:r>
            <a:r>
              <a:rPr lang="en-US" altLang="zh-CN" sz="1200" dirty="0">
                <a:latin typeface="微软雅黑" panose="020B0503020204020204" charset="-122"/>
                <a:ea typeface="微软雅黑" panose="020B0503020204020204" charset="-122"/>
                <a:sym typeface="+mn-ea"/>
              </a:rPr>
              <a:t>45</a:t>
            </a:r>
            <a:r>
              <a:rPr lang="zh-CN" altLang="en-US" sz="1200" dirty="0">
                <a:latin typeface="微软雅黑" panose="020B0503020204020204" charset="-122"/>
                <a:ea typeface="微软雅黑" panose="020B0503020204020204" charset="-122"/>
                <a:sym typeface="+mn-ea"/>
              </a:rPr>
              <a:t>米；</a:t>
            </a:r>
            <a:endParaRPr lang="zh-CN" altLang="en-US" sz="1200" dirty="0">
              <a:latin typeface="微软雅黑" panose="020B0503020204020204" charset="-122"/>
              <a:ea typeface="微软雅黑" panose="020B0503020204020204" charset="-122"/>
              <a:sym typeface="+mn-ea"/>
            </a:endParaRPr>
          </a:p>
          <a:p>
            <a:pPr fontAlgn="auto">
              <a:lnSpc>
                <a:spcPct val="150000"/>
              </a:lnSpc>
            </a:pPr>
            <a:r>
              <a:rPr lang="zh-CN" altLang="en-US" sz="1200" dirty="0">
                <a:latin typeface="微软雅黑" panose="020B0503020204020204" charset="-122"/>
                <a:ea typeface="微软雅黑" panose="020B0503020204020204" charset="-122"/>
                <a:sym typeface="+mn-ea"/>
              </a:rPr>
              <a:t>跑道</a:t>
            </a:r>
            <a:r>
              <a:rPr lang="en-US" altLang="zh-CN" sz="1200" dirty="0">
                <a:latin typeface="微软雅黑" panose="020B0503020204020204" charset="-122"/>
                <a:ea typeface="微软雅黑" panose="020B0503020204020204" charset="-122"/>
                <a:sym typeface="+mn-ea"/>
              </a:rPr>
              <a:t>18L/36R</a:t>
            </a:r>
            <a:r>
              <a:rPr lang="zh-CN" altLang="en-US" sz="1200" dirty="0">
                <a:latin typeface="微软雅黑" panose="020B0503020204020204" charset="-122"/>
                <a:ea typeface="微软雅黑" panose="020B0503020204020204" charset="-122"/>
                <a:sym typeface="+mn-ea"/>
              </a:rPr>
              <a:t>，长</a:t>
            </a:r>
            <a:r>
              <a:rPr lang="en-US" altLang="zh-CN" sz="1200" dirty="0">
                <a:latin typeface="微软雅黑" panose="020B0503020204020204" charset="-122"/>
                <a:ea typeface="微软雅黑" panose="020B0503020204020204" charset="-122"/>
                <a:sym typeface="+mn-ea"/>
              </a:rPr>
              <a:t>3400</a:t>
            </a:r>
            <a:r>
              <a:rPr lang="zh-CN" altLang="en-US" sz="1200" dirty="0">
                <a:latin typeface="微软雅黑" panose="020B0503020204020204" charset="-122"/>
                <a:ea typeface="微软雅黑" panose="020B0503020204020204" charset="-122"/>
                <a:sym typeface="+mn-ea"/>
              </a:rPr>
              <a:t>米，宽</a:t>
            </a:r>
            <a:r>
              <a:rPr lang="en-US" altLang="zh-CN" sz="1200" dirty="0">
                <a:latin typeface="微软雅黑" panose="020B0503020204020204" charset="-122"/>
                <a:ea typeface="微软雅黑" panose="020B0503020204020204" charset="-122"/>
                <a:sym typeface="+mn-ea"/>
              </a:rPr>
              <a:t>45</a:t>
            </a:r>
            <a:r>
              <a:rPr lang="zh-CN" altLang="en-US" sz="1200" dirty="0">
                <a:latin typeface="微软雅黑" panose="020B0503020204020204" charset="-122"/>
                <a:ea typeface="微软雅黑" panose="020B0503020204020204" charset="-122"/>
                <a:sym typeface="+mn-ea"/>
              </a:rPr>
              <a:t>米；跑道</a:t>
            </a:r>
            <a:r>
              <a:rPr lang="en-US" altLang="zh-CN" sz="1200" dirty="0">
                <a:latin typeface="微软雅黑" panose="020B0503020204020204" charset="-122"/>
                <a:ea typeface="微软雅黑" panose="020B0503020204020204" charset="-122"/>
                <a:sym typeface="+mn-ea"/>
              </a:rPr>
              <a:t>18R/36L</a:t>
            </a:r>
            <a:r>
              <a:rPr lang="zh-CN" altLang="en-US" sz="1200" dirty="0">
                <a:latin typeface="微软雅黑" panose="020B0503020204020204" charset="-122"/>
                <a:ea typeface="微软雅黑" panose="020B0503020204020204" charset="-122"/>
                <a:sym typeface="+mn-ea"/>
              </a:rPr>
              <a:t>，长</a:t>
            </a:r>
            <a:r>
              <a:rPr lang="en-US" altLang="zh-CN" sz="1200" dirty="0">
                <a:latin typeface="微软雅黑" panose="020B0503020204020204" charset="-122"/>
                <a:ea typeface="微软雅黑" panose="020B0503020204020204" charset="-122"/>
                <a:sym typeface="+mn-ea"/>
              </a:rPr>
              <a:t>3800</a:t>
            </a:r>
            <a:r>
              <a:rPr lang="zh-CN" altLang="en-US" sz="1200" dirty="0">
                <a:latin typeface="微软雅黑" panose="020B0503020204020204" charset="-122"/>
                <a:ea typeface="微软雅黑" panose="020B0503020204020204" charset="-122"/>
                <a:sym typeface="+mn-ea"/>
              </a:rPr>
              <a:t>米，宽</a:t>
            </a:r>
            <a:r>
              <a:rPr lang="en-US" altLang="zh-CN" sz="1200" dirty="0">
                <a:latin typeface="微软雅黑" panose="020B0503020204020204" charset="-122"/>
                <a:ea typeface="微软雅黑" panose="020B0503020204020204" charset="-122"/>
                <a:sym typeface="+mn-ea"/>
              </a:rPr>
              <a:t>60</a:t>
            </a:r>
            <a:r>
              <a:rPr lang="zh-CN" altLang="en-US" sz="1200" dirty="0">
                <a:latin typeface="微软雅黑" panose="020B0503020204020204" charset="-122"/>
                <a:ea typeface="微软雅黑" panose="020B0503020204020204" charset="-122"/>
                <a:sym typeface="+mn-ea"/>
              </a:rPr>
              <a:t>米</a:t>
            </a:r>
            <a:r>
              <a:rPr lang="en-US" altLang="zh-CN" sz="1200" dirty="0">
                <a:latin typeface="微软雅黑" panose="020B0503020204020204" charset="-122"/>
                <a:ea typeface="微软雅黑" panose="020B0503020204020204" charset="-122"/>
                <a:sym typeface="+mn-ea"/>
              </a:rPr>
              <a:t>;</a:t>
            </a:r>
            <a:endParaRPr lang="zh-CN" altLang="en-US" sz="1200" dirty="0">
              <a:latin typeface="微软雅黑" panose="020B0503020204020204" charset="-122"/>
              <a:ea typeface="微软雅黑" panose="020B0503020204020204" charset="-122"/>
              <a:sym typeface="+mn-ea"/>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运行时间：</a:t>
            </a:r>
            <a:r>
              <a:rPr lang="en-US" altLang="zh-CN" sz="1200" dirty="0">
                <a:latin typeface="微软雅黑" panose="020B0503020204020204" charset="-122"/>
                <a:ea typeface="微软雅黑" panose="020B0503020204020204" charset="-122"/>
              </a:rPr>
              <a:t>H24</a:t>
            </a:r>
            <a:endParaRPr lang="en-US" alt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消防等级</a:t>
            </a:r>
            <a:r>
              <a:rPr lang="en-US" altLang="zh-CN" sz="1200" dirty="0">
                <a:latin typeface="微软雅黑" panose="020B0503020204020204" charset="-122"/>
                <a:ea typeface="微软雅黑" panose="020B0503020204020204" charset="-122"/>
              </a:rPr>
              <a:t>10</a:t>
            </a:r>
            <a:r>
              <a:rPr lang="zh-CN" altLang="en-US" sz="1200" dirty="0">
                <a:latin typeface="微软雅黑" panose="020B0503020204020204" charset="-122"/>
                <a:ea typeface="微软雅黑" panose="020B0503020204020204" charset="-122"/>
              </a:rPr>
              <a:t>级。</a:t>
            </a:r>
            <a:endParaRPr lang="zh-CN" altLang="en-US" sz="1200" dirty="0">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a:stretch>
            <a:fillRect/>
          </a:stretch>
        </p:blipFill>
        <p:spPr>
          <a:xfrm>
            <a:off x="5579745" y="771525"/>
            <a:ext cx="3261995" cy="40506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166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备降机场飞行程序</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726547" y="1318637"/>
            <a:ext cx="8469630" cy="1383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sz="1400" dirty="0">
                <a:latin typeface="微软雅黑" panose="020B0503020204020204" charset="-122"/>
                <a:ea typeface="微软雅黑" panose="020B0503020204020204" charset="-122"/>
                <a:sym typeface="+mn-ea"/>
              </a:rPr>
              <a:t>阿姆斯特丹</a:t>
            </a:r>
            <a:r>
              <a:rPr lang="zh-CN" altLang="en-US" sz="1400" dirty="0">
                <a:latin typeface="微软雅黑" panose="020B0503020204020204" charset="-122"/>
                <a:ea typeface="微软雅黑" panose="020B0503020204020204" charset="-122"/>
                <a:sym typeface="+mn-ea"/>
              </a:rPr>
              <a:t>机场（</a:t>
            </a:r>
            <a:r>
              <a:rPr lang="en-US" altLang="zh-CN" sz="1400" dirty="0">
                <a:latin typeface="微软雅黑" panose="020B0503020204020204" charset="-122"/>
                <a:ea typeface="微软雅黑" panose="020B0503020204020204" charset="-122"/>
                <a:sym typeface="+mn-ea"/>
              </a:rPr>
              <a:t>EHAM</a:t>
            </a:r>
            <a:r>
              <a:rPr lang="zh-CN" altLang="en-US"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rPr>
              <a:t>飞行程序</a:t>
            </a:r>
            <a:endParaRPr lang="en-US" altLang="zh-CN" sz="1400" dirty="0">
              <a:latin typeface="微软雅黑" panose="020B0503020204020204" charset="-122"/>
              <a:ea typeface="微软雅黑" panose="020B0503020204020204" charset="-122"/>
            </a:endParaRPr>
          </a:p>
          <a:p>
            <a:pPr>
              <a:lnSpc>
                <a:spcPct val="150000"/>
              </a:lnSpc>
            </a:pPr>
            <a:r>
              <a:rPr lang="zh-CN" altLang="en-US" sz="1400" dirty="0">
                <a:latin typeface="微软雅黑" panose="020B0503020204020204" charset="-122"/>
                <a:ea typeface="微软雅黑" panose="020B0503020204020204" charset="-122"/>
                <a:sym typeface="+mn-ea"/>
              </a:rPr>
              <a:t>公布有</a:t>
            </a:r>
            <a:r>
              <a:rPr lang="en-US" altLang="zh-CN" sz="1400" dirty="0">
                <a:latin typeface="微软雅黑" panose="020B0503020204020204" charset="-122"/>
                <a:ea typeface="微软雅黑" panose="020B0503020204020204" charset="-122"/>
                <a:sym typeface="+mn-ea"/>
              </a:rPr>
              <a:t>RNAV1</a:t>
            </a:r>
            <a:r>
              <a:rPr lang="zh-CN" altLang="en-US" sz="1400" dirty="0">
                <a:latin typeface="微软雅黑" panose="020B0503020204020204" charset="-122"/>
                <a:ea typeface="微软雅黑" panose="020B0503020204020204" charset="-122"/>
                <a:sym typeface="+mn-ea"/>
              </a:rPr>
              <a:t>进离场程序。也公布了传统离场程序。</a:t>
            </a:r>
            <a:endParaRPr lang="zh-CN" altLang="en-US" sz="1400" dirty="0">
              <a:latin typeface="微软雅黑" panose="020B0503020204020204" charset="-122"/>
              <a:ea typeface="微软雅黑" panose="020B0503020204020204" charset="-122"/>
              <a:sym typeface="+mn-ea"/>
            </a:endParaRPr>
          </a:p>
          <a:p>
            <a:pPr>
              <a:lnSpc>
                <a:spcPct val="150000"/>
              </a:lnSpc>
            </a:pPr>
            <a:r>
              <a:rPr lang="en-US" altLang="zh-CN" sz="1400" dirty="0">
                <a:latin typeface="微软雅黑" panose="020B0503020204020204" charset="-122"/>
                <a:ea typeface="微软雅黑" panose="020B0503020204020204" charset="-122"/>
                <a:sym typeface="+mn-ea"/>
              </a:rPr>
              <a:t>RWY 18C/36C</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06</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22</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27</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18R</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36R</a:t>
            </a:r>
            <a:r>
              <a:rPr lang="zh-CN" altLang="en-US" sz="1400" dirty="0">
                <a:latin typeface="微软雅黑" panose="020B0503020204020204" charset="-122"/>
                <a:ea typeface="微软雅黑" panose="020B0503020204020204" charset="-122"/>
                <a:sym typeface="+mn-ea"/>
              </a:rPr>
              <a:t>公布了</a:t>
            </a:r>
            <a:r>
              <a:rPr lang="en-US" altLang="zh-CN" sz="1400" dirty="0">
                <a:latin typeface="微软雅黑" panose="020B0503020204020204" charset="-122"/>
                <a:ea typeface="微软雅黑" panose="020B0503020204020204" charset="-122"/>
                <a:sym typeface="+mn-ea"/>
              </a:rPr>
              <a:t>ILS</a:t>
            </a:r>
            <a:r>
              <a:rPr lang="zh-CN" altLang="en-US" sz="1400" dirty="0">
                <a:latin typeface="微软雅黑" panose="020B0503020204020204" charset="-122"/>
                <a:ea typeface="微软雅黑" panose="020B0503020204020204" charset="-122"/>
                <a:sym typeface="+mn-ea"/>
              </a:rPr>
              <a:t>，</a:t>
            </a:r>
            <a:endParaRPr lang="zh-CN" altLang="en-US" sz="1400" dirty="0">
              <a:latin typeface="微软雅黑" panose="020B0503020204020204" charset="-122"/>
              <a:ea typeface="微软雅黑" panose="020B0503020204020204" charset="-122"/>
              <a:sym typeface="+mn-ea"/>
            </a:endParaRPr>
          </a:p>
          <a:p>
            <a:pPr>
              <a:lnSpc>
                <a:spcPct val="150000"/>
              </a:lnSpc>
            </a:pPr>
            <a:r>
              <a:rPr lang="en-US" altLang="zh-CN" sz="1400" dirty="0">
                <a:latin typeface="微软雅黑" panose="020B0503020204020204" charset="-122"/>
                <a:ea typeface="微软雅黑" panose="020B0503020204020204" charset="-122"/>
                <a:sym typeface="+mn-ea"/>
              </a:rPr>
              <a:t>RWY 18C/36C</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06/24</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04/22</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27</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18R</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 36R</a:t>
            </a:r>
            <a:r>
              <a:rPr lang="zh-CN" altLang="en-US" sz="1400" dirty="0">
                <a:latin typeface="微软雅黑" panose="020B0503020204020204" charset="-122"/>
                <a:ea typeface="微软雅黑" panose="020B0503020204020204" charset="-122"/>
                <a:sym typeface="+mn-ea"/>
              </a:rPr>
              <a:t>公布了</a:t>
            </a:r>
            <a:r>
              <a:rPr lang="en-US" altLang="zh-CN" sz="1400" dirty="0">
                <a:latin typeface="微软雅黑" panose="020B0503020204020204" charset="-122"/>
                <a:ea typeface="微软雅黑" panose="020B0503020204020204" charset="-122"/>
                <a:sym typeface="+mn-ea"/>
              </a:rPr>
              <a:t>RNP APCH</a:t>
            </a:r>
            <a:r>
              <a:rPr lang="zh-CN" altLang="en-US" sz="1400" dirty="0">
                <a:latin typeface="微软雅黑" panose="020B0503020204020204" charset="-122"/>
                <a:ea typeface="微软雅黑" panose="020B0503020204020204" charset="-122"/>
                <a:sym typeface="+mn-ea"/>
              </a:rPr>
              <a:t>。</a:t>
            </a:r>
            <a:endParaRPr lang="zh-CN" altLang="en-US" sz="1400" dirty="0">
              <a:latin typeface="微软雅黑" panose="020B0503020204020204" charset="-122"/>
              <a:ea typeface="微软雅黑" panose="020B0503020204020204" charset="-122"/>
              <a:sym typeface="+mn-ea"/>
            </a:endParaRPr>
          </a:p>
        </p:txBody>
      </p:sp>
      <p:graphicFrame>
        <p:nvGraphicFramePr>
          <p:cNvPr id="6" name="表格 5"/>
          <p:cNvGraphicFramePr>
            <a:graphicFrameLocks noGrp="1"/>
          </p:cNvGraphicFramePr>
          <p:nvPr>
            <p:custDataLst>
              <p:tags r:id="rId1"/>
            </p:custDataLst>
          </p:nvPr>
        </p:nvGraphicFramePr>
        <p:xfrm>
          <a:off x="827331" y="3220209"/>
          <a:ext cx="6275278" cy="883920"/>
        </p:xfrm>
        <a:graphic>
          <a:graphicData uri="http://schemas.openxmlformats.org/drawingml/2006/table">
            <a:tbl>
              <a:tblPr firstRow="1" bandRow="1">
                <a:tableStyleId>{93296810-A885-4BE3-A3E7-6D5BEEA58F35}</a:tableStyleId>
              </a:tblPr>
              <a:tblGrid>
                <a:gridCol w="1007110"/>
                <a:gridCol w="1056005"/>
                <a:gridCol w="1082675"/>
                <a:gridCol w="915670"/>
                <a:gridCol w="1195124"/>
                <a:gridCol w="1018694"/>
              </a:tblGrid>
              <a:tr h="330679">
                <a:tc>
                  <a:txBody>
                    <a:bodyPr/>
                    <a:lstStyle/>
                    <a:p>
                      <a:pPr algn="ctr"/>
                      <a:r>
                        <a:rPr lang="zh-CN" altLang="en-US" dirty="0"/>
                        <a:t>离场</a:t>
                      </a:r>
                      <a:endParaRPr lang="zh-CN" altLang="en-US" dirty="0"/>
                    </a:p>
                  </a:txBody>
                  <a:tcPr/>
                </a:tc>
                <a:tc>
                  <a:txBody>
                    <a:bodyPr/>
                    <a:lstStyle/>
                    <a:p>
                      <a:pPr algn="ctr"/>
                      <a:r>
                        <a:rPr lang="zh-CN" altLang="en-US" dirty="0"/>
                        <a:t>进场</a:t>
                      </a:r>
                      <a:endParaRPr lang="zh-CN" altLang="en-US" dirty="0"/>
                    </a:p>
                  </a:txBody>
                  <a:tcPr/>
                </a:tc>
                <a:tc gridSpan="4">
                  <a:txBody>
                    <a:bodyPr/>
                    <a:lstStyle/>
                    <a:p>
                      <a:pPr algn="ctr"/>
                      <a:r>
                        <a:rPr lang="zh-CN" altLang="en-US" dirty="0"/>
                        <a:t>进近</a:t>
                      </a:r>
                      <a:endParaRPr lang="zh-CN" altLang="en-US" dirty="0"/>
                    </a:p>
                  </a:txBody>
                  <a:tcPr/>
                </a:tc>
                <a:tc hMerge="1">
                  <a:tcPr/>
                </a:tc>
                <a:tc hMerge="1">
                  <a:tcPr/>
                </a:tc>
                <a:tc hMerge="1">
                  <a:tcPr/>
                </a:tc>
              </a:tr>
              <a:tr h="426328">
                <a:tc>
                  <a:txBody>
                    <a:bodyPr/>
                    <a:lstStyle/>
                    <a:p>
                      <a:pPr algn="ctr"/>
                      <a:r>
                        <a:rPr lang="en-US" altLang="zh-CN" sz="1400" dirty="0">
                          <a:solidFill>
                            <a:schemeClr val="tx1"/>
                          </a:solidFill>
                        </a:rPr>
                        <a:t>RNAV1</a:t>
                      </a:r>
                      <a:endParaRPr lang="en-US" altLang="zh-CN" sz="1400" dirty="0">
                        <a:solidFill>
                          <a:schemeClr val="tx1"/>
                        </a:solidFill>
                      </a:endParaRPr>
                    </a:p>
                    <a:p>
                      <a:pPr algn="ctr"/>
                      <a:r>
                        <a:rPr lang="zh-CN" altLang="en-US" sz="1400" dirty="0">
                          <a:solidFill>
                            <a:schemeClr val="tx1"/>
                          </a:solidFill>
                        </a:rPr>
                        <a:t>传统</a:t>
                      </a:r>
                      <a:endParaRPr lang="zh-CN" altLang="en-US" sz="1400" dirty="0">
                        <a:solidFill>
                          <a:schemeClr val="tx1"/>
                        </a:solidFill>
                      </a:endParaRPr>
                    </a:p>
                  </a:txBody>
                  <a:tcPr anchor="ctr"/>
                </a:tc>
                <a:tc>
                  <a:txBody>
                    <a:bodyPr/>
                    <a:lstStyle/>
                    <a:p>
                      <a:pPr algn="ctr"/>
                      <a:r>
                        <a:rPr lang="en-US" altLang="zh-CN" sz="1400" dirty="0">
                          <a:solidFill>
                            <a:schemeClr val="tx1"/>
                          </a:solidFill>
                        </a:rPr>
                        <a:t>RNAV1</a:t>
                      </a:r>
                      <a:endParaRPr lang="en-US" altLang="zh-CN" sz="1400" dirty="0">
                        <a:solidFill>
                          <a:schemeClr val="tx1"/>
                        </a:solidFill>
                      </a:endParaRPr>
                    </a:p>
                  </a:txBody>
                  <a:tcPr anchor="ctr"/>
                </a:tc>
                <a:tc>
                  <a:txBody>
                    <a:bodyPr/>
                    <a:lstStyle/>
                    <a:p>
                      <a:pPr algn="ctr"/>
                      <a:r>
                        <a:rPr lang="en-US" altLang="zh-CN" sz="1400" dirty="0"/>
                        <a:t>ILS</a:t>
                      </a:r>
                      <a:endParaRPr lang="zh-CN" altLang="en-US" sz="1400" dirty="0">
                        <a:solidFill>
                          <a:schemeClr val="tx1"/>
                        </a:solidFill>
                      </a:endParaRPr>
                    </a:p>
                  </a:txBody>
                  <a:tcPr anchor="ctr"/>
                </a:tc>
                <a:tc>
                  <a:txBody>
                    <a:bodyPr/>
                    <a:lstStyle/>
                    <a:p>
                      <a:pPr algn="ctr"/>
                      <a:r>
                        <a:rPr lang="en-US" altLang="zh-CN" sz="1400" dirty="0">
                          <a:solidFill>
                            <a:schemeClr val="tx1"/>
                          </a:solidFill>
                        </a:rPr>
                        <a:t>LOC</a:t>
                      </a:r>
                      <a:endParaRPr lang="zh-CN" altLang="en-US" sz="1400" dirty="0">
                        <a:solidFill>
                          <a:schemeClr val="tx1"/>
                        </a:solidFill>
                      </a:endParaRPr>
                    </a:p>
                  </a:txBody>
                  <a:tcPr anchor="ctr"/>
                </a:tc>
                <a:tc>
                  <a:txBody>
                    <a:bodyPr/>
                    <a:lstStyle/>
                    <a:p>
                      <a:pPr algn="ctr"/>
                      <a:r>
                        <a:rPr lang="en-US" altLang="zh-CN" sz="1400" dirty="0"/>
                        <a:t>RNP APCH</a:t>
                      </a:r>
                      <a:endParaRPr lang="zh-CN" altLang="en-US" sz="1400" dirty="0">
                        <a:solidFill>
                          <a:schemeClr val="tx1"/>
                        </a:solidFill>
                      </a:endParaRPr>
                    </a:p>
                  </a:txBody>
                  <a:tcPr anchor="ctr"/>
                </a:tc>
                <a:tc>
                  <a:txBody>
                    <a:bodyPr/>
                    <a:lstStyle/>
                    <a:p>
                      <a:pPr algn="ctr"/>
                      <a:endParaRPr lang="zh-CN" altLang="en-US" sz="1400" dirty="0">
                        <a:solidFill>
                          <a:schemeClr val="tx1"/>
                        </a:solidFill>
                      </a:endParaRPr>
                    </a:p>
                  </a:txBody>
                  <a:tcPr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037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备降机场运行限制</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143510" y="1059180"/>
            <a:ext cx="8856345" cy="332930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sz="1000" dirty="0">
                <a:latin typeface="微软雅黑" panose="020B0503020204020204" charset="-122"/>
                <a:ea typeface="微软雅黑" panose="020B0503020204020204" charset="-122"/>
                <a:sym typeface="+mn-ea"/>
              </a:rPr>
              <a:t>1.</a:t>
            </a:r>
            <a:r>
              <a:rPr lang="zh-CN" altLang="en-US" sz="1000" dirty="0">
                <a:latin typeface="微软雅黑" panose="020B0503020204020204" charset="-122"/>
                <a:ea typeface="微软雅黑" panose="020B0503020204020204" charset="-122"/>
                <a:sym typeface="+mn-ea"/>
              </a:rPr>
              <a:t>进港飞机</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---所有喷气飞机</a:t>
            </a:r>
            <a:r>
              <a:rPr lang="zh-CN" altLang="en-US" sz="1000" dirty="0">
                <a:latin typeface="微软雅黑" panose="020B0503020204020204" charset="-122"/>
                <a:ea typeface="微软雅黑" panose="020B0503020204020204" charset="-122"/>
                <a:sym typeface="+mn-ea"/>
              </a:rPr>
              <a:t>在夜间</a:t>
            </a:r>
            <a:r>
              <a:rPr lang="en-US" altLang="zh-CN" sz="1000" dirty="0">
                <a:latin typeface="微软雅黑" panose="020B0503020204020204" charset="-122"/>
                <a:ea typeface="微软雅黑" panose="020B0503020204020204" charset="-122"/>
                <a:sym typeface="+mn-ea"/>
              </a:rPr>
              <a:t>2230-0630LT必须执行RWY 06、18C或18R的夜间过渡程序</a:t>
            </a:r>
            <a:r>
              <a:rPr lang="zh-CN" altLang="en-US" sz="1000" dirty="0">
                <a:latin typeface="微软雅黑" panose="020B0503020204020204" charset="-122"/>
                <a:ea typeface="微软雅黑" panose="020B0503020204020204" charset="-122"/>
                <a:sym typeface="+mn-ea"/>
              </a:rPr>
              <a:t>。</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在</a:t>
            </a:r>
            <a:r>
              <a:rPr lang="en-US" altLang="zh-CN" sz="1000" dirty="0">
                <a:latin typeface="微软雅黑" panose="020B0503020204020204" charset="-122"/>
                <a:ea typeface="微软雅黑" panose="020B0503020204020204" charset="-122"/>
                <a:sym typeface="+mn-ea"/>
              </a:rPr>
              <a:t>0630-2230LT</a:t>
            </a:r>
            <a:r>
              <a:rPr lang="zh-CN" altLang="en-US" sz="1000" dirty="0">
                <a:latin typeface="微软雅黑" panose="020B0503020204020204" charset="-122"/>
                <a:ea typeface="微软雅黑" panose="020B0503020204020204" charset="-122"/>
                <a:sym typeface="+mn-ea"/>
              </a:rPr>
              <a:t>时间段内初始和中间进场段的导航主要基于ATC的雷达引导；最后进近通常使用ILS程序，也可以根据飞行员的要求或ATC的指示，使用RN</a:t>
            </a:r>
            <a:r>
              <a:rPr lang="en-US" altLang="zh-CN" sz="1000" dirty="0">
                <a:latin typeface="微软雅黑" panose="020B0503020204020204" charset="-122"/>
                <a:ea typeface="微软雅黑" panose="020B0503020204020204" charset="-122"/>
                <a:sym typeface="+mn-ea"/>
              </a:rPr>
              <a:t>P</a:t>
            </a:r>
            <a:r>
              <a:rPr lang="zh-CN" altLang="en-US" sz="1000" dirty="0">
                <a:latin typeface="微软雅黑" panose="020B0503020204020204" charset="-122"/>
                <a:ea typeface="微软雅黑" panose="020B0503020204020204" charset="-122"/>
                <a:sym typeface="+mn-ea"/>
              </a:rPr>
              <a:t> approach。</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在</a:t>
            </a:r>
            <a:r>
              <a:rPr lang="en-US" altLang="zh-CN" sz="1000" dirty="0">
                <a:latin typeface="微软雅黑" panose="020B0503020204020204" charset="-122"/>
                <a:ea typeface="微软雅黑" panose="020B0503020204020204" charset="-122"/>
                <a:sym typeface="+mn-ea"/>
              </a:rPr>
              <a:t>2230-0630LT</a:t>
            </a:r>
            <a:r>
              <a:rPr lang="zh-CN" altLang="en-US" sz="1000" dirty="0">
                <a:latin typeface="微软雅黑" panose="020B0503020204020204" charset="-122"/>
                <a:ea typeface="微软雅黑" panose="020B0503020204020204" charset="-122"/>
                <a:sym typeface="+mn-ea"/>
              </a:rPr>
              <a:t>时间段内最后进近主要使用RNP approach进近程序，如果无法执行，应通知ATC并预期执行ILS程序。当跑道视程低于1500米和/或云底高度低于300英尺时，ATC会根据自己的判断提供ILS程序</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进港最常使用的跑道是06、18R、36R、18C、36C和27。</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RWYs 18L和36L不可用于进场。</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从2230-0630LT期间，RWYs 04/22、09/27、18C、24和36R不可用于进场。</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---在2130-0630LT时间段：建议在所有跑道除了04/22号跑道之外，着陆后使用</a:t>
            </a:r>
            <a:r>
              <a:rPr lang="zh-CN" altLang="en-US" sz="1000" dirty="0">
                <a:latin typeface="微软雅黑" panose="020B0503020204020204" charset="-122"/>
                <a:ea typeface="微软雅黑" panose="020B0503020204020204" charset="-122"/>
                <a:sym typeface="+mn-ea"/>
              </a:rPr>
              <a:t>怠速</a:t>
            </a:r>
            <a:r>
              <a:rPr lang="en-US" altLang="zh-CN" sz="1000" dirty="0">
                <a:latin typeface="微软雅黑" panose="020B0503020204020204" charset="-122"/>
                <a:ea typeface="微软雅黑" panose="020B0503020204020204" charset="-122"/>
                <a:sym typeface="+mn-ea"/>
              </a:rPr>
              <a:t>反推</a:t>
            </a:r>
            <a:r>
              <a:rPr lang="zh-CN" altLang="en-US" sz="1000" dirty="0">
                <a:latin typeface="微软雅黑" panose="020B0503020204020204" charset="-122"/>
                <a:ea typeface="微软雅黑" panose="020B0503020204020204" charset="-122"/>
                <a:sym typeface="+mn-ea"/>
              </a:rPr>
              <a:t>。</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2.</a:t>
            </a:r>
            <a:r>
              <a:rPr lang="zh-CN" altLang="en-US" sz="1000" dirty="0">
                <a:latin typeface="微软雅黑" panose="020B0503020204020204" charset="-122"/>
                <a:ea typeface="微软雅黑" panose="020B0503020204020204" charset="-122"/>
                <a:sym typeface="+mn-ea"/>
              </a:rPr>
              <a:t>离港飞机</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离港</a:t>
            </a:r>
            <a:r>
              <a:rPr lang="en-US" altLang="zh-CN" sz="1000" dirty="0">
                <a:latin typeface="微软雅黑" panose="020B0503020204020204" charset="-122"/>
                <a:ea typeface="微软雅黑" panose="020B0503020204020204" charset="-122"/>
                <a:sym typeface="+mn-ea"/>
              </a:rPr>
              <a:t>最常用的跑道是36L、24、36C、18L、18C和09。</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---从2230-0630LT期间，跑道04/22、09/27、18L和36C不可用于起飞。</a:t>
            </a:r>
            <a:endParaRPr lang="en-US" altLang="zh-CN" sz="10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a:p>
            <a:pPr algn="l">
              <a:lnSpc>
                <a:spcPct val="150000"/>
              </a:lnSpc>
            </a:pPr>
            <a:endParaRPr lang="en-US" altLang="zh-CN" sz="14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13671" y="381893"/>
            <a:ext cx="2011680" cy="460375"/>
          </a:xfrm>
          <a:prstGeom prst="rect">
            <a:avLst/>
          </a:prstGeom>
          <a:noFill/>
        </p:spPr>
        <p:txBody>
          <a:bodyPr wrap="none" rtlCol="0" anchor="t">
            <a:spAutoFit/>
          </a:bodyPr>
          <a:lstStyle/>
          <a:p>
            <a:pPr algn="ctr"/>
            <a:r>
              <a:rPr lang="zh-CN" altLang="en-US" sz="2400" b="1" dirty="0">
                <a:latin typeface="微软雅黑" panose="020B0503020204020204" charset="-122"/>
                <a:ea typeface="微软雅黑" panose="020B0503020204020204" charset="-122"/>
                <a:sym typeface="+mn-ea"/>
              </a:rPr>
              <a:t>备降机场介绍</a:t>
            </a:r>
            <a:endParaRPr lang="zh-CN" altLang="en-US" sz="2400" b="1" dirty="0">
              <a:latin typeface="微软雅黑" panose="020B0503020204020204" charset="-122"/>
              <a:ea typeface="微软雅黑" panose="020B0503020204020204" charset="-122"/>
              <a:sym typeface="+mn-ea"/>
            </a:endParaRPr>
          </a:p>
        </p:txBody>
      </p:sp>
      <p:sp>
        <p:nvSpPr>
          <p:cNvPr id="3" name="TextBox 2"/>
          <p:cNvSpPr txBox="1"/>
          <p:nvPr/>
        </p:nvSpPr>
        <p:spPr>
          <a:xfrm>
            <a:off x="211455" y="879475"/>
            <a:ext cx="4862830" cy="3482340"/>
          </a:xfrm>
          <a:prstGeom prst="rect">
            <a:avLst/>
          </a:prstGeom>
          <a:noFill/>
          <a:ln w="12700" cmpd="sng">
            <a:noFill/>
            <a:prstDash val="solid"/>
          </a:ln>
        </p:spPr>
        <p:txBody>
          <a:bodyPr wrap="square" rtlCol="0">
            <a:spAutoFit/>
          </a:bodyPr>
          <a:lstStyle/>
          <a:p>
            <a:pPr marL="0" lvl="0" indent="-342900">
              <a:lnSpc>
                <a:spcPct val="140000"/>
              </a:lnSpc>
              <a:buFont typeface="Wingdings" panose="05000000000000000000" pitchFamily="2" charset="2"/>
              <a:buChar char="Ø"/>
            </a:pPr>
            <a:r>
              <a:rPr lang="en-US" altLang="zh-CN"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ESMS</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马尔默机场</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rPr>
              <a:t>简介</a:t>
            </a:r>
            <a:endParaRPr lang="zh-CN" altLang="en-US" dirty="0"/>
          </a:p>
          <a:p>
            <a:pPr marL="342900" indent="-342900" fontAlgn="auto">
              <a:lnSpc>
                <a:spcPct val="150000"/>
              </a:lnSpc>
              <a:buFont typeface="Arial" panose="020B0604020202020204" pitchFamily="34" charset="0"/>
              <a:buChar char="•"/>
            </a:pPr>
            <a:r>
              <a:rPr sz="1200" dirty="0">
                <a:latin typeface="微软雅黑" panose="020B0503020204020204" charset="-122"/>
                <a:ea typeface="微软雅黑" panose="020B0503020204020204" charset="-122"/>
              </a:rPr>
              <a:t>马尔默机场（Malm&amp;ouml; Airport）是瑞典南部城市马尔默的一座民用机场。该机场距马尔默和隆德两城市分别28千米和26千米；经厄勒海峡大桥可往哥本哈根机场（47千米）和哥本哈根市区（55千米）</a:t>
            </a:r>
            <a:r>
              <a:rPr lang="ja-JP" altLang="en-US" sz="1200" dirty="0">
                <a:latin typeface="微软雅黑" panose="020B0503020204020204" charset="-122"/>
                <a:ea typeface="微软雅黑" panose="020B0503020204020204" charset="-122"/>
              </a:rPr>
              <a:t>。</a:t>
            </a:r>
            <a:endParaRPr lang="en-US" altLang="ja-JP"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机场标高</a:t>
            </a:r>
            <a:r>
              <a:rPr lang="en-US" altLang="zh-CN" sz="1200" dirty="0">
                <a:latin typeface="微软雅黑" panose="020B0503020204020204" charset="-122"/>
                <a:ea typeface="微软雅黑" panose="020B0503020204020204" charset="-122"/>
              </a:rPr>
              <a:t>237</a:t>
            </a:r>
            <a:r>
              <a:rPr lang="en-US" altLang="zh-CN" sz="1200" dirty="0">
                <a:latin typeface="微软雅黑" panose="020B0503020204020204" charset="-122"/>
                <a:ea typeface="微软雅黑" panose="020B0503020204020204" charset="-122"/>
              </a:rPr>
              <a:t>ft </a:t>
            </a:r>
            <a:r>
              <a:rPr lang="zh-CN" altLang="en-US" sz="1200" dirty="0">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共两条跑道，</a:t>
            </a:r>
            <a:endParaRPr lang="zh-CN" altLang="en-US" sz="1200" dirty="0">
              <a:latin typeface="微软雅黑" panose="020B0503020204020204" charset="-122"/>
              <a:ea typeface="微软雅黑" panose="020B0503020204020204" charset="-122"/>
            </a:endParaRPr>
          </a:p>
          <a:p>
            <a:pPr fontAlgn="auto">
              <a:lnSpc>
                <a:spcPct val="150000"/>
              </a:lnSpc>
            </a:pPr>
            <a:r>
              <a:rPr lang="zh-CN" altLang="en-US" sz="1200" dirty="0">
                <a:latin typeface="微软雅黑" panose="020B0503020204020204" charset="-122"/>
                <a:ea typeface="微软雅黑" panose="020B0503020204020204" charset="-122"/>
                <a:sym typeface="+mn-ea"/>
              </a:rPr>
              <a:t>  </a:t>
            </a:r>
            <a:r>
              <a:rPr lang="en-US" altLang="zh-CN" sz="1200" dirty="0">
                <a:latin typeface="微软雅黑" panose="020B0503020204020204" charset="-122"/>
                <a:ea typeface="微软雅黑" panose="020B0503020204020204" charset="-122"/>
                <a:sym typeface="+mn-ea"/>
              </a:rPr>
              <a:t>      </a:t>
            </a:r>
            <a:r>
              <a:rPr lang="zh-CN" altLang="en-US" sz="1200" dirty="0">
                <a:latin typeface="微软雅黑" panose="020B0503020204020204" charset="-122"/>
                <a:ea typeface="微软雅黑" panose="020B0503020204020204" charset="-122"/>
                <a:sym typeface="+mn-ea"/>
              </a:rPr>
              <a:t>跑道</a:t>
            </a:r>
            <a:r>
              <a:rPr lang="en-US" altLang="zh-CN" sz="1200" dirty="0">
                <a:latin typeface="微软雅黑" panose="020B0503020204020204" charset="-122"/>
                <a:ea typeface="微软雅黑" panose="020B0503020204020204" charset="-122"/>
                <a:sym typeface="+mn-ea"/>
              </a:rPr>
              <a:t>17/35</a:t>
            </a:r>
            <a:r>
              <a:rPr lang="zh-CN" altLang="en-US" sz="1200" dirty="0">
                <a:latin typeface="微软雅黑" panose="020B0503020204020204" charset="-122"/>
                <a:ea typeface="微软雅黑" panose="020B0503020204020204" charset="-122"/>
                <a:sym typeface="+mn-ea"/>
              </a:rPr>
              <a:t>，长</a:t>
            </a:r>
            <a:r>
              <a:rPr lang="en-US" altLang="zh-CN" sz="1200" dirty="0">
                <a:latin typeface="微软雅黑" panose="020B0503020204020204" charset="-122"/>
                <a:ea typeface="微软雅黑" panose="020B0503020204020204" charset="-122"/>
                <a:sym typeface="+mn-ea"/>
              </a:rPr>
              <a:t>2800</a:t>
            </a:r>
            <a:r>
              <a:rPr lang="zh-CN" altLang="en-US" sz="1200" dirty="0">
                <a:latin typeface="微软雅黑" panose="020B0503020204020204" charset="-122"/>
                <a:ea typeface="微软雅黑" panose="020B0503020204020204" charset="-122"/>
                <a:sym typeface="+mn-ea"/>
              </a:rPr>
              <a:t>米，宽</a:t>
            </a:r>
            <a:r>
              <a:rPr lang="en-US" altLang="zh-CN" sz="1200" dirty="0">
                <a:latin typeface="微软雅黑" panose="020B0503020204020204" charset="-122"/>
                <a:ea typeface="微软雅黑" panose="020B0503020204020204" charset="-122"/>
                <a:sym typeface="+mn-ea"/>
              </a:rPr>
              <a:t>45</a:t>
            </a:r>
            <a:r>
              <a:rPr lang="zh-CN" altLang="en-US" sz="1200" dirty="0">
                <a:latin typeface="微软雅黑" panose="020B0503020204020204" charset="-122"/>
                <a:ea typeface="微软雅黑" panose="020B0503020204020204" charset="-122"/>
                <a:sym typeface="+mn-ea"/>
              </a:rPr>
              <a:t>米；</a:t>
            </a:r>
            <a:endParaRPr lang="zh-CN" altLang="en-US" sz="1200" dirty="0">
              <a:latin typeface="微软雅黑" panose="020B0503020204020204" charset="-122"/>
              <a:ea typeface="微软雅黑" panose="020B0503020204020204" charset="-122"/>
            </a:endParaRPr>
          </a:p>
          <a:p>
            <a:pPr fontAlgn="auto">
              <a:lnSpc>
                <a:spcPct val="150000"/>
              </a:lnSpc>
            </a:pPr>
            <a:r>
              <a:rPr lang="en-US" altLang="zh-CN" sz="1200" dirty="0">
                <a:latin typeface="微软雅黑" panose="020B0503020204020204" charset="-122"/>
                <a:ea typeface="微软雅黑" panose="020B0503020204020204" charset="-122"/>
                <a:sym typeface="+mn-ea"/>
              </a:rPr>
              <a:t>        </a:t>
            </a:r>
            <a:r>
              <a:rPr lang="zh-CN" altLang="en-US" sz="1200" dirty="0">
                <a:latin typeface="微软雅黑" panose="020B0503020204020204" charset="-122"/>
                <a:ea typeface="微软雅黑" panose="020B0503020204020204" charset="-122"/>
                <a:sym typeface="+mn-ea"/>
              </a:rPr>
              <a:t>跑道</a:t>
            </a:r>
            <a:r>
              <a:rPr lang="en-US" altLang="zh-CN" sz="1200" dirty="0">
                <a:latin typeface="微软雅黑" panose="020B0503020204020204" charset="-122"/>
                <a:ea typeface="微软雅黑" panose="020B0503020204020204" charset="-122"/>
                <a:sym typeface="+mn-ea"/>
              </a:rPr>
              <a:t>11/29</a:t>
            </a:r>
            <a:r>
              <a:rPr lang="zh-CN" altLang="en-US" sz="1200" dirty="0">
                <a:latin typeface="微软雅黑" panose="020B0503020204020204" charset="-122"/>
                <a:ea typeface="微软雅黑" panose="020B0503020204020204" charset="-122"/>
                <a:sym typeface="+mn-ea"/>
              </a:rPr>
              <a:t>，长</a:t>
            </a:r>
            <a:r>
              <a:rPr lang="en-US" altLang="zh-CN" sz="1200" dirty="0">
                <a:latin typeface="微软雅黑" panose="020B0503020204020204" charset="-122"/>
                <a:ea typeface="微软雅黑" panose="020B0503020204020204" charset="-122"/>
                <a:sym typeface="+mn-ea"/>
              </a:rPr>
              <a:t>799</a:t>
            </a:r>
            <a:r>
              <a:rPr lang="zh-CN" altLang="en-US" sz="1200" dirty="0">
                <a:latin typeface="微软雅黑" panose="020B0503020204020204" charset="-122"/>
                <a:ea typeface="微软雅黑" panose="020B0503020204020204" charset="-122"/>
                <a:sym typeface="+mn-ea"/>
              </a:rPr>
              <a:t>米，宽</a:t>
            </a:r>
            <a:r>
              <a:rPr lang="en-US" altLang="zh-CN" sz="1200" dirty="0">
                <a:latin typeface="微软雅黑" panose="020B0503020204020204" charset="-122"/>
                <a:ea typeface="微软雅黑" panose="020B0503020204020204" charset="-122"/>
                <a:sym typeface="+mn-ea"/>
              </a:rPr>
              <a:t>18</a:t>
            </a:r>
            <a:r>
              <a:rPr lang="zh-CN" altLang="en-US" sz="1200" dirty="0">
                <a:latin typeface="微软雅黑" panose="020B0503020204020204" charset="-122"/>
                <a:ea typeface="微软雅黑" panose="020B0503020204020204" charset="-122"/>
                <a:sym typeface="+mn-ea"/>
              </a:rPr>
              <a:t>米（不可用）；</a:t>
            </a:r>
            <a:endParaRPr lang="zh-CN" altLang="en-US"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sym typeface="+mn-ea"/>
              </a:rPr>
              <a:t>运行时间</a:t>
            </a:r>
            <a:r>
              <a:rPr lang="en-US" altLang="zh-CN" sz="1200" dirty="0">
                <a:latin typeface="微软雅黑" panose="020B0503020204020204" charset="-122"/>
                <a:ea typeface="微软雅黑" panose="020B0503020204020204" charset="-122"/>
                <a:sym typeface="+mn-ea"/>
              </a:rPr>
              <a:t>:H24</a:t>
            </a:r>
            <a:endParaRPr lang="en-US" alt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rPr>
              <a:t>消防等级</a:t>
            </a:r>
            <a:r>
              <a:rPr lang="en-US" altLang="zh-CN" sz="1200" dirty="0">
                <a:latin typeface="微软雅黑" panose="020B0503020204020204" charset="-122"/>
                <a:ea typeface="微软雅黑" panose="020B0503020204020204" charset="-122"/>
              </a:rPr>
              <a:t>7</a:t>
            </a:r>
            <a:r>
              <a:rPr lang="zh-CN" altLang="en-US" sz="1200" dirty="0">
                <a:latin typeface="微软雅黑" panose="020B0503020204020204" charset="-122"/>
                <a:ea typeface="微软雅黑" panose="020B0503020204020204" charset="-122"/>
              </a:rPr>
              <a:t>级可全天候使用，8级和9级需提前24小时申请批准。</a:t>
            </a:r>
            <a:endParaRPr lang="zh-CN" altLang="en-US"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endParaRPr lang="zh-CN" altLang="en-US" sz="1200"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5448935" y="879475"/>
            <a:ext cx="2649220" cy="38023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166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备降机场飞行程序</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726547" y="1318637"/>
            <a:ext cx="8469630" cy="10604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sz="1400" dirty="0">
                <a:latin typeface="微软雅黑" panose="020B0503020204020204" charset="-122"/>
                <a:ea typeface="微软雅黑" panose="020B0503020204020204" charset="-122"/>
                <a:sym typeface="+mn-ea"/>
              </a:rPr>
              <a:t>马尔默机场</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ESMS</a:t>
            </a:r>
            <a:r>
              <a:rPr lang="zh-CN" altLang="en-US"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rPr>
              <a:t>飞行程序</a:t>
            </a:r>
            <a:endParaRPr lang="en-US" altLang="zh-CN" sz="1400" dirty="0">
              <a:latin typeface="微软雅黑" panose="020B0503020204020204" charset="-122"/>
              <a:ea typeface="微软雅黑" panose="020B0503020204020204" charset="-122"/>
            </a:endParaRPr>
          </a:p>
          <a:p>
            <a:pPr>
              <a:lnSpc>
                <a:spcPct val="150000"/>
              </a:lnSpc>
            </a:pPr>
            <a:r>
              <a:rPr lang="zh-CN" altLang="en-US" sz="1400" dirty="0">
                <a:latin typeface="微软雅黑" panose="020B0503020204020204" charset="-122"/>
                <a:ea typeface="微软雅黑" panose="020B0503020204020204" charset="-122"/>
                <a:sym typeface="+mn-ea"/>
              </a:rPr>
              <a:t>公布有</a:t>
            </a:r>
            <a:r>
              <a:rPr lang="en-US" altLang="zh-CN" sz="1400" dirty="0">
                <a:latin typeface="微软雅黑" panose="020B0503020204020204" charset="-122"/>
                <a:ea typeface="微软雅黑" panose="020B0503020204020204" charset="-122"/>
                <a:sym typeface="+mn-ea"/>
              </a:rPr>
              <a:t>RNAV1(GNSS only</a:t>
            </a:r>
            <a:r>
              <a:rPr lang="zh-CN" altLang="en-US" sz="1400" dirty="0">
                <a:latin typeface="微软雅黑" panose="020B0503020204020204" charset="-122"/>
                <a:ea typeface="微软雅黑" panose="020B0503020204020204" charset="-122"/>
                <a:sym typeface="+mn-ea"/>
              </a:rPr>
              <a:t>）进离场程序。</a:t>
            </a:r>
            <a:endParaRPr lang="zh-CN" altLang="en-US" sz="1400" dirty="0">
              <a:latin typeface="微软雅黑" panose="020B0503020204020204" charset="-122"/>
              <a:ea typeface="微软雅黑" panose="020B0503020204020204" charset="-122"/>
              <a:sym typeface="+mn-ea"/>
            </a:endParaRPr>
          </a:p>
          <a:p>
            <a:pPr>
              <a:lnSpc>
                <a:spcPct val="150000"/>
              </a:lnSpc>
            </a:pPr>
            <a:r>
              <a:rPr lang="en-US" altLang="zh-CN" sz="1400" dirty="0">
                <a:latin typeface="微软雅黑" panose="020B0503020204020204" charset="-122"/>
                <a:ea typeface="微软雅黑" panose="020B0503020204020204" charset="-122"/>
                <a:sym typeface="+mn-ea"/>
              </a:rPr>
              <a:t>RWY17/35</a:t>
            </a:r>
            <a:r>
              <a:rPr lang="zh-CN" altLang="en-US" sz="1400" dirty="0">
                <a:latin typeface="微软雅黑" panose="020B0503020204020204" charset="-122"/>
                <a:ea typeface="微软雅黑" panose="020B0503020204020204" charset="-122"/>
                <a:sym typeface="+mn-ea"/>
              </a:rPr>
              <a:t>均有</a:t>
            </a:r>
            <a:r>
              <a:rPr lang="en-US" altLang="zh-CN" sz="1400" dirty="0">
                <a:latin typeface="微软雅黑" panose="020B0503020204020204" charset="-122"/>
                <a:ea typeface="微软雅黑" panose="020B0503020204020204" charset="-122"/>
                <a:sym typeface="+mn-ea"/>
              </a:rPr>
              <a:t>ILS</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RNP APCH</a:t>
            </a:r>
            <a:r>
              <a:rPr lang="zh-CN" altLang="en-US" sz="1400" dirty="0">
                <a:latin typeface="微软雅黑" panose="020B0503020204020204" charset="-122"/>
                <a:ea typeface="微软雅黑" panose="020B0503020204020204" charset="-122"/>
                <a:sym typeface="+mn-ea"/>
              </a:rPr>
              <a:t>及</a:t>
            </a:r>
            <a:r>
              <a:rPr lang="en-US" altLang="zh-CN" sz="1400" dirty="0">
                <a:latin typeface="微软雅黑" panose="020B0503020204020204" charset="-122"/>
                <a:ea typeface="微软雅黑" panose="020B0503020204020204" charset="-122"/>
                <a:sym typeface="+mn-ea"/>
              </a:rPr>
              <a:t>VOR</a:t>
            </a:r>
            <a:r>
              <a:rPr lang="zh-CN" altLang="en-US" sz="1400" dirty="0">
                <a:latin typeface="微软雅黑" panose="020B0503020204020204" charset="-122"/>
                <a:ea typeface="微软雅黑" panose="020B0503020204020204" charset="-122"/>
                <a:sym typeface="+mn-ea"/>
              </a:rPr>
              <a:t>进近程序。</a:t>
            </a:r>
            <a:endParaRPr lang="zh-CN" altLang="en-US" sz="1400" dirty="0">
              <a:latin typeface="微软雅黑" panose="020B0503020204020204" charset="-122"/>
              <a:ea typeface="微软雅黑" panose="020B0503020204020204" charset="-122"/>
              <a:sym typeface="+mn-ea"/>
            </a:endParaRPr>
          </a:p>
        </p:txBody>
      </p:sp>
      <p:graphicFrame>
        <p:nvGraphicFramePr>
          <p:cNvPr id="6" name="表格 5"/>
          <p:cNvGraphicFramePr>
            <a:graphicFrameLocks noGrp="1"/>
          </p:cNvGraphicFramePr>
          <p:nvPr>
            <p:custDataLst>
              <p:tags r:id="rId1"/>
            </p:custDataLst>
          </p:nvPr>
        </p:nvGraphicFramePr>
        <p:xfrm>
          <a:off x="755576" y="2787774"/>
          <a:ext cx="6275278" cy="883920"/>
        </p:xfrm>
        <a:graphic>
          <a:graphicData uri="http://schemas.openxmlformats.org/drawingml/2006/table">
            <a:tbl>
              <a:tblPr firstRow="1" bandRow="1">
                <a:tableStyleId>{93296810-A885-4BE3-A3E7-6D5BEEA58F35}</a:tableStyleId>
              </a:tblPr>
              <a:tblGrid>
                <a:gridCol w="1007110"/>
                <a:gridCol w="1056005"/>
                <a:gridCol w="1082675"/>
                <a:gridCol w="1246698"/>
                <a:gridCol w="864096"/>
                <a:gridCol w="1018694"/>
              </a:tblGrid>
              <a:tr h="330679">
                <a:tc>
                  <a:txBody>
                    <a:bodyPr/>
                    <a:lstStyle/>
                    <a:p>
                      <a:pPr algn="ctr"/>
                      <a:r>
                        <a:rPr lang="zh-CN" altLang="en-US" dirty="0"/>
                        <a:t>离场</a:t>
                      </a:r>
                      <a:endParaRPr lang="zh-CN" altLang="en-US" dirty="0"/>
                    </a:p>
                  </a:txBody>
                  <a:tcPr/>
                </a:tc>
                <a:tc>
                  <a:txBody>
                    <a:bodyPr/>
                    <a:lstStyle/>
                    <a:p>
                      <a:pPr algn="ctr"/>
                      <a:r>
                        <a:rPr lang="zh-CN" altLang="en-US" dirty="0"/>
                        <a:t>进场</a:t>
                      </a:r>
                      <a:endParaRPr lang="zh-CN" altLang="en-US" dirty="0"/>
                    </a:p>
                  </a:txBody>
                  <a:tcPr/>
                </a:tc>
                <a:tc gridSpan="4">
                  <a:txBody>
                    <a:bodyPr/>
                    <a:lstStyle/>
                    <a:p>
                      <a:pPr algn="ctr"/>
                      <a:r>
                        <a:rPr lang="zh-CN" altLang="en-US" dirty="0"/>
                        <a:t>进近</a:t>
                      </a:r>
                      <a:endParaRPr lang="zh-CN" altLang="en-US" dirty="0"/>
                    </a:p>
                  </a:txBody>
                  <a:tcPr/>
                </a:tc>
                <a:tc hMerge="1">
                  <a:tcPr/>
                </a:tc>
                <a:tc hMerge="1">
                  <a:tcPr/>
                </a:tc>
                <a:tc hMerge="1">
                  <a:tcPr/>
                </a:tc>
              </a:tr>
              <a:tr h="426328">
                <a:tc>
                  <a:txBody>
                    <a:bodyPr/>
                    <a:lstStyle/>
                    <a:p>
                      <a:pPr algn="ctr"/>
                      <a:r>
                        <a:rPr lang="en-US" altLang="zh-CN" sz="1400" dirty="0">
                          <a:solidFill>
                            <a:schemeClr val="tx1"/>
                          </a:solidFill>
                        </a:rPr>
                        <a:t>RNAV1</a:t>
                      </a:r>
                      <a:endParaRPr lang="zh-CN" altLang="en-US" sz="1400" dirty="0">
                        <a:solidFill>
                          <a:schemeClr val="tx1"/>
                        </a:solidFill>
                      </a:endParaRPr>
                    </a:p>
                  </a:txBody>
                  <a:tcPr anchor="ctr"/>
                </a:tc>
                <a:tc>
                  <a:txBody>
                    <a:bodyPr/>
                    <a:lstStyle/>
                    <a:p>
                      <a:pPr algn="ctr"/>
                      <a:r>
                        <a:rPr lang="en-US" altLang="zh-CN" sz="1400" dirty="0">
                          <a:solidFill>
                            <a:schemeClr val="tx1"/>
                          </a:solidFill>
                        </a:rPr>
                        <a:t>RNAV1</a:t>
                      </a:r>
                      <a:endParaRPr lang="zh-CN" altLang="en-US" sz="1400" dirty="0">
                        <a:solidFill>
                          <a:schemeClr val="tx1"/>
                        </a:solidFill>
                      </a:endParaRPr>
                    </a:p>
                  </a:txBody>
                  <a:tcPr anchor="ctr"/>
                </a:tc>
                <a:tc>
                  <a:txBody>
                    <a:bodyPr/>
                    <a:lstStyle/>
                    <a:p>
                      <a:pPr algn="ctr"/>
                      <a:r>
                        <a:rPr lang="en-US" altLang="zh-CN" sz="1400" dirty="0"/>
                        <a:t>ILS</a:t>
                      </a:r>
                      <a:endParaRPr lang="zh-CN" altLang="en-US" sz="14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t>RNP APCH</a:t>
                      </a:r>
                      <a:endParaRPr lang="zh-CN" altLang="en-US" sz="14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rPr>
                        <a:t>VOR</a:t>
                      </a:r>
                      <a:endParaRPr lang="zh-CN" altLang="en-US" sz="1400" dirty="0">
                        <a:solidFill>
                          <a:schemeClr val="tx1"/>
                        </a:solidFill>
                      </a:endParaRPr>
                    </a:p>
                  </a:txBody>
                  <a:tcPr anchor="ctr"/>
                </a:tc>
                <a:tc>
                  <a:txBody>
                    <a:bodyPr/>
                    <a:lstStyle/>
                    <a:p>
                      <a:pPr algn="ctr"/>
                      <a:r>
                        <a:rPr lang="en-US" altLang="zh-CN" sz="1400" dirty="0">
                          <a:solidFill>
                            <a:schemeClr val="tx1"/>
                          </a:solidFill>
                        </a:rPr>
                        <a:t>LOC</a:t>
                      </a:r>
                      <a:endParaRPr lang="en-US" altLang="zh-CN" sz="1400" dirty="0">
                        <a:solidFill>
                          <a:schemeClr val="tx1"/>
                        </a:solidFill>
                      </a:endParaRPr>
                    </a:p>
                  </a:txBody>
                  <a:tcPr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037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备降机场运行限制</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143510" y="1059180"/>
            <a:ext cx="7461885" cy="348996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endParaRPr lang="en-US" sz="1400" dirty="0">
              <a:latin typeface="微软雅黑" panose="020B0503020204020204" charset="-122"/>
              <a:ea typeface="微软雅黑" panose="020B0503020204020204" charset="-122"/>
              <a:sym typeface="+mn-ea"/>
            </a:endParaRPr>
          </a:p>
          <a:p>
            <a:pPr algn="l">
              <a:lnSpc>
                <a:spcPct val="150000"/>
              </a:lnSpc>
            </a:pPr>
            <a:r>
              <a:rPr lang="en-US" sz="1400" dirty="0">
                <a:latin typeface="微软雅黑" panose="020B0503020204020204" charset="-122"/>
                <a:ea typeface="微软雅黑" panose="020B0503020204020204" charset="-122"/>
                <a:sym typeface="+mn-ea"/>
              </a:rPr>
              <a:t>1.</a:t>
            </a:r>
            <a:r>
              <a:rPr lang="zh-CN" altLang="en-US" sz="1400" dirty="0">
                <a:latin typeface="微软雅黑" panose="020B0503020204020204" charset="-122"/>
                <a:ea typeface="微软雅黑" panose="020B0503020204020204" charset="-122"/>
                <a:sym typeface="+mn-ea"/>
              </a:rPr>
              <a:t>在2100 - 0600</a:t>
            </a:r>
            <a:r>
              <a:rPr lang="en-US" altLang="zh-CN" sz="1400" dirty="0">
                <a:latin typeface="微软雅黑" panose="020B0503020204020204" charset="-122"/>
                <a:ea typeface="微软雅黑" panose="020B0503020204020204" charset="-122"/>
                <a:sym typeface="+mn-ea"/>
              </a:rPr>
              <a:t>LT</a:t>
            </a:r>
            <a:r>
              <a:rPr lang="zh-CN" altLang="en-US" sz="1400" dirty="0">
                <a:latin typeface="微软雅黑" panose="020B0503020204020204" charset="-122"/>
                <a:ea typeface="微软雅黑" panose="020B0503020204020204" charset="-122"/>
                <a:sym typeface="+mn-ea"/>
              </a:rPr>
              <a:t>（2000 - 0500</a:t>
            </a:r>
            <a:r>
              <a:rPr lang="en-US" altLang="zh-CN" sz="1400" dirty="0">
                <a:latin typeface="微软雅黑" panose="020B0503020204020204" charset="-122"/>
                <a:ea typeface="微软雅黑" panose="020B0503020204020204" charset="-122"/>
                <a:sym typeface="+mn-ea"/>
              </a:rPr>
              <a:t>UTC</a:t>
            </a:r>
            <a:r>
              <a:rPr lang="zh-CN" altLang="en-US" sz="1400" dirty="0">
                <a:latin typeface="微软雅黑" panose="020B0503020204020204" charset="-122"/>
                <a:ea typeface="微软雅黑" panose="020B0503020204020204" charset="-122"/>
                <a:sym typeface="+mn-ea"/>
              </a:rPr>
              <a:t>）期间仅允许使用怠速反推。</a:t>
            </a:r>
            <a:endParaRPr lang="en-US" altLang="zh-CN" sz="1400" dirty="0">
              <a:latin typeface="微软雅黑" panose="020B0503020204020204" charset="-122"/>
              <a:ea typeface="微软雅黑" panose="020B0503020204020204" charset="-122"/>
              <a:sym typeface="+mn-ea"/>
            </a:endParaRPr>
          </a:p>
          <a:p>
            <a:pPr algn="l">
              <a:lnSpc>
                <a:spcPct val="150000"/>
              </a:lnSpc>
            </a:pPr>
            <a:endParaRPr lang="en-US" altLang="zh-CN" sz="1400" dirty="0">
              <a:latin typeface="微软雅黑" panose="020B0503020204020204" charset="-122"/>
              <a:ea typeface="微软雅黑" panose="020B0503020204020204" charset="-122"/>
              <a:sym typeface="+mn-ea"/>
            </a:endParaRPr>
          </a:p>
          <a:p>
            <a:pPr algn="l">
              <a:lnSpc>
                <a:spcPct val="150000"/>
              </a:lnSpc>
            </a:pPr>
            <a:r>
              <a:rPr lang="en-US" altLang="zh-CN" sz="1400" dirty="0">
                <a:latin typeface="微软雅黑" panose="020B0503020204020204" charset="-122"/>
                <a:ea typeface="微软雅黑" panose="020B0503020204020204" charset="-122"/>
                <a:sym typeface="+mn-ea"/>
              </a:rPr>
              <a:t>2.</a:t>
            </a:r>
            <a:r>
              <a:rPr lang="zh-CN" altLang="en-US" sz="1400" dirty="0">
                <a:latin typeface="微软雅黑" panose="020B0503020204020204" charset="-122"/>
                <a:ea typeface="微软雅黑" panose="020B0503020204020204" charset="-122"/>
                <a:sym typeface="+mn-ea"/>
              </a:rPr>
              <a:t>减噪程序：</a:t>
            </a:r>
            <a:endParaRPr lang="zh-CN" altLang="en-US" sz="1400" dirty="0">
              <a:latin typeface="微软雅黑" panose="020B0503020204020204" charset="-122"/>
              <a:ea typeface="微软雅黑" panose="020B0503020204020204" charset="-122"/>
              <a:sym typeface="+mn-ea"/>
            </a:endParaRPr>
          </a:p>
          <a:p>
            <a:pPr algn="l">
              <a:lnSpc>
                <a:spcPct val="150000"/>
              </a:lnSpc>
            </a:pPr>
            <a:r>
              <a:rPr sz="1400" dirty="0">
                <a:latin typeface="微软雅黑" panose="020B0503020204020204" charset="-122"/>
                <a:ea typeface="微软雅黑" panose="020B0503020204020204" charset="-122"/>
                <a:sym typeface="+mn-ea"/>
              </a:rPr>
              <a:t>马尔默和隆德中心地区以及马尔黙机场周围的密集建筑区域：飞机不应在低于2000英尺标准高度飞行，除非出于起降需要。</a:t>
            </a:r>
            <a:endParaRPr sz="1400" dirty="0">
              <a:latin typeface="微软雅黑" panose="020B0503020204020204" charset="-122"/>
              <a:ea typeface="微软雅黑" panose="020B0503020204020204" charset="-122"/>
              <a:sym typeface="+mn-ea"/>
            </a:endParaRPr>
          </a:p>
          <a:p>
            <a:pPr algn="l">
              <a:lnSpc>
                <a:spcPct val="150000"/>
              </a:lnSpc>
            </a:pPr>
            <a:r>
              <a:rPr sz="1400" dirty="0">
                <a:latin typeface="微软雅黑" panose="020B0503020204020204" charset="-122"/>
                <a:ea typeface="微软雅黑" panose="020B0503020204020204" charset="-122"/>
                <a:sym typeface="+mn-ea"/>
              </a:rPr>
              <a:t>指定的进出航路也是为了减少噪音干扰目的而建立的。飞机应严格遵循指定的航路，并以不引起不必要噪音干扰的方式飞行</a:t>
            </a:r>
            <a:r>
              <a:rPr sz="1000" dirty="0">
                <a:latin typeface="微软雅黑" panose="020B0503020204020204" charset="-122"/>
                <a:ea typeface="微软雅黑" panose="020B0503020204020204" charset="-122"/>
                <a:sym typeface="+mn-ea"/>
              </a:rPr>
              <a:t>。</a:t>
            </a:r>
            <a:endParaRPr sz="10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a:p>
            <a:pPr algn="l">
              <a:lnSpc>
                <a:spcPct val="150000"/>
              </a:lnSpc>
            </a:pPr>
            <a:endParaRPr lang="en-US" altLang="zh-CN" sz="14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13671" y="381893"/>
            <a:ext cx="2011680" cy="460375"/>
          </a:xfrm>
          <a:prstGeom prst="rect">
            <a:avLst/>
          </a:prstGeom>
          <a:noFill/>
        </p:spPr>
        <p:txBody>
          <a:bodyPr wrap="none" rtlCol="0" anchor="t">
            <a:spAutoFit/>
          </a:bodyPr>
          <a:lstStyle/>
          <a:p>
            <a:pPr algn="ctr"/>
            <a:r>
              <a:rPr lang="zh-CN" altLang="en-US" sz="2400" b="1" dirty="0">
                <a:latin typeface="微软雅黑" panose="020B0503020204020204" charset="-122"/>
                <a:ea typeface="微软雅黑" panose="020B0503020204020204" charset="-122"/>
                <a:sym typeface="+mn-ea"/>
              </a:rPr>
              <a:t>备降机场介绍</a:t>
            </a:r>
            <a:endParaRPr lang="zh-CN" altLang="en-US" sz="2400" b="1" dirty="0">
              <a:latin typeface="微软雅黑" panose="020B0503020204020204" charset="-122"/>
              <a:ea typeface="微软雅黑" panose="020B0503020204020204" charset="-122"/>
              <a:sym typeface="+mn-ea"/>
            </a:endParaRPr>
          </a:p>
        </p:txBody>
      </p:sp>
      <p:sp>
        <p:nvSpPr>
          <p:cNvPr id="3" name="TextBox 2"/>
          <p:cNvSpPr txBox="1"/>
          <p:nvPr/>
        </p:nvSpPr>
        <p:spPr>
          <a:xfrm>
            <a:off x="179705" y="771525"/>
            <a:ext cx="4450080" cy="4159250"/>
          </a:xfrm>
          <a:prstGeom prst="rect">
            <a:avLst/>
          </a:prstGeom>
          <a:noFill/>
          <a:ln w="12700" cmpd="sng">
            <a:noFill/>
            <a:prstDash val="solid"/>
          </a:ln>
        </p:spPr>
        <p:txBody>
          <a:bodyPr wrap="square" rtlCol="0">
            <a:noAutofit/>
          </a:bodyPr>
          <a:lstStyle/>
          <a:p>
            <a:pPr marL="0" lvl="3" indent="-342900">
              <a:lnSpc>
                <a:spcPct val="140000"/>
              </a:lnSpc>
              <a:buFont typeface="Wingdings" panose="05000000000000000000" pitchFamily="2" charset="2"/>
              <a:buChar char="Ø"/>
            </a:pPr>
            <a:r>
              <a:rPr lang="en-US" altLang="zh-CN"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ESSA</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斯德哥尔摩阿兰达机场</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rPr>
              <a:t>简介</a:t>
            </a:r>
            <a:endParaRPr lang="zh-CN" altLang="en-US" dirty="0"/>
          </a:p>
          <a:p>
            <a:pPr marL="342900" indent="-342900">
              <a:lnSpc>
                <a:spcPct val="200000"/>
              </a:lnSpc>
              <a:buFont typeface="Arial" panose="020B0604020202020204" pitchFamily="34" charset="0"/>
              <a:buChar char="•"/>
            </a:pPr>
            <a:r>
              <a:rPr sz="1000" dirty="0">
                <a:latin typeface="微软雅黑" panose="020B0503020204020204" charset="-122"/>
                <a:ea typeface="微软雅黑" panose="020B0503020204020204" charset="-122"/>
              </a:rPr>
              <a:t>斯德哥尔摩阿兰达国际机场（Stockholm Arlanda International Airport）是位于瑞典王国斯德哥尔摩省锡格蒂纳的一个国际机场，是瑞典最大和2006年度北欧国家第三大机场。此机场座落于斯德哥尔摩市以北42公里，乌普萨拉东南40公里。除了用作民航外，阿兰达机场也是美国国家航空航天局太空航天飞机的紧急降落点之一</a:t>
            </a:r>
            <a:r>
              <a:rPr lang="zh-CN" altLang="en-US" sz="1000" dirty="0">
                <a:latin typeface="微软雅黑" panose="020B0503020204020204" charset="-122"/>
                <a:ea typeface="微软雅黑" panose="020B0503020204020204" charset="-122"/>
              </a:rPr>
              <a:t>。</a:t>
            </a:r>
            <a:endParaRPr lang="en-US" altLang="zh-CN" sz="1000" dirty="0">
              <a:latin typeface="微软雅黑" panose="020B0503020204020204" charset="-122"/>
              <a:ea typeface="微软雅黑" panose="020B0503020204020204" charset="-122"/>
            </a:endParaRPr>
          </a:p>
          <a:p>
            <a:pPr marL="342900" indent="-342900">
              <a:lnSpc>
                <a:spcPct val="200000"/>
              </a:lnSpc>
              <a:buFont typeface="Arial" panose="020B0604020202020204" pitchFamily="34" charset="0"/>
              <a:buChar char="•"/>
            </a:pPr>
            <a:r>
              <a:rPr lang="zh-CN" altLang="en-US" sz="1000" dirty="0">
                <a:latin typeface="微软雅黑" panose="020B0503020204020204" charset="-122"/>
                <a:ea typeface="微软雅黑" panose="020B0503020204020204" charset="-122"/>
              </a:rPr>
              <a:t>机场标高</a:t>
            </a:r>
            <a:r>
              <a:rPr lang="en-US" altLang="zh-CN" sz="1000" dirty="0">
                <a:latin typeface="微软雅黑" panose="020B0503020204020204" charset="-122"/>
                <a:ea typeface="微软雅黑" panose="020B0503020204020204" charset="-122"/>
              </a:rPr>
              <a:t>138ft </a:t>
            </a:r>
            <a:r>
              <a:rPr lang="zh-CN" altLang="en-US" sz="1000" dirty="0">
                <a:latin typeface="微软雅黑" panose="020B0503020204020204" charset="-122"/>
                <a:ea typeface="微软雅黑" panose="020B0503020204020204" charset="-122"/>
              </a:rPr>
              <a:t>。</a:t>
            </a:r>
            <a:endParaRPr lang="en-US" altLang="zh-CN" sz="1000" dirty="0">
              <a:latin typeface="微软雅黑" panose="020B0503020204020204" charset="-122"/>
              <a:ea typeface="微软雅黑" panose="020B0503020204020204" charset="-122"/>
            </a:endParaRPr>
          </a:p>
          <a:p>
            <a:pPr marL="342900" indent="-342900">
              <a:lnSpc>
                <a:spcPct val="200000"/>
              </a:lnSpc>
              <a:buFont typeface="Arial" panose="020B0604020202020204" pitchFamily="34" charset="0"/>
              <a:buChar char="•"/>
            </a:pPr>
            <a:r>
              <a:rPr lang="zh-CN" altLang="en-US" sz="1000" dirty="0">
                <a:latin typeface="微软雅黑" panose="020B0503020204020204" charset="-122"/>
                <a:ea typeface="微软雅黑" panose="020B0503020204020204" charset="-122"/>
              </a:rPr>
              <a:t>共三条跑道，</a:t>
            </a:r>
            <a:endParaRPr lang="en-US" altLang="zh-CN" sz="1000" dirty="0">
              <a:latin typeface="微软雅黑" panose="020B0503020204020204" charset="-122"/>
              <a:ea typeface="微软雅黑" panose="020B0503020204020204" charset="-122"/>
            </a:endParaRPr>
          </a:p>
          <a:p>
            <a:pPr>
              <a:lnSpc>
                <a:spcPct val="200000"/>
              </a:lnSpc>
            </a:pPr>
            <a:r>
              <a:rPr lang="zh-CN" altLang="en-US" sz="1000" dirty="0">
                <a:latin typeface="微软雅黑" panose="020B0503020204020204" charset="-122"/>
                <a:ea typeface="微软雅黑" panose="020B0503020204020204" charset="-122"/>
              </a:rPr>
              <a:t>        跑道</a:t>
            </a:r>
            <a:r>
              <a:rPr lang="en-US" altLang="zh-CN" sz="1000" dirty="0">
                <a:latin typeface="微软雅黑" panose="020B0503020204020204" charset="-122"/>
                <a:ea typeface="微软雅黑" panose="020B0503020204020204" charset="-122"/>
              </a:rPr>
              <a:t>01L/19R</a:t>
            </a:r>
            <a:r>
              <a:rPr lang="zh-CN" altLang="en-US" sz="1000" dirty="0">
                <a:latin typeface="微软雅黑" panose="020B0503020204020204" charset="-122"/>
                <a:ea typeface="微软雅黑" panose="020B0503020204020204" charset="-122"/>
              </a:rPr>
              <a:t>，长</a:t>
            </a:r>
            <a:r>
              <a:rPr lang="en-US" altLang="zh-CN" sz="1000" dirty="0">
                <a:latin typeface="微软雅黑" panose="020B0503020204020204" charset="-122"/>
                <a:ea typeface="微软雅黑" panose="020B0503020204020204" charset="-122"/>
              </a:rPr>
              <a:t>3301</a:t>
            </a:r>
            <a:r>
              <a:rPr lang="zh-CN" altLang="en-US" sz="1000" dirty="0">
                <a:latin typeface="微软雅黑" panose="020B0503020204020204" charset="-122"/>
                <a:ea typeface="微软雅黑" panose="020B0503020204020204" charset="-122"/>
              </a:rPr>
              <a:t>米，宽</a:t>
            </a:r>
            <a:r>
              <a:rPr lang="en-US" altLang="zh-CN" sz="1000" dirty="0">
                <a:latin typeface="微软雅黑" panose="020B0503020204020204" charset="-122"/>
                <a:ea typeface="微软雅黑" panose="020B0503020204020204" charset="-122"/>
              </a:rPr>
              <a:t>45</a:t>
            </a:r>
            <a:r>
              <a:rPr lang="zh-CN" altLang="en-US" sz="1000" dirty="0">
                <a:latin typeface="微软雅黑" panose="020B0503020204020204" charset="-122"/>
                <a:ea typeface="微软雅黑" panose="020B0503020204020204" charset="-122"/>
              </a:rPr>
              <a:t>米；</a:t>
            </a:r>
            <a:endParaRPr lang="en-US" altLang="zh-CN" sz="1000" dirty="0">
              <a:latin typeface="微软雅黑" panose="020B0503020204020204" charset="-122"/>
              <a:ea typeface="微软雅黑" panose="020B0503020204020204" charset="-122"/>
            </a:endParaRPr>
          </a:p>
          <a:p>
            <a:pPr>
              <a:lnSpc>
                <a:spcPct val="200000"/>
              </a:lnSpc>
            </a:pPr>
            <a:r>
              <a:rPr lang="zh-CN" altLang="en-US" sz="1000" dirty="0">
                <a:latin typeface="微软雅黑" panose="020B0503020204020204" charset="-122"/>
                <a:ea typeface="微软雅黑" panose="020B0503020204020204" charset="-122"/>
                <a:sym typeface="+mn-ea"/>
              </a:rPr>
              <a:t>        跑道</a:t>
            </a:r>
            <a:r>
              <a:rPr lang="en-US" altLang="zh-CN" sz="1000" dirty="0">
                <a:latin typeface="微软雅黑" panose="020B0503020204020204" charset="-122"/>
                <a:ea typeface="微软雅黑" panose="020B0503020204020204" charset="-122"/>
                <a:sym typeface="+mn-ea"/>
              </a:rPr>
              <a:t>01R/19L</a:t>
            </a:r>
            <a:r>
              <a:rPr lang="zh-CN" altLang="en-US" sz="1000" dirty="0">
                <a:latin typeface="微软雅黑" panose="020B0503020204020204" charset="-122"/>
                <a:ea typeface="微软雅黑" panose="020B0503020204020204" charset="-122"/>
                <a:sym typeface="+mn-ea"/>
              </a:rPr>
              <a:t>，长</a:t>
            </a:r>
            <a:r>
              <a:rPr lang="en-US" altLang="zh-CN" sz="1000" dirty="0">
                <a:latin typeface="微软雅黑" panose="020B0503020204020204" charset="-122"/>
                <a:ea typeface="微软雅黑" panose="020B0503020204020204" charset="-122"/>
                <a:sym typeface="+mn-ea"/>
              </a:rPr>
              <a:t>2500</a:t>
            </a:r>
            <a:r>
              <a:rPr lang="zh-CN" altLang="en-US" sz="1000" dirty="0">
                <a:latin typeface="微软雅黑" panose="020B0503020204020204" charset="-122"/>
                <a:ea typeface="微软雅黑" panose="020B0503020204020204" charset="-122"/>
                <a:sym typeface="+mn-ea"/>
              </a:rPr>
              <a:t>米，宽</a:t>
            </a:r>
            <a:r>
              <a:rPr lang="en-US" altLang="zh-CN" sz="1000" dirty="0">
                <a:latin typeface="微软雅黑" panose="020B0503020204020204" charset="-122"/>
                <a:ea typeface="微软雅黑" panose="020B0503020204020204" charset="-122"/>
                <a:sym typeface="+mn-ea"/>
              </a:rPr>
              <a:t>45</a:t>
            </a:r>
            <a:r>
              <a:rPr lang="zh-CN" altLang="en-US" sz="1000" dirty="0">
                <a:latin typeface="微软雅黑" panose="020B0503020204020204" charset="-122"/>
                <a:ea typeface="微软雅黑" panose="020B0503020204020204" charset="-122"/>
                <a:sym typeface="+mn-ea"/>
              </a:rPr>
              <a:t>米；</a:t>
            </a:r>
            <a:endParaRPr lang="zh-CN" altLang="en-US" sz="1000" dirty="0">
              <a:latin typeface="微软雅黑" panose="020B0503020204020204" charset="-122"/>
              <a:ea typeface="微软雅黑" panose="020B0503020204020204" charset="-122"/>
              <a:sym typeface="+mn-ea"/>
            </a:endParaRPr>
          </a:p>
          <a:p>
            <a:pPr>
              <a:lnSpc>
                <a:spcPct val="200000"/>
              </a:lnSpc>
            </a:pPr>
            <a:r>
              <a:rPr lang="zh-CN" altLang="en-US" sz="1000" dirty="0">
                <a:latin typeface="微软雅黑" panose="020B0503020204020204" charset="-122"/>
                <a:ea typeface="微软雅黑" panose="020B0503020204020204" charset="-122"/>
                <a:sym typeface="+mn-ea"/>
              </a:rPr>
              <a:t> </a:t>
            </a:r>
            <a:r>
              <a:rPr lang="en-US" altLang="zh-CN" sz="1000" dirty="0">
                <a:latin typeface="微软雅黑" panose="020B0503020204020204" charset="-122"/>
                <a:ea typeface="微软雅黑" panose="020B0503020204020204" charset="-122"/>
                <a:sym typeface="+mn-ea"/>
              </a:rPr>
              <a:t>       </a:t>
            </a:r>
            <a:r>
              <a:rPr lang="zh-CN" altLang="en-US" sz="1000" dirty="0">
                <a:latin typeface="微软雅黑" panose="020B0503020204020204" charset="-122"/>
                <a:ea typeface="微软雅黑" panose="020B0503020204020204" charset="-122"/>
                <a:sym typeface="+mn-ea"/>
              </a:rPr>
              <a:t>跑道</a:t>
            </a:r>
            <a:r>
              <a:rPr lang="en-US" altLang="zh-CN" sz="1000" dirty="0">
                <a:latin typeface="微软雅黑" panose="020B0503020204020204" charset="-122"/>
                <a:ea typeface="微软雅黑" panose="020B0503020204020204" charset="-122"/>
                <a:sym typeface="+mn-ea"/>
              </a:rPr>
              <a:t>08/26</a:t>
            </a:r>
            <a:r>
              <a:rPr lang="zh-CN" altLang="en-US" sz="1000" dirty="0">
                <a:latin typeface="微软雅黑" panose="020B0503020204020204" charset="-122"/>
                <a:ea typeface="微软雅黑" panose="020B0503020204020204" charset="-122"/>
                <a:sym typeface="+mn-ea"/>
              </a:rPr>
              <a:t>，长</a:t>
            </a:r>
            <a:r>
              <a:rPr lang="en-US" altLang="zh-CN" sz="1000" dirty="0">
                <a:latin typeface="微软雅黑" panose="020B0503020204020204" charset="-122"/>
                <a:ea typeface="微软雅黑" panose="020B0503020204020204" charset="-122"/>
                <a:sym typeface="+mn-ea"/>
              </a:rPr>
              <a:t>2500</a:t>
            </a:r>
            <a:r>
              <a:rPr lang="zh-CN" altLang="en-US" sz="1000" dirty="0">
                <a:latin typeface="微软雅黑" panose="020B0503020204020204" charset="-122"/>
                <a:ea typeface="微软雅黑" panose="020B0503020204020204" charset="-122"/>
                <a:sym typeface="+mn-ea"/>
              </a:rPr>
              <a:t>米，宽</a:t>
            </a:r>
            <a:r>
              <a:rPr lang="en-US" altLang="zh-CN" sz="1000" dirty="0">
                <a:latin typeface="微软雅黑" panose="020B0503020204020204" charset="-122"/>
                <a:ea typeface="微软雅黑" panose="020B0503020204020204" charset="-122"/>
                <a:sym typeface="+mn-ea"/>
              </a:rPr>
              <a:t>45</a:t>
            </a:r>
            <a:r>
              <a:rPr lang="zh-CN" altLang="en-US" sz="1000" dirty="0">
                <a:latin typeface="微软雅黑" panose="020B0503020204020204" charset="-122"/>
                <a:ea typeface="微软雅黑" panose="020B0503020204020204" charset="-122"/>
                <a:sym typeface="+mn-ea"/>
              </a:rPr>
              <a:t>米；</a:t>
            </a:r>
            <a:endParaRPr lang="zh-CN" altLang="en-US" sz="1000" dirty="0">
              <a:latin typeface="微软雅黑" panose="020B0503020204020204" charset="-122"/>
              <a:ea typeface="微软雅黑" panose="020B0503020204020204" charset="-122"/>
              <a:sym typeface="+mn-ea"/>
            </a:endParaRPr>
          </a:p>
          <a:p>
            <a:pPr marL="342900" indent="-342900">
              <a:lnSpc>
                <a:spcPct val="200000"/>
              </a:lnSpc>
              <a:buFont typeface="Arial" panose="020B0604020202020204" pitchFamily="34" charset="0"/>
              <a:buChar char="•"/>
            </a:pPr>
            <a:r>
              <a:rPr lang="zh-CN" altLang="en-US" sz="1000" dirty="0">
                <a:latin typeface="微软雅黑" panose="020B0503020204020204" charset="-122"/>
                <a:ea typeface="微软雅黑" panose="020B0503020204020204" charset="-122"/>
              </a:rPr>
              <a:t>运行时间：</a:t>
            </a:r>
            <a:r>
              <a:rPr lang="en-US" altLang="zh-CN" sz="1000" dirty="0">
                <a:latin typeface="微软雅黑" panose="020B0503020204020204" charset="-122"/>
                <a:ea typeface="微软雅黑" panose="020B0503020204020204" charset="-122"/>
              </a:rPr>
              <a:t>H24</a:t>
            </a:r>
            <a:r>
              <a:rPr lang="zh-CN" altLang="en-US" sz="1000" dirty="0">
                <a:latin typeface="微软雅黑" panose="020B0503020204020204" charset="-122"/>
                <a:ea typeface="微软雅黑" panose="020B0503020204020204" charset="-122"/>
              </a:rPr>
              <a:t>。消防等级</a:t>
            </a:r>
            <a:r>
              <a:rPr lang="en-US" altLang="zh-CN" sz="1000" dirty="0">
                <a:latin typeface="微软雅黑" panose="020B0503020204020204" charset="-122"/>
                <a:ea typeface="微软雅黑" panose="020B0503020204020204" charset="-122"/>
              </a:rPr>
              <a:t>10</a:t>
            </a:r>
            <a:r>
              <a:rPr lang="zh-CN" altLang="en-US" sz="1000" dirty="0">
                <a:latin typeface="微软雅黑" panose="020B0503020204020204" charset="-122"/>
                <a:ea typeface="微软雅黑" panose="020B0503020204020204" charset="-122"/>
              </a:rPr>
              <a:t>级。</a:t>
            </a:r>
            <a:endParaRPr lang="zh-CN" altLang="en-US" sz="1000"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5076190" y="843280"/>
            <a:ext cx="3133090" cy="39585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166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备降机场飞行程序</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726547" y="1318637"/>
            <a:ext cx="8469630" cy="20300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sz="1400" dirty="0">
                <a:latin typeface="微软雅黑" panose="020B0503020204020204" charset="-122"/>
                <a:ea typeface="微软雅黑" panose="020B0503020204020204" charset="-122"/>
                <a:sym typeface="+mn-ea"/>
              </a:rPr>
              <a:t>斯德哥尔摩阿兰达</a:t>
            </a:r>
            <a:r>
              <a:rPr lang="zh-CN" altLang="en-US" sz="1400" dirty="0">
                <a:latin typeface="微软雅黑" panose="020B0503020204020204" charset="-122"/>
                <a:ea typeface="微软雅黑" panose="020B0503020204020204" charset="-122"/>
                <a:sym typeface="+mn-ea"/>
              </a:rPr>
              <a:t>机场（</a:t>
            </a:r>
            <a:r>
              <a:rPr lang="en-US" altLang="zh-CN" sz="1400" dirty="0">
                <a:latin typeface="微软雅黑" panose="020B0503020204020204" charset="-122"/>
                <a:ea typeface="微软雅黑" panose="020B0503020204020204" charset="-122"/>
                <a:sym typeface="+mn-ea"/>
              </a:rPr>
              <a:t>ESSA</a:t>
            </a:r>
            <a:r>
              <a:rPr lang="zh-CN" altLang="en-US"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rPr>
              <a:t>飞行程序</a:t>
            </a:r>
            <a:endParaRPr lang="en-US" altLang="zh-CN" sz="1400" dirty="0">
              <a:latin typeface="微软雅黑" panose="020B0503020204020204" charset="-122"/>
              <a:ea typeface="微软雅黑" panose="020B0503020204020204" charset="-122"/>
            </a:endParaRPr>
          </a:p>
          <a:p>
            <a:pPr>
              <a:lnSpc>
                <a:spcPct val="150000"/>
              </a:lnSpc>
            </a:pPr>
            <a:r>
              <a:rPr lang="zh-CN" altLang="en-US" sz="1400" dirty="0">
                <a:latin typeface="微软雅黑" panose="020B0503020204020204" charset="-122"/>
                <a:ea typeface="微软雅黑" panose="020B0503020204020204" charset="-122"/>
                <a:sym typeface="+mn-ea"/>
              </a:rPr>
              <a:t>公布有</a:t>
            </a:r>
            <a:r>
              <a:rPr lang="en-US" altLang="zh-CN" sz="1400" dirty="0">
                <a:latin typeface="微软雅黑" panose="020B0503020204020204" charset="-122"/>
                <a:ea typeface="微软雅黑" panose="020B0503020204020204" charset="-122"/>
                <a:sym typeface="+mn-ea"/>
              </a:rPr>
              <a:t>RNAV1</a:t>
            </a:r>
            <a:r>
              <a:rPr lang="zh-CN" altLang="en-US" sz="1400" dirty="0">
                <a:latin typeface="微软雅黑" panose="020B0503020204020204" charset="-122"/>
                <a:ea typeface="微软雅黑" panose="020B0503020204020204" charset="-122"/>
                <a:sym typeface="+mn-ea"/>
              </a:rPr>
              <a:t>进离场程序。</a:t>
            </a:r>
            <a:endParaRPr lang="zh-CN" altLang="en-US" sz="1400" dirty="0">
              <a:latin typeface="微软雅黑" panose="020B0503020204020204" charset="-122"/>
              <a:ea typeface="微软雅黑" panose="020B0503020204020204" charset="-122"/>
              <a:sym typeface="+mn-ea"/>
            </a:endParaRPr>
          </a:p>
          <a:p>
            <a:pPr>
              <a:lnSpc>
                <a:spcPct val="150000"/>
              </a:lnSpc>
            </a:pPr>
            <a:r>
              <a:rPr lang="zh-CN" sz="1400" dirty="0">
                <a:latin typeface="微软雅黑" panose="020B0503020204020204" charset="-122"/>
                <a:ea typeface="微软雅黑" panose="020B0503020204020204" charset="-122"/>
                <a:sym typeface="+mn-ea"/>
              </a:rPr>
              <a:t>除</a:t>
            </a:r>
            <a:r>
              <a:rPr lang="en-US" altLang="zh-CN" sz="1400" dirty="0">
                <a:latin typeface="微软雅黑" panose="020B0503020204020204" charset="-122"/>
                <a:ea typeface="微软雅黑" panose="020B0503020204020204" charset="-122"/>
                <a:sym typeface="+mn-ea"/>
              </a:rPr>
              <a:t>RWY</a:t>
            </a:r>
            <a:r>
              <a:rPr lang="en-US" sz="1400" dirty="0">
                <a:latin typeface="微软雅黑" panose="020B0503020204020204" charset="-122"/>
                <a:ea typeface="微软雅黑" panose="020B0503020204020204" charset="-122"/>
                <a:sym typeface="+mn-ea"/>
              </a:rPr>
              <a:t>08</a:t>
            </a:r>
            <a:r>
              <a:rPr lang="zh-CN" altLang="en-US" sz="1400" dirty="0">
                <a:latin typeface="微软雅黑" panose="020B0503020204020204" charset="-122"/>
                <a:ea typeface="微软雅黑" panose="020B0503020204020204" charset="-122"/>
                <a:sym typeface="+mn-ea"/>
              </a:rPr>
              <a:t>，其余</a:t>
            </a:r>
            <a:r>
              <a:rPr lang="zh-CN" altLang="en-US" sz="1400" dirty="0">
                <a:latin typeface="微软雅黑" panose="020B0503020204020204" charset="-122"/>
                <a:ea typeface="微软雅黑" panose="020B0503020204020204" charset="-122"/>
                <a:sym typeface="+mn-ea"/>
              </a:rPr>
              <a:t>跑道均公布了</a:t>
            </a:r>
            <a:r>
              <a:rPr lang="en-US" altLang="zh-CN" sz="1400" dirty="0">
                <a:latin typeface="微软雅黑" panose="020B0503020204020204" charset="-122"/>
                <a:ea typeface="微软雅黑" panose="020B0503020204020204" charset="-122"/>
                <a:sym typeface="+mn-ea"/>
              </a:rPr>
              <a:t>ILS</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RWY</a:t>
            </a:r>
            <a:r>
              <a:rPr lang="en-US" sz="1400" dirty="0">
                <a:latin typeface="微软雅黑" panose="020B0503020204020204" charset="-122"/>
                <a:ea typeface="微软雅黑" panose="020B0503020204020204" charset="-122"/>
                <a:sym typeface="+mn-ea"/>
              </a:rPr>
              <a:t>08</a:t>
            </a:r>
            <a:r>
              <a:rPr lang="zh-CN" altLang="en-US" sz="1400" dirty="0">
                <a:latin typeface="微软雅黑" panose="020B0503020204020204" charset="-122"/>
                <a:ea typeface="微软雅黑" panose="020B0503020204020204" charset="-122"/>
                <a:sym typeface="+mn-ea"/>
              </a:rPr>
              <a:t>公布了</a:t>
            </a:r>
            <a:r>
              <a:rPr lang="en-US" altLang="zh-CN" sz="1400" dirty="0">
                <a:latin typeface="微软雅黑" panose="020B0503020204020204" charset="-122"/>
                <a:ea typeface="微软雅黑" panose="020B0503020204020204" charset="-122"/>
                <a:sym typeface="+mn-ea"/>
              </a:rPr>
              <a:t>LOC</a:t>
            </a:r>
            <a:r>
              <a:rPr lang="zh-CN" altLang="en-US" sz="1400" dirty="0">
                <a:latin typeface="微软雅黑" panose="020B0503020204020204" charset="-122"/>
                <a:ea typeface="微软雅黑" panose="020B0503020204020204" charset="-122"/>
                <a:sym typeface="+mn-ea"/>
              </a:rPr>
              <a:t>程序</a:t>
            </a:r>
            <a:endParaRPr lang="zh-CN" altLang="en-US" sz="1400" dirty="0">
              <a:latin typeface="微软雅黑" panose="020B0503020204020204" charset="-122"/>
              <a:ea typeface="微软雅黑" panose="020B0503020204020204" charset="-122"/>
              <a:sym typeface="+mn-ea"/>
            </a:endParaRPr>
          </a:p>
          <a:p>
            <a:pPr>
              <a:lnSpc>
                <a:spcPct val="150000"/>
              </a:lnSpc>
            </a:pPr>
            <a:r>
              <a:rPr lang="zh-CN" altLang="en-US" sz="1400" dirty="0">
                <a:latin typeface="微软雅黑" panose="020B0503020204020204" charset="-122"/>
                <a:ea typeface="微软雅黑" panose="020B0503020204020204" charset="-122"/>
                <a:sym typeface="+mn-ea"/>
              </a:rPr>
              <a:t>所有跑道均公布了</a:t>
            </a:r>
            <a:r>
              <a:rPr lang="en-US" altLang="zh-CN" sz="1400" dirty="0">
                <a:latin typeface="微软雅黑" panose="020B0503020204020204" charset="-122"/>
                <a:ea typeface="微软雅黑" panose="020B0503020204020204" charset="-122"/>
                <a:sym typeface="+mn-ea"/>
              </a:rPr>
              <a:t>RNP APCH</a:t>
            </a:r>
            <a:r>
              <a:rPr lang="zh-CN" altLang="en-US" sz="1400" dirty="0">
                <a:latin typeface="微软雅黑" panose="020B0503020204020204" charset="-122"/>
                <a:ea typeface="微软雅黑" panose="020B0503020204020204" charset="-122"/>
                <a:sym typeface="+mn-ea"/>
              </a:rPr>
              <a:t>进近程序。</a:t>
            </a:r>
            <a:endParaRPr lang="zh-CN" altLang="en-US" sz="1400" dirty="0">
              <a:latin typeface="微软雅黑" panose="020B0503020204020204" charset="-122"/>
              <a:ea typeface="微软雅黑" panose="020B0503020204020204" charset="-122"/>
              <a:sym typeface="+mn-ea"/>
            </a:endParaRPr>
          </a:p>
          <a:p>
            <a:pPr>
              <a:lnSpc>
                <a:spcPct val="150000"/>
              </a:lnSpc>
            </a:pPr>
            <a:r>
              <a:rPr lang="zh-CN" altLang="en-US" sz="1400" dirty="0">
                <a:latin typeface="微软雅黑" panose="020B0503020204020204" charset="-122"/>
                <a:ea typeface="微软雅黑" panose="020B0503020204020204" charset="-122"/>
                <a:sym typeface="+mn-ea"/>
              </a:rPr>
              <a:t>，</a:t>
            </a:r>
            <a:endParaRPr lang="en-US" altLang="zh-CN" sz="1400" dirty="0">
              <a:latin typeface="微软雅黑" panose="020B0503020204020204" charset="-122"/>
              <a:ea typeface="微软雅黑" panose="020B0503020204020204" charset="-122"/>
              <a:sym typeface="+mn-ea"/>
            </a:endParaRPr>
          </a:p>
          <a:p>
            <a:pPr>
              <a:lnSpc>
                <a:spcPct val="150000"/>
              </a:lnSpc>
            </a:pPr>
            <a:endParaRPr lang="zh-CN" altLang="en-US" sz="1400" dirty="0">
              <a:latin typeface="微软雅黑" panose="020B0503020204020204" charset="-122"/>
              <a:ea typeface="微软雅黑" panose="020B0503020204020204" charset="-122"/>
              <a:sym typeface="+mn-ea"/>
            </a:endParaRPr>
          </a:p>
        </p:txBody>
      </p:sp>
      <p:graphicFrame>
        <p:nvGraphicFramePr>
          <p:cNvPr id="6" name="表格 5"/>
          <p:cNvGraphicFramePr>
            <a:graphicFrameLocks noGrp="1"/>
          </p:cNvGraphicFramePr>
          <p:nvPr>
            <p:custDataLst>
              <p:tags r:id="rId1"/>
            </p:custDataLst>
          </p:nvPr>
        </p:nvGraphicFramePr>
        <p:xfrm>
          <a:off x="755576" y="2787774"/>
          <a:ext cx="5256584" cy="883920"/>
        </p:xfrm>
        <a:graphic>
          <a:graphicData uri="http://schemas.openxmlformats.org/drawingml/2006/table">
            <a:tbl>
              <a:tblPr firstRow="1" bandRow="1">
                <a:tableStyleId>{93296810-A885-4BE3-A3E7-6D5BEEA58F35}</a:tableStyleId>
              </a:tblPr>
              <a:tblGrid>
                <a:gridCol w="1007110"/>
                <a:gridCol w="1056005"/>
                <a:gridCol w="1082675"/>
                <a:gridCol w="1246698"/>
                <a:gridCol w="864096"/>
              </a:tblGrid>
              <a:tr h="330679">
                <a:tc>
                  <a:txBody>
                    <a:bodyPr/>
                    <a:lstStyle/>
                    <a:p>
                      <a:pPr algn="ctr"/>
                      <a:r>
                        <a:rPr lang="zh-CN" altLang="en-US" dirty="0"/>
                        <a:t>离场</a:t>
                      </a:r>
                      <a:endParaRPr lang="zh-CN" altLang="en-US" dirty="0"/>
                    </a:p>
                  </a:txBody>
                  <a:tcPr/>
                </a:tc>
                <a:tc>
                  <a:txBody>
                    <a:bodyPr/>
                    <a:lstStyle/>
                    <a:p>
                      <a:pPr algn="ctr"/>
                      <a:r>
                        <a:rPr lang="zh-CN" altLang="en-US" dirty="0"/>
                        <a:t>进场</a:t>
                      </a:r>
                      <a:endParaRPr lang="zh-CN" altLang="en-US" dirty="0"/>
                    </a:p>
                  </a:txBody>
                  <a:tcPr/>
                </a:tc>
                <a:tc gridSpan="3">
                  <a:txBody>
                    <a:bodyPr/>
                    <a:lstStyle/>
                    <a:p>
                      <a:pPr algn="ctr"/>
                      <a:r>
                        <a:rPr lang="zh-CN" altLang="en-US" dirty="0"/>
                        <a:t>进近</a:t>
                      </a:r>
                      <a:endParaRPr lang="zh-CN" altLang="en-US" dirty="0"/>
                    </a:p>
                  </a:txBody>
                  <a:tcPr/>
                </a:tc>
                <a:tc hMerge="1">
                  <a:tcPr/>
                </a:tc>
                <a:tc hMerge="1">
                  <a:tcPr/>
                </a:tc>
              </a:tr>
              <a:tr h="426328">
                <a:tc>
                  <a:txBody>
                    <a:bodyPr/>
                    <a:lstStyle/>
                    <a:p>
                      <a:pPr algn="ctr"/>
                      <a:r>
                        <a:rPr lang="en-US" altLang="zh-CN" sz="1400" dirty="0">
                          <a:solidFill>
                            <a:schemeClr val="tx1"/>
                          </a:solidFill>
                        </a:rPr>
                        <a:t>RNAV1</a:t>
                      </a:r>
                      <a:endParaRPr lang="en-US" altLang="zh-CN" sz="1400" dirty="0">
                        <a:solidFill>
                          <a:schemeClr val="tx1"/>
                        </a:solidFill>
                      </a:endParaRPr>
                    </a:p>
                  </a:txBody>
                  <a:tcPr anchor="ctr"/>
                </a:tc>
                <a:tc>
                  <a:txBody>
                    <a:bodyPr/>
                    <a:lstStyle/>
                    <a:p>
                      <a:pPr algn="ctr"/>
                      <a:r>
                        <a:rPr lang="en-US" altLang="zh-CN" sz="1400" dirty="0">
                          <a:solidFill>
                            <a:schemeClr val="tx1"/>
                          </a:solidFill>
                        </a:rPr>
                        <a:t>RNAV1</a:t>
                      </a:r>
                      <a:endParaRPr lang="en-US" altLang="zh-CN" sz="1400" dirty="0">
                        <a:solidFill>
                          <a:schemeClr val="tx1"/>
                        </a:solidFill>
                      </a:endParaRPr>
                    </a:p>
                  </a:txBody>
                  <a:tcPr anchor="ctr"/>
                </a:tc>
                <a:tc>
                  <a:txBody>
                    <a:bodyPr/>
                    <a:lstStyle/>
                    <a:p>
                      <a:pPr algn="ctr"/>
                      <a:r>
                        <a:rPr lang="en-US" altLang="zh-CN" sz="1400" dirty="0"/>
                        <a:t>ILS</a:t>
                      </a:r>
                      <a:endParaRPr lang="en-US" altLang="zh-CN"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t>RNP APCH</a:t>
                      </a:r>
                      <a:endParaRPr lang="zh-CN" altLang="en-US" sz="14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rPr>
                        <a:t>LOC</a:t>
                      </a:r>
                      <a:endParaRPr lang="en-US" altLang="zh-CN" sz="1400" dirty="0">
                        <a:solidFill>
                          <a:schemeClr val="tx1"/>
                        </a:solidFill>
                      </a:endParaRPr>
                    </a:p>
                  </a:txBody>
                  <a:tcPr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411382"/>
            <a:ext cx="6948264" cy="46037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备降机场运行限制</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323850" y="988060"/>
            <a:ext cx="8120380" cy="387032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sz="1000" dirty="0">
                <a:latin typeface="微软雅黑" panose="020B0503020204020204" charset="-122"/>
                <a:ea typeface="微软雅黑" panose="020B0503020204020204" charset="-122"/>
                <a:sym typeface="+mn-ea"/>
              </a:rPr>
              <a:t>1.</a:t>
            </a:r>
            <a:r>
              <a:rPr lang="zh-CN" altLang="en-US" sz="1000" dirty="0">
                <a:latin typeface="微软雅黑" panose="020B0503020204020204" charset="-122"/>
                <a:ea typeface="微软雅黑" panose="020B0503020204020204" charset="-122"/>
                <a:sym typeface="+mn-ea"/>
              </a:rPr>
              <a:t>到达的飞机不得通过弯道超过90度的出口滑离跑道</a:t>
            </a:r>
            <a:r>
              <a:rPr lang="en-US" altLang="zh-CN" sz="1000" dirty="0">
                <a:latin typeface="微软雅黑" panose="020B0503020204020204" charset="-122"/>
                <a:ea typeface="微软雅黑" panose="020B0503020204020204" charset="-122"/>
                <a:sym typeface="+mn-ea"/>
              </a:rPr>
              <a:t>。</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2.</a:t>
            </a:r>
            <a:r>
              <a:rPr lang="zh-CN" altLang="en-US" sz="1000" dirty="0">
                <a:latin typeface="微软雅黑" panose="020B0503020204020204" charset="-122"/>
                <a:ea typeface="微软雅黑" panose="020B0503020204020204" charset="-122"/>
                <a:sym typeface="+mn-ea"/>
              </a:rPr>
              <a:t>离港飞机</a:t>
            </a:r>
            <a:r>
              <a:rPr sz="1000" dirty="0">
                <a:latin typeface="微软雅黑" panose="020B0503020204020204" charset="-122"/>
                <a:ea typeface="微软雅黑" panose="020B0503020204020204" charset="-122"/>
                <a:sym typeface="+mn-ea"/>
              </a:rPr>
              <a:t>可以通过数据链路（DCL）（SITA/AIRINC）或在EOBT前25分钟至EOBT后10分钟之间通过无线电通话请求起飞许可</a:t>
            </a:r>
            <a:r>
              <a:rPr lang="en-US" altLang="zh-CN" sz="1000" dirty="0">
                <a:latin typeface="微软雅黑" panose="020B0503020204020204" charset="-122"/>
                <a:ea typeface="微软雅黑" panose="020B0503020204020204" charset="-122"/>
                <a:sym typeface="+mn-ea"/>
              </a:rPr>
              <a:t>。在使用DCL服务时，</a:t>
            </a:r>
            <a:r>
              <a:rPr lang="zh-CN" altLang="en-US" sz="1000" dirty="0">
                <a:latin typeface="微软雅黑" panose="020B0503020204020204" charset="-122"/>
                <a:ea typeface="微软雅黑" panose="020B0503020204020204" charset="-122"/>
                <a:sym typeface="+mn-ea"/>
              </a:rPr>
              <a:t>监守放行许可频率</a:t>
            </a:r>
            <a:r>
              <a:rPr lang="en-US" altLang="zh-CN" sz="1000" dirty="0">
                <a:latin typeface="微软雅黑" panose="020B0503020204020204" charset="-122"/>
                <a:ea typeface="微软雅黑" panose="020B0503020204020204" charset="-122"/>
                <a:sym typeface="+mn-ea"/>
              </a:rPr>
              <a:t>121.830</a:t>
            </a:r>
            <a:r>
              <a:rPr lang="zh-CN" altLang="en-US" sz="1000" dirty="0">
                <a:latin typeface="微软雅黑" panose="020B0503020204020204" charset="-122"/>
                <a:ea typeface="微软雅黑" panose="020B0503020204020204" charset="-122"/>
                <a:sym typeface="+mn-ea"/>
              </a:rPr>
              <a:t>。</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3.</a:t>
            </a:r>
            <a:r>
              <a:rPr sz="1000" dirty="0">
                <a:latin typeface="微软雅黑" panose="020B0503020204020204" charset="-122"/>
                <a:ea typeface="微软雅黑" panose="020B0503020204020204" charset="-122"/>
                <a:sym typeface="+mn-ea"/>
              </a:rPr>
              <a:t>如果飞机无法遵循RNAV</a:t>
            </a:r>
            <a:r>
              <a:rPr lang="en-US" sz="1000" dirty="0">
                <a:latin typeface="微软雅黑" panose="020B0503020204020204" charset="-122"/>
                <a:ea typeface="微软雅黑" panose="020B0503020204020204" charset="-122"/>
                <a:sym typeface="+mn-ea"/>
              </a:rPr>
              <a:t> </a:t>
            </a:r>
            <a:r>
              <a:rPr sz="1000" dirty="0">
                <a:latin typeface="微软雅黑" panose="020B0503020204020204" charset="-122"/>
                <a:ea typeface="微软雅黑" panose="020B0503020204020204" charset="-122"/>
                <a:sym typeface="+mn-ea"/>
              </a:rPr>
              <a:t>SID，在使用DCL时，应在RCD的RMK字段中添加“REQ</a:t>
            </a:r>
            <a:r>
              <a:rPr lang="en-US" sz="1000" dirty="0">
                <a:latin typeface="微软雅黑" panose="020B0503020204020204" charset="-122"/>
                <a:ea typeface="微软雅黑" panose="020B0503020204020204" charset="-122"/>
                <a:sym typeface="+mn-ea"/>
              </a:rPr>
              <a:t> </a:t>
            </a:r>
            <a:r>
              <a:rPr sz="1000" dirty="0">
                <a:latin typeface="微软雅黑" panose="020B0503020204020204" charset="-122"/>
                <a:ea typeface="微软雅黑" panose="020B0503020204020204" charset="-122"/>
                <a:sym typeface="+mn-ea"/>
              </a:rPr>
              <a:t>URNAV”</a:t>
            </a:r>
            <a:r>
              <a:rPr lang="en-US" altLang="zh-CN" sz="1000" dirty="0">
                <a:latin typeface="微软雅黑" panose="020B0503020204020204" charset="-122"/>
                <a:ea typeface="微软雅黑" panose="020B0503020204020204" charset="-122"/>
                <a:sym typeface="+mn-ea"/>
              </a:rPr>
              <a:t>。</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4.</a:t>
            </a:r>
            <a:r>
              <a:rPr lang="zh-CN" altLang="en-US" sz="1000" dirty="0">
                <a:latin typeface="微软雅黑" panose="020B0503020204020204" charset="-122"/>
                <a:ea typeface="微软雅黑" panose="020B0503020204020204" charset="-122"/>
                <a:sym typeface="+mn-ea"/>
              </a:rPr>
              <a:t>塔台经常要求非全跑道起飞，如无法执行，应在进入跑道等待位置之前告知塔台。</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5.APU应在预计推出或滑行时间前不早于5分钟启动。到达时，APU必须在进入停机位后不迟于5分钟内关闭。</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6.</a:t>
            </a:r>
            <a:r>
              <a:rPr lang="zh-CN" altLang="en-US" sz="1000" dirty="0">
                <a:latin typeface="微软雅黑" panose="020B0503020204020204" charset="-122"/>
                <a:ea typeface="微软雅黑" panose="020B0503020204020204" charset="-122"/>
                <a:sym typeface="+mn-ea"/>
              </a:rPr>
              <a:t>在2100 - 0</a:t>
            </a:r>
            <a:r>
              <a:rPr lang="en-US" altLang="zh-CN" sz="1000" dirty="0">
                <a:latin typeface="微软雅黑" panose="020B0503020204020204" charset="-122"/>
                <a:ea typeface="微软雅黑" panose="020B0503020204020204" charset="-122"/>
                <a:sym typeface="+mn-ea"/>
              </a:rPr>
              <a:t>5</a:t>
            </a:r>
            <a:r>
              <a:rPr lang="zh-CN" altLang="en-US" sz="1000" dirty="0">
                <a:latin typeface="微软雅黑" panose="020B0503020204020204" charset="-122"/>
                <a:ea typeface="微软雅黑" panose="020B0503020204020204" charset="-122"/>
                <a:sym typeface="+mn-ea"/>
              </a:rPr>
              <a:t>00</a:t>
            </a:r>
            <a:r>
              <a:rPr lang="en-US" altLang="zh-CN" sz="1000" dirty="0">
                <a:latin typeface="微软雅黑" panose="020B0503020204020204" charset="-122"/>
                <a:ea typeface="微软雅黑" panose="020B0503020204020204" charset="-122"/>
                <a:sym typeface="+mn-ea"/>
              </a:rPr>
              <a:t>LT</a:t>
            </a:r>
            <a:r>
              <a:rPr lang="zh-CN" altLang="en-US" sz="1000" dirty="0">
                <a:latin typeface="微软雅黑" panose="020B0503020204020204" charset="-122"/>
                <a:ea typeface="微软雅黑" panose="020B0503020204020204" charset="-122"/>
                <a:sym typeface="+mn-ea"/>
              </a:rPr>
              <a:t>（2000 - 0</a:t>
            </a:r>
            <a:r>
              <a:rPr lang="en-US" altLang="zh-CN" sz="1000" dirty="0">
                <a:latin typeface="微软雅黑" panose="020B0503020204020204" charset="-122"/>
                <a:ea typeface="微软雅黑" panose="020B0503020204020204" charset="-122"/>
                <a:sym typeface="+mn-ea"/>
              </a:rPr>
              <a:t>4</a:t>
            </a:r>
            <a:r>
              <a:rPr lang="zh-CN" altLang="en-US" sz="1000" dirty="0">
                <a:latin typeface="微软雅黑" panose="020B0503020204020204" charset="-122"/>
                <a:ea typeface="微软雅黑" panose="020B0503020204020204" charset="-122"/>
                <a:sym typeface="+mn-ea"/>
              </a:rPr>
              <a:t>00</a:t>
            </a:r>
            <a:r>
              <a:rPr lang="en-US" altLang="zh-CN" sz="1000" dirty="0">
                <a:latin typeface="微软雅黑" panose="020B0503020204020204" charset="-122"/>
                <a:ea typeface="微软雅黑" panose="020B0503020204020204" charset="-122"/>
                <a:sym typeface="+mn-ea"/>
              </a:rPr>
              <a:t>UTC</a:t>
            </a:r>
            <a:r>
              <a:rPr lang="zh-CN" altLang="en-US" sz="1000" dirty="0">
                <a:latin typeface="微软雅黑" panose="020B0503020204020204" charset="-122"/>
                <a:ea typeface="微软雅黑" panose="020B0503020204020204" charset="-122"/>
                <a:sym typeface="+mn-ea"/>
              </a:rPr>
              <a:t>）期间仅允许使用怠速反推。</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7.出于环境考虑，为最小化噪音干扰：</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 RWY 01R在2100-0500（2000-0400）不可用于着陆。</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 RWY 19R在2100-0500（2000-0400）不可用于起飞，除非出于性能考虑。</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 RWY 08除非出于风况需要，否则不可用于着陆。</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 RWY 26除非出于风况需要，否则不可用于起飞。</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8.跑道维护计划</a:t>
            </a:r>
            <a:r>
              <a:rPr lang="zh-CN" altLang="en-US" sz="1000" dirty="0">
                <a:latin typeface="微软雅黑" panose="020B0503020204020204" charset="-122"/>
                <a:ea typeface="微软雅黑" panose="020B0503020204020204" charset="-122"/>
                <a:sym typeface="+mn-ea"/>
              </a:rPr>
              <a:t>：</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01L/19R:周三1000-1200LT (0900-1100);  </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01R/19L:星期四1000-1200LT（0900-1100）</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08/26:星期</a:t>
            </a:r>
            <a:r>
              <a:rPr lang="zh-CN" altLang="en-US" sz="1000" dirty="0">
                <a:latin typeface="微软雅黑" panose="020B0503020204020204" charset="-122"/>
                <a:ea typeface="微软雅黑" panose="020B0503020204020204" charset="-122"/>
                <a:sym typeface="+mn-ea"/>
              </a:rPr>
              <a:t>二</a:t>
            </a:r>
            <a:r>
              <a:rPr lang="en-US" altLang="zh-CN" sz="1000" dirty="0">
                <a:latin typeface="微软雅黑" panose="020B0503020204020204" charset="-122"/>
                <a:ea typeface="微软雅黑" panose="020B0503020204020204" charset="-122"/>
                <a:sym typeface="+mn-ea"/>
              </a:rPr>
              <a:t>1000-1200LT（0900-1100）</a:t>
            </a:r>
            <a:endParaRPr lang="en-US" altLang="zh-CN" sz="1000" dirty="0">
              <a:latin typeface="微软雅黑" panose="020B0503020204020204" charset="-122"/>
              <a:ea typeface="微软雅黑" panose="020B0503020204020204" charset="-122"/>
              <a:sym typeface="+mn-ea"/>
            </a:endParaRPr>
          </a:p>
          <a:p>
            <a:pPr algn="l">
              <a:lnSpc>
                <a:spcPct val="150000"/>
              </a:lnSpc>
            </a:pPr>
            <a:endParaRPr lang="en-US" altLang="zh-CN" sz="1000" dirty="0">
              <a:latin typeface="微软雅黑" panose="020B0503020204020204" charset="-122"/>
              <a:ea typeface="微软雅黑" panose="020B0503020204020204" charset="-122"/>
              <a:sym typeface="+mn-ea"/>
            </a:endParaRPr>
          </a:p>
          <a:p>
            <a:pPr algn="l">
              <a:lnSpc>
                <a:spcPct val="150000"/>
              </a:lnSpc>
            </a:pPr>
            <a:endParaRPr lang="en-US" altLang="zh-CN" sz="10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a:p>
            <a:pPr algn="l">
              <a:lnSpc>
                <a:spcPct val="150000"/>
              </a:lnSpc>
            </a:pPr>
            <a:endParaRPr lang="en-US" altLang="zh-CN" sz="14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13671" y="381893"/>
            <a:ext cx="2011680" cy="460375"/>
          </a:xfrm>
          <a:prstGeom prst="rect">
            <a:avLst/>
          </a:prstGeom>
          <a:noFill/>
        </p:spPr>
        <p:txBody>
          <a:bodyPr wrap="none" rtlCol="0" anchor="t">
            <a:spAutoFit/>
          </a:bodyPr>
          <a:lstStyle/>
          <a:p>
            <a:pPr algn="ctr"/>
            <a:r>
              <a:rPr lang="zh-CN" altLang="en-US" sz="2400" b="1" dirty="0">
                <a:latin typeface="微软雅黑" panose="020B0503020204020204" charset="-122"/>
                <a:ea typeface="微软雅黑" panose="020B0503020204020204" charset="-122"/>
                <a:sym typeface="+mn-ea"/>
              </a:rPr>
              <a:t>备降机场介绍</a:t>
            </a:r>
            <a:endParaRPr lang="zh-CN" altLang="en-US" sz="2400" b="1" dirty="0">
              <a:latin typeface="微软雅黑" panose="020B0503020204020204" charset="-122"/>
              <a:ea typeface="微软雅黑" panose="020B0503020204020204" charset="-122"/>
              <a:sym typeface="+mn-ea"/>
            </a:endParaRPr>
          </a:p>
        </p:txBody>
      </p:sp>
      <p:sp>
        <p:nvSpPr>
          <p:cNvPr id="3" name="TextBox 2"/>
          <p:cNvSpPr txBox="1"/>
          <p:nvPr/>
        </p:nvSpPr>
        <p:spPr>
          <a:xfrm>
            <a:off x="62865" y="771525"/>
            <a:ext cx="4734560" cy="3979545"/>
          </a:xfrm>
          <a:prstGeom prst="rect">
            <a:avLst/>
          </a:prstGeom>
          <a:noFill/>
          <a:ln w="12700" cmpd="sng">
            <a:noFill/>
            <a:prstDash val="solid"/>
          </a:ln>
        </p:spPr>
        <p:txBody>
          <a:bodyPr wrap="square" rtlCol="0">
            <a:noAutofit/>
          </a:bodyPr>
          <a:lstStyle/>
          <a:p>
            <a:pPr marL="0" lvl="3" indent="-342900">
              <a:lnSpc>
                <a:spcPct val="140000"/>
              </a:lnSpc>
              <a:buFont typeface="Wingdings" panose="05000000000000000000" pitchFamily="2" charset="2"/>
              <a:buChar char="Ø"/>
            </a:pPr>
            <a:r>
              <a:rPr lang="en-US" altLang="zh-CN"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EDDV</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sym typeface="+mn-ea"/>
              </a:rPr>
              <a:t>汉诺威机场</a:t>
            </a:r>
            <a:r>
              <a:rPr lang="zh-CN" altLang="en-US" sz="1600" b="1" dirty="0">
                <a:solidFill>
                  <a:schemeClr val="accent6">
                    <a:lumMod val="75000"/>
                  </a:schemeClr>
                </a:solidFill>
                <a:latin typeface="微软雅黑" panose="020B0503020204020204" charset="-122"/>
                <a:ea typeface="微软雅黑" panose="020B0503020204020204" charset="-122"/>
                <a:cs typeface="微软雅黑" panose="020B0503020204020204" charset="-122"/>
              </a:rPr>
              <a:t>简介</a:t>
            </a:r>
            <a:endParaRPr lang="zh-CN" altLang="en-US" dirty="0"/>
          </a:p>
          <a:p>
            <a:pPr marL="342900" indent="-342900" fontAlgn="auto">
              <a:lnSpc>
                <a:spcPct val="150000"/>
              </a:lnSpc>
              <a:buFont typeface="Arial" panose="020B0604020202020204" pitchFamily="34" charset="0"/>
              <a:buChar char="•"/>
            </a:pPr>
            <a:r>
              <a:rPr sz="1000" dirty="0">
                <a:latin typeface="微软雅黑" panose="020B0503020204020204" charset="-122"/>
                <a:ea typeface="微软雅黑" panose="020B0503020204020204" charset="-122"/>
              </a:rPr>
              <a:t>汉诺威机场（Hanover/Langenhagen International Airport）位于德国下萨克森州，汉诺威市以北11公里外的朗根哈根镇</a:t>
            </a:r>
            <a:r>
              <a:rPr lang="zh-CN" altLang="en-US" sz="1000" dirty="0">
                <a:latin typeface="微软雅黑" panose="020B0503020204020204" charset="-122"/>
                <a:ea typeface="微软雅黑" panose="020B0503020204020204" charset="-122"/>
              </a:rPr>
              <a:t>。是北德地区首屈一指的一座民用机场， 该机场有航班直飞法兰克福、慕尼黑、伦敦和阿姆斯特丹等国际空中交通枢纽，以及巴黎、苏黎世、华沙和哥本哈根等城市。</a:t>
            </a:r>
            <a:endParaRPr lang="zh-CN" altLang="en-US" sz="10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000" dirty="0">
                <a:latin typeface="微软雅黑" panose="020B0503020204020204" charset="-122"/>
                <a:ea typeface="微软雅黑" panose="020B0503020204020204" charset="-122"/>
              </a:rPr>
              <a:t>机场标高</a:t>
            </a:r>
            <a:r>
              <a:rPr lang="en-US" altLang="zh-CN" sz="1000" dirty="0">
                <a:latin typeface="微软雅黑" panose="020B0503020204020204" charset="-122"/>
                <a:ea typeface="微软雅黑" panose="020B0503020204020204" charset="-122"/>
              </a:rPr>
              <a:t>183ft </a:t>
            </a:r>
            <a:r>
              <a:rPr lang="zh-CN" altLang="en-US" sz="1000" dirty="0">
                <a:latin typeface="微软雅黑" panose="020B0503020204020204" charset="-122"/>
                <a:ea typeface="微软雅黑" panose="020B0503020204020204" charset="-122"/>
              </a:rPr>
              <a:t>。</a:t>
            </a:r>
            <a:endParaRPr lang="en-US" altLang="zh-CN" sz="10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000" dirty="0">
                <a:latin typeface="微软雅黑" panose="020B0503020204020204" charset="-122"/>
                <a:ea typeface="微软雅黑" panose="020B0503020204020204" charset="-122"/>
              </a:rPr>
              <a:t>共三条跑道，</a:t>
            </a:r>
            <a:endParaRPr lang="zh-CN" altLang="en-US" sz="10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000" dirty="0">
                <a:latin typeface="微软雅黑" panose="020B0503020204020204" charset="-122"/>
                <a:ea typeface="微软雅黑" panose="020B0503020204020204" charset="-122"/>
              </a:rPr>
              <a:t>跑道</a:t>
            </a:r>
            <a:r>
              <a:rPr lang="en-US" altLang="zh-CN" sz="1000" dirty="0">
                <a:latin typeface="微软雅黑" panose="020B0503020204020204" charset="-122"/>
                <a:ea typeface="微软雅黑" panose="020B0503020204020204" charset="-122"/>
              </a:rPr>
              <a:t>09L/27R</a:t>
            </a:r>
            <a:r>
              <a:rPr lang="zh-CN" altLang="en-US" sz="1000" dirty="0">
                <a:latin typeface="微软雅黑" panose="020B0503020204020204" charset="-122"/>
                <a:ea typeface="微软雅黑" panose="020B0503020204020204" charset="-122"/>
              </a:rPr>
              <a:t>，长</a:t>
            </a:r>
            <a:r>
              <a:rPr lang="en-US" altLang="zh-CN" sz="1000" dirty="0">
                <a:latin typeface="微软雅黑" panose="020B0503020204020204" charset="-122"/>
                <a:ea typeface="微软雅黑" panose="020B0503020204020204" charset="-122"/>
              </a:rPr>
              <a:t>3200</a:t>
            </a:r>
            <a:r>
              <a:rPr lang="zh-CN" altLang="en-US" sz="1000" dirty="0">
                <a:latin typeface="微软雅黑" panose="020B0503020204020204" charset="-122"/>
                <a:ea typeface="微软雅黑" panose="020B0503020204020204" charset="-122"/>
              </a:rPr>
              <a:t>米，宽</a:t>
            </a:r>
            <a:r>
              <a:rPr lang="en-US" altLang="zh-CN" sz="1000" dirty="0">
                <a:latin typeface="微软雅黑" panose="020B0503020204020204" charset="-122"/>
                <a:ea typeface="微软雅黑" panose="020B0503020204020204" charset="-122"/>
              </a:rPr>
              <a:t>45</a:t>
            </a:r>
            <a:r>
              <a:rPr lang="zh-CN" altLang="en-US" sz="1000" dirty="0">
                <a:latin typeface="微软雅黑" panose="020B0503020204020204" charset="-122"/>
                <a:ea typeface="微软雅黑" panose="020B0503020204020204" charset="-122"/>
              </a:rPr>
              <a:t>米；</a:t>
            </a:r>
            <a:endParaRPr lang="zh-CN" altLang="en-US" sz="10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000" dirty="0">
                <a:latin typeface="微软雅黑" panose="020B0503020204020204" charset="-122"/>
                <a:ea typeface="微软雅黑" panose="020B0503020204020204" charset="-122"/>
                <a:sym typeface="+mn-ea"/>
              </a:rPr>
              <a:t>跑道</a:t>
            </a:r>
            <a:r>
              <a:rPr lang="en-US" altLang="zh-CN" sz="1000" dirty="0">
                <a:latin typeface="微软雅黑" panose="020B0503020204020204" charset="-122"/>
                <a:ea typeface="微软雅黑" panose="020B0503020204020204" charset="-122"/>
                <a:sym typeface="+mn-ea"/>
              </a:rPr>
              <a:t>09C/27C</a:t>
            </a:r>
            <a:r>
              <a:rPr lang="zh-CN" altLang="en-US" sz="1000" dirty="0">
                <a:latin typeface="微软雅黑" panose="020B0503020204020204" charset="-122"/>
                <a:ea typeface="微软雅黑" panose="020B0503020204020204" charset="-122"/>
                <a:sym typeface="+mn-ea"/>
              </a:rPr>
              <a:t>，长</a:t>
            </a:r>
            <a:r>
              <a:rPr lang="en-US" altLang="zh-CN" sz="1000" dirty="0">
                <a:latin typeface="微软雅黑" panose="020B0503020204020204" charset="-122"/>
                <a:ea typeface="微软雅黑" panose="020B0503020204020204" charset="-122"/>
                <a:sym typeface="+mn-ea"/>
              </a:rPr>
              <a:t>550</a:t>
            </a:r>
            <a:r>
              <a:rPr lang="zh-CN" altLang="en-US" sz="1000" dirty="0">
                <a:latin typeface="微软雅黑" panose="020B0503020204020204" charset="-122"/>
                <a:ea typeface="微软雅黑" panose="020B0503020204020204" charset="-122"/>
                <a:sym typeface="+mn-ea"/>
              </a:rPr>
              <a:t>米，宽</a:t>
            </a:r>
            <a:r>
              <a:rPr lang="en-US" altLang="zh-CN" sz="1000" dirty="0">
                <a:latin typeface="微软雅黑" panose="020B0503020204020204" charset="-122"/>
                <a:ea typeface="微软雅黑" panose="020B0503020204020204" charset="-122"/>
                <a:sym typeface="+mn-ea"/>
              </a:rPr>
              <a:t>23</a:t>
            </a:r>
            <a:r>
              <a:rPr lang="zh-CN" altLang="en-US" sz="1000" dirty="0">
                <a:latin typeface="微软雅黑" panose="020B0503020204020204" charset="-122"/>
                <a:ea typeface="微软雅黑" panose="020B0503020204020204" charset="-122"/>
                <a:sym typeface="+mn-ea"/>
              </a:rPr>
              <a:t>米</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不可用）；</a:t>
            </a:r>
            <a:endParaRPr lang="zh-CN" altLang="en-US" sz="1000" dirty="0">
              <a:latin typeface="微软雅黑" panose="020B0503020204020204" charset="-122"/>
              <a:ea typeface="微软雅黑" panose="020B0503020204020204" charset="-122"/>
              <a:sym typeface="+mn-ea"/>
            </a:endParaRPr>
          </a:p>
          <a:p>
            <a:pPr marL="342900" indent="-342900" fontAlgn="auto">
              <a:lnSpc>
                <a:spcPct val="150000"/>
              </a:lnSpc>
              <a:buFont typeface="Arial" panose="020B0604020202020204" pitchFamily="34" charset="0"/>
              <a:buChar char="•"/>
            </a:pPr>
            <a:r>
              <a:rPr lang="zh-CN" altLang="en-US" sz="1000" dirty="0">
                <a:latin typeface="微软雅黑" panose="020B0503020204020204" charset="-122"/>
                <a:ea typeface="微软雅黑" panose="020B0503020204020204" charset="-122"/>
                <a:sym typeface="+mn-ea"/>
              </a:rPr>
              <a:t>跑道</a:t>
            </a:r>
            <a:r>
              <a:rPr lang="en-US" altLang="zh-CN" sz="1000" dirty="0">
                <a:latin typeface="微软雅黑" panose="020B0503020204020204" charset="-122"/>
                <a:ea typeface="微软雅黑" panose="020B0503020204020204" charset="-122"/>
                <a:sym typeface="+mn-ea"/>
              </a:rPr>
              <a:t>09R/27L</a:t>
            </a:r>
            <a:r>
              <a:rPr lang="zh-CN" altLang="en-US" sz="1000" dirty="0">
                <a:latin typeface="微软雅黑" panose="020B0503020204020204" charset="-122"/>
                <a:ea typeface="微软雅黑" panose="020B0503020204020204" charset="-122"/>
                <a:sym typeface="+mn-ea"/>
              </a:rPr>
              <a:t>，长</a:t>
            </a:r>
            <a:r>
              <a:rPr lang="en-US" altLang="zh-CN" sz="1000" dirty="0">
                <a:latin typeface="微软雅黑" panose="020B0503020204020204" charset="-122"/>
                <a:ea typeface="微软雅黑" panose="020B0503020204020204" charset="-122"/>
                <a:sym typeface="+mn-ea"/>
              </a:rPr>
              <a:t>2340</a:t>
            </a:r>
            <a:r>
              <a:rPr lang="zh-CN" altLang="en-US" sz="1000" dirty="0">
                <a:latin typeface="微软雅黑" panose="020B0503020204020204" charset="-122"/>
                <a:ea typeface="微软雅黑" panose="020B0503020204020204" charset="-122"/>
                <a:sym typeface="+mn-ea"/>
              </a:rPr>
              <a:t>米，宽</a:t>
            </a:r>
            <a:r>
              <a:rPr lang="en-US" altLang="zh-CN" sz="1000" dirty="0">
                <a:latin typeface="微软雅黑" panose="020B0503020204020204" charset="-122"/>
                <a:ea typeface="微软雅黑" panose="020B0503020204020204" charset="-122"/>
                <a:sym typeface="+mn-ea"/>
              </a:rPr>
              <a:t>45</a:t>
            </a:r>
            <a:r>
              <a:rPr lang="zh-CN" altLang="en-US" sz="1000" dirty="0">
                <a:latin typeface="微软雅黑" panose="020B0503020204020204" charset="-122"/>
                <a:ea typeface="微软雅黑" panose="020B0503020204020204" charset="-122"/>
                <a:sym typeface="+mn-ea"/>
              </a:rPr>
              <a:t>米</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不可用</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a:t>
            </a:r>
            <a:endParaRPr lang="zh-CN" altLang="en-US" sz="1000" dirty="0">
              <a:latin typeface="微软雅黑" panose="020B0503020204020204" charset="-122"/>
              <a:ea typeface="微软雅黑" panose="020B0503020204020204" charset="-122"/>
              <a:sym typeface="+mn-ea"/>
            </a:endParaRPr>
          </a:p>
          <a:p>
            <a:pPr marL="342900" indent="-342900" fontAlgn="auto">
              <a:lnSpc>
                <a:spcPct val="150000"/>
              </a:lnSpc>
              <a:buFont typeface="Arial" panose="020B0604020202020204" pitchFamily="34" charset="0"/>
              <a:buChar char="•"/>
            </a:pPr>
            <a:r>
              <a:rPr lang="zh-CN" altLang="en-US" sz="1000" dirty="0">
                <a:latin typeface="微软雅黑" panose="020B0503020204020204" charset="-122"/>
                <a:ea typeface="微软雅黑" panose="020B0503020204020204" charset="-122"/>
              </a:rPr>
              <a:t>运行时间：</a:t>
            </a:r>
            <a:r>
              <a:rPr lang="en-US" altLang="zh-CN" sz="1000" dirty="0">
                <a:latin typeface="微软雅黑" panose="020B0503020204020204" charset="-122"/>
                <a:ea typeface="微软雅黑" panose="020B0503020204020204" charset="-122"/>
              </a:rPr>
              <a:t>H24</a:t>
            </a:r>
            <a:r>
              <a:rPr lang="zh-CN" altLang="en-US" sz="1000" dirty="0">
                <a:latin typeface="微软雅黑" panose="020B0503020204020204" charset="-122"/>
                <a:ea typeface="微软雅黑" panose="020B0503020204020204" charset="-122"/>
              </a:rPr>
              <a:t>。</a:t>
            </a:r>
            <a:endParaRPr lang="zh-CN" altLang="en-US" sz="1000" dirty="0">
              <a:latin typeface="微软雅黑" panose="020B0503020204020204" charset="-122"/>
              <a:ea typeface="微软雅黑" panose="020B0503020204020204" charset="-122"/>
            </a:endParaRPr>
          </a:p>
          <a:p>
            <a:pPr indent="0" fontAlgn="auto">
              <a:lnSpc>
                <a:spcPct val="150000"/>
              </a:lnSpc>
              <a:buFont typeface="Arial" panose="020B0604020202020204" pitchFamily="34" charset="0"/>
              <a:buNone/>
            </a:pP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海关和移民：0500（0400</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2300（2200）</a:t>
            </a:r>
            <a:endParaRPr lang="zh-CN" altLang="en-US" sz="1200" dirty="0">
              <a:latin typeface="微软雅黑" panose="020B0503020204020204" charset="-122"/>
              <a:ea typeface="微软雅黑" panose="020B0503020204020204" charset="-122"/>
            </a:endParaRPr>
          </a:p>
          <a:p>
            <a:pPr indent="0" fontAlgn="auto">
              <a:lnSpc>
                <a:spcPct val="150000"/>
              </a:lnSpc>
              <a:buFont typeface="Arial" panose="020B0604020202020204" pitchFamily="34" charset="0"/>
              <a:buNone/>
            </a:pPr>
            <a:r>
              <a:rPr lang="en-US" altLang="zh-CN" sz="1200" dirty="0">
                <a:latin typeface="微软雅黑" panose="020B0503020204020204" charset="-122"/>
                <a:ea typeface="微软雅黑" panose="020B0503020204020204" charset="-122"/>
              </a:rPr>
              <a:t>       2300（2200）至0500（0400）需要提前1小时申请</a:t>
            </a:r>
            <a:r>
              <a:rPr lang="zh-CN" altLang="en-US" sz="1200" dirty="0">
                <a:latin typeface="微软雅黑" panose="020B0503020204020204" charset="-122"/>
                <a:ea typeface="微软雅黑" panose="020B0503020204020204" charset="-122"/>
              </a:rPr>
              <a:t>。</a:t>
            </a:r>
            <a:endParaRPr lang="zh-CN" altLang="en-US" sz="1200" dirty="0">
              <a:latin typeface="微软雅黑" panose="020B0503020204020204" charset="-122"/>
              <a:ea typeface="微软雅黑" panose="020B0503020204020204" charset="-122"/>
            </a:endParaRPr>
          </a:p>
          <a:p>
            <a:pPr indent="0" fontAlgn="auto">
              <a:lnSpc>
                <a:spcPct val="150000"/>
              </a:lnSpc>
              <a:buFont typeface="Arial" panose="020B0604020202020204" pitchFamily="34" charset="0"/>
              <a:buNone/>
            </a:pP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检验检疫：</a:t>
            </a:r>
            <a:r>
              <a:rPr lang="en-US" altLang="zh-CN" sz="1200" dirty="0">
                <a:latin typeface="微软雅黑" panose="020B0503020204020204" charset="-122"/>
                <a:ea typeface="微软雅黑" panose="020B0503020204020204" charset="-122"/>
              </a:rPr>
              <a:t>O/R(on request)</a:t>
            </a:r>
            <a:endParaRPr lang="en-US" altLang="zh-CN"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r>
              <a:rPr lang="zh-CN" altLang="en-US" sz="1200" dirty="0">
                <a:latin typeface="微软雅黑" panose="020B0503020204020204" charset="-122"/>
                <a:ea typeface="微软雅黑" panose="020B0503020204020204" charset="-122"/>
                <a:sym typeface="+mn-ea"/>
              </a:rPr>
              <a:t>消防等级</a:t>
            </a:r>
            <a:r>
              <a:rPr lang="en-US" altLang="zh-CN" sz="1200" dirty="0">
                <a:latin typeface="微软雅黑" panose="020B0503020204020204" charset="-122"/>
                <a:ea typeface="微软雅黑" panose="020B0503020204020204" charset="-122"/>
                <a:sym typeface="+mn-ea"/>
              </a:rPr>
              <a:t>10</a:t>
            </a:r>
            <a:r>
              <a:rPr lang="zh-CN" altLang="en-US" sz="1200" dirty="0">
                <a:latin typeface="微软雅黑" panose="020B0503020204020204" charset="-122"/>
                <a:ea typeface="微软雅黑" panose="020B0503020204020204" charset="-122"/>
                <a:sym typeface="+mn-ea"/>
              </a:rPr>
              <a:t>级。</a:t>
            </a:r>
            <a:endParaRPr lang="zh-CN" altLang="en-US" sz="1200" dirty="0">
              <a:latin typeface="微软雅黑" panose="020B0503020204020204" charset="-122"/>
              <a:ea typeface="微软雅黑" panose="020B0503020204020204" charset="-122"/>
            </a:endParaRPr>
          </a:p>
          <a:p>
            <a:pPr marL="342900" indent="-342900" fontAlgn="auto">
              <a:lnSpc>
                <a:spcPct val="150000"/>
              </a:lnSpc>
              <a:buFont typeface="Arial" panose="020B0604020202020204" pitchFamily="34" charset="0"/>
              <a:buChar char="•"/>
            </a:pPr>
            <a:endParaRPr lang="zh-CN" altLang="en-US" sz="1200"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4932045" y="1131570"/>
            <a:ext cx="4028440" cy="31007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166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备降机场飞行程序</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726547" y="1318637"/>
            <a:ext cx="8469630" cy="10604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sz="1400" dirty="0">
                <a:latin typeface="微软雅黑" panose="020B0503020204020204" charset="-122"/>
                <a:ea typeface="微软雅黑" panose="020B0503020204020204" charset="-122"/>
                <a:sym typeface="+mn-ea"/>
              </a:rPr>
              <a:t>汉诺威</a:t>
            </a:r>
            <a:r>
              <a:rPr lang="zh-CN" altLang="en-US" sz="1400" dirty="0">
                <a:latin typeface="微软雅黑" panose="020B0503020204020204" charset="-122"/>
                <a:ea typeface="微软雅黑" panose="020B0503020204020204" charset="-122"/>
                <a:sym typeface="+mn-ea"/>
              </a:rPr>
              <a:t>机场（</a:t>
            </a:r>
            <a:r>
              <a:rPr lang="en-US" altLang="zh-CN" sz="1400" dirty="0">
                <a:latin typeface="微软雅黑" panose="020B0503020204020204" charset="-122"/>
                <a:ea typeface="微软雅黑" panose="020B0503020204020204" charset="-122"/>
                <a:sym typeface="+mn-ea"/>
              </a:rPr>
              <a:t>EDDV</a:t>
            </a:r>
            <a:r>
              <a:rPr lang="zh-CN" altLang="en-US" sz="1400" dirty="0">
                <a:latin typeface="微软雅黑" panose="020B0503020204020204" charset="-122"/>
                <a:ea typeface="微软雅黑" panose="020B0503020204020204" charset="-122"/>
                <a:sym typeface="+mn-ea"/>
              </a:rPr>
              <a:t>）</a:t>
            </a:r>
            <a:r>
              <a:rPr lang="zh-CN" altLang="en-US" sz="1400" dirty="0">
                <a:latin typeface="微软雅黑" panose="020B0503020204020204" charset="-122"/>
                <a:ea typeface="微软雅黑" panose="020B0503020204020204" charset="-122"/>
              </a:rPr>
              <a:t>飞行程序</a:t>
            </a:r>
            <a:endParaRPr lang="en-US" altLang="zh-CN" sz="1400" dirty="0">
              <a:latin typeface="微软雅黑" panose="020B0503020204020204" charset="-122"/>
              <a:ea typeface="微软雅黑" panose="020B0503020204020204" charset="-122"/>
            </a:endParaRPr>
          </a:p>
          <a:p>
            <a:pPr>
              <a:lnSpc>
                <a:spcPct val="150000"/>
              </a:lnSpc>
            </a:pPr>
            <a:r>
              <a:rPr lang="zh-CN" altLang="en-US" sz="1400" dirty="0">
                <a:latin typeface="微软雅黑" panose="020B0503020204020204" charset="-122"/>
                <a:ea typeface="微软雅黑" panose="020B0503020204020204" charset="-122"/>
                <a:sym typeface="+mn-ea"/>
              </a:rPr>
              <a:t>公布有</a:t>
            </a:r>
            <a:r>
              <a:rPr lang="en-US" altLang="zh-CN" sz="1400" dirty="0">
                <a:latin typeface="微软雅黑" panose="020B0503020204020204" charset="-122"/>
                <a:ea typeface="微软雅黑" panose="020B0503020204020204" charset="-122"/>
                <a:sym typeface="+mn-ea"/>
              </a:rPr>
              <a:t>RNAV</a:t>
            </a:r>
            <a:r>
              <a:rPr lang="zh-CN" altLang="en-US" sz="1400" dirty="0">
                <a:latin typeface="微软雅黑" panose="020B0503020204020204" charset="-122"/>
                <a:ea typeface="微软雅黑" panose="020B0503020204020204" charset="-122"/>
                <a:sym typeface="+mn-ea"/>
              </a:rPr>
              <a:t>进离场程序及传统进离场程序。</a:t>
            </a:r>
            <a:endParaRPr lang="zh-CN" altLang="en-US" sz="1400" dirty="0">
              <a:latin typeface="微软雅黑" panose="020B0503020204020204" charset="-122"/>
              <a:ea typeface="微软雅黑" panose="020B0503020204020204" charset="-122"/>
              <a:sym typeface="+mn-ea"/>
            </a:endParaRPr>
          </a:p>
          <a:p>
            <a:pPr>
              <a:lnSpc>
                <a:spcPct val="150000"/>
              </a:lnSpc>
            </a:pPr>
            <a:r>
              <a:rPr lang="en-US" altLang="zh-CN" sz="1400" dirty="0">
                <a:latin typeface="微软雅黑" panose="020B0503020204020204" charset="-122"/>
                <a:ea typeface="微软雅黑" panose="020B0503020204020204" charset="-122"/>
                <a:sym typeface="+mn-ea"/>
              </a:rPr>
              <a:t>RWY09L/27R</a:t>
            </a:r>
            <a:r>
              <a:rPr lang="zh-CN" altLang="en-US" sz="1400" dirty="0">
                <a:latin typeface="微软雅黑" panose="020B0503020204020204" charset="-122"/>
                <a:ea typeface="微软雅黑" panose="020B0503020204020204" charset="-122"/>
                <a:sym typeface="+mn-ea"/>
              </a:rPr>
              <a:t>跑道公布了</a:t>
            </a:r>
            <a:r>
              <a:rPr lang="en-US" altLang="zh-CN" sz="1400" dirty="0">
                <a:latin typeface="微软雅黑" panose="020B0503020204020204" charset="-122"/>
                <a:ea typeface="微软雅黑" panose="020B0503020204020204" charset="-122"/>
                <a:sym typeface="+mn-ea"/>
              </a:rPr>
              <a:t>ILS</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RNP APCH</a:t>
            </a:r>
            <a:r>
              <a:rPr lang="zh-CN" altLang="en-US" sz="1400" dirty="0">
                <a:latin typeface="微软雅黑" panose="020B0503020204020204" charset="-122"/>
                <a:ea typeface="微软雅黑" panose="020B0503020204020204" charset="-122"/>
                <a:sym typeface="+mn-ea"/>
              </a:rPr>
              <a:t>、</a:t>
            </a:r>
            <a:r>
              <a:rPr lang="en-US" altLang="zh-CN" sz="1400" dirty="0">
                <a:latin typeface="微软雅黑" panose="020B0503020204020204" charset="-122"/>
                <a:ea typeface="微软雅黑" panose="020B0503020204020204" charset="-122"/>
                <a:sym typeface="+mn-ea"/>
              </a:rPr>
              <a:t>NDB</a:t>
            </a:r>
            <a:r>
              <a:rPr lang="zh-CN" altLang="en-US" sz="1400" dirty="0">
                <a:latin typeface="微软雅黑" panose="020B0503020204020204" charset="-122"/>
                <a:ea typeface="微软雅黑" panose="020B0503020204020204" charset="-122"/>
                <a:sym typeface="+mn-ea"/>
              </a:rPr>
              <a:t>进近程序。</a:t>
            </a:r>
            <a:endParaRPr lang="zh-CN" altLang="en-US" sz="1400" dirty="0">
              <a:latin typeface="微软雅黑" panose="020B0503020204020204" charset="-122"/>
              <a:ea typeface="微软雅黑" panose="020B0503020204020204" charset="-122"/>
              <a:sym typeface="+mn-ea"/>
            </a:endParaRPr>
          </a:p>
        </p:txBody>
      </p:sp>
      <p:graphicFrame>
        <p:nvGraphicFramePr>
          <p:cNvPr id="6" name="表格 5"/>
          <p:cNvGraphicFramePr>
            <a:graphicFrameLocks noGrp="1"/>
          </p:cNvGraphicFramePr>
          <p:nvPr>
            <p:custDataLst>
              <p:tags r:id="rId1"/>
            </p:custDataLst>
          </p:nvPr>
        </p:nvGraphicFramePr>
        <p:xfrm>
          <a:off x="755576" y="2787774"/>
          <a:ext cx="5256584" cy="792088"/>
        </p:xfrm>
        <a:graphic>
          <a:graphicData uri="http://schemas.openxmlformats.org/drawingml/2006/table">
            <a:tbl>
              <a:tblPr firstRow="1" bandRow="1">
                <a:tableStyleId>{93296810-A885-4BE3-A3E7-6D5BEEA58F35}</a:tableStyleId>
              </a:tblPr>
              <a:tblGrid>
                <a:gridCol w="864930"/>
                <a:gridCol w="906922"/>
                <a:gridCol w="929826"/>
                <a:gridCol w="1070694"/>
                <a:gridCol w="742106"/>
                <a:gridCol w="742106"/>
              </a:tblGrid>
              <a:tr h="330679">
                <a:tc>
                  <a:txBody>
                    <a:bodyPr/>
                    <a:lstStyle/>
                    <a:p>
                      <a:pPr algn="ctr"/>
                      <a:r>
                        <a:rPr lang="zh-CN" altLang="en-US" dirty="0"/>
                        <a:t>离场</a:t>
                      </a:r>
                      <a:endParaRPr lang="zh-CN" altLang="en-US" dirty="0"/>
                    </a:p>
                  </a:txBody>
                  <a:tcPr/>
                </a:tc>
                <a:tc>
                  <a:txBody>
                    <a:bodyPr/>
                    <a:lstStyle/>
                    <a:p>
                      <a:pPr algn="ctr"/>
                      <a:r>
                        <a:rPr lang="zh-CN" altLang="en-US" dirty="0"/>
                        <a:t>进场</a:t>
                      </a:r>
                      <a:endParaRPr lang="zh-CN" altLang="en-US" dirty="0"/>
                    </a:p>
                  </a:txBody>
                  <a:tcPr/>
                </a:tc>
                <a:tc gridSpan="3">
                  <a:txBody>
                    <a:bodyPr/>
                    <a:lstStyle/>
                    <a:p>
                      <a:pPr algn="ctr"/>
                      <a:r>
                        <a:rPr lang="zh-CN" altLang="en-US" dirty="0"/>
                        <a:t>进近</a:t>
                      </a:r>
                      <a:endParaRPr lang="zh-CN" altLang="en-US" dirty="0"/>
                    </a:p>
                  </a:txBody>
                  <a:tcPr/>
                </a:tc>
                <a:tc hMerge="1">
                  <a:tcPr/>
                </a:tc>
                <a:tc hMerge="1">
                  <a:tcPr/>
                </a:tc>
                <a:tc>
                  <a:txBody>
                    <a:bodyPr/>
                    <a:p>
                      <a:pPr algn="ctr">
                        <a:buNone/>
                      </a:pPr>
                      <a:endParaRPr lang="zh-CN" altLang="en-US" dirty="0"/>
                    </a:p>
                  </a:txBody>
                  <a:tcPr/>
                </a:tc>
              </a:tr>
              <a:tr h="426328">
                <a:tc>
                  <a:txBody>
                    <a:bodyPr/>
                    <a:lstStyle/>
                    <a:p>
                      <a:pPr algn="ctr"/>
                      <a:r>
                        <a:rPr lang="en-US" altLang="zh-CN" sz="1400" dirty="0">
                          <a:solidFill>
                            <a:schemeClr val="tx1"/>
                          </a:solidFill>
                        </a:rPr>
                        <a:t>RNAV1</a:t>
                      </a:r>
                      <a:endParaRPr lang="en-US" altLang="zh-CN" sz="1400" dirty="0">
                        <a:solidFill>
                          <a:schemeClr val="tx1"/>
                        </a:solidFill>
                      </a:endParaRPr>
                    </a:p>
                    <a:p>
                      <a:pPr algn="ctr"/>
                      <a:r>
                        <a:rPr lang="zh-CN" altLang="en-US" sz="1400" dirty="0">
                          <a:solidFill>
                            <a:schemeClr val="tx1"/>
                          </a:solidFill>
                        </a:rPr>
                        <a:t>传统</a:t>
                      </a:r>
                      <a:endParaRPr lang="zh-CN" altLang="en-US" sz="1400" dirty="0">
                        <a:solidFill>
                          <a:schemeClr val="tx1"/>
                        </a:solidFill>
                      </a:endParaRPr>
                    </a:p>
                  </a:txBody>
                  <a:tcPr anchor="ctr"/>
                </a:tc>
                <a:tc>
                  <a:txBody>
                    <a:bodyPr/>
                    <a:lstStyle/>
                    <a:p>
                      <a:pPr algn="ctr"/>
                      <a:r>
                        <a:rPr lang="en-US" altLang="zh-CN" sz="1400" dirty="0">
                          <a:solidFill>
                            <a:schemeClr val="tx1"/>
                          </a:solidFill>
                        </a:rPr>
                        <a:t>RNAV1</a:t>
                      </a:r>
                      <a:endParaRPr lang="en-US" altLang="zh-CN" sz="1400" dirty="0">
                        <a:solidFill>
                          <a:schemeClr val="tx1"/>
                        </a:solidFill>
                      </a:endParaRPr>
                    </a:p>
                    <a:p>
                      <a:pPr algn="ctr"/>
                      <a:r>
                        <a:rPr lang="zh-CN" altLang="en-US" sz="1400" dirty="0">
                          <a:solidFill>
                            <a:schemeClr val="tx1"/>
                          </a:solidFill>
                        </a:rPr>
                        <a:t>传统</a:t>
                      </a:r>
                      <a:endParaRPr lang="zh-CN" altLang="en-US" sz="1400" dirty="0">
                        <a:solidFill>
                          <a:schemeClr val="tx1"/>
                        </a:solidFill>
                      </a:endParaRPr>
                    </a:p>
                  </a:txBody>
                  <a:tcPr anchor="ctr"/>
                </a:tc>
                <a:tc>
                  <a:txBody>
                    <a:bodyPr/>
                    <a:lstStyle/>
                    <a:p>
                      <a:pPr algn="ctr"/>
                      <a:r>
                        <a:rPr lang="en-US" altLang="zh-CN" sz="1400" dirty="0"/>
                        <a:t>ILS</a:t>
                      </a:r>
                      <a:endParaRPr lang="en-US" altLang="zh-CN"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t>RNP APCH</a:t>
                      </a:r>
                      <a:endParaRPr lang="zh-CN" altLang="en-US" sz="14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rPr>
                        <a:t>NDB</a:t>
                      </a:r>
                      <a:endParaRPr lang="en-US" altLang="zh-CN" sz="1400" dirty="0">
                        <a:solidFill>
                          <a:schemeClr val="tx1"/>
                        </a:solidFill>
                      </a:endParaRPr>
                    </a:p>
                  </a:txBody>
                  <a:tcPr anchor="ct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rPr>
                        <a:t>LOC</a:t>
                      </a:r>
                      <a:endParaRPr lang="en-US" altLang="zh-CN" sz="1400" dirty="0">
                        <a:solidFill>
                          <a:schemeClr val="tx1"/>
                        </a:solidFill>
                      </a:endParaRPr>
                    </a:p>
                  </a:txBody>
                  <a:tcPr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037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备降机场运行限制</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467995" y="1059815"/>
            <a:ext cx="8354060" cy="334327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sz="1000" dirty="0">
                <a:latin typeface="微软雅黑" panose="020B0503020204020204" charset="-122"/>
                <a:ea typeface="微软雅黑" panose="020B0503020204020204" charset="-122"/>
                <a:sym typeface="+mn-ea"/>
              </a:rPr>
              <a:t>1.</a:t>
            </a:r>
            <a:r>
              <a:rPr lang="zh-CN" altLang="en-US" sz="1000" dirty="0">
                <a:latin typeface="微软雅黑" panose="020B0503020204020204" charset="-122"/>
                <a:ea typeface="微软雅黑" panose="020B0503020204020204" charset="-122"/>
                <a:sym typeface="+mn-ea"/>
              </a:rPr>
              <a:t>夜间飞行限制：</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在2200-0559LT之间，超出国际民航组织《第16附件，第1卷，第3章》规定的噪音限制的飞机不得运行。</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任何飞机在2300-0559LT之间起飞或降落，必须提前提交噪音证书的副本。</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在2300-0559LT之间，只允许以下飞机</a:t>
            </a:r>
            <a:r>
              <a:rPr lang="zh-CN" altLang="en-US" sz="1000" dirty="0">
                <a:latin typeface="微软雅黑" panose="020B0503020204020204" charset="-122"/>
                <a:ea typeface="微软雅黑" panose="020B0503020204020204" charset="-122"/>
                <a:sym typeface="+mn-ea"/>
              </a:rPr>
              <a:t>运行</a:t>
            </a:r>
            <a:r>
              <a:rPr lang="en-US" altLang="zh-CN" sz="1000" dirty="0">
                <a:latin typeface="微软雅黑" panose="020B0503020204020204" charset="-122"/>
                <a:ea typeface="微软雅黑" panose="020B0503020204020204" charset="-122"/>
                <a:sym typeface="+mn-ea"/>
              </a:rPr>
              <a:t>：</a:t>
            </a:r>
            <a:endParaRPr lang="en-US" altLang="zh-CN"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1</a:t>
            </a:r>
            <a:r>
              <a:rPr lang="zh-CN" altLang="en-US" sz="1000" dirty="0">
                <a:latin typeface="微软雅黑" panose="020B0503020204020204" charset="-122"/>
                <a:ea typeface="微软雅黑" panose="020B0503020204020204" charset="-122"/>
                <a:sym typeface="+mn-ea"/>
              </a:rPr>
              <a:t>） 按照国际民航组织《第16附件，第1卷，第3、4或14章》规定的具有噪音证书的涡喷式飞机进行起降，且</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a:t>
            </a:r>
            <a:r>
              <a:rPr lang="zh-CN" altLang="en-US" sz="1000" dirty="0">
                <a:latin typeface="微软雅黑" panose="020B0503020204020204" charset="-122"/>
                <a:ea typeface="微软雅黑" panose="020B0503020204020204" charset="-122"/>
                <a:sym typeface="+mn-ea"/>
              </a:rPr>
              <a:t>）通常是汉诺威机场的</a:t>
            </a:r>
            <a:r>
              <a:rPr lang="zh-CN" altLang="en-US" sz="1000" dirty="0">
                <a:latin typeface="微软雅黑" panose="020B0503020204020204" charset="-122"/>
                <a:ea typeface="微软雅黑" panose="020B0503020204020204" charset="-122"/>
                <a:sym typeface="+mn-ea"/>
              </a:rPr>
              <a:t>定期航班；</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b</a:t>
            </a:r>
            <a:r>
              <a:rPr lang="zh-CN" altLang="en-US" sz="1000" dirty="0">
                <a:latin typeface="微软雅黑" panose="020B0503020204020204" charset="-122"/>
                <a:ea typeface="微软雅黑" panose="020B0503020204020204" charset="-122"/>
                <a:sym typeface="+mn-ea"/>
              </a:rPr>
              <a:t>）用于邮政通用服务条例（PUDLV）中定义的通用服务提供商的夜间航空邮政服务；</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c</a:t>
            </a:r>
            <a:r>
              <a:rPr lang="zh-CN" altLang="en-US" sz="1000" dirty="0">
                <a:latin typeface="微软雅黑" panose="020B0503020204020204" charset="-122"/>
                <a:ea typeface="微软雅黑" panose="020B0503020204020204" charset="-122"/>
                <a:sym typeface="+mn-ea"/>
              </a:rPr>
              <a:t>）总部和维修基地位于汉诺威的航空公司。</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2</a:t>
            </a:r>
            <a:r>
              <a:rPr lang="zh-CN" altLang="en-US" sz="1000" dirty="0">
                <a:latin typeface="微软雅黑" panose="020B0503020204020204" charset="-122"/>
                <a:ea typeface="微软雅黑" panose="020B0503020204020204" charset="-122"/>
                <a:sym typeface="+mn-ea"/>
              </a:rPr>
              <a:t>）</a:t>
            </a:r>
            <a:r>
              <a:rPr sz="1000" dirty="0">
                <a:latin typeface="微软雅黑" panose="020B0503020204020204" charset="-122"/>
                <a:ea typeface="微软雅黑" panose="020B0503020204020204" charset="-122"/>
                <a:sym typeface="+mn-ea"/>
              </a:rPr>
              <a:t>满足</a:t>
            </a:r>
            <a:r>
              <a:rPr sz="1000" dirty="0">
                <a:latin typeface="微软雅黑" panose="020B0503020204020204" charset="-122"/>
                <a:ea typeface="微软雅黑" panose="020B0503020204020204" charset="-122"/>
                <a:sym typeface="+mn-ea"/>
              </a:rPr>
              <a:t>国际民航组织《第16附件，第1卷，第3、4或14章》规定</a:t>
            </a:r>
            <a:r>
              <a:rPr lang="zh-CN" sz="1000" dirty="0">
                <a:latin typeface="微软雅黑" panose="020B0503020204020204" charset="-122"/>
                <a:ea typeface="微软雅黑" panose="020B0503020204020204" charset="-122"/>
                <a:sym typeface="+mn-ea"/>
              </a:rPr>
              <a:t>噪音</a:t>
            </a:r>
            <a:r>
              <a:rPr sz="1000" dirty="0">
                <a:latin typeface="微软雅黑" panose="020B0503020204020204" charset="-122"/>
                <a:ea typeface="微软雅黑" panose="020B0503020204020204" charset="-122"/>
                <a:sym typeface="+mn-ea"/>
              </a:rPr>
              <a:t>限制的涡喷式货机进行起降。</a:t>
            </a:r>
            <a:endParaRPr sz="1000" dirty="0">
              <a:latin typeface="微软雅黑" panose="020B0503020204020204" charset="-122"/>
              <a:ea typeface="微软雅黑" panose="020B0503020204020204" charset="-122"/>
              <a:sym typeface="+mn-ea"/>
            </a:endParaRPr>
          </a:p>
          <a:p>
            <a:pPr algn="l">
              <a:lnSpc>
                <a:spcPct val="150000"/>
              </a:lnSpc>
            </a:pPr>
            <a:r>
              <a:rPr lang="en-US" sz="1000" dirty="0">
                <a:latin typeface="微软雅黑" panose="020B0503020204020204" charset="-122"/>
                <a:ea typeface="微软雅黑" panose="020B0503020204020204" charset="-122"/>
                <a:sym typeface="+mn-ea"/>
              </a:rPr>
              <a:t>3</a:t>
            </a:r>
            <a:r>
              <a:rPr lang="zh-CN" altLang="en-US" sz="1000" dirty="0">
                <a:latin typeface="微软雅黑" panose="020B0503020204020204" charset="-122"/>
                <a:ea typeface="微软雅黑" panose="020B0503020204020204" charset="-122"/>
                <a:sym typeface="+mn-ea"/>
              </a:rPr>
              <a:t>）有证据表明使用机场作为气象、技术或其他安全原因备降的飞机。</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4</a:t>
            </a:r>
            <a:r>
              <a:rPr lang="zh-CN" altLang="en-US" sz="1000" dirty="0">
                <a:latin typeface="微软雅黑" panose="020B0503020204020204" charset="-122"/>
                <a:ea typeface="微软雅黑" panose="020B0503020204020204" charset="-122"/>
                <a:sym typeface="+mn-ea"/>
              </a:rPr>
              <a:t>）为维持飞行安全而进行的校准飞行。</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5</a:t>
            </a:r>
            <a:r>
              <a:rPr lang="zh-CN" altLang="en-US" sz="1000" dirty="0">
                <a:latin typeface="微软雅黑" panose="020B0503020204020204" charset="-122"/>
                <a:ea typeface="微软雅黑" panose="020B0503020204020204" charset="-122"/>
                <a:sym typeface="+mn-ea"/>
              </a:rPr>
              <a:t>） 紧急情况以及航空监督机构特别许可的飞行。</a:t>
            </a:r>
            <a:endParaRPr lang="zh-CN" altLang="en-US" sz="1000" dirty="0">
              <a:latin typeface="微软雅黑" panose="020B0503020204020204" charset="-122"/>
              <a:ea typeface="微软雅黑" panose="020B0503020204020204" charset="-122"/>
              <a:sym typeface="+mn-ea"/>
            </a:endParaRPr>
          </a:p>
          <a:p>
            <a:pPr algn="l">
              <a:lnSpc>
                <a:spcPct val="150000"/>
              </a:lnSpc>
            </a:pPr>
            <a:r>
              <a:rPr lang="zh-CN" altLang="en-US" sz="1000" dirty="0">
                <a:latin typeface="微软雅黑" panose="020B0503020204020204" charset="-122"/>
                <a:ea typeface="微软雅黑" panose="020B0503020204020204" charset="-122"/>
                <a:sym typeface="+mn-ea"/>
              </a:rPr>
              <a:t>满足以上限制，在2200-0559</a:t>
            </a:r>
            <a:r>
              <a:rPr lang="en-US" altLang="zh-CN" sz="1000" dirty="0">
                <a:latin typeface="微软雅黑" panose="020B0503020204020204" charset="-122"/>
                <a:ea typeface="微软雅黑" panose="020B0503020204020204" charset="-122"/>
                <a:sym typeface="+mn-ea"/>
              </a:rPr>
              <a:t>LT</a:t>
            </a:r>
            <a:r>
              <a:rPr lang="zh-CN" altLang="en-US" sz="1000" dirty="0">
                <a:latin typeface="微软雅黑" panose="020B0503020204020204" charset="-122"/>
                <a:ea typeface="微软雅黑" panose="020B0503020204020204" charset="-122"/>
                <a:sym typeface="+mn-ea"/>
              </a:rPr>
              <a:t>之间，仅允许飞机在北侧跑道09L/27R上起降。</a:t>
            </a:r>
            <a:endParaRPr lang="zh-CN" altLang="en-US" sz="10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a:p>
            <a:pPr algn="l">
              <a:lnSpc>
                <a:spcPct val="150000"/>
              </a:lnSpc>
            </a:pPr>
            <a:endParaRPr lang="en-US" altLang="zh-CN" sz="14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555527"/>
            <a:ext cx="6948264" cy="460375"/>
          </a:xfrm>
          <a:prstGeom prst="rect">
            <a:avLst/>
          </a:prstGeom>
          <a:noFill/>
        </p:spPr>
        <p:txBody>
          <a:bodyPr wrap="square" rtlCol="0">
            <a:spAutoFit/>
          </a:bodyPr>
          <a:lstStyle/>
          <a:p>
            <a:pPr algn="ctr"/>
            <a:r>
              <a:rPr lang="zh-CN" altLang="en-US" sz="2400" b="1" dirty="0">
                <a:latin typeface="微软雅黑" panose="020B0503020204020204" charset="-122"/>
                <a:ea typeface="微软雅黑" panose="020B0503020204020204" charset="-122"/>
                <a:sym typeface="+mn-ea"/>
              </a:rPr>
              <a:t>备降机场运行限制</a:t>
            </a:r>
            <a:endParaRPr lang="zh-CN" altLang="en-US" sz="2400" b="1" dirty="0">
              <a:latin typeface="微软雅黑" panose="020B0503020204020204" charset="-122"/>
              <a:ea typeface="微软雅黑" panose="020B0503020204020204" charset="-122"/>
              <a:sym typeface="+mn-ea"/>
            </a:endParaRPr>
          </a:p>
        </p:txBody>
      </p:sp>
      <p:sp>
        <p:nvSpPr>
          <p:cNvPr id="7" name="TextBox 2"/>
          <p:cNvSpPr txBox="1"/>
          <p:nvPr/>
        </p:nvSpPr>
        <p:spPr>
          <a:xfrm>
            <a:off x="467995" y="1059815"/>
            <a:ext cx="8493125" cy="392049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en-US" sz="1000" dirty="0">
                <a:latin typeface="微软雅黑" panose="020B0503020204020204" charset="-122"/>
                <a:ea typeface="微软雅黑" panose="020B0503020204020204" charset="-122"/>
                <a:sym typeface="+mn-ea"/>
              </a:rPr>
              <a:t>2.</a:t>
            </a:r>
            <a:r>
              <a:rPr lang="zh-CN" altLang="en-US" sz="1000" dirty="0">
                <a:latin typeface="微软雅黑" panose="020B0503020204020204" charset="-122"/>
                <a:ea typeface="微软雅黑" panose="020B0503020204020204" charset="-122"/>
                <a:sym typeface="+mn-ea"/>
              </a:rPr>
              <a:t>辅助动力装置（APU）使用限制：</a:t>
            </a:r>
            <a:endParaRPr lang="zh-CN" altLang="en-US" sz="1000" dirty="0">
              <a:latin typeface="微软雅黑" panose="020B0503020204020204" charset="-122"/>
              <a:ea typeface="微软雅黑" panose="020B0503020204020204" charset="-122"/>
              <a:sym typeface="+mn-ea"/>
            </a:endParaRPr>
          </a:p>
          <a:p>
            <a:pPr algn="l">
              <a:lnSpc>
                <a:spcPct val="150000"/>
              </a:lnSpc>
            </a:pPr>
            <a:r>
              <a:rPr lang="zh-CN" altLang="en-US" sz="1000" dirty="0">
                <a:latin typeface="微软雅黑" panose="020B0503020204020204" charset="-122"/>
                <a:ea typeface="微软雅黑" panose="020B0503020204020204" charset="-122"/>
                <a:sym typeface="+mn-ea"/>
              </a:rPr>
              <a:t>为避免额外噪音并减少更多噪音排放，</a:t>
            </a:r>
            <a:r>
              <a:rPr lang="zh-CN" altLang="en-US" sz="1000" dirty="0">
                <a:latin typeface="微软雅黑" panose="020B0503020204020204" charset="-122"/>
                <a:ea typeface="微软雅黑" panose="020B0503020204020204" charset="-122"/>
                <a:sym typeface="+mn-ea"/>
              </a:rPr>
              <a:t>应尽量减少使用</a:t>
            </a:r>
            <a:r>
              <a:rPr lang="zh-CN" altLang="en-US" sz="1000" dirty="0">
                <a:latin typeface="微软雅黑" panose="020B0503020204020204" charset="-122"/>
                <a:ea typeface="微软雅黑" panose="020B0503020204020204" charset="-122"/>
                <a:sym typeface="+mn-ea"/>
              </a:rPr>
              <a:t>APU。这是飞行员的责任。</a:t>
            </a:r>
            <a:endParaRPr lang="zh-CN" altLang="en-US" sz="1000" dirty="0">
              <a:latin typeface="微软雅黑" panose="020B0503020204020204" charset="-122"/>
              <a:ea typeface="微软雅黑" panose="020B0503020204020204" charset="-122"/>
              <a:sym typeface="+mn-ea"/>
            </a:endParaRPr>
          </a:p>
          <a:p>
            <a:pPr algn="l">
              <a:lnSpc>
                <a:spcPct val="150000"/>
              </a:lnSpc>
            </a:pPr>
            <a:r>
              <a:rPr lang="en-US" altLang="zh-CN" sz="1000" dirty="0">
                <a:latin typeface="微软雅黑" panose="020B0503020204020204" charset="-122"/>
                <a:ea typeface="微软雅黑" panose="020B0503020204020204" charset="-122"/>
                <a:sym typeface="+mn-ea"/>
              </a:rPr>
              <a:t>APU只应在以下情况下运行：</a:t>
            </a:r>
            <a:endParaRPr lang="zh-CN" altLang="en-US" sz="1000" dirty="0">
              <a:latin typeface="微软雅黑" panose="020B0503020204020204" charset="-122"/>
              <a:ea typeface="微软雅黑" panose="020B0503020204020204" charset="-122"/>
              <a:sym typeface="+mn-ea"/>
            </a:endParaRPr>
          </a:p>
          <a:p>
            <a:pPr algn="l">
              <a:lnSpc>
                <a:spcPct val="150000"/>
              </a:lnSpc>
              <a:buClrTx/>
              <a:buSzTx/>
              <a:buNone/>
            </a:pPr>
            <a:r>
              <a:rPr lang="zh-CN" altLang="en-US" sz="1000" dirty="0">
                <a:latin typeface="微软雅黑" panose="020B0503020204020204" charset="-122"/>
                <a:ea typeface="微软雅黑" panose="020B0503020204020204" charset="-122"/>
                <a:sym typeface="+mn-ea"/>
              </a:rPr>
              <a:t>- 启动发动机：最早可在EOBT前15分钟启动；</a:t>
            </a:r>
            <a:endParaRPr lang="zh-CN" altLang="en-US" sz="1000" dirty="0">
              <a:latin typeface="微软雅黑" panose="020B0503020204020204" charset="-122"/>
              <a:ea typeface="微软雅黑" panose="020B0503020204020204" charset="-122"/>
              <a:sym typeface="+mn-ea"/>
            </a:endParaRPr>
          </a:p>
          <a:p>
            <a:pPr algn="l">
              <a:lnSpc>
                <a:spcPct val="150000"/>
              </a:lnSpc>
              <a:buClrTx/>
              <a:buSzTx/>
              <a:buNone/>
            </a:pPr>
            <a:r>
              <a:rPr lang="zh-CN" altLang="en-US" sz="1000" dirty="0">
                <a:latin typeface="微软雅黑" panose="020B0503020204020204" charset="-122"/>
                <a:ea typeface="微软雅黑" panose="020B0503020204020204" charset="-122"/>
                <a:sym typeface="+mn-ea"/>
              </a:rPr>
              <a:t>- 进行飞机必要的维护工作；</a:t>
            </a:r>
            <a:endParaRPr lang="zh-CN" altLang="en-US" sz="1000" dirty="0">
              <a:latin typeface="微软雅黑" panose="020B0503020204020204" charset="-122"/>
              <a:ea typeface="微软雅黑" panose="020B0503020204020204" charset="-122"/>
              <a:sym typeface="+mn-ea"/>
            </a:endParaRPr>
          </a:p>
          <a:p>
            <a:pPr algn="l">
              <a:lnSpc>
                <a:spcPct val="150000"/>
              </a:lnSpc>
              <a:buClrTx/>
              <a:buSzTx/>
              <a:buNone/>
            </a:pPr>
            <a:r>
              <a:rPr lang="zh-CN" altLang="en-US" sz="1000" dirty="0">
                <a:latin typeface="微软雅黑" panose="020B0503020204020204" charset="-122"/>
                <a:ea typeface="微软雅黑" panose="020B0503020204020204" charset="-122"/>
                <a:sym typeface="+mn-ea"/>
              </a:rPr>
              <a:t>- 如果机场的电</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气源车不适用或不适合某些飞机类型。</a:t>
            </a:r>
            <a:endParaRPr lang="zh-CN" altLang="en-US" sz="1000" dirty="0">
              <a:latin typeface="微软雅黑" panose="020B0503020204020204" charset="-122"/>
              <a:ea typeface="微软雅黑" panose="020B0503020204020204" charset="-122"/>
              <a:sym typeface="+mn-ea"/>
            </a:endParaRPr>
          </a:p>
          <a:p>
            <a:pPr algn="l">
              <a:lnSpc>
                <a:spcPct val="150000"/>
              </a:lnSpc>
              <a:buClrTx/>
              <a:buSzTx/>
              <a:buNone/>
            </a:pPr>
            <a:r>
              <a:rPr lang="zh-CN" altLang="en-US" sz="1000" dirty="0">
                <a:latin typeface="微软雅黑" panose="020B0503020204020204" charset="-122"/>
                <a:ea typeface="微软雅黑" panose="020B0503020204020204" charset="-122"/>
                <a:sym typeface="+mn-ea"/>
              </a:rPr>
              <a:t>在特殊情况下，APU的延长运行时间可以由机场值班官员（电话：+49 511 977 1455）批准。</a:t>
            </a:r>
            <a:endParaRPr lang="zh-CN" altLang="en-US" sz="1000" dirty="0">
              <a:latin typeface="微软雅黑" panose="020B0503020204020204" charset="-122"/>
              <a:ea typeface="微软雅黑" panose="020B0503020204020204" charset="-122"/>
              <a:sym typeface="+mn-ea"/>
            </a:endParaRPr>
          </a:p>
          <a:p>
            <a:pPr algn="l">
              <a:lnSpc>
                <a:spcPct val="150000"/>
              </a:lnSpc>
              <a:buClrTx/>
              <a:buSzTx/>
              <a:buNone/>
            </a:pPr>
            <a:r>
              <a:rPr lang="en-US" altLang="zh-CN" sz="1000" dirty="0">
                <a:latin typeface="微软雅黑" panose="020B0503020204020204" charset="-122"/>
                <a:ea typeface="微软雅黑" panose="020B0503020204020204" charset="-122"/>
                <a:sym typeface="+mn-ea"/>
              </a:rPr>
              <a:t>3.在2100-0600LT之间</a:t>
            </a:r>
            <a:r>
              <a:rPr lang="zh-CN" altLang="en-US" sz="1000" dirty="0">
                <a:latin typeface="微软雅黑" panose="020B0503020204020204" charset="-122"/>
                <a:ea typeface="微软雅黑" panose="020B0503020204020204" charset="-122"/>
                <a:sym typeface="+mn-ea"/>
              </a:rPr>
              <a:t>降落的飞机</a:t>
            </a:r>
            <a:r>
              <a:rPr lang="en-US" altLang="zh-CN" sz="1000" dirty="0">
                <a:latin typeface="微软雅黑" panose="020B0503020204020204" charset="-122"/>
                <a:ea typeface="微软雅黑" panose="020B0503020204020204" charset="-122"/>
                <a:sym typeface="+mn-ea"/>
              </a:rPr>
              <a:t>，除怠速推力外，反推推力只能在必要安全原因下使用。</a:t>
            </a:r>
            <a:endParaRPr lang="en-US" altLang="zh-CN" sz="1000" dirty="0">
              <a:latin typeface="微软雅黑" panose="020B0503020204020204" charset="-122"/>
              <a:ea typeface="微软雅黑" panose="020B0503020204020204" charset="-122"/>
              <a:sym typeface="+mn-ea"/>
            </a:endParaRPr>
          </a:p>
          <a:p>
            <a:pPr algn="l">
              <a:lnSpc>
                <a:spcPct val="150000"/>
              </a:lnSpc>
              <a:buClrTx/>
              <a:buSzTx/>
              <a:buNone/>
            </a:pPr>
            <a:r>
              <a:rPr lang="en-US" altLang="zh-CN" sz="1000" dirty="0">
                <a:latin typeface="微软雅黑" panose="020B0503020204020204" charset="-122"/>
                <a:ea typeface="微软雅黑" panose="020B0503020204020204" charset="-122"/>
                <a:sym typeface="+mn-ea"/>
              </a:rPr>
              <a:t>4.在RWY 09L着陆后，E</a:t>
            </a:r>
            <a:r>
              <a:rPr lang="zh-CN" altLang="en-US" sz="1000" dirty="0">
                <a:latin typeface="微软雅黑" panose="020B0503020204020204" charset="-122"/>
                <a:ea typeface="微软雅黑" panose="020B0503020204020204" charset="-122"/>
                <a:sym typeface="+mn-ea"/>
              </a:rPr>
              <a:t>类</a:t>
            </a:r>
            <a:r>
              <a:rPr lang="en-US" altLang="zh-CN" sz="1000" dirty="0">
                <a:latin typeface="微软雅黑" panose="020B0503020204020204" charset="-122"/>
                <a:ea typeface="微软雅黑" panose="020B0503020204020204" charset="-122"/>
                <a:sym typeface="+mn-ea"/>
              </a:rPr>
              <a:t>飞机只能通过TWY L独立滑行至停机坪。当通过TWY M离开RWY时，B777、B787、A340和A350等飞机类型必须由</a:t>
            </a:r>
            <a:r>
              <a:rPr lang="zh-CN" altLang="en-US" sz="1000" dirty="0">
                <a:latin typeface="微软雅黑" panose="020B0503020204020204" charset="-122"/>
                <a:ea typeface="微软雅黑" panose="020B0503020204020204" charset="-122"/>
                <a:sym typeface="+mn-ea"/>
              </a:rPr>
              <a:t>引导车</a:t>
            </a:r>
            <a:r>
              <a:rPr lang="en-US" altLang="zh-CN" sz="1000" dirty="0">
                <a:latin typeface="微软雅黑" panose="020B0503020204020204" charset="-122"/>
                <a:ea typeface="微软雅黑" panose="020B0503020204020204" charset="-122"/>
                <a:sym typeface="+mn-ea"/>
              </a:rPr>
              <a:t>通过TWY F引导至停机坪。</a:t>
            </a:r>
            <a:endParaRPr lang="en-US" altLang="zh-CN" sz="1000" dirty="0">
              <a:latin typeface="微软雅黑" panose="020B0503020204020204" charset="-122"/>
              <a:ea typeface="微软雅黑" panose="020B0503020204020204" charset="-122"/>
              <a:sym typeface="+mn-ea"/>
            </a:endParaRPr>
          </a:p>
          <a:p>
            <a:pPr algn="l">
              <a:lnSpc>
                <a:spcPct val="150000"/>
              </a:lnSpc>
              <a:buClrTx/>
              <a:buSzTx/>
              <a:buNone/>
            </a:pPr>
            <a:r>
              <a:rPr lang="en-US" altLang="zh-CN" sz="1000" dirty="0">
                <a:latin typeface="微软雅黑" panose="020B0503020204020204" charset="-122"/>
                <a:ea typeface="微软雅黑" panose="020B0503020204020204" charset="-122"/>
                <a:sym typeface="+mn-ea"/>
              </a:rPr>
              <a:t>   在RWY 27R着陆后，E</a:t>
            </a:r>
            <a:r>
              <a:rPr lang="zh-CN" altLang="en-US" sz="1000" dirty="0">
                <a:latin typeface="微软雅黑" panose="020B0503020204020204" charset="-122"/>
                <a:ea typeface="微软雅黑" panose="020B0503020204020204" charset="-122"/>
                <a:sym typeface="+mn-ea"/>
              </a:rPr>
              <a:t>类</a:t>
            </a:r>
            <a:r>
              <a:rPr lang="en-US" altLang="zh-CN" sz="1000" dirty="0">
                <a:latin typeface="微软雅黑" panose="020B0503020204020204" charset="-122"/>
                <a:ea typeface="微软雅黑" panose="020B0503020204020204" charset="-122"/>
                <a:sym typeface="+mn-ea"/>
              </a:rPr>
              <a:t>飞机只能通过TWY L独立滑行至停机坪。当通过TWY G离开RWY时，B777、B787、A340和A350等飞机类型必须由</a:t>
            </a:r>
            <a:r>
              <a:rPr lang="zh-CN" altLang="en-US" sz="1000" dirty="0">
                <a:latin typeface="微软雅黑" panose="020B0503020204020204" charset="-122"/>
                <a:ea typeface="微软雅黑" panose="020B0503020204020204" charset="-122"/>
                <a:sym typeface="+mn-ea"/>
              </a:rPr>
              <a:t>引导车</a:t>
            </a:r>
            <a:r>
              <a:rPr lang="en-US" altLang="zh-CN" sz="1000" dirty="0">
                <a:latin typeface="微软雅黑" panose="020B0503020204020204" charset="-122"/>
                <a:ea typeface="微软雅黑" panose="020B0503020204020204" charset="-122"/>
                <a:sym typeface="+mn-ea"/>
              </a:rPr>
              <a:t>通过TWY F引导至停机坪。当通过TWY H离开RWY时，B777、B787、A340和A350等飞机类型必须从TWY G开始通过TWY F由</a:t>
            </a:r>
            <a:r>
              <a:rPr lang="zh-CN" altLang="en-US" sz="1000" dirty="0">
                <a:latin typeface="微软雅黑" panose="020B0503020204020204" charset="-122"/>
                <a:ea typeface="微软雅黑" panose="020B0503020204020204" charset="-122"/>
                <a:sym typeface="+mn-ea"/>
              </a:rPr>
              <a:t>引导车</a:t>
            </a:r>
            <a:r>
              <a:rPr lang="en-US" altLang="zh-CN" sz="1000" dirty="0">
                <a:latin typeface="微软雅黑" panose="020B0503020204020204" charset="-122"/>
                <a:ea typeface="微软雅黑" panose="020B0503020204020204" charset="-122"/>
                <a:sym typeface="+mn-ea"/>
              </a:rPr>
              <a:t>引导至停机坪。</a:t>
            </a:r>
            <a:endParaRPr lang="en-US" altLang="zh-CN" sz="1000" dirty="0">
              <a:latin typeface="微软雅黑" panose="020B0503020204020204" charset="-122"/>
              <a:ea typeface="微软雅黑" panose="020B0503020204020204" charset="-122"/>
              <a:sym typeface="+mn-ea"/>
            </a:endParaRPr>
          </a:p>
          <a:p>
            <a:pPr algn="l">
              <a:lnSpc>
                <a:spcPct val="150000"/>
              </a:lnSpc>
              <a:buClrTx/>
              <a:buSzTx/>
              <a:buNone/>
            </a:pPr>
            <a:r>
              <a:rPr lang="en-US" altLang="zh-CN" sz="1000" dirty="0">
                <a:latin typeface="微软雅黑" panose="020B0503020204020204" charset="-122"/>
                <a:ea typeface="微软雅黑" panose="020B0503020204020204" charset="-122"/>
                <a:sym typeface="+mn-ea"/>
              </a:rPr>
              <a:t>5.从停机坪到09L跑道</a:t>
            </a:r>
            <a:r>
              <a:rPr lang="zh-CN" altLang="en-US" sz="1000" dirty="0">
                <a:latin typeface="微软雅黑" panose="020B0503020204020204" charset="-122"/>
                <a:ea typeface="微软雅黑" panose="020B0503020204020204" charset="-122"/>
                <a:sym typeface="+mn-ea"/>
              </a:rPr>
              <a:t>使用</a:t>
            </a:r>
            <a:r>
              <a:rPr lang="en-US" altLang="zh-CN" sz="1000" dirty="0">
                <a:latin typeface="微软雅黑" panose="020B0503020204020204" charset="-122"/>
                <a:ea typeface="微软雅黑" panose="020B0503020204020204" charset="-122"/>
                <a:sym typeface="+mn-ea"/>
              </a:rPr>
              <a:t>TWY F和TWY G</a:t>
            </a:r>
            <a:r>
              <a:rPr lang="en-US" altLang="zh-CN" sz="1000" dirty="0">
                <a:latin typeface="微软雅黑" panose="020B0503020204020204" charset="-122"/>
                <a:ea typeface="微软雅黑" panose="020B0503020204020204" charset="-122"/>
                <a:sym typeface="+mn-ea"/>
              </a:rPr>
              <a:t>，B777、B787、A340和A350等机型应</a:t>
            </a:r>
            <a:r>
              <a:rPr lang="zh-CN" altLang="en-US" sz="1000" dirty="0">
                <a:latin typeface="微软雅黑" panose="020B0503020204020204" charset="-122"/>
                <a:ea typeface="微软雅黑" panose="020B0503020204020204" charset="-122"/>
                <a:sym typeface="+mn-ea"/>
              </a:rPr>
              <a:t>由引导车引导</a:t>
            </a:r>
            <a:r>
              <a:rPr lang="en-US" altLang="zh-CN" sz="1000" dirty="0">
                <a:latin typeface="微软雅黑" panose="020B0503020204020204" charset="-122"/>
                <a:ea typeface="微软雅黑" panose="020B0503020204020204" charset="-122"/>
                <a:sym typeface="+mn-ea"/>
              </a:rPr>
              <a:t>至09L跑道。独立滑行只能</a:t>
            </a:r>
            <a:r>
              <a:rPr lang="zh-CN" altLang="en-US" sz="1000" dirty="0">
                <a:latin typeface="微软雅黑" panose="020B0503020204020204" charset="-122"/>
                <a:ea typeface="微软雅黑" panose="020B0503020204020204" charset="-122"/>
                <a:sym typeface="+mn-ea"/>
              </a:rPr>
              <a:t>使用</a:t>
            </a:r>
            <a:r>
              <a:rPr lang="en-US" altLang="zh-CN" sz="1000" dirty="0">
                <a:latin typeface="微软雅黑" panose="020B0503020204020204" charset="-122"/>
                <a:ea typeface="微软雅黑" panose="020B0503020204020204" charset="-122"/>
                <a:sym typeface="+mn-ea"/>
              </a:rPr>
              <a:t>TWY H</a:t>
            </a:r>
            <a:r>
              <a:rPr lang="zh-CN" altLang="en-US" sz="1000" dirty="0">
                <a:latin typeface="微软雅黑" panose="020B0503020204020204" charset="-122"/>
                <a:ea typeface="微软雅黑" panose="020B0503020204020204" charset="-122"/>
                <a:sym typeface="+mn-ea"/>
              </a:rPr>
              <a:t>。</a:t>
            </a:r>
            <a:endParaRPr lang="zh-CN" altLang="en-US" sz="1000" dirty="0">
              <a:latin typeface="微软雅黑" panose="020B0503020204020204" charset="-122"/>
              <a:ea typeface="微软雅黑" panose="020B0503020204020204" charset="-122"/>
              <a:sym typeface="+mn-ea"/>
            </a:endParaRPr>
          </a:p>
          <a:p>
            <a:pPr algn="l">
              <a:lnSpc>
                <a:spcPct val="150000"/>
              </a:lnSpc>
              <a:buClrTx/>
              <a:buSzTx/>
              <a:buNone/>
            </a:pPr>
            <a:r>
              <a:rPr lang="en-US" altLang="zh-CN" sz="1000" dirty="0">
                <a:latin typeface="微软雅黑" panose="020B0503020204020204" charset="-122"/>
                <a:ea typeface="微软雅黑" panose="020B0503020204020204" charset="-122"/>
                <a:sym typeface="+mn-ea"/>
              </a:rPr>
              <a:t>  从停机坪到27R跑道</a:t>
            </a:r>
            <a:r>
              <a:rPr lang="zh-CN" altLang="en-US" sz="1000" dirty="0">
                <a:latin typeface="微软雅黑" panose="020B0503020204020204" charset="-122"/>
                <a:ea typeface="微软雅黑" panose="020B0503020204020204" charset="-122"/>
                <a:sym typeface="+mn-ea"/>
              </a:rPr>
              <a:t>使用</a:t>
            </a:r>
            <a:r>
              <a:rPr lang="en-US" altLang="zh-CN" sz="1000" dirty="0">
                <a:latin typeface="微软雅黑" panose="020B0503020204020204" charset="-122"/>
                <a:ea typeface="微软雅黑" panose="020B0503020204020204" charset="-122"/>
                <a:sym typeface="+mn-ea"/>
              </a:rPr>
              <a:t>TWY F和TWY M</a:t>
            </a:r>
            <a:r>
              <a:rPr lang="en-US" altLang="zh-CN" sz="1000" dirty="0">
                <a:latin typeface="微软雅黑" panose="020B0503020204020204" charset="-122"/>
                <a:ea typeface="微软雅黑" panose="020B0503020204020204" charset="-122"/>
                <a:sym typeface="+mn-ea"/>
              </a:rPr>
              <a:t>，B777、B787、A340和A350等</a:t>
            </a:r>
            <a:r>
              <a:rPr lang="en-US" altLang="zh-CN" sz="1000" dirty="0">
                <a:latin typeface="微软雅黑" panose="020B0503020204020204" charset="-122"/>
                <a:ea typeface="微软雅黑" panose="020B0503020204020204" charset="-122"/>
                <a:sym typeface="+mn-ea"/>
              </a:rPr>
              <a:t>机型应</a:t>
            </a:r>
            <a:r>
              <a:rPr lang="zh-CN" altLang="en-US" sz="1000" dirty="0">
                <a:latin typeface="微软雅黑" panose="020B0503020204020204" charset="-122"/>
                <a:ea typeface="微软雅黑" panose="020B0503020204020204" charset="-122"/>
                <a:sym typeface="+mn-ea"/>
              </a:rPr>
              <a:t>由引导车引导</a:t>
            </a:r>
            <a:r>
              <a:rPr lang="en-US" altLang="zh-CN" sz="1000" dirty="0">
                <a:latin typeface="微软雅黑" panose="020B0503020204020204" charset="-122"/>
                <a:ea typeface="微软雅黑" panose="020B0503020204020204" charset="-122"/>
                <a:sym typeface="+mn-ea"/>
              </a:rPr>
              <a:t>至27R跑道。</a:t>
            </a:r>
            <a:endParaRPr lang="en-US" altLang="zh-CN" sz="1000" dirty="0">
              <a:latin typeface="微软雅黑" panose="020B0503020204020204" charset="-122"/>
              <a:ea typeface="微软雅黑" panose="020B0503020204020204" charset="-122"/>
              <a:sym typeface="+mn-ea"/>
            </a:endParaRPr>
          </a:p>
          <a:p>
            <a:pPr algn="l">
              <a:lnSpc>
                <a:spcPct val="150000"/>
              </a:lnSpc>
            </a:pPr>
            <a:endParaRPr lang="en-US" altLang="zh-CN" sz="1400" dirty="0">
              <a:latin typeface="微软雅黑" panose="020B0503020204020204" charset="-122"/>
              <a:ea typeface="微软雅黑" panose="020B0503020204020204" charset="-122"/>
              <a:sym typeface="+mn-ea"/>
            </a:endParaRPr>
          </a:p>
          <a:p>
            <a:pPr algn="l">
              <a:lnSpc>
                <a:spcPct val="150000"/>
              </a:lnSpc>
            </a:pPr>
            <a:endParaRPr lang="zh-CN" altLang="en-US" sz="1400" dirty="0">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TABLE_BEAUTIFY" val="smartTable{63baff00-36d7-4372-aebe-fbab7b82cdd9}"/>
  <p:tag name="TABLE_ENDDRAG_ORIGIN_RECT" val="233*269"/>
  <p:tag name="TABLE_ENDDRAG_RECT" val="53*88*233*269"/>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UNIT_TABLE_BEAUTIFY" val="smartTable{3495d1b4-1a63-4b07-a5fb-9349e562741d}"/>
  <p:tag name="TABLE_ENDDRAG_ORIGIN_RECT" val="646*120"/>
  <p:tag name="TABLE_ENDDRAG_RECT" val="42*196*646*120"/>
</p:tagLst>
</file>

<file path=ppt/tags/tag15.xml><?xml version="1.0" encoding="utf-8"?>
<p:tagLst xmlns:p="http://schemas.openxmlformats.org/presentationml/2006/main">
  <p:tag name="KSO_WM_UNIT_TABLE_BEAUTIFY" val="smartTable{a38ce6d3-b8a6-43b6-a57d-fa1528de451f}"/>
  <p:tag name="TABLE_ENDDRAG_ORIGIN_RECT" val="646*120"/>
  <p:tag name="TABLE_ENDDRAG_RECT" val="42*196*646*120"/>
</p:tagLst>
</file>

<file path=ppt/tags/tag16.xml><?xml version="1.0" encoding="utf-8"?>
<p:tagLst xmlns:p="http://schemas.openxmlformats.org/presentationml/2006/main">
  <p:tag name="KSO_WM_UNIT_TABLE_BEAUTIFY" val="smartTable{84eca7ec-ca3d-431d-b2c5-a7440afde8db}"/>
  <p:tag name="TABLE_ENDDRAG_ORIGIN_RECT" val="646*120"/>
  <p:tag name="TABLE_ENDDRAG_RECT" val="42*196*646*120"/>
</p:tagLst>
</file>

<file path=ppt/tags/tag17.xml><?xml version="1.0" encoding="utf-8"?>
<p:tagLst xmlns:p="http://schemas.openxmlformats.org/presentationml/2006/main">
  <p:tag name="KSO_WM_UNIT_TABLE_BEAUTIFY" val="smartTable{acd65cb9-69f0-4959-b642-fdbe32557306}"/>
  <p:tag name="TABLE_ENDDRAG_ORIGIN_RECT" val="646*120"/>
  <p:tag name="TABLE_ENDDRAG_RECT" val="42*196*646*120"/>
</p:tagLst>
</file>

<file path=ppt/tags/tag18.xml><?xml version="1.0" encoding="utf-8"?>
<p:tagLst xmlns:p="http://schemas.openxmlformats.org/presentationml/2006/main">
  <p:tag name="KSO_WM_UNIT_TABLE_BEAUTIFY" val="smartTable{9bd54dad-1d99-46ff-95dd-dc7102594b7a}"/>
  <p:tag name="TABLE_ENDDRAG_ORIGIN_RECT" val="646*120"/>
  <p:tag name="TABLE_ENDDRAG_RECT" val="42*196*646*120"/>
</p:tagLst>
</file>

<file path=ppt/tags/tag19.xml><?xml version="1.0" encoding="utf-8"?>
<p:tagLst xmlns:p="http://schemas.openxmlformats.org/presentationml/2006/main">
  <p:tag name="commondata" val="eyJoZGlkIjoiOTMyNzhhY2E1MjlhODJhYmU4MGJiMjk5YTI2ZThkM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5102</Words>
  <Application>WPS 演示</Application>
  <PresentationFormat>全屏显示(16:9)</PresentationFormat>
  <Paragraphs>373</Paragraphs>
  <Slides>19</Slides>
  <Notes>14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19</vt:i4>
      </vt:variant>
    </vt:vector>
  </HeadingPairs>
  <TitlesOfParts>
    <vt:vector size="35" baseType="lpstr">
      <vt:lpstr>Arial</vt:lpstr>
      <vt:lpstr>宋体</vt:lpstr>
      <vt:lpstr>Wingdings</vt:lpstr>
      <vt:lpstr>楷体</vt:lpstr>
      <vt:lpstr>微软雅黑</vt:lpstr>
      <vt:lpstr>lucida Grande</vt:lpstr>
      <vt:lpstr>Calibri</vt:lpstr>
      <vt:lpstr>Arial Unicode MS</vt:lpstr>
      <vt:lpstr>Lato</vt:lpstr>
      <vt:lpstr>Lato Regular</vt:lpstr>
      <vt:lpstr>Times New Roman</vt:lpstr>
      <vt:lpstr>幼圆</vt:lpstr>
      <vt:lpstr>Wingdings 2</vt:lpstr>
      <vt:lpstr>Times New Roman</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qi shi</dc:creator>
  <cp:lastModifiedBy>中原龙浩技术支援</cp:lastModifiedBy>
  <cp:revision>1714</cp:revision>
  <dcterms:created xsi:type="dcterms:W3CDTF">2016-12-15T13:38:00Z</dcterms:created>
  <dcterms:modified xsi:type="dcterms:W3CDTF">2024-12-03T07:54:42Z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1DE95644A1FE480A97D1F4A0B3423DB9_13</vt:lpwstr>
  </property>
</Properties>
</file>